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1" r:id="rId14"/>
    <p:sldId id="282" r:id="rId15"/>
    <p:sldId id="283" r:id="rId16"/>
    <p:sldId id="284" r:id="rId17"/>
    <p:sldId id="287" r:id="rId18"/>
    <p:sldId id="289" r:id="rId19"/>
    <p:sldId id="290" r:id="rId20"/>
    <p:sldId id="268" r:id="rId21"/>
    <p:sldId id="269" r:id="rId22"/>
    <p:sldId id="270" r:id="rId23"/>
    <p:sldId id="271" r:id="rId24"/>
    <p:sldId id="273" r:id="rId25"/>
    <p:sldId id="291" r:id="rId26"/>
    <p:sldId id="292" r:id="rId27"/>
    <p:sldId id="276" r:id="rId28"/>
    <p:sldId id="277" r:id="rId29"/>
    <p:sldId id="278" r:id="rId30"/>
    <p:sldId id="279" r:id="rId31"/>
    <p:sldId id="285" r:id="rId32"/>
    <p:sldId id="286" r:id="rId33"/>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07EA6-616A-0F2D-AD1E-6F83AA0D7C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971D23A2-3574-07DA-E408-8D0EF091CB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8C27F276-2975-2784-4020-028673AA3513}"/>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5" name="Footer Placeholder 4">
            <a:extLst>
              <a:ext uri="{FF2B5EF4-FFF2-40B4-BE49-F238E27FC236}">
                <a16:creationId xmlns:a16="http://schemas.microsoft.com/office/drawing/2014/main" id="{5278644C-4A11-B517-0C2A-C310344DB37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3DEDFC0-54F4-1938-F935-3C5DE68F5430}"/>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4176098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0ED58-7197-1471-FD48-E0C9D8109655}"/>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688365D-7D7E-7838-2A98-6AA4A8975A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B66FED2-9D56-1441-928D-B19DD87A5460}"/>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5" name="Footer Placeholder 4">
            <a:extLst>
              <a:ext uri="{FF2B5EF4-FFF2-40B4-BE49-F238E27FC236}">
                <a16:creationId xmlns:a16="http://schemas.microsoft.com/office/drawing/2014/main" id="{D9EE312C-732D-239C-0C38-59020628EDD4}"/>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BD89341-FF42-3C63-F25C-E056BCDB90A7}"/>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403322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8E62E-4E4B-7E86-F80B-3F458F5A92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BED8FF85-DF21-AA86-ADBF-8744AE8CF6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E26B65-00FC-9B6C-E10E-1CEC4E137C81}"/>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5" name="Footer Placeholder 4">
            <a:extLst>
              <a:ext uri="{FF2B5EF4-FFF2-40B4-BE49-F238E27FC236}">
                <a16:creationId xmlns:a16="http://schemas.microsoft.com/office/drawing/2014/main" id="{E89F0EF1-5DF5-C9E5-0C2E-A6509602721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C90378F-5FB6-4DDE-1C99-EAEFDA8CC7C6}"/>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1299029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D591C-CFAD-F83F-4B90-E4E13F6D67D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595FE2CE-536B-ACD1-23FB-45FA5F1DA3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2DB143E2-C3B5-F1A5-E82C-EBA02CB456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F3132558-BBEB-F503-087B-636F06BFBF9F}"/>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6" name="Footer Placeholder 5">
            <a:extLst>
              <a:ext uri="{FF2B5EF4-FFF2-40B4-BE49-F238E27FC236}">
                <a16:creationId xmlns:a16="http://schemas.microsoft.com/office/drawing/2014/main" id="{1E8E2749-CDA4-1761-CFF0-1D1884ABFF5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525FEE8-0B02-8A1D-9274-5D44389D1289}"/>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3249301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D74FC-6B3F-B8EE-320D-698A60C99A30}"/>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3BAD8AE7-B275-C54B-40E3-BF3681BA76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75AA4B-E75D-954B-73E7-A7E52E2AF1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1DB0D67-01BD-90EE-A369-E3DCBA8CF9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728B86-A56E-F12A-8643-18B134A44B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3F2302A-BDB1-A533-0BA7-3D3078908412}"/>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8" name="Footer Placeholder 7">
            <a:extLst>
              <a:ext uri="{FF2B5EF4-FFF2-40B4-BE49-F238E27FC236}">
                <a16:creationId xmlns:a16="http://schemas.microsoft.com/office/drawing/2014/main" id="{2B317A3B-06AA-9871-6FB7-CF8868127425}"/>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C4F7841D-08FA-9319-FC63-9C023A306E93}"/>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4210119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66A0E-404B-A239-AFF1-6002AD555E83}"/>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394C5EFB-9069-AEDA-CCC5-F9ABC294B4FE}"/>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4" name="Footer Placeholder 3">
            <a:extLst>
              <a:ext uri="{FF2B5EF4-FFF2-40B4-BE49-F238E27FC236}">
                <a16:creationId xmlns:a16="http://schemas.microsoft.com/office/drawing/2014/main" id="{53776A82-71DB-26E7-E777-C657841E64B7}"/>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2C554985-3F76-9981-575F-860247F18F98}"/>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3961196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F26B89-5AEB-3256-14D5-836CA985F139}"/>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3" name="Footer Placeholder 2">
            <a:extLst>
              <a:ext uri="{FF2B5EF4-FFF2-40B4-BE49-F238E27FC236}">
                <a16:creationId xmlns:a16="http://schemas.microsoft.com/office/drawing/2014/main" id="{4CD36BA8-7748-057F-13AA-6A23658CF67B}"/>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C92C02A6-8DB9-1F3B-7F06-80C15097D7C3}"/>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2203311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38FEA-D2D6-3648-12DD-85A85BBBB3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10974FAC-58AD-96BD-ED15-49E0C39CB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F649A61-3EFF-33DF-3045-EFC78E5A21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F46D50-188D-5CAC-B890-5AE33554590C}"/>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6" name="Footer Placeholder 5">
            <a:extLst>
              <a:ext uri="{FF2B5EF4-FFF2-40B4-BE49-F238E27FC236}">
                <a16:creationId xmlns:a16="http://schemas.microsoft.com/office/drawing/2014/main" id="{C678B852-1C00-CD1E-0C26-9686680DB742}"/>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C248028E-5692-2C92-11E9-08BC9C3B7A18}"/>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1947439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F2A4F-A3A1-4D22-C445-FB594FBBF4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5FE9E78C-2B52-7A71-3A95-2D81D51ADD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F312E10-91B2-830F-4F01-283D5221F8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5C2550-138E-9F73-8054-32C81E6652F6}"/>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6" name="Footer Placeholder 5">
            <a:extLst>
              <a:ext uri="{FF2B5EF4-FFF2-40B4-BE49-F238E27FC236}">
                <a16:creationId xmlns:a16="http://schemas.microsoft.com/office/drawing/2014/main" id="{1D45224C-A638-4ED4-385D-93C9F43617B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CAA2E0C-46E6-2FDA-CA9C-C1A2C59ABC45}"/>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2018266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4B374-5353-019B-CEC6-9D92B340DA42}"/>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676969A1-30F3-DB36-85EB-DA60829C15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563A8D7-C1D6-A714-63E1-9D4AB75FD840}"/>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5" name="Footer Placeholder 4">
            <a:extLst>
              <a:ext uri="{FF2B5EF4-FFF2-40B4-BE49-F238E27FC236}">
                <a16:creationId xmlns:a16="http://schemas.microsoft.com/office/drawing/2014/main" id="{B2ACD319-6135-E12E-CBFC-687894AFC01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A3F55E3A-77F8-2029-0376-EA0B945E2036}"/>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1265992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AE3765-AB4D-E4C3-90F5-7A9477EA8C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1D221AE3-53B6-8704-1A40-203ED7284F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1C86B65-0D74-DBC7-2BED-F3D6C15AFAF6}"/>
              </a:ext>
            </a:extLst>
          </p:cNvPr>
          <p:cNvSpPr>
            <a:spLocks noGrp="1"/>
          </p:cNvSpPr>
          <p:nvPr>
            <p:ph type="dt" sz="half" idx="10"/>
          </p:nvPr>
        </p:nvSpPr>
        <p:spPr/>
        <p:txBody>
          <a:bodyPr/>
          <a:lstStyle/>
          <a:p>
            <a:fld id="{319F9EB1-AA8B-4A70-AEF8-134490EFFA64}" type="datetimeFigureOut">
              <a:rPr lang="en-PK" smtClean="0"/>
              <a:t>15/03/2025</a:t>
            </a:fld>
            <a:endParaRPr lang="en-PK"/>
          </a:p>
        </p:txBody>
      </p:sp>
      <p:sp>
        <p:nvSpPr>
          <p:cNvPr id="5" name="Footer Placeholder 4">
            <a:extLst>
              <a:ext uri="{FF2B5EF4-FFF2-40B4-BE49-F238E27FC236}">
                <a16:creationId xmlns:a16="http://schemas.microsoft.com/office/drawing/2014/main" id="{1E512CBF-8C7A-CAEF-389F-4EEEEB4E0FF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6AE5C9C-A2A6-39A2-88F0-486EA5DE4C97}"/>
              </a:ext>
            </a:extLst>
          </p:cNvPr>
          <p:cNvSpPr>
            <a:spLocks noGrp="1"/>
          </p:cNvSpPr>
          <p:nvPr>
            <p:ph type="sldNum" sz="quarter" idx="12"/>
          </p:nvPr>
        </p:nvSpPr>
        <p:spPr/>
        <p:txBody>
          <a:bodyPr/>
          <a:lstStyle/>
          <a:p>
            <a:fld id="{7605432C-5750-40F6-81F7-7B61828F3E17}" type="slidenum">
              <a:rPr lang="en-PK" smtClean="0"/>
              <a:t>‹#›</a:t>
            </a:fld>
            <a:endParaRPr lang="en-PK"/>
          </a:p>
        </p:txBody>
      </p:sp>
    </p:spTree>
    <p:extLst>
      <p:ext uri="{BB962C8B-B14F-4D97-AF65-F5344CB8AC3E}">
        <p14:creationId xmlns:p14="http://schemas.microsoft.com/office/powerpoint/2010/main" val="3550399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242D24-E954-042D-83B1-ED61E91DEC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0918F812-DC56-BBBC-EF04-2DA6837E13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B3378CE-10C1-72FB-A0A4-ACA39495F3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9F9EB1-AA8B-4A70-AEF8-134490EFFA64}" type="datetimeFigureOut">
              <a:rPr lang="en-PK" smtClean="0"/>
              <a:t>15/03/2025</a:t>
            </a:fld>
            <a:endParaRPr lang="en-PK"/>
          </a:p>
        </p:txBody>
      </p:sp>
      <p:sp>
        <p:nvSpPr>
          <p:cNvPr id="5" name="Footer Placeholder 4">
            <a:extLst>
              <a:ext uri="{FF2B5EF4-FFF2-40B4-BE49-F238E27FC236}">
                <a16:creationId xmlns:a16="http://schemas.microsoft.com/office/drawing/2014/main" id="{19FF0DB2-4DD1-F960-3E7E-256A66FE37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C29F0FDE-6D32-3304-BF57-B663401043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05432C-5750-40F6-81F7-7B61828F3E17}" type="slidenum">
              <a:rPr lang="en-PK" smtClean="0"/>
              <a:t>‹#›</a:t>
            </a:fld>
            <a:endParaRPr lang="en-PK"/>
          </a:p>
        </p:txBody>
      </p:sp>
    </p:spTree>
    <p:extLst>
      <p:ext uri="{BB962C8B-B14F-4D97-AF65-F5344CB8AC3E}">
        <p14:creationId xmlns:p14="http://schemas.microsoft.com/office/powerpoint/2010/main" val="3948399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C837C-C304-6690-8E8B-8204F5979CC9}"/>
              </a:ext>
            </a:extLst>
          </p:cNvPr>
          <p:cNvSpPr>
            <a:spLocks noGrp="1"/>
          </p:cNvSpPr>
          <p:nvPr>
            <p:ph type="ctrTitle"/>
          </p:nvPr>
        </p:nvSpPr>
        <p:spPr>
          <a:xfrm>
            <a:off x="1524000" y="1122363"/>
            <a:ext cx="9144000" cy="1198806"/>
          </a:xfrm>
        </p:spPr>
        <p:txBody>
          <a:bodyPr/>
          <a:lstStyle/>
          <a:p>
            <a:r>
              <a:rPr lang="en-US" dirty="0">
                <a:latin typeface="Times New Roman" panose="02020603050405020304" pitchFamily="18" charset="0"/>
                <a:cs typeface="Times New Roman" panose="02020603050405020304" pitchFamily="18" charset="0"/>
              </a:rPr>
              <a:t>Week 02</a:t>
            </a:r>
            <a:endParaRPr lang="en-PK"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740CB65-179C-EB21-388A-4F8996FEAA2A}"/>
              </a:ext>
            </a:extLst>
          </p:cNvPr>
          <p:cNvSpPr>
            <a:spLocks noGrp="1"/>
          </p:cNvSpPr>
          <p:nvPr>
            <p:ph type="subTitle" idx="1"/>
          </p:nvPr>
        </p:nvSpPr>
        <p:spPr>
          <a:xfrm>
            <a:off x="1524000" y="2321169"/>
            <a:ext cx="9144000" cy="2936631"/>
          </a:xfrm>
        </p:spPr>
        <p:txBody>
          <a:bodyPr/>
          <a:lstStyle/>
          <a:p>
            <a:pPr algn="l"/>
            <a:r>
              <a:rPr lang="en-US" b="1" dirty="0">
                <a:latin typeface="Times New Roman" panose="02020603050405020304" pitchFamily="18" charset="0"/>
                <a:cs typeface="Times New Roman" panose="02020603050405020304" pitchFamily="18" charset="0"/>
              </a:rPr>
              <a:t>Contents:</a:t>
            </a:r>
          </a:p>
          <a:p>
            <a:pPr algn="l"/>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Descriptive Statistics</a:t>
            </a:r>
            <a:endParaRPr lang="en-US" b="1" dirty="0">
              <a:latin typeface="Times New Roman" panose="02020603050405020304" pitchFamily="18" charset="0"/>
              <a:ea typeface="Times New Roman" panose="02020603050405020304" pitchFamily="18" charset="0"/>
              <a:cs typeface="Times New Roman" panose="02020603050405020304" pitchFamily="18" charset="0"/>
            </a:endParaRPr>
          </a:p>
          <a:p>
            <a:pPr algn="l"/>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1. Stem-and-Leaf diagrams</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algn="l"/>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2. Histograms</a:t>
            </a:r>
          </a:p>
          <a:p>
            <a:pPr algn="l"/>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3. Measures of the Location of the Data</a:t>
            </a:r>
            <a:endParaRPr lang="en-PK"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l"/>
            <a:endParaRPr lang="en-PK" dirty="0"/>
          </a:p>
        </p:txBody>
      </p:sp>
    </p:spTree>
    <p:extLst>
      <p:ext uri="{BB962C8B-B14F-4D97-AF65-F5344CB8AC3E}">
        <p14:creationId xmlns:p14="http://schemas.microsoft.com/office/powerpoint/2010/main" val="2587764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D9469-345B-3372-E447-176375F8935D}"/>
              </a:ext>
            </a:extLst>
          </p:cNvPr>
          <p:cNvSpPr>
            <a:spLocks noGrp="1"/>
          </p:cNvSpPr>
          <p:nvPr>
            <p:ph type="title"/>
          </p:nvPr>
        </p:nvSpPr>
        <p:spPr/>
        <p:txBody>
          <a:bodyPr/>
          <a:lstStyle/>
          <a:p>
            <a:br>
              <a:rPr lang="en-US" b="1" dirty="0">
                <a:solidFill>
                  <a:srgbClr val="FF0000"/>
                </a:solidFill>
              </a:rPr>
            </a:br>
            <a:r>
              <a:rPr lang="en-US" sz="3600" b="1" dirty="0">
                <a:solidFill>
                  <a:srgbClr val="FF0000"/>
                </a:solidFill>
                <a:latin typeface="Times New Roman" panose="02020603050405020304" pitchFamily="18" charset="0"/>
                <a:cs typeface="Times New Roman" panose="02020603050405020304" pitchFamily="18" charset="0"/>
              </a:rPr>
              <a:t>Stem and Leaf Diagram</a:t>
            </a:r>
            <a:endParaRPr lang="en-PK"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7AE3DC-8051-8363-5FBA-3F8285966E51}"/>
              </a:ext>
            </a:extLst>
          </p:cNvPr>
          <p:cNvSpPr>
            <a:spLocks noGrp="1"/>
          </p:cNvSpPr>
          <p:nvPr>
            <p:ph idx="1"/>
          </p:nvPr>
        </p:nvSpPr>
        <p:spPr/>
        <p:txBody>
          <a:bodyPr/>
          <a:lstStyle/>
          <a:p>
            <a:pPr marL="0" indent="0" algn="just">
              <a:buNone/>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This is a technique used for simultaneously sorting and displaying the data sets, where each number in the data set is divided into two parts, a </a:t>
            </a:r>
            <a:r>
              <a:rPr lang="en-US" sz="2400" b="0" i="1" u="none" strike="noStrike" baseline="0" dirty="0">
                <a:solidFill>
                  <a:srgbClr val="000000"/>
                </a:solidFill>
                <a:latin typeface="Times New Roman" panose="02020603050405020304" pitchFamily="18" charset="0"/>
                <a:cs typeface="Times New Roman" panose="02020603050405020304" pitchFamily="18" charset="0"/>
              </a:rPr>
              <a:t>Stem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and a </a:t>
            </a:r>
            <a:r>
              <a:rPr lang="en-US" sz="2400" b="0" i="1" u="none" strike="noStrike" baseline="0" dirty="0">
                <a:solidFill>
                  <a:srgbClr val="000000"/>
                </a:solidFill>
                <a:latin typeface="Times New Roman" panose="02020603050405020304" pitchFamily="18" charset="0"/>
                <a:cs typeface="Times New Roman" panose="02020603050405020304" pitchFamily="18" charset="0"/>
              </a:rPr>
              <a:t>Leaf</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 Stem is a leading digit(s) of each number and used in sorting, while Leaf is the rest of the number or trailing digit(s). A vertical line separates the leaf from stem. </a:t>
            </a:r>
            <a:r>
              <a:rPr lang="en-US" b="1" dirty="0">
                <a:solidFill>
                  <a:srgbClr val="FF0000"/>
                </a:solidFill>
                <a:latin typeface="Times New Roman" panose="02020603050405020304" pitchFamily="18" charset="0"/>
                <a:cs typeface="Times New Roman" panose="02020603050405020304" pitchFamily="18" charset="0"/>
              </a:rPr>
              <a:t>Example 01: Analyzing Response Times in a Web Server</a:t>
            </a:r>
          </a:p>
          <a:p>
            <a:pPr marL="0" indent="0" algn="just">
              <a:buNone/>
            </a:pPr>
            <a:r>
              <a:rPr lang="en-US" sz="2400" dirty="0">
                <a:latin typeface="Times New Roman" panose="02020603050405020304" pitchFamily="18" charset="0"/>
                <a:cs typeface="Times New Roman" panose="02020603050405020304" pitchFamily="18" charset="0"/>
              </a:rPr>
              <a:t>A web server records response times (in milliseconds) for 15 requests:</a:t>
            </a:r>
          </a:p>
          <a:p>
            <a:pPr marL="0" indent="0" algn="just">
              <a:buNone/>
            </a:pPr>
            <a:r>
              <a:rPr lang="en-PK" sz="2400" dirty="0">
                <a:latin typeface="Times New Roman" panose="02020603050405020304" pitchFamily="18" charset="0"/>
                <a:cs typeface="Times New Roman" panose="02020603050405020304" pitchFamily="18" charset="0"/>
              </a:rPr>
              <a:t>125, 132, 128, 141, 149, 156, 161, 175, 182, 190, 193, 198, 201, 209, 212</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stem-and-leaf plot</a:t>
            </a:r>
            <a:r>
              <a:rPr lang="en-US" sz="2400" dirty="0">
                <a:latin typeface="Times New Roman" panose="02020603050405020304" pitchFamily="18" charset="0"/>
                <a:cs typeface="Times New Roman" panose="02020603050405020304" pitchFamily="18" charset="0"/>
              </a:rPr>
              <a:t> helps in quick visualization:</a:t>
            </a:r>
            <a:endParaRPr lang="en-PK"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2269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3700-2900-066A-9F6E-1FC54CC68C28}"/>
              </a:ext>
            </a:extLst>
          </p:cNvPr>
          <p:cNvSpPr>
            <a:spLocks noGrp="1"/>
          </p:cNvSpPr>
          <p:nvPr>
            <p:ph type="title"/>
          </p:nvPr>
        </p:nvSpPr>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Continue…</a:t>
            </a:r>
            <a:endParaRPr lang="en-PK"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9706F2-8C0A-F3F9-E9A2-7D34E3D55810}"/>
              </a:ext>
            </a:extLst>
          </p:cNvPr>
          <p:cNvSpPr>
            <a:spLocks noGrp="1"/>
          </p:cNvSpPr>
          <p:nvPr>
            <p:ph idx="1"/>
          </p:nvPr>
        </p:nvSpPr>
        <p:spPr/>
        <p:txBody>
          <a:bodyPr>
            <a:normAutofit fontScale="92500" lnSpcReduction="20000"/>
          </a:bodyPr>
          <a:lstStyle/>
          <a:p>
            <a:pPr marL="0" indent="0">
              <a:buNone/>
            </a:pPr>
            <a:r>
              <a:rPr lang="en-PK" dirty="0"/>
              <a:t>12 | 5 8</a:t>
            </a:r>
          </a:p>
          <a:p>
            <a:pPr marL="0" indent="0">
              <a:buNone/>
            </a:pPr>
            <a:r>
              <a:rPr lang="en-PK" dirty="0"/>
              <a:t>13 | 2</a:t>
            </a:r>
          </a:p>
          <a:p>
            <a:pPr marL="0" indent="0">
              <a:buNone/>
            </a:pPr>
            <a:r>
              <a:rPr lang="en-PK" dirty="0"/>
              <a:t>14 | 1 9</a:t>
            </a:r>
          </a:p>
          <a:p>
            <a:pPr marL="0" indent="0">
              <a:buNone/>
            </a:pPr>
            <a:r>
              <a:rPr lang="en-PK" dirty="0"/>
              <a:t>15 | 6</a:t>
            </a:r>
          </a:p>
          <a:p>
            <a:pPr marL="0" indent="0">
              <a:buNone/>
            </a:pPr>
            <a:r>
              <a:rPr lang="en-PK" dirty="0"/>
              <a:t>16 | 1</a:t>
            </a:r>
          </a:p>
          <a:p>
            <a:pPr marL="0" indent="0">
              <a:buNone/>
            </a:pPr>
            <a:r>
              <a:rPr lang="en-PK" dirty="0"/>
              <a:t>17 | 5</a:t>
            </a:r>
          </a:p>
          <a:p>
            <a:pPr marL="0" indent="0">
              <a:buNone/>
            </a:pPr>
            <a:r>
              <a:rPr lang="en-PK" dirty="0"/>
              <a:t>18 | 2</a:t>
            </a:r>
          </a:p>
          <a:p>
            <a:pPr marL="0" indent="0">
              <a:buNone/>
            </a:pPr>
            <a:r>
              <a:rPr lang="en-PK" dirty="0"/>
              <a:t>19 | 0 3 8</a:t>
            </a:r>
          </a:p>
          <a:p>
            <a:pPr marL="0" indent="0">
              <a:buNone/>
            </a:pPr>
            <a:r>
              <a:rPr lang="en-PK" dirty="0"/>
              <a:t>20 | 1 9</a:t>
            </a:r>
          </a:p>
          <a:p>
            <a:pPr marL="0" indent="0">
              <a:buNone/>
            </a:pPr>
            <a:r>
              <a:rPr lang="en-PK" dirty="0"/>
              <a:t>21 | 2</a:t>
            </a:r>
          </a:p>
          <a:p>
            <a:pPr marL="0" indent="0">
              <a:buNone/>
            </a:pPr>
            <a:endParaRPr lang="en-PK" dirty="0"/>
          </a:p>
        </p:txBody>
      </p:sp>
    </p:spTree>
    <p:extLst>
      <p:ext uri="{BB962C8B-B14F-4D97-AF65-F5344CB8AC3E}">
        <p14:creationId xmlns:p14="http://schemas.microsoft.com/office/powerpoint/2010/main" val="131907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173EF-66A9-7D81-78D6-1A9B2243F550}"/>
              </a:ext>
            </a:extLst>
          </p:cNvPr>
          <p:cNvSpPr>
            <a:spLocks noGrp="1"/>
          </p:cNvSpPr>
          <p:nvPr>
            <p:ph type="title"/>
          </p:nvPr>
        </p:nvSpPr>
        <p:spPr/>
        <p:txBody>
          <a:bodyPr>
            <a:normAutofit fontScale="90000"/>
          </a:bodyPr>
          <a:lstStyle/>
          <a:p>
            <a:br>
              <a:rPr lang="en-US" b="1" dirty="0"/>
            </a:br>
            <a:r>
              <a:rPr lang="en-US" sz="4000" b="1" dirty="0">
                <a:solidFill>
                  <a:srgbClr val="FF0000"/>
                </a:solidFill>
                <a:latin typeface="Times New Roman" panose="02020603050405020304" pitchFamily="18" charset="0"/>
                <a:cs typeface="Times New Roman" panose="02020603050405020304" pitchFamily="18" charset="0"/>
              </a:rPr>
              <a:t>Useful</a:t>
            </a:r>
            <a:r>
              <a:rPr lang="en-US" sz="4000" b="1" dirty="0">
                <a:latin typeface="Times New Roman" panose="02020603050405020304" pitchFamily="18" charset="0"/>
                <a:cs typeface="Times New Roman" panose="02020603050405020304" pitchFamily="18" charset="0"/>
              </a:rPr>
              <a:t> </a:t>
            </a:r>
            <a:r>
              <a:rPr lang="en-US" sz="4000" b="1" dirty="0">
                <a:solidFill>
                  <a:srgbClr val="FF0000"/>
                </a:solidFill>
                <a:latin typeface="Times New Roman" panose="02020603050405020304" pitchFamily="18" charset="0"/>
                <a:cs typeface="Times New Roman" panose="02020603050405020304" pitchFamily="18" charset="0"/>
              </a:rPr>
              <a:t>Insights</a:t>
            </a:r>
            <a:br>
              <a:rPr lang="en-US" b="1" dirty="0"/>
            </a:br>
            <a:endParaRPr lang="en-PK" dirty="0"/>
          </a:p>
        </p:txBody>
      </p:sp>
      <p:sp>
        <p:nvSpPr>
          <p:cNvPr id="3" name="Content Placeholder 2">
            <a:extLst>
              <a:ext uri="{FF2B5EF4-FFF2-40B4-BE49-F238E27FC236}">
                <a16:creationId xmlns:a16="http://schemas.microsoft.com/office/drawing/2014/main" id="{DB22E9B2-8ADA-135F-A7B8-C7A0E27D1346}"/>
              </a:ext>
            </a:extLst>
          </p:cNvPr>
          <p:cNvSpPr>
            <a:spLocks noGrp="1"/>
          </p:cNvSpPr>
          <p:nvPr>
            <p:ph idx="1"/>
          </p:nvPr>
        </p:nvSpPr>
        <p:spPr/>
        <p:txBody>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response times mostly range between </a:t>
            </a:r>
            <a:r>
              <a:rPr lang="en-US" sz="2400" b="1" dirty="0">
                <a:latin typeface="Times New Roman" panose="02020603050405020304" pitchFamily="18" charset="0"/>
                <a:cs typeface="Times New Roman" panose="02020603050405020304" pitchFamily="18" charset="0"/>
              </a:rPr>
              <a:t>125 </a:t>
            </a:r>
            <a:r>
              <a:rPr lang="en-US" sz="2400" b="1" dirty="0" err="1">
                <a:latin typeface="Times New Roman" panose="02020603050405020304" pitchFamily="18" charset="0"/>
                <a:cs typeface="Times New Roman" panose="02020603050405020304" pitchFamily="18" charset="0"/>
              </a:rPr>
              <a:t>ms</a:t>
            </a:r>
            <a:r>
              <a:rPr lang="en-US" sz="2400" b="1" dirty="0">
                <a:latin typeface="Times New Roman" panose="02020603050405020304" pitchFamily="18" charset="0"/>
                <a:cs typeface="Times New Roman" panose="02020603050405020304" pitchFamily="18" charset="0"/>
              </a:rPr>
              <a:t> and 212 </a:t>
            </a:r>
            <a:r>
              <a:rPr lang="en-US" sz="2400" b="1" dirty="0" err="1">
                <a:latin typeface="Times New Roman" panose="02020603050405020304" pitchFamily="18" charset="0"/>
                <a:cs typeface="Times New Roman" panose="02020603050405020304" pitchFamily="18" charset="0"/>
              </a:rPr>
              <a:t>ms</a:t>
            </a:r>
            <a:r>
              <a:rPr lang="en-US" sz="2400" dirty="0" err="1">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distribution is slightly </a:t>
            </a:r>
            <a:r>
              <a:rPr lang="en-US" sz="2400" b="1" dirty="0">
                <a:latin typeface="Times New Roman" panose="02020603050405020304" pitchFamily="18" charset="0"/>
                <a:cs typeface="Times New Roman" panose="02020603050405020304" pitchFamily="18" charset="0"/>
              </a:rPr>
              <a:t>right-skewed</a:t>
            </a:r>
            <a:r>
              <a:rPr lang="en-US" sz="2400" dirty="0">
                <a:latin typeface="Times New Roman" panose="02020603050405020304" pitchFamily="18" charset="0"/>
                <a:cs typeface="Times New Roman" panose="02020603050405020304" pitchFamily="18" charset="0"/>
              </a:rPr>
              <a:t>, meaning some requests take significantly longer.</a:t>
            </a:r>
          </a:p>
          <a:p>
            <a:pPr marL="0" indent="0">
              <a:buNone/>
            </a:pPr>
            <a:r>
              <a:rPr lang="en-US" sz="2400" b="1" dirty="0">
                <a:solidFill>
                  <a:srgbClr val="FF0000"/>
                </a:solidFill>
                <a:latin typeface="Times New Roman" panose="02020603050405020304" pitchFamily="18" charset="0"/>
                <a:cs typeface="Times New Roman" panose="02020603050405020304" pitchFamily="18" charset="0"/>
              </a:rPr>
              <a:t>Example no 02:</a:t>
            </a:r>
          </a:p>
          <a:p>
            <a:pPr>
              <a:buNone/>
            </a:pPr>
            <a:r>
              <a:rPr lang="en-US" sz="2400" dirty="0">
                <a:latin typeface="Times New Roman" panose="02020603050405020304" pitchFamily="18" charset="0"/>
                <a:cs typeface="Times New Roman" panose="02020603050405020304" pitchFamily="18" charset="0"/>
              </a:rPr>
              <a:t>A programmer records the execution time (in milliseconds) of an algorithm:</a:t>
            </a:r>
          </a:p>
          <a:p>
            <a:pPr>
              <a:buNone/>
            </a:pPr>
            <a:r>
              <a:rPr lang="en-US" sz="2400" dirty="0">
                <a:latin typeface="Times New Roman" panose="02020603050405020304" pitchFamily="18" charset="0"/>
                <a:cs typeface="Times New Roman" panose="02020603050405020304" pitchFamily="18" charset="0"/>
              </a:rPr>
              <a:t>10, 12, 15, 18, 20, 22, 25, 30, 32, 35, 50, 55, 100</a:t>
            </a:r>
          </a:p>
          <a:p>
            <a:pPr>
              <a:buNone/>
            </a:pPr>
            <a:endParaRPr lang="en-US" sz="24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PK" dirty="0"/>
          </a:p>
        </p:txBody>
      </p:sp>
    </p:spTree>
    <p:extLst>
      <p:ext uri="{BB962C8B-B14F-4D97-AF65-F5344CB8AC3E}">
        <p14:creationId xmlns:p14="http://schemas.microsoft.com/office/powerpoint/2010/main" val="4209313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52086-2177-1F83-4C6F-890A6B7EA1E0}"/>
              </a:ext>
            </a:extLst>
          </p:cNvPr>
          <p:cNvSpPr>
            <a:spLocks noGrp="1"/>
          </p:cNvSpPr>
          <p:nvPr>
            <p:ph type="title"/>
          </p:nvPr>
        </p:nvSpPr>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Continue…</a:t>
            </a:r>
            <a:endParaRPr lang="en-PK"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4CD526-2E12-FF9E-00FB-7324E1C6D83E}"/>
              </a:ext>
            </a:extLst>
          </p:cNvPr>
          <p:cNvSpPr>
            <a:spLocks noGrp="1"/>
          </p:cNvSpPr>
          <p:nvPr>
            <p:ph idx="1"/>
          </p:nvPr>
        </p:nvSpPr>
        <p:spPr/>
        <p:txBody>
          <a:bodyPr/>
          <a:lstStyle/>
          <a:p>
            <a:pPr marL="0" indent="0">
              <a:buNone/>
            </a:pPr>
            <a:r>
              <a:rPr lang="en-PK" dirty="0"/>
              <a:t>1 | 0 2 5 8</a:t>
            </a:r>
          </a:p>
          <a:p>
            <a:pPr marL="0" indent="0">
              <a:buNone/>
            </a:pPr>
            <a:r>
              <a:rPr lang="en-PK" dirty="0"/>
              <a:t>2 | 0 2 5</a:t>
            </a:r>
          </a:p>
          <a:p>
            <a:pPr marL="0" indent="0">
              <a:buNone/>
            </a:pPr>
            <a:r>
              <a:rPr lang="en-PK" dirty="0"/>
              <a:t>3 | 0 2 5</a:t>
            </a:r>
          </a:p>
          <a:p>
            <a:pPr marL="0" indent="0">
              <a:buNone/>
            </a:pPr>
            <a:r>
              <a:rPr lang="en-PK" dirty="0"/>
              <a:t>5 | 0 5</a:t>
            </a:r>
          </a:p>
          <a:p>
            <a:pPr marL="0" indent="0">
              <a:buNone/>
            </a:pPr>
            <a:r>
              <a:rPr lang="en-PK" dirty="0"/>
              <a:t>10 | 0</a:t>
            </a:r>
          </a:p>
          <a:p>
            <a:pPr algn="just">
              <a:buNone/>
            </a:pPr>
            <a:r>
              <a:rPr lang="en-US" sz="2400" b="1" dirty="0">
                <a:solidFill>
                  <a:srgbClr val="FF0000"/>
                </a:solidFill>
                <a:latin typeface="Times New Roman" panose="02020603050405020304" pitchFamily="18" charset="0"/>
                <a:cs typeface="Times New Roman" panose="02020603050405020304" pitchFamily="18" charset="0"/>
              </a:rPr>
              <a:t>Useful Insights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Most executions are between 10-35 </a:t>
            </a:r>
            <a:r>
              <a:rPr lang="en-US" sz="2400" dirty="0" err="1">
                <a:latin typeface="Times New Roman" panose="02020603050405020304" pitchFamily="18" charset="0"/>
                <a:cs typeface="Times New Roman" panose="02020603050405020304" pitchFamily="18" charset="0"/>
              </a:rPr>
              <a:t>ms.</a:t>
            </a: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Some runs took 100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indicating possible inefficiency</a:t>
            </a:r>
            <a:r>
              <a:rPr lang="en-US" dirty="0"/>
              <a:t>.</a:t>
            </a:r>
          </a:p>
          <a:p>
            <a:pPr marL="0" indent="0">
              <a:buNone/>
            </a:pPr>
            <a:endParaRPr lang="en-PK" dirty="0"/>
          </a:p>
        </p:txBody>
      </p:sp>
    </p:spTree>
    <p:extLst>
      <p:ext uri="{BB962C8B-B14F-4D97-AF65-F5344CB8AC3E}">
        <p14:creationId xmlns:p14="http://schemas.microsoft.com/office/powerpoint/2010/main" val="4067573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6571E-312B-BB13-4C39-CF02E75292F6}"/>
              </a:ext>
            </a:extLst>
          </p:cNvPr>
          <p:cNvSpPr>
            <a:spLocks noGrp="1"/>
          </p:cNvSpPr>
          <p:nvPr>
            <p:ph type="title"/>
          </p:nvPr>
        </p:nvSpPr>
        <p:spPr/>
        <p:txBody>
          <a:bodyPr>
            <a:normAutofit fontScale="90000"/>
          </a:bodyPr>
          <a:lstStyle/>
          <a:p>
            <a:br>
              <a:rPr lang="en-US" b="1" dirty="0"/>
            </a:br>
            <a:br>
              <a:rPr lang="en-US" b="1" dirty="0"/>
            </a:br>
            <a:r>
              <a:rPr lang="en-US" sz="3100" b="1" dirty="0">
                <a:solidFill>
                  <a:srgbClr val="FF0000"/>
                </a:solidFill>
                <a:latin typeface="Times New Roman" panose="02020603050405020304" pitchFamily="18" charset="0"/>
                <a:cs typeface="Times New Roman" panose="02020603050405020304" pitchFamily="18" charset="0"/>
              </a:rPr>
              <a:t>Conclusion</a:t>
            </a:r>
            <a:br>
              <a:rPr lang="en-US" b="1" dirty="0"/>
            </a:br>
            <a:endParaRPr lang="en-PK" dirty="0"/>
          </a:p>
        </p:txBody>
      </p:sp>
      <p:sp>
        <p:nvSpPr>
          <p:cNvPr id="3" name="Content Placeholder 2">
            <a:extLst>
              <a:ext uri="{FF2B5EF4-FFF2-40B4-BE49-F238E27FC236}">
                <a16:creationId xmlns:a16="http://schemas.microsoft.com/office/drawing/2014/main" id="{1B3D9B9A-3C6A-D4B5-5938-53BA891734B2}"/>
              </a:ext>
            </a:extLst>
          </p:cNvPr>
          <p:cNvSpPr>
            <a:spLocks noGrp="1"/>
          </p:cNvSpPr>
          <p:nvPr>
            <p:ph idx="1"/>
          </p:nvPr>
        </p:nvSpPr>
        <p:spPr/>
        <p:txBody>
          <a:bodyPr/>
          <a:lstStyle/>
          <a:p>
            <a:r>
              <a:rPr lang="en-US" dirty="0"/>
              <a:t>Stem-and-leaf plots are powerful tools in computer science for:</a:t>
            </a:r>
          </a:p>
          <a:p>
            <a:pPr marL="0" indent="0">
              <a:buNone/>
            </a:pPr>
            <a:r>
              <a:rPr lang="en-PK" dirty="0"/>
              <a:t>✅ </a:t>
            </a:r>
            <a:r>
              <a:rPr lang="en-US" dirty="0"/>
              <a:t>Quick </a:t>
            </a:r>
            <a:r>
              <a:rPr lang="en-US" b="1" dirty="0"/>
              <a:t>data visualization</a:t>
            </a:r>
            <a:br>
              <a:rPr lang="en-US" dirty="0"/>
            </a:br>
            <a:r>
              <a:rPr lang="en-PK" dirty="0"/>
              <a:t>✅ </a:t>
            </a:r>
            <a:r>
              <a:rPr lang="en-US" b="1" dirty="0"/>
              <a:t>Sorting and indexing</a:t>
            </a:r>
            <a:r>
              <a:rPr lang="en-US" dirty="0"/>
              <a:t> improvements</a:t>
            </a:r>
            <a:br>
              <a:rPr lang="en-US" dirty="0"/>
            </a:br>
            <a:r>
              <a:rPr lang="en-PK" dirty="0"/>
              <a:t>✅ </a:t>
            </a:r>
            <a:r>
              <a:rPr lang="en-US" b="1" dirty="0"/>
              <a:t>Performance monitoring</a:t>
            </a:r>
            <a:endParaRPr lang="en-US" dirty="0"/>
          </a:p>
          <a:p>
            <a:endParaRPr lang="en-PK" dirty="0"/>
          </a:p>
        </p:txBody>
      </p:sp>
    </p:spTree>
    <p:extLst>
      <p:ext uri="{BB962C8B-B14F-4D97-AF65-F5344CB8AC3E}">
        <p14:creationId xmlns:p14="http://schemas.microsoft.com/office/powerpoint/2010/main" val="491057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031E-38DB-905F-029C-DE329059BD2F}"/>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Histograms</a:t>
            </a:r>
            <a:endParaRPr lang="en-PK"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8D1EB2-20E9-F75E-88BE-6154869C4D1A}"/>
              </a:ext>
            </a:extLst>
          </p:cNvPr>
          <p:cNvSpPr>
            <a:spLocks noGrp="1"/>
          </p:cNvSpPr>
          <p:nvPr>
            <p:ph idx="1"/>
          </p:nvPr>
        </p:nvSpPr>
        <p:spPr>
          <a:xfrm>
            <a:off x="838200" y="1392702"/>
            <a:ext cx="10515600" cy="4784261"/>
          </a:xfrm>
        </p:spPr>
        <p:txBody>
          <a:bodyPr>
            <a:normAutofit/>
          </a:bodyPr>
          <a:lstStyle/>
          <a:p>
            <a:pPr marL="0" indent="0" algn="just">
              <a:buNone/>
            </a:pPr>
            <a:r>
              <a:rPr lang="en-US" sz="2400" b="0" i="0" u="none" strike="noStrike" baseline="0" dirty="0">
                <a:solidFill>
                  <a:srgbClr val="000000"/>
                </a:solidFill>
                <a:latin typeface="Times New Roman" panose="02020603050405020304" pitchFamily="18" charset="0"/>
              </a:rPr>
              <a:t>A histogram consists of contiguous (adjoining) boxes. It has both a horizontal axis and a vertical axis. The horizontal axis is labelled with what the data represents (for instance, distance from your home to school). The vertical axis is labelled either frequency or relative frequency (or percent frequency or probability). The histogram can give you the shape of the data, the center, and the spread of the data. </a:t>
            </a:r>
          </a:p>
          <a:p>
            <a:pPr algn="just"/>
            <a:r>
              <a:rPr lang="en-US" sz="2400" b="1" i="0" u="none" strike="noStrike" baseline="0" dirty="0">
                <a:solidFill>
                  <a:srgbClr val="672C93"/>
                </a:solidFill>
                <a:latin typeface="Times New Roman" panose="02020603050405020304" pitchFamily="18" charset="0"/>
              </a:rPr>
              <a:t>STEPS TO CONSTRUCT THE HISTOGRAM: </a:t>
            </a:r>
            <a:endParaRPr lang="en-US" sz="2400" b="0" i="0" u="none" strike="noStrike" baseline="0" dirty="0">
              <a:solidFill>
                <a:srgbClr val="000000"/>
              </a:solidFill>
              <a:latin typeface="Times New Roman" panose="02020603050405020304" pitchFamily="18" charset="0"/>
            </a:endParaRPr>
          </a:p>
          <a:p>
            <a:pPr algn="just"/>
            <a:r>
              <a:rPr lang="en-US" sz="2400" b="0" i="0" u="none" strike="noStrike" baseline="0" dirty="0">
                <a:solidFill>
                  <a:srgbClr val="000000"/>
                </a:solidFill>
                <a:latin typeface="Times New Roman" panose="02020603050405020304" pitchFamily="18" charset="0"/>
              </a:rPr>
              <a:t>1. First check how many bars or intervals, also called classes, representing the data. Generally, many histograms consist of five to 15 bars or classes. </a:t>
            </a:r>
          </a:p>
          <a:p>
            <a:pPr algn="just"/>
            <a:r>
              <a:rPr lang="en-US" sz="2400" b="0" i="0" u="none" strike="noStrike" baseline="0" dirty="0">
                <a:solidFill>
                  <a:srgbClr val="000000"/>
                </a:solidFill>
                <a:latin typeface="Times New Roman" panose="02020603050405020304" pitchFamily="18" charset="0"/>
              </a:rPr>
              <a:t>2. A convenient starting point. </a:t>
            </a:r>
          </a:p>
          <a:p>
            <a:pPr algn="just"/>
            <a:r>
              <a:rPr lang="en-US" sz="2400" b="0" i="0" u="none" strike="noStrike" baseline="0" dirty="0">
                <a:solidFill>
                  <a:srgbClr val="000000"/>
                </a:solidFill>
                <a:latin typeface="Times New Roman" panose="02020603050405020304" pitchFamily="18" charset="0"/>
              </a:rPr>
              <a:t>3. The height of the bars depends on the frequency of that class or the relative frequency. </a:t>
            </a:r>
          </a:p>
          <a:p>
            <a:pPr algn="just"/>
            <a:r>
              <a:rPr lang="en-US" sz="2400" b="0" i="0" u="none" strike="noStrike" baseline="0" dirty="0">
                <a:solidFill>
                  <a:srgbClr val="000000"/>
                </a:solidFill>
                <a:latin typeface="Times New Roman" panose="02020603050405020304" pitchFamily="18" charset="0"/>
              </a:rPr>
              <a:t>4. There will be no gap between the classes’ bars. </a:t>
            </a:r>
          </a:p>
          <a:p>
            <a:pPr marL="0" indent="0">
              <a:buNone/>
            </a:pPr>
            <a:endParaRPr lang="en-PK" sz="18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200950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52E6A-34D9-99DF-2FF8-E1AF1984DB27}"/>
              </a:ext>
            </a:extLst>
          </p:cNvPr>
          <p:cNvSpPr>
            <a:spLocks noGrp="1"/>
          </p:cNvSpPr>
          <p:nvPr>
            <p:ph type="title"/>
          </p:nvPr>
        </p:nvSpPr>
        <p:spPr/>
        <p:txBody>
          <a:bodyPr>
            <a:normAutofit fontScale="90000"/>
          </a:bodyPr>
          <a:lstStyle/>
          <a:p>
            <a:br>
              <a:rPr lang="en-US" b="1" dirty="0"/>
            </a:br>
            <a:r>
              <a:rPr lang="en-US" sz="3100" b="1" dirty="0">
                <a:solidFill>
                  <a:srgbClr val="FF0000"/>
                </a:solidFill>
                <a:latin typeface="Times New Roman" panose="02020603050405020304" pitchFamily="18" charset="0"/>
                <a:cs typeface="Times New Roman" panose="02020603050405020304" pitchFamily="18" charset="0"/>
              </a:rPr>
              <a:t>Website Load Time Analysis</a:t>
            </a:r>
            <a:br>
              <a:rPr lang="en-US" b="1" dirty="0"/>
            </a:br>
            <a:endParaRPr lang="en-PK" dirty="0"/>
          </a:p>
        </p:txBody>
      </p:sp>
      <p:sp>
        <p:nvSpPr>
          <p:cNvPr id="3" name="Content Placeholder 2">
            <a:extLst>
              <a:ext uri="{FF2B5EF4-FFF2-40B4-BE49-F238E27FC236}">
                <a16:creationId xmlns:a16="http://schemas.microsoft.com/office/drawing/2014/main" id="{B2C51074-4384-B735-BDE6-83FF6AECC67B}"/>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A company tracks the website load times (in seconds) for 50 users:</a:t>
            </a:r>
          </a:p>
          <a:p>
            <a:pPr marL="0" indent="0">
              <a:buNone/>
            </a:pPr>
            <a:r>
              <a:rPr lang="en-US" sz="2600" dirty="0">
                <a:latin typeface="Times New Roman" panose="02020603050405020304" pitchFamily="18" charset="0"/>
                <a:cs typeface="Times New Roman" panose="02020603050405020304" pitchFamily="18" charset="0"/>
              </a:rPr>
              <a:t>1.2, 1.5, 1.8, 2.0, 2.1, 2.5, 2.8, 3.0, 3.2, 3.5, 3.8, 4.0, 4.2, 4.5, 5.0, </a:t>
            </a:r>
          </a:p>
          <a:p>
            <a:pPr marL="0" indent="0">
              <a:buNone/>
            </a:pPr>
            <a:r>
              <a:rPr lang="en-US" sz="2600" dirty="0">
                <a:latin typeface="Times New Roman" panose="02020603050405020304" pitchFamily="18" charset="0"/>
                <a:cs typeface="Times New Roman" panose="02020603050405020304" pitchFamily="18" charset="0"/>
              </a:rPr>
              <a:t>5.5, 6.0, 6.5, 7.0, 7.5, 8.0, 8.5, 9.0, 9.5, 10.0, 10.5, 11.0, 12.0, 12.5, 13.0</a:t>
            </a:r>
          </a:p>
          <a:p>
            <a:pPr>
              <a:buNone/>
            </a:pPr>
            <a:r>
              <a:rPr lang="en-US" sz="2600" b="1" dirty="0">
                <a:solidFill>
                  <a:srgbClr val="FF0000"/>
                </a:solidFill>
                <a:latin typeface="Times New Roman" panose="02020603050405020304" pitchFamily="18" charset="0"/>
                <a:cs typeface="Times New Roman" panose="02020603050405020304" pitchFamily="18" charset="0"/>
              </a:rPr>
              <a:t>Question:</a:t>
            </a:r>
          </a:p>
          <a:p>
            <a:pPr>
              <a:buFont typeface="+mj-lt"/>
              <a:buAutoNum type="arabicPeriod"/>
            </a:pPr>
            <a:r>
              <a:rPr lang="en-US" sz="2600" dirty="0">
                <a:latin typeface="Times New Roman" panose="02020603050405020304" pitchFamily="18" charset="0"/>
                <a:cs typeface="Times New Roman" panose="02020603050405020304" pitchFamily="18" charset="0"/>
              </a:rPr>
              <a:t>Construct a histogram for the given load times using bins of 2 seconds.</a:t>
            </a:r>
          </a:p>
          <a:p>
            <a:pPr>
              <a:buFont typeface="+mj-lt"/>
              <a:buAutoNum type="arabicPeriod"/>
            </a:pPr>
            <a:r>
              <a:rPr lang="en-US" sz="2600" dirty="0">
                <a:latin typeface="Times New Roman" panose="02020603050405020304" pitchFamily="18" charset="0"/>
                <a:cs typeface="Times New Roman" panose="02020603050405020304" pitchFamily="18" charset="0"/>
              </a:rPr>
              <a:t>What is the most common load time range?</a:t>
            </a:r>
          </a:p>
          <a:p>
            <a:pPr>
              <a:buFont typeface="+mj-lt"/>
              <a:buAutoNum type="arabicPeriod"/>
            </a:pPr>
            <a:r>
              <a:rPr lang="en-US" sz="2600" dirty="0">
                <a:latin typeface="Times New Roman" panose="02020603050405020304" pitchFamily="18" charset="0"/>
                <a:cs typeface="Times New Roman" panose="02020603050405020304" pitchFamily="18" charset="0"/>
              </a:rPr>
              <a:t>Identify the slowest loading time.</a:t>
            </a:r>
          </a:p>
          <a:p>
            <a:pPr>
              <a:buFont typeface="+mj-lt"/>
              <a:buAutoNum type="arabicPeriod"/>
            </a:pPr>
            <a:r>
              <a:rPr lang="en-US" sz="2600" dirty="0">
                <a:latin typeface="Times New Roman" panose="02020603050405020304" pitchFamily="18" charset="0"/>
                <a:cs typeface="Times New Roman" panose="02020603050405020304" pitchFamily="18" charset="0"/>
              </a:rPr>
              <a:t>What percentage of users experience a load time greater than 6 seconds?</a:t>
            </a:r>
          </a:p>
          <a:p>
            <a:pPr marL="0" indent="0">
              <a:buNone/>
            </a:pPr>
            <a:endParaRPr lang="en-US" dirty="0"/>
          </a:p>
          <a:p>
            <a:pPr marL="0" indent="0">
              <a:buNone/>
            </a:pPr>
            <a:endParaRPr lang="en-PK" dirty="0"/>
          </a:p>
        </p:txBody>
      </p:sp>
    </p:spTree>
    <p:extLst>
      <p:ext uri="{BB962C8B-B14F-4D97-AF65-F5344CB8AC3E}">
        <p14:creationId xmlns:p14="http://schemas.microsoft.com/office/powerpoint/2010/main" val="1060012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A2EB4-71C3-B6C2-DA33-F4C3D7983FC5}"/>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Continue…</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2050" name="Picture 2" descr="Output image">
            <a:extLst>
              <a:ext uri="{FF2B5EF4-FFF2-40B4-BE49-F238E27FC236}">
                <a16:creationId xmlns:a16="http://schemas.microsoft.com/office/drawing/2014/main" id="{B3E47047-14C7-BC35-6414-E9AC4B8A08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18406" y="1690688"/>
            <a:ext cx="535518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590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93F9B-2276-F807-D6D0-03C7E3DD0B8C}"/>
              </a:ext>
            </a:extLst>
          </p:cNvPr>
          <p:cNvSpPr>
            <a:spLocks noGrp="1"/>
          </p:cNvSpPr>
          <p:nvPr>
            <p:ph type="title"/>
          </p:nvPr>
        </p:nvSpPr>
        <p:spPr/>
        <p:txBody>
          <a:bodyPr>
            <a:noAutofit/>
          </a:bodyPr>
          <a:lstStyle/>
          <a:p>
            <a:pPr algn="just"/>
            <a:r>
              <a:rPr lang="en-US" sz="2400" dirty="0">
                <a:latin typeface="Times New Roman" panose="02020603050405020304" pitchFamily="18" charset="0"/>
                <a:cs typeface="Times New Roman" panose="02020603050405020304" pitchFamily="18" charset="0"/>
              </a:rPr>
              <a:t>The histogram above groups the data into six bins of 2 seconds each.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Each bin represents a range of 2 seconds (e.g., 0-2s, 2-4s, 4-6s, etc.), and the height of each bar indicates the number of load times in that range.</a:t>
            </a:r>
            <a:br>
              <a:rPr lang="en-US" sz="2400" dirty="0">
                <a:latin typeface="Times New Roman" panose="02020603050405020304" pitchFamily="18" charset="0"/>
                <a:cs typeface="Times New Roman" panose="02020603050405020304" pitchFamily="18" charset="0"/>
              </a:rPr>
            </a:br>
            <a:endParaRPr lang="en-PK"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CA9AE53-BEFC-0182-E65A-A7768BCFE985}"/>
              </a:ext>
            </a:extLst>
          </p:cNvPr>
          <p:cNvSpPr>
            <a:spLocks noGrp="1"/>
          </p:cNvSpPr>
          <p:nvPr>
            <p:ph idx="1"/>
          </p:nvPr>
        </p:nvSpPr>
        <p:spPr/>
        <p:txBody>
          <a:bodyPr/>
          <a:lstStyle/>
          <a:p>
            <a:pPr>
              <a:buNone/>
            </a:pPr>
            <a:r>
              <a:rPr lang="en-US" sz="2400" b="1" dirty="0">
                <a:latin typeface="Times New Roman" panose="02020603050405020304" pitchFamily="18" charset="0"/>
                <a:cs typeface="Times New Roman" panose="02020603050405020304" pitchFamily="18" charset="0"/>
              </a:rPr>
              <a:t>What is the most common load time range?</a:t>
            </a:r>
          </a:p>
          <a:p>
            <a:pPr marL="0" indent="0">
              <a:buNone/>
            </a:pPr>
            <a:r>
              <a:rPr lang="en-US" sz="2400" dirty="0">
                <a:latin typeface="Times New Roman" panose="02020603050405020304" pitchFamily="18" charset="0"/>
                <a:cs typeface="Times New Roman" panose="02020603050405020304" pitchFamily="18" charset="0"/>
              </a:rPr>
              <a:t> The most frequent load time range is 2–4 seconds, as it has the highest bar in the histogram.</a:t>
            </a:r>
          </a:p>
          <a:p>
            <a:pPr>
              <a:buNone/>
            </a:pPr>
            <a:r>
              <a:rPr lang="en-US" sz="2400" b="1" dirty="0">
                <a:latin typeface="Times New Roman" panose="02020603050405020304" pitchFamily="18" charset="0"/>
                <a:cs typeface="Times New Roman" panose="02020603050405020304" pitchFamily="18" charset="0"/>
              </a:rPr>
              <a:t>Identify the slowest loading time</a:t>
            </a:r>
          </a:p>
          <a:p>
            <a:pPr marL="0" indent="0">
              <a:buNone/>
            </a:pPr>
            <a:r>
              <a:rPr lang="en-US" sz="2400" dirty="0">
                <a:latin typeface="Times New Roman" panose="02020603050405020304" pitchFamily="18" charset="0"/>
                <a:cs typeface="Times New Roman" panose="02020603050405020304" pitchFamily="18" charset="0"/>
              </a:rPr>
              <a:t>The slowest loading time in the dataset is 13.0 seconds.</a:t>
            </a:r>
          </a:p>
          <a:p>
            <a:pPr>
              <a:buNone/>
            </a:pPr>
            <a:r>
              <a:rPr lang="en-US" sz="2400" b="1" dirty="0">
                <a:latin typeface="Times New Roman" panose="02020603050405020304" pitchFamily="18" charset="0"/>
                <a:cs typeface="Times New Roman" panose="02020603050405020304" pitchFamily="18" charset="0"/>
              </a:rPr>
              <a:t>What percentage of users experience a load time greater than 6 seconds?</a:t>
            </a:r>
          </a:p>
          <a:p>
            <a:pPr marL="0" indent="0">
              <a:buNone/>
            </a:pPr>
            <a:r>
              <a:rPr lang="en-US" sz="2400" b="1" dirty="0">
                <a:latin typeface="Times New Roman" panose="02020603050405020304" pitchFamily="18" charset="0"/>
                <a:cs typeface="Times New Roman" panose="02020603050405020304" pitchFamily="18" charset="0"/>
              </a:rPr>
              <a:t>Step 1:</a:t>
            </a:r>
            <a:r>
              <a:rPr lang="en-US" sz="2400" dirty="0">
                <a:latin typeface="Times New Roman" panose="02020603050405020304" pitchFamily="18" charset="0"/>
                <a:cs typeface="Times New Roman" panose="02020603050405020304" pitchFamily="18" charset="0"/>
              </a:rPr>
              <a:t> Count the number of users with load times greater than 6 seconds:</a:t>
            </a:r>
          </a:p>
          <a:p>
            <a:pPr marL="0" indent="0">
              <a:buNone/>
            </a:pPr>
            <a:endParaRPr lang="en-US" dirty="0"/>
          </a:p>
          <a:p>
            <a:pPr marL="0" indent="0">
              <a:buNone/>
            </a:pPr>
            <a:endParaRPr lang="en-PK" dirty="0"/>
          </a:p>
        </p:txBody>
      </p:sp>
    </p:spTree>
    <p:extLst>
      <p:ext uri="{BB962C8B-B14F-4D97-AF65-F5344CB8AC3E}">
        <p14:creationId xmlns:p14="http://schemas.microsoft.com/office/powerpoint/2010/main" val="3406392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0E1F8-EC49-8A9A-8CD2-335547EFFC34}"/>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Continue…</a:t>
            </a:r>
            <a:endParaRPr lang="en-PK"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B0285D-44ED-943C-03C3-B33846DEF827}"/>
              </a:ext>
            </a:extLst>
          </p:cNvPr>
          <p:cNvSpPr>
            <a:spLocks noGrp="1"/>
          </p:cNvSpPr>
          <p:nvPr>
            <p:ph idx="1"/>
          </p:nvPr>
        </p:nvSpPr>
        <p:spPr/>
        <p:txBody>
          <a:bodyPr>
            <a:normAutofit/>
          </a:bodyPr>
          <a:lstStyle/>
          <a:p>
            <a:pPr marL="0" indent="0">
              <a:buNone/>
            </a:pPr>
            <a:r>
              <a:rPr lang="en-PK" sz="2400" dirty="0">
                <a:latin typeface="Times New Roman" panose="02020603050405020304" pitchFamily="18" charset="0"/>
                <a:cs typeface="Times New Roman" panose="02020603050405020304" pitchFamily="18" charset="0"/>
              </a:rPr>
              <a:t>6.5, 7.0, 7.5, 8.0, 8.5, 9.0, 9.5, 10.0, 10.5, 11.0, 12.0, 12.5, 13.0</a:t>
            </a:r>
          </a:p>
          <a:p>
            <a:pPr>
              <a:buNone/>
            </a:pPr>
            <a:r>
              <a:rPr lang="en-US" sz="2400" dirty="0">
                <a:latin typeface="Times New Roman" panose="02020603050405020304" pitchFamily="18" charset="0"/>
                <a:cs typeface="Times New Roman" panose="02020603050405020304" pitchFamily="18" charset="0"/>
              </a:rPr>
              <a:t>Total users in this range: 13</a:t>
            </a:r>
          </a:p>
          <a:p>
            <a:pPr>
              <a:buNone/>
            </a:pPr>
            <a:r>
              <a:rPr lang="en-US" sz="2400" b="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Calculate the percentage:</a:t>
            </a:r>
          </a:p>
          <a:p>
            <a:pPr>
              <a:buNone/>
            </a:pPr>
            <a:r>
              <a:rPr lang="en-US" sz="2400" dirty="0">
                <a:latin typeface="Times New Roman" panose="02020603050405020304" pitchFamily="18" charset="0"/>
                <a:cs typeface="Times New Roman" panose="02020603050405020304" pitchFamily="18" charset="0"/>
              </a:rPr>
              <a:t>                      (13/30) * 100 = 43. 33%</a:t>
            </a:r>
          </a:p>
          <a:p>
            <a:pPr>
              <a:buNone/>
            </a:pPr>
            <a:r>
              <a:rPr lang="en-US" sz="2400" b="1" dirty="0">
                <a:latin typeface="Times New Roman" panose="02020603050405020304" pitchFamily="18" charset="0"/>
                <a:cs typeface="Times New Roman" panose="02020603050405020304" pitchFamily="18" charset="0"/>
              </a:rPr>
              <a:t>Answer:</a:t>
            </a:r>
            <a:r>
              <a:rPr lang="en-US" sz="2400" dirty="0">
                <a:latin typeface="Times New Roman" panose="02020603050405020304" pitchFamily="18" charset="0"/>
                <a:cs typeface="Times New Roman" panose="02020603050405020304" pitchFamily="18" charset="0"/>
              </a:rPr>
              <a:t> 43.33% of users experience load times greater than 6 seconds.</a:t>
            </a:r>
          </a:p>
        </p:txBody>
      </p:sp>
    </p:spTree>
    <p:extLst>
      <p:ext uri="{BB962C8B-B14F-4D97-AF65-F5344CB8AC3E}">
        <p14:creationId xmlns:p14="http://schemas.microsoft.com/office/powerpoint/2010/main" val="4043832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62E8C-D6C2-B737-4D95-50554784D508}"/>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Measures of the Location of the Data</a:t>
            </a:r>
            <a:endParaRPr lang="en-PK"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F97945-E314-820B-C797-F62940D4A1E1}"/>
              </a:ext>
            </a:extLst>
          </p:cNvPr>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Measures of location (also called measures of central tendency) help identify a representative value in a dataset. These values tell us where most of the data points "center" around or how they are distributed.</a:t>
            </a:r>
          </a:p>
          <a:p>
            <a:pPr algn="just">
              <a:buNone/>
            </a:pPr>
            <a:r>
              <a:rPr lang="en-US" sz="2400" dirty="0">
                <a:latin typeface="Times New Roman" panose="02020603050405020304" pitchFamily="18" charset="0"/>
                <a:cs typeface="Times New Roman" panose="02020603050405020304" pitchFamily="18" charset="0"/>
              </a:rPr>
              <a:t>Commonly used measures include:</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Mean (Arithmetic Average)</a:t>
            </a:r>
            <a:r>
              <a:rPr lang="en-US" sz="2400" dirty="0">
                <a:latin typeface="Times New Roman" panose="02020603050405020304" pitchFamily="18" charset="0"/>
                <a:cs typeface="Times New Roman" panose="02020603050405020304" pitchFamily="18" charset="0"/>
              </a:rPr>
              <a:t> – The sum of all values divided by the total number of values.</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Median (Middle Value)</a:t>
            </a:r>
            <a:r>
              <a:rPr lang="en-US" sz="2400" dirty="0">
                <a:latin typeface="Times New Roman" panose="02020603050405020304" pitchFamily="18" charset="0"/>
                <a:cs typeface="Times New Roman" panose="02020603050405020304" pitchFamily="18" charset="0"/>
              </a:rPr>
              <a:t> – The middle value when data is arranged in ascending order.</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Mode (Most Frequent Value)</a:t>
            </a:r>
            <a:r>
              <a:rPr lang="en-US" sz="2400" dirty="0">
                <a:latin typeface="Times New Roman" panose="02020603050405020304" pitchFamily="18" charset="0"/>
                <a:cs typeface="Times New Roman" panose="02020603050405020304" pitchFamily="18" charset="0"/>
              </a:rPr>
              <a:t> – The value that appears most frequently.</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Percentiles &amp; Quartiles</a:t>
            </a:r>
            <a:r>
              <a:rPr lang="en-US" sz="2400" dirty="0">
                <a:latin typeface="Times New Roman" panose="02020603050405020304" pitchFamily="18" charset="0"/>
                <a:cs typeface="Times New Roman" panose="02020603050405020304" pitchFamily="18" charset="0"/>
              </a:rPr>
              <a:t> – Values that divide data into equal parts, often used in </a:t>
            </a:r>
            <a:r>
              <a:rPr lang="en-US" sz="2400" b="1" dirty="0">
                <a:latin typeface="Times New Roman" panose="02020603050405020304" pitchFamily="18" charset="0"/>
                <a:cs typeface="Times New Roman" panose="02020603050405020304" pitchFamily="18" charset="0"/>
              </a:rPr>
              <a:t>performance analysis</a:t>
            </a:r>
            <a:r>
              <a:rPr lang="en-US" sz="2400" dirty="0">
                <a:latin typeface="Times New Roman" panose="02020603050405020304" pitchFamily="18" charset="0"/>
                <a:cs typeface="Times New Roman" panose="02020603050405020304" pitchFamily="18" charset="0"/>
              </a:rPr>
              <a:t>.</a:t>
            </a:r>
          </a:p>
          <a:p>
            <a:endParaRPr lang="en-PK" dirty="0"/>
          </a:p>
        </p:txBody>
      </p:sp>
    </p:spTree>
    <p:extLst>
      <p:ext uri="{BB962C8B-B14F-4D97-AF65-F5344CB8AC3E}">
        <p14:creationId xmlns:p14="http://schemas.microsoft.com/office/powerpoint/2010/main" val="1874249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627BD-1828-B01C-781E-6C1FE816F7B0}"/>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Quartiles and Deciles:</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CEAF8AF-492F-BF49-883C-FC33B2EB30A1}"/>
              </a:ext>
            </a:extLst>
          </p:cNvPr>
          <p:cNvPicPr>
            <a:picLocks noGrp="1" noChangeAspect="1"/>
          </p:cNvPicPr>
          <p:nvPr>
            <p:ph idx="1"/>
          </p:nvPr>
        </p:nvPicPr>
        <p:blipFill>
          <a:blip r:embed="rId2"/>
          <a:stretch>
            <a:fillRect/>
          </a:stretch>
        </p:blipFill>
        <p:spPr>
          <a:xfrm>
            <a:off x="2082018" y="1690688"/>
            <a:ext cx="8018585" cy="3908255"/>
          </a:xfrm>
        </p:spPr>
      </p:pic>
    </p:spTree>
    <p:extLst>
      <p:ext uri="{BB962C8B-B14F-4D97-AF65-F5344CB8AC3E}">
        <p14:creationId xmlns:p14="http://schemas.microsoft.com/office/powerpoint/2010/main" val="657552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1CC0C-E64D-9C16-8241-122A20D9B78A}"/>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Procedure Table</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99D04F0-70D3-81F9-A7DC-4F4AF9C4C5DF}"/>
              </a:ext>
            </a:extLst>
          </p:cNvPr>
          <p:cNvPicPr>
            <a:picLocks noGrp="1" noChangeAspect="1"/>
          </p:cNvPicPr>
          <p:nvPr>
            <p:ph idx="1"/>
          </p:nvPr>
        </p:nvPicPr>
        <p:blipFill>
          <a:blip r:embed="rId2"/>
          <a:stretch>
            <a:fillRect/>
          </a:stretch>
        </p:blipFill>
        <p:spPr>
          <a:xfrm>
            <a:off x="2110155" y="2110155"/>
            <a:ext cx="7258928" cy="3671668"/>
          </a:xfrm>
        </p:spPr>
      </p:pic>
    </p:spTree>
    <p:extLst>
      <p:ext uri="{BB962C8B-B14F-4D97-AF65-F5344CB8AC3E}">
        <p14:creationId xmlns:p14="http://schemas.microsoft.com/office/powerpoint/2010/main" val="3927766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301B-FA20-9C2E-C25F-F50D83F3A122}"/>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0ACA657A-8124-751A-F4D0-56B56F26BEAF}"/>
              </a:ext>
            </a:extLst>
          </p:cNvPr>
          <p:cNvPicPr>
            <a:picLocks noGrp="1" noChangeAspect="1"/>
          </p:cNvPicPr>
          <p:nvPr>
            <p:ph idx="1"/>
          </p:nvPr>
        </p:nvPicPr>
        <p:blipFill>
          <a:blip r:embed="rId2"/>
          <a:stretch>
            <a:fillRect/>
          </a:stretch>
        </p:blipFill>
        <p:spPr>
          <a:xfrm>
            <a:off x="2390775" y="1834356"/>
            <a:ext cx="7410450" cy="4333875"/>
          </a:xfrm>
        </p:spPr>
      </p:pic>
    </p:spTree>
    <p:extLst>
      <p:ext uri="{BB962C8B-B14F-4D97-AF65-F5344CB8AC3E}">
        <p14:creationId xmlns:p14="http://schemas.microsoft.com/office/powerpoint/2010/main" val="4123710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3DE0-6139-1B46-A380-CD33BE4B599C}"/>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1BE4DDC2-619B-684A-2A8D-0349F21E156F}"/>
              </a:ext>
            </a:extLst>
          </p:cNvPr>
          <p:cNvPicPr>
            <a:picLocks noGrp="1" noChangeAspect="1"/>
          </p:cNvPicPr>
          <p:nvPr>
            <p:ph idx="1"/>
          </p:nvPr>
        </p:nvPicPr>
        <p:blipFill>
          <a:blip r:embed="rId2"/>
          <a:stretch>
            <a:fillRect/>
          </a:stretch>
        </p:blipFill>
        <p:spPr>
          <a:xfrm>
            <a:off x="2419642" y="2560319"/>
            <a:ext cx="7005711" cy="3334043"/>
          </a:xfrm>
        </p:spPr>
      </p:pic>
    </p:spTree>
    <p:extLst>
      <p:ext uri="{BB962C8B-B14F-4D97-AF65-F5344CB8AC3E}">
        <p14:creationId xmlns:p14="http://schemas.microsoft.com/office/powerpoint/2010/main" val="4184016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ED970-133D-1538-7EB5-10EEC2D0201D}"/>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Deciles</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7C3CEB4-00E0-0850-8A13-9291B70A3842}"/>
              </a:ext>
            </a:extLst>
          </p:cNvPr>
          <p:cNvPicPr>
            <a:picLocks noGrp="1" noChangeAspect="1"/>
          </p:cNvPicPr>
          <p:nvPr>
            <p:ph idx="1"/>
          </p:nvPr>
        </p:nvPicPr>
        <p:blipFill>
          <a:blip r:embed="rId2"/>
          <a:stretch>
            <a:fillRect/>
          </a:stretch>
        </p:blipFill>
        <p:spPr>
          <a:xfrm>
            <a:off x="1441938" y="1490797"/>
            <a:ext cx="7237827" cy="1447800"/>
          </a:xfrm>
        </p:spPr>
      </p:pic>
      <p:pic>
        <p:nvPicPr>
          <p:cNvPr id="7" name="Picture 6">
            <a:extLst>
              <a:ext uri="{FF2B5EF4-FFF2-40B4-BE49-F238E27FC236}">
                <a16:creationId xmlns:a16="http://schemas.microsoft.com/office/drawing/2014/main" id="{59D22D13-259C-4747-D049-4195CCA385C0}"/>
              </a:ext>
            </a:extLst>
          </p:cNvPr>
          <p:cNvPicPr>
            <a:picLocks noChangeAspect="1"/>
          </p:cNvPicPr>
          <p:nvPr/>
        </p:nvPicPr>
        <p:blipFill>
          <a:blip r:embed="rId3"/>
          <a:stretch>
            <a:fillRect/>
          </a:stretch>
        </p:blipFill>
        <p:spPr>
          <a:xfrm>
            <a:off x="1441938" y="3429000"/>
            <a:ext cx="7941213" cy="1885950"/>
          </a:xfrm>
          <a:prstGeom prst="rect">
            <a:avLst/>
          </a:prstGeom>
        </p:spPr>
      </p:pic>
    </p:spTree>
    <p:extLst>
      <p:ext uri="{BB962C8B-B14F-4D97-AF65-F5344CB8AC3E}">
        <p14:creationId xmlns:p14="http://schemas.microsoft.com/office/powerpoint/2010/main" val="1096279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458DFB9A-6810-7BB6-5A10-9D90F5E6038D}"/>
              </a:ext>
            </a:extLst>
          </p:cNvPr>
          <p:cNvPicPr>
            <a:picLocks noChangeAspect="1"/>
          </p:cNvPicPr>
          <p:nvPr/>
        </p:nvPicPr>
        <p:blipFill>
          <a:blip r:embed="rId2"/>
          <a:stretch>
            <a:fillRect/>
          </a:stretch>
        </p:blipFill>
        <p:spPr>
          <a:xfrm>
            <a:off x="2301972" y="438150"/>
            <a:ext cx="6153150" cy="2990850"/>
          </a:xfrm>
          <a:prstGeom prst="rect">
            <a:avLst/>
          </a:prstGeom>
        </p:spPr>
      </p:pic>
      <p:pic>
        <p:nvPicPr>
          <p:cNvPr id="3" name="Picture 2">
            <a:extLst>
              <a:ext uri="{FF2B5EF4-FFF2-40B4-BE49-F238E27FC236}">
                <a16:creationId xmlns:a16="http://schemas.microsoft.com/office/drawing/2014/main" id="{E548D533-417E-FC26-28DF-F0393FEE2DBF}"/>
              </a:ext>
            </a:extLst>
          </p:cNvPr>
          <p:cNvPicPr>
            <a:picLocks noChangeAspect="1"/>
          </p:cNvPicPr>
          <p:nvPr/>
        </p:nvPicPr>
        <p:blipFill>
          <a:blip r:embed="rId3"/>
          <a:stretch>
            <a:fillRect/>
          </a:stretch>
        </p:blipFill>
        <p:spPr>
          <a:xfrm>
            <a:off x="838200" y="4025045"/>
            <a:ext cx="10515599" cy="1762125"/>
          </a:xfrm>
          <a:prstGeom prst="rect">
            <a:avLst/>
          </a:prstGeom>
        </p:spPr>
      </p:pic>
    </p:spTree>
    <p:extLst>
      <p:ext uri="{BB962C8B-B14F-4D97-AF65-F5344CB8AC3E}">
        <p14:creationId xmlns:p14="http://schemas.microsoft.com/office/powerpoint/2010/main" val="3347220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E22B57-6999-3FE2-82ED-C45B93830EF3}"/>
              </a:ext>
            </a:extLst>
          </p:cNvPr>
          <p:cNvPicPr>
            <a:picLocks noChangeAspect="1"/>
          </p:cNvPicPr>
          <p:nvPr/>
        </p:nvPicPr>
        <p:blipFill>
          <a:blip r:embed="rId2"/>
          <a:stretch>
            <a:fillRect/>
          </a:stretch>
        </p:blipFill>
        <p:spPr>
          <a:xfrm>
            <a:off x="1814731" y="1308295"/>
            <a:ext cx="8187397" cy="4121833"/>
          </a:xfrm>
          <a:prstGeom prst="rect">
            <a:avLst/>
          </a:prstGeom>
        </p:spPr>
      </p:pic>
    </p:spTree>
    <p:extLst>
      <p:ext uri="{BB962C8B-B14F-4D97-AF65-F5344CB8AC3E}">
        <p14:creationId xmlns:p14="http://schemas.microsoft.com/office/powerpoint/2010/main" val="317777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FD616-9942-A4BE-3B51-ADF67B1B40D3}"/>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A Formula for Finding the Kth Percentile</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0628A0EA-6AEA-8C03-25D6-03C83E5B3B81}"/>
              </a:ext>
            </a:extLst>
          </p:cNvPr>
          <p:cNvPicPr>
            <a:picLocks noGrp="1" noChangeAspect="1"/>
          </p:cNvPicPr>
          <p:nvPr>
            <p:ph idx="1"/>
          </p:nvPr>
        </p:nvPicPr>
        <p:blipFill>
          <a:blip r:embed="rId2"/>
          <a:stretch>
            <a:fillRect/>
          </a:stretch>
        </p:blipFill>
        <p:spPr>
          <a:xfrm>
            <a:off x="1314450" y="2020094"/>
            <a:ext cx="9563100" cy="3962400"/>
          </a:xfrm>
        </p:spPr>
      </p:pic>
    </p:spTree>
    <p:extLst>
      <p:ext uri="{BB962C8B-B14F-4D97-AF65-F5344CB8AC3E}">
        <p14:creationId xmlns:p14="http://schemas.microsoft.com/office/powerpoint/2010/main" val="3651755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94A72-DEF3-B47D-4A9D-80C492FEA35D}"/>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Question:</a:t>
            </a:r>
            <a:endParaRPr lang="en-PK"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6E9041-D2A9-6AF4-89AA-28F5F29DD1FC}"/>
              </a:ext>
            </a:extLst>
          </p:cNvPr>
          <p:cNvSpPr>
            <a:spLocks noGrp="1"/>
          </p:cNvSpPr>
          <p:nvPr>
            <p:ph idx="1"/>
          </p:nvPr>
        </p:nvSpPr>
        <p:spPr/>
        <p:txBody>
          <a:bodyPr/>
          <a:lstStyle/>
          <a:p>
            <a:pPr>
              <a:buNone/>
            </a:pPr>
            <a:r>
              <a:rPr lang="en-US" sz="2400" dirty="0">
                <a:latin typeface="Times New Roman" panose="02020603050405020304" pitchFamily="18" charset="0"/>
                <a:cs typeface="Times New Roman" panose="02020603050405020304" pitchFamily="18" charset="0"/>
              </a:rPr>
              <a:t>A network administrator collects latency (response time in milliseconds) data for a web server. The recorded response times (in ascending order) are:</a:t>
            </a:r>
          </a:p>
          <a:p>
            <a:pPr>
              <a:buNone/>
            </a:pPr>
            <a:r>
              <a:rPr lang="en-US" sz="2400" dirty="0">
                <a:latin typeface="Times New Roman" panose="02020603050405020304" pitchFamily="18" charset="0"/>
                <a:cs typeface="Times New Roman" panose="02020603050405020304" pitchFamily="18" charset="0"/>
              </a:rPr>
              <a:t>12,18,20,25,30,35,40,42,50,55,60,65,70,75,80 </a:t>
            </a:r>
          </a:p>
          <a:p>
            <a:pPr>
              <a:buNone/>
            </a:pPr>
            <a:r>
              <a:rPr lang="en-US" sz="2400" dirty="0">
                <a:latin typeface="Times New Roman" panose="02020603050405020304" pitchFamily="18" charset="0"/>
                <a:cs typeface="Times New Roman" panose="02020603050405020304" pitchFamily="18" charset="0"/>
              </a:rPr>
              <a:t>Find:</a:t>
            </a:r>
          </a:p>
          <a:p>
            <a:pPr>
              <a:buFont typeface="+mj-lt"/>
              <a:buAutoNum type="arabicPeriod"/>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25th percentile (P₂₅)</a:t>
            </a:r>
            <a:endParaRPr lang="en-US" sz="2400" dirty="0">
              <a:latin typeface="Times New Roman" panose="02020603050405020304" pitchFamily="18" charset="0"/>
              <a:cs typeface="Times New Roman" panose="02020603050405020304" pitchFamily="18" charset="0"/>
            </a:endParaRPr>
          </a:p>
          <a:p>
            <a:pPr>
              <a:buFont typeface="+mj-lt"/>
              <a:buAutoNum type="arabicPeriod"/>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90th percentile (P₉₀)</a:t>
            </a:r>
            <a:endParaRPr lang="en-US" sz="2400" dirty="0">
              <a:latin typeface="Times New Roman" panose="02020603050405020304" pitchFamily="18" charset="0"/>
              <a:cs typeface="Times New Roman" panose="02020603050405020304" pitchFamily="18" charset="0"/>
            </a:endParaRPr>
          </a:p>
          <a:p>
            <a:pPr marL="0" indent="0">
              <a:buNone/>
            </a:pPr>
            <a:endParaRPr lang="en-PK" dirty="0"/>
          </a:p>
        </p:txBody>
      </p:sp>
    </p:spTree>
    <p:extLst>
      <p:ext uri="{BB962C8B-B14F-4D97-AF65-F5344CB8AC3E}">
        <p14:creationId xmlns:p14="http://schemas.microsoft.com/office/powerpoint/2010/main" val="2228271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98210-79FC-B33E-9FA7-24E6BBCDBF3B}"/>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Continue…</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AE66376-704D-0DF1-2828-BA05E8EF476B}"/>
              </a:ext>
            </a:extLst>
          </p:cNvPr>
          <p:cNvPicPr>
            <a:picLocks noGrp="1" noChangeAspect="1"/>
          </p:cNvPicPr>
          <p:nvPr>
            <p:ph idx="1"/>
          </p:nvPr>
        </p:nvPicPr>
        <p:blipFill>
          <a:blip r:embed="rId2"/>
          <a:stretch>
            <a:fillRect/>
          </a:stretch>
        </p:blipFill>
        <p:spPr>
          <a:xfrm>
            <a:off x="1702191" y="2124222"/>
            <a:ext cx="8328074" cy="3840480"/>
          </a:xfrm>
        </p:spPr>
      </p:pic>
    </p:spTree>
    <p:extLst>
      <p:ext uri="{BB962C8B-B14F-4D97-AF65-F5344CB8AC3E}">
        <p14:creationId xmlns:p14="http://schemas.microsoft.com/office/powerpoint/2010/main" val="1248595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04F89-AC24-DFC1-822C-D13334475478}"/>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Continue…</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35609679-6B00-557C-D872-94331EA92CCF}"/>
              </a:ext>
            </a:extLst>
          </p:cNvPr>
          <p:cNvPicPr>
            <a:picLocks noGrp="1" noChangeAspect="1"/>
          </p:cNvPicPr>
          <p:nvPr>
            <p:ph idx="1"/>
          </p:nvPr>
        </p:nvPicPr>
        <p:blipFill>
          <a:blip r:embed="rId2"/>
          <a:stretch>
            <a:fillRect/>
          </a:stretch>
        </p:blipFill>
        <p:spPr>
          <a:xfrm>
            <a:off x="1444356" y="1690688"/>
            <a:ext cx="8825059" cy="3837915"/>
          </a:xfrm>
        </p:spPr>
      </p:pic>
    </p:spTree>
    <p:extLst>
      <p:ext uri="{BB962C8B-B14F-4D97-AF65-F5344CB8AC3E}">
        <p14:creationId xmlns:p14="http://schemas.microsoft.com/office/powerpoint/2010/main" val="4028279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13055-9B13-AAD0-2835-D86549567B32}"/>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Question 2:</a:t>
            </a:r>
            <a:endParaRPr lang="en-PK"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669FAD-FAC0-7BB2-C878-AA005452B3F7}"/>
              </a:ext>
            </a:extLst>
          </p:cNvPr>
          <p:cNvSpPr>
            <a:spLocks noGrp="1"/>
          </p:cNvSpPr>
          <p:nvPr>
            <p:ph idx="1"/>
          </p:nvPr>
        </p:nvSpPr>
        <p:spPr/>
        <p:txBody>
          <a:bodyPr/>
          <a:lstStyle/>
          <a:p>
            <a:pPr algn="just">
              <a:buNone/>
            </a:pPr>
            <a:r>
              <a:rPr lang="en-US" sz="2400" dirty="0">
                <a:latin typeface="Times New Roman" panose="02020603050405020304" pitchFamily="18" charset="0"/>
                <a:cs typeface="Times New Roman" panose="02020603050405020304" pitchFamily="18" charset="0"/>
              </a:rPr>
              <a:t>A programmer measures the execution time (in milliseconds) of a sorting algorithm on different input sizes. The recorded times (sorted) are:</a:t>
            </a:r>
          </a:p>
          <a:p>
            <a:pPr>
              <a:buNone/>
            </a:pPr>
            <a:r>
              <a:rPr lang="en-US" sz="2400" dirty="0">
                <a:latin typeface="Times New Roman" panose="02020603050405020304" pitchFamily="18" charset="0"/>
                <a:cs typeface="Times New Roman" panose="02020603050405020304" pitchFamily="18" charset="0"/>
              </a:rPr>
              <a:t>5,7,9,10,12,15,18,20,25,30,35,40,45,50,55,60,70,80. Find:</a:t>
            </a:r>
          </a:p>
          <a:p>
            <a:pPr>
              <a:buFont typeface="+mj-lt"/>
              <a:buAutoNum type="arabicPeriod"/>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50th percentile (P₅₀)</a:t>
            </a:r>
          </a:p>
          <a:p>
            <a:pPr algn="just">
              <a:buFont typeface="+mj-lt"/>
              <a:buAutoNum type="arabicPeriod"/>
            </a:pPr>
            <a:r>
              <a:rPr lang="en-US" sz="2400" dirty="0">
                <a:latin typeface="Times New Roman" panose="02020603050405020304" pitchFamily="18" charset="0"/>
                <a:cs typeface="Times New Roman" panose="02020603050405020304" pitchFamily="18" charset="0"/>
              </a:rPr>
              <a:t> 75th percentile (P₇₅</a:t>
            </a:r>
            <a:r>
              <a:rPr lang="en-US" sz="2400" b="1"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endParaRPr lang="en-PK" dirty="0"/>
          </a:p>
        </p:txBody>
      </p:sp>
    </p:spTree>
    <p:extLst>
      <p:ext uri="{BB962C8B-B14F-4D97-AF65-F5344CB8AC3E}">
        <p14:creationId xmlns:p14="http://schemas.microsoft.com/office/powerpoint/2010/main" val="3586750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294B7E-02B4-A26C-B521-F2A662D9760C}"/>
              </a:ext>
            </a:extLst>
          </p:cNvPr>
          <p:cNvPicPr>
            <a:picLocks noChangeAspect="1"/>
          </p:cNvPicPr>
          <p:nvPr/>
        </p:nvPicPr>
        <p:blipFill>
          <a:blip r:embed="rId2"/>
          <a:stretch>
            <a:fillRect/>
          </a:stretch>
        </p:blipFill>
        <p:spPr>
          <a:xfrm>
            <a:off x="2203792" y="998586"/>
            <a:ext cx="6574448" cy="1400175"/>
          </a:xfrm>
          <a:prstGeom prst="rect">
            <a:avLst/>
          </a:prstGeom>
        </p:spPr>
      </p:pic>
      <p:pic>
        <p:nvPicPr>
          <p:cNvPr id="5" name="Picture 4">
            <a:extLst>
              <a:ext uri="{FF2B5EF4-FFF2-40B4-BE49-F238E27FC236}">
                <a16:creationId xmlns:a16="http://schemas.microsoft.com/office/drawing/2014/main" id="{205F938C-879A-743C-1D46-D3083D17C4C3}"/>
              </a:ext>
            </a:extLst>
          </p:cNvPr>
          <p:cNvPicPr>
            <a:picLocks noChangeAspect="1"/>
          </p:cNvPicPr>
          <p:nvPr/>
        </p:nvPicPr>
        <p:blipFill>
          <a:blip r:embed="rId3"/>
          <a:stretch>
            <a:fillRect/>
          </a:stretch>
        </p:blipFill>
        <p:spPr>
          <a:xfrm>
            <a:off x="1986915" y="2398761"/>
            <a:ext cx="8127756" cy="3095625"/>
          </a:xfrm>
          <a:prstGeom prst="rect">
            <a:avLst/>
          </a:prstGeom>
        </p:spPr>
      </p:pic>
    </p:spTree>
    <p:extLst>
      <p:ext uri="{BB962C8B-B14F-4D97-AF65-F5344CB8AC3E}">
        <p14:creationId xmlns:p14="http://schemas.microsoft.com/office/powerpoint/2010/main" val="2797322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AD14DE-6ACD-4F93-A529-3095DF5604E1}"/>
              </a:ext>
            </a:extLst>
          </p:cNvPr>
          <p:cNvPicPr>
            <a:picLocks noChangeAspect="1"/>
          </p:cNvPicPr>
          <p:nvPr/>
        </p:nvPicPr>
        <p:blipFill>
          <a:blip r:embed="rId2"/>
          <a:stretch>
            <a:fillRect/>
          </a:stretch>
        </p:blipFill>
        <p:spPr>
          <a:xfrm>
            <a:off x="2011681" y="1519312"/>
            <a:ext cx="7537132" cy="4276578"/>
          </a:xfrm>
          <a:prstGeom prst="rect">
            <a:avLst/>
          </a:prstGeom>
        </p:spPr>
      </p:pic>
    </p:spTree>
    <p:extLst>
      <p:ext uri="{BB962C8B-B14F-4D97-AF65-F5344CB8AC3E}">
        <p14:creationId xmlns:p14="http://schemas.microsoft.com/office/powerpoint/2010/main" val="3750347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03772-2587-A218-9AA3-D64C02E80066}"/>
              </a:ext>
            </a:extLst>
          </p:cNvPr>
          <p:cNvSpPr>
            <a:spLocks noGrp="1"/>
          </p:cNvSpPr>
          <p:nvPr>
            <p:ph type="title"/>
          </p:nvPr>
        </p:nvSpPr>
        <p:spPr/>
        <p:txBody>
          <a:bodyPr>
            <a:normAutofit/>
          </a:bodyPr>
          <a:lstStyle/>
          <a:p>
            <a:pPr algn="just"/>
            <a:r>
              <a:rPr lang="en-US" sz="2800" b="1" dirty="0">
                <a:solidFill>
                  <a:srgbClr val="FF0000"/>
                </a:solidFill>
                <a:latin typeface="Times New Roman" panose="02020603050405020304" pitchFamily="18" charset="0"/>
                <a:cs typeface="Times New Roman" panose="02020603050405020304" pitchFamily="18" charset="0"/>
              </a:rPr>
              <a:t>A Formula for finding the Percentile of a Value</a:t>
            </a:r>
            <a:br>
              <a:rPr lang="en-US" sz="2800" b="1" dirty="0">
                <a:solidFill>
                  <a:srgbClr val="FF0000"/>
                </a:solidFill>
                <a:latin typeface="Times New Roman" panose="02020603050405020304" pitchFamily="18" charset="0"/>
                <a:cs typeface="Times New Roman" panose="02020603050405020304" pitchFamily="18" charset="0"/>
              </a:rPr>
            </a:br>
            <a:r>
              <a:rPr lang="en-US" sz="2800" b="1" dirty="0">
                <a:solidFill>
                  <a:srgbClr val="FF0000"/>
                </a:solidFill>
                <a:latin typeface="Times New Roman" panose="02020603050405020304" pitchFamily="18" charset="0"/>
                <a:cs typeface="Times New Roman" panose="02020603050405020304" pitchFamily="18" charset="0"/>
              </a:rPr>
              <a:t>in a Data Set</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E0B9ABD4-BF96-1690-12AE-2E379A68E04E}"/>
              </a:ext>
            </a:extLst>
          </p:cNvPr>
          <p:cNvPicPr>
            <a:picLocks noGrp="1" noChangeAspect="1"/>
          </p:cNvPicPr>
          <p:nvPr>
            <p:ph idx="1"/>
          </p:nvPr>
        </p:nvPicPr>
        <p:blipFill>
          <a:blip r:embed="rId2"/>
          <a:stretch>
            <a:fillRect/>
          </a:stretch>
        </p:blipFill>
        <p:spPr>
          <a:xfrm>
            <a:off x="1285875" y="2039815"/>
            <a:ext cx="9620250" cy="3399754"/>
          </a:xfrm>
        </p:spPr>
      </p:pic>
    </p:spTree>
    <p:extLst>
      <p:ext uri="{BB962C8B-B14F-4D97-AF65-F5344CB8AC3E}">
        <p14:creationId xmlns:p14="http://schemas.microsoft.com/office/powerpoint/2010/main" val="2228304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C8AD-7035-CEA6-360C-ED6F340B77D2}"/>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Question:</a:t>
            </a:r>
            <a:endParaRPr lang="en-PK"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3B2DE2-99E9-193F-E97D-A113DB9F726B}"/>
              </a:ext>
            </a:extLst>
          </p:cNvPr>
          <p:cNvSpPr>
            <a:spLocks noGrp="1"/>
          </p:cNvSpPr>
          <p:nvPr>
            <p:ph idx="1"/>
          </p:nvPr>
        </p:nvSpPr>
        <p:spPr/>
        <p:txBody>
          <a:bodyPr/>
          <a:lstStyle/>
          <a:p>
            <a:pPr>
              <a:buNone/>
            </a:pPr>
            <a:r>
              <a:rPr lang="en-US" sz="2400" dirty="0">
                <a:latin typeface="Times New Roman" panose="02020603050405020304" pitchFamily="18" charset="0"/>
                <a:cs typeface="Times New Roman" panose="02020603050405020304" pitchFamily="18" charset="0"/>
              </a:rPr>
              <a:t>A web application logs response times (in milliseconds) from different user requests:</a:t>
            </a:r>
          </a:p>
          <a:p>
            <a:pPr marL="0" indent="0">
              <a:buNone/>
            </a:pPr>
            <a:r>
              <a:rPr lang="en-US" sz="2400" dirty="0">
                <a:latin typeface="Times New Roman" panose="02020603050405020304" pitchFamily="18" charset="0"/>
                <a:cs typeface="Times New Roman" panose="02020603050405020304" pitchFamily="18" charset="0"/>
              </a:rPr>
              <a:t>50,60,65,70,75,80,85,90,95,100,110,120,130,140,150,160,170,180,190,200. Find the percentile rank of 120 </a:t>
            </a:r>
            <a:r>
              <a:rPr lang="en-US" sz="2400" dirty="0" err="1">
                <a:latin typeface="Times New Roman" panose="02020603050405020304" pitchFamily="18" charset="0"/>
                <a:cs typeface="Times New Roman" panose="02020603050405020304" pitchFamily="18" charset="0"/>
              </a:rPr>
              <a:t>ms.</a:t>
            </a:r>
            <a:endParaRPr lang="en-US" sz="2400"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6" name="Picture 5">
            <a:extLst>
              <a:ext uri="{FF2B5EF4-FFF2-40B4-BE49-F238E27FC236}">
                <a16:creationId xmlns:a16="http://schemas.microsoft.com/office/drawing/2014/main" id="{A385F0C6-0E31-DCCD-C3BD-C0E6C6886064}"/>
              </a:ext>
            </a:extLst>
          </p:cNvPr>
          <p:cNvPicPr>
            <a:picLocks noChangeAspect="1"/>
          </p:cNvPicPr>
          <p:nvPr/>
        </p:nvPicPr>
        <p:blipFill>
          <a:blip r:embed="rId2"/>
          <a:stretch>
            <a:fillRect/>
          </a:stretch>
        </p:blipFill>
        <p:spPr>
          <a:xfrm>
            <a:off x="1814732" y="3635399"/>
            <a:ext cx="7399606" cy="2428875"/>
          </a:xfrm>
          <a:prstGeom prst="rect">
            <a:avLst/>
          </a:prstGeom>
        </p:spPr>
      </p:pic>
    </p:spTree>
    <p:extLst>
      <p:ext uri="{BB962C8B-B14F-4D97-AF65-F5344CB8AC3E}">
        <p14:creationId xmlns:p14="http://schemas.microsoft.com/office/powerpoint/2010/main" val="3252760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008B6-1E8D-BEA3-7E7A-2412F2A4CFFF}"/>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Continue…</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3703A1C-0BE9-4FA2-397E-AE2B6D99D07C}"/>
              </a:ext>
            </a:extLst>
          </p:cNvPr>
          <p:cNvPicPr>
            <a:picLocks noGrp="1" noChangeAspect="1"/>
          </p:cNvPicPr>
          <p:nvPr>
            <p:ph idx="1"/>
          </p:nvPr>
        </p:nvPicPr>
        <p:blipFill>
          <a:blip r:embed="rId2"/>
          <a:stretch>
            <a:fillRect/>
          </a:stretch>
        </p:blipFill>
        <p:spPr>
          <a:xfrm>
            <a:off x="1842868" y="2307101"/>
            <a:ext cx="8018584" cy="3460653"/>
          </a:xfrm>
        </p:spPr>
      </p:pic>
    </p:spTree>
    <p:extLst>
      <p:ext uri="{BB962C8B-B14F-4D97-AF65-F5344CB8AC3E}">
        <p14:creationId xmlns:p14="http://schemas.microsoft.com/office/powerpoint/2010/main" val="1676107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1018A-C6C9-35E3-3095-0BA036868A29}"/>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Useful Insights</a:t>
            </a:r>
            <a:endParaRPr lang="en-PK"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E75B19-5EEF-F0C1-D391-E740C6CDD349}"/>
              </a:ext>
            </a:extLst>
          </p:cNvPr>
          <p:cNvSpPr>
            <a:spLocks noGrp="1"/>
          </p:cNvSpPr>
          <p:nvPr>
            <p:ph idx="1"/>
          </p:nvPr>
        </p:nvSpPr>
        <p:spPr/>
        <p:txBody>
          <a:bodyPr/>
          <a:lstStyle/>
          <a:p>
            <a:pPr algn="just">
              <a:buNone/>
            </a:pPr>
            <a:r>
              <a:rPr lang="en-US" sz="2400" b="1" dirty="0">
                <a:latin typeface="Times New Roman" panose="02020603050405020304" pitchFamily="18" charset="0"/>
                <a:cs typeface="Times New Roman" panose="02020603050405020304" pitchFamily="18" charset="0"/>
              </a:rPr>
              <a:t>Application in Web Performance Analysis:</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in analyzing user experience—if 120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is the 57.5th percentile, it means 57.5% of requests are faster and 42.5% are slower.</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be used to optimize server response time and detect bottlenecks.</a:t>
            </a:r>
          </a:p>
          <a:p>
            <a:pPr marL="0" indent="0">
              <a:buNone/>
            </a:pPr>
            <a:endParaRPr lang="en-PK" dirty="0"/>
          </a:p>
        </p:txBody>
      </p:sp>
    </p:spTree>
    <p:extLst>
      <p:ext uri="{BB962C8B-B14F-4D97-AF65-F5344CB8AC3E}">
        <p14:creationId xmlns:p14="http://schemas.microsoft.com/office/powerpoint/2010/main" val="1858914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D3B06-0274-13FF-766B-75CF1577733D}"/>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Outliers</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FA403620-64E2-1046-CF88-059780A02F6A}"/>
              </a:ext>
            </a:extLst>
          </p:cNvPr>
          <p:cNvPicPr>
            <a:picLocks noGrp="1" noChangeAspect="1"/>
          </p:cNvPicPr>
          <p:nvPr>
            <p:ph idx="1"/>
          </p:nvPr>
        </p:nvPicPr>
        <p:blipFill>
          <a:blip r:embed="rId2"/>
          <a:stretch>
            <a:fillRect/>
          </a:stretch>
        </p:blipFill>
        <p:spPr>
          <a:xfrm>
            <a:off x="1682408" y="1505244"/>
            <a:ext cx="7363117" cy="690270"/>
          </a:xfrm>
        </p:spPr>
      </p:pic>
      <p:pic>
        <p:nvPicPr>
          <p:cNvPr id="7" name="Picture 6">
            <a:extLst>
              <a:ext uri="{FF2B5EF4-FFF2-40B4-BE49-F238E27FC236}">
                <a16:creationId xmlns:a16="http://schemas.microsoft.com/office/drawing/2014/main" id="{5B9A2143-BD4D-E91E-96C4-87863354EFED}"/>
              </a:ext>
            </a:extLst>
          </p:cNvPr>
          <p:cNvPicPr>
            <a:picLocks noChangeAspect="1"/>
          </p:cNvPicPr>
          <p:nvPr/>
        </p:nvPicPr>
        <p:blipFill>
          <a:blip r:embed="rId3"/>
          <a:stretch>
            <a:fillRect/>
          </a:stretch>
        </p:blipFill>
        <p:spPr>
          <a:xfrm>
            <a:off x="1682409" y="2698505"/>
            <a:ext cx="7363116" cy="2816029"/>
          </a:xfrm>
          <a:prstGeom prst="rect">
            <a:avLst/>
          </a:prstGeom>
        </p:spPr>
      </p:pic>
    </p:spTree>
    <p:extLst>
      <p:ext uri="{BB962C8B-B14F-4D97-AF65-F5344CB8AC3E}">
        <p14:creationId xmlns:p14="http://schemas.microsoft.com/office/powerpoint/2010/main" val="16013949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382BD-037D-6738-10FF-9C2B923D9B10}"/>
              </a:ext>
            </a:extLst>
          </p:cNvPr>
          <p:cNvSpPr>
            <a:spLocks noGrp="1"/>
          </p:cNvSpPr>
          <p:nvPr>
            <p:ph type="title"/>
          </p:nvPr>
        </p:nvSpPr>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Example</a:t>
            </a:r>
            <a:endParaRPr lang="en-PK" sz="28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E11FE9B-F7B6-C20B-20D1-BF49EEC067A0}"/>
              </a:ext>
            </a:extLst>
          </p:cNvPr>
          <p:cNvPicPr>
            <a:picLocks noGrp="1" noChangeAspect="1"/>
          </p:cNvPicPr>
          <p:nvPr>
            <p:ph idx="1"/>
          </p:nvPr>
        </p:nvPicPr>
        <p:blipFill>
          <a:blip r:embed="rId2"/>
          <a:stretch>
            <a:fillRect/>
          </a:stretch>
        </p:blipFill>
        <p:spPr>
          <a:xfrm>
            <a:off x="1983545" y="1872456"/>
            <a:ext cx="8102989" cy="4257675"/>
          </a:xfrm>
        </p:spPr>
      </p:pic>
    </p:spTree>
    <p:extLst>
      <p:ext uri="{BB962C8B-B14F-4D97-AF65-F5344CB8AC3E}">
        <p14:creationId xmlns:p14="http://schemas.microsoft.com/office/powerpoint/2010/main" val="1990818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1145</Words>
  <Application>Microsoft Office PowerPoint</Application>
  <PresentationFormat>Widescreen</PresentationFormat>
  <Paragraphs>106</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Times New Roman</vt:lpstr>
      <vt:lpstr>Office Theme</vt:lpstr>
      <vt:lpstr>Week 02</vt:lpstr>
      <vt:lpstr> Stem and Leaf Diagram</vt:lpstr>
      <vt:lpstr>Continue…</vt:lpstr>
      <vt:lpstr> Useful Insights </vt:lpstr>
      <vt:lpstr>Continue…</vt:lpstr>
      <vt:lpstr>  Conclusion </vt:lpstr>
      <vt:lpstr>Histograms</vt:lpstr>
      <vt:lpstr> Website Load Time Analysis </vt:lpstr>
      <vt:lpstr>Continue…</vt:lpstr>
      <vt:lpstr>The histogram above groups the data into six bins of 2 seconds each. Each bin represents a range of 2 seconds (e.g., 0-2s, 2-4s, 4-6s, etc.), and the height of each bar indicates the number of load times in that range. </vt:lpstr>
      <vt:lpstr>Continue…</vt:lpstr>
      <vt:lpstr>Measures of the Location of the Data</vt:lpstr>
      <vt:lpstr>Quartiles and Deciles:</vt:lpstr>
      <vt:lpstr>Procedure Table</vt:lpstr>
      <vt:lpstr>PowerPoint Presentation</vt:lpstr>
      <vt:lpstr>PowerPoint Presentation</vt:lpstr>
      <vt:lpstr>Deciles</vt:lpstr>
      <vt:lpstr>PowerPoint Presentation</vt:lpstr>
      <vt:lpstr>PowerPoint Presentation</vt:lpstr>
      <vt:lpstr>A Formula for Finding the Kth Percentile</vt:lpstr>
      <vt:lpstr>Question:</vt:lpstr>
      <vt:lpstr>Continue…</vt:lpstr>
      <vt:lpstr>Continue…</vt:lpstr>
      <vt:lpstr>Question 2:</vt:lpstr>
      <vt:lpstr>PowerPoint Presentation</vt:lpstr>
      <vt:lpstr>PowerPoint Presentation</vt:lpstr>
      <vt:lpstr>A Formula for finding the Percentile of a Value in a Data Set</vt:lpstr>
      <vt:lpstr>Question:</vt:lpstr>
      <vt:lpstr>Continue…</vt:lpstr>
      <vt:lpstr>Useful Insights</vt:lpstr>
      <vt:lpstr>Outliers</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2</cp:revision>
  <dcterms:created xsi:type="dcterms:W3CDTF">2025-03-12T15:53:31Z</dcterms:created>
  <dcterms:modified xsi:type="dcterms:W3CDTF">2025-03-15T09:37:52Z</dcterms:modified>
</cp:coreProperties>
</file>