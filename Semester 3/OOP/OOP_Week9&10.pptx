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8021" y="1848358"/>
            <a:ext cx="6944359" cy="638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2065147"/>
            <a:ext cx="10587990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62"/>
            <a:ext cx="12190476" cy="685323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68779" y="1991867"/>
            <a:ext cx="8846820" cy="303993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5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85"/>
              </a:spcBef>
            </a:pPr>
            <a:endParaRPr sz="5400" dirty="0">
              <a:latin typeface="Times New Roman"/>
              <a:cs typeface="Times New Roman"/>
            </a:endParaRPr>
          </a:p>
          <a:p>
            <a:pPr marL="53975" algn="ctr">
              <a:lnSpc>
                <a:spcPct val="100000"/>
              </a:lnSpc>
            </a:pPr>
            <a:r>
              <a:rPr sz="5400" spc="-70" dirty="0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5400" dirty="0">
              <a:latin typeface="Calibri Light"/>
              <a:cs typeface="Calibri Light"/>
            </a:endParaRPr>
          </a:p>
          <a:p>
            <a:pPr marL="9525" algn="ctr">
              <a:lnSpc>
                <a:spcPct val="100000"/>
              </a:lnSpc>
              <a:spcBef>
                <a:spcPts val="1205"/>
              </a:spcBef>
            </a:pPr>
            <a:r>
              <a:rPr sz="1800" dirty="0">
                <a:solidFill>
                  <a:srgbClr val="FFFCFF"/>
                </a:solidFill>
                <a:latin typeface="Cambria"/>
                <a:cs typeface="Cambria"/>
              </a:rPr>
              <a:t>Lecture</a:t>
            </a:r>
            <a:r>
              <a:rPr sz="1800" spc="140" dirty="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CFF"/>
                </a:solidFill>
                <a:latin typeface="Cambria"/>
                <a:cs typeface="Cambria"/>
              </a:rPr>
              <a:t>11</a:t>
            </a:r>
            <a:r>
              <a:rPr sz="1800" spc="55" dirty="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CFF"/>
                </a:solidFill>
                <a:latin typeface="Cambria"/>
                <a:cs typeface="Cambria"/>
              </a:rPr>
              <a:t>(Week</a:t>
            </a:r>
            <a:r>
              <a:rPr sz="1800" spc="170" dirty="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CFF"/>
                </a:solidFill>
                <a:latin typeface="Cambria"/>
                <a:cs typeface="Cambria"/>
              </a:rPr>
              <a:t>09</a:t>
            </a:r>
            <a:r>
              <a:rPr sz="1800" spc="-10" dirty="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CFF"/>
                </a:solidFill>
                <a:latin typeface="Cambria"/>
                <a:cs typeface="Cambria"/>
              </a:rPr>
              <a:t>&amp;</a:t>
            </a:r>
            <a:r>
              <a:rPr sz="1800" spc="-20" dirty="0">
                <a:solidFill>
                  <a:srgbClr val="FFFCFF"/>
                </a:solidFill>
                <a:latin typeface="Cambria"/>
                <a:cs typeface="Cambria"/>
              </a:rPr>
              <a:t> </a:t>
            </a:r>
            <a:r>
              <a:rPr sz="1800" spc="-25" dirty="0">
                <a:solidFill>
                  <a:srgbClr val="FFFCFF"/>
                </a:solidFill>
                <a:latin typeface="Cambria"/>
                <a:cs typeface="Cambria"/>
              </a:rPr>
              <a:t>10)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00" dirty="0">
              <a:latin typeface="Cambria"/>
              <a:cs typeface="Cambri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endParaRPr sz="1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73351" y="1187196"/>
            <a:ext cx="8844280" cy="715010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6637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1310"/>
              </a:spcBef>
            </a:pPr>
            <a:r>
              <a:rPr sz="2600" dirty="0">
                <a:solidFill>
                  <a:srgbClr val="FFFCFF"/>
                </a:solidFill>
              </a:rPr>
              <a:t>C</a:t>
            </a:r>
            <a:r>
              <a:rPr sz="2600" spc="-165" dirty="0">
                <a:solidFill>
                  <a:srgbClr val="FFFCFF"/>
                </a:solidFill>
              </a:rPr>
              <a:t> </a:t>
            </a:r>
            <a:r>
              <a:rPr sz="2600" spc="-35" dirty="0">
                <a:solidFill>
                  <a:srgbClr val="FFFCFF"/>
                </a:solidFill>
              </a:rPr>
              <a:t>SC</a:t>
            </a:r>
            <a:r>
              <a:rPr sz="2600" spc="-165" dirty="0">
                <a:solidFill>
                  <a:srgbClr val="FFFCFF"/>
                </a:solidFill>
              </a:rPr>
              <a:t> </a:t>
            </a:r>
            <a:r>
              <a:rPr sz="2600" spc="-100" dirty="0">
                <a:solidFill>
                  <a:srgbClr val="FFFCFF"/>
                </a:solidFill>
              </a:rPr>
              <a:t>-</a:t>
            </a:r>
            <a:r>
              <a:rPr sz="2600" spc="-150" dirty="0">
                <a:solidFill>
                  <a:srgbClr val="FFFCFF"/>
                </a:solidFill>
              </a:rPr>
              <a:t>210:</a:t>
            </a:r>
            <a:r>
              <a:rPr sz="2600" spc="-315" dirty="0">
                <a:solidFill>
                  <a:srgbClr val="FFFCFF"/>
                </a:solidFill>
              </a:rPr>
              <a:t> </a:t>
            </a:r>
            <a:r>
              <a:rPr sz="2600" dirty="0">
                <a:solidFill>
                  <a:srgbClr val="FFFCFF"/>
                </a:solidFill>
              </a:rPr>
              <a:t>Object</a:t>
            </a:r>
            <a:r>
              <a:rPr sz="2600" spc="-295" dirty="0">
                <a:solidFill>
                  <a:srgbClr val="FFFCFF"/>
                </a:solidFill>
              </a:rPr>
              <a:t> </a:t>
            </a:r>
            <a:r>
              <a:rPr sz="2600" spc="-30" dirty="0">
                <a:solidFill>
                  <a:srgbClr val="FFFCFF"/>
                </a:solidFill>
              </a:rPr>
              <a:t>Oriented</a:t>
            </a:r>
            <a:r>
              <a:rPr sz="2600" spc="75" dirty="0">
                <a:solidFill>
                  <a:srgbClr val="FFFCFF"/>
                </a:solidFill>
              </a:rPr>
              <a:t> </a:t>
            </a:r>
            <a:r>
              <a:rPr sz="2600" spc="-10" dirty="0">
                <a:solidFill>
                  <a:srgbClr val="FFFCFF"/>
                </a:solidFill>
              </a:rPr>
              <a:t>Programming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</a:pPr>
            <a:endParaRPr sz="4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</a:pPr>
            <a:r>
              <a:rPr sz="4000" spc="-60" dirty="0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97855" y="1913635"/>
            <a:ext cx="5986780" cy="293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1800" dirty="0">
                <a:latin typeface="Cambria"/>
                <a:cs typeface="Cambria"/>
              </a:rPr>
              <a:t>The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capability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derive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properties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and </a:t>
            </a:r>
            <a:r>
              <a:rPr sz="1800" spc="10" dirty="0">
                <a:latin typeface="Cambria"/>
                <a:cs typeface="Cambria"/>
              </a:rPr>
              <a:t>characteristics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from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another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class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is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called</a:t>
            </a:r>
            <a:r>
              <a:rPr sz="1800" spc="27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Inheritance. </a:t>
            </a:r>
            <a:r>
              <a:rPr sz="1800" spc="45" dirty="0">
                <a:latin typeface="Cambria"/>
                <a:cs typeface="Cambria"/>
              </a:rPr>
              <a:t>Inheritance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one</a:t>
            </a:r>
            <a:r>
              <a:rPr sz="1800" spc="1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most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important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feature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 </a:t>
            </a:r>
            <a:r>
              <a:rPr sz="1800" spc="90" dirty="0">
                <a:latin typeface="Cambria"/>
                <a:cs typeface="Cambria"/>
              </a:rPr>
              <a:t>Object-</a:t>
            </a:r>
            <a:r>
              <a:rPr sz="1800" spc="75" dirty="0">
                <a:latin typeface="Cambria"/>
                <a:cs typeface="Cambria"/>
              </a:rPr>
              <a:t>Oriented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Programming.</a:t>
            </a:r>
            <a:endParaRPr sz="1800">
              <a:latin typeface="Cambria"/>
              <a:cs typeface="Cambria"/>
            </a:endParaRPr>
          </a:p>
          <a:p>
            <a:pPr marL="241300" marR="551815" indent="-228600">
              <a:lnSpc>
                <a:spcPct val="120000"/>
              </a:lnSpc>
              <a:spcBef>
                <a:spcPts val="994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1800" b="1" dirty="0">
                <a:latin typeface="Cambria"/>
                <a:cs typeface="Cambria"/>
              </a:rPr>
              <a:t>Sub</a:t>
            </a:r>
            <a:r>
              <a:rPr sz="1800" b="1" spc="24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Class:</a:t>
            </a:r>
            <a:r>
              <a:rPr sz="1800" b="1" spc="50" dirty="0">
                <a:latin typeface="Cambria"/>
                <a:cs typeface="Cambria"/>
              </a:rPr>
              <a:t> 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inherits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properties</a:t>
            </a:r>
            <a:r>
              <a:rPr sz="1800" spc="310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from </a:t>
            </a:r>
            <a:r>
              <a:rPr sz="1800" dirty="0">
                <a:latin typeface="Cambria"/>
                <a:cs typeface="Cambria"/>
              </a:rPr>
              <a:t>another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called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Sub</a:t>
            </a:r>
            <a:r>
              <a:rPr sz="1800" spc="2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8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Derived</a:t>
            </a:r>
            <a:r>
              <a:rPr sz="1800" spc="2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  <a:p>
            <a:pPr marL="241300" marR="50165" indent="-228600">
              <a:lnSpc>
                <a:spcPct val="118300"/>
              </a:lnSpc>
              <a:spcBef>
                <a:spcPts val="125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1300" algn="l"/>
              </a:tabLst>
            </a:pPr>
            <a:r>
              <a:rPr sz="1800" b="1" dirty="0">
                <a:latin typeface="Cambria"/>
                <a:cs typeface="Cambria"/>
              </a:rPr>
              <a:t>Super</a:t>
            </a:r>
            <a:r>
              <a:rPr sz="1800" b="1" spc="215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Class:</a:t>
            </a:r>
            <a:r>
              <a:rPr sz="1800" b="1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29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whose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properties</a:t>
            </a:r>
            <a:r>
              <a:rPr sz="1800" spc="29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are</a:t>
            </a:r>
            <a:r>
              <a:rPr sz="1800" spc="27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inherited </a:t>
            </a:r>
            <a:r>
              <a:rPr sz="1800" dirty="0">
                <a:latin typeface="Cambria"/>
                <a:cs typeface="Cambria"/>
              </a:rPr>
              <a:t>by</a:t>
            </a:r>
            <a:r>
              <a:rPr sz="1800" spc="2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sub</a:t>
            </a:r>
            <a:r>
              <a:rPr sz="1800" spc="229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</a:t>
            </a:r>
            <a:r>
              <a:rPr sz="1800" spc="20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called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Base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or</a:t>
            </a:r>
            <a:r>
              <a:rPr sz="1800" spc="1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Super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class.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</a:pPr>
            <a:endParaRPr sz="4000">
              <a:latin typeface="Times New Roman"/>
              <a:cs typeface="Times New Roman"/>
            </a:endParaRPr>
          </a:p>
          <a:p>
            <a:pPr marL="774065" marR="763905" indent="289560">
              <a:lnSpc>
                <a:spcPts val="4110"/>
              </a:lnSpc>
            </a:pPr>
            <a:r>
              <a:rPr sz="4000" spc="-605" dirty="0">
                <a:solidFill>
                  <a:srgbClr val="FFFCFF"/>
                </a:solidFill>
                <a:latin typeface="Calibri Light"/>
                <a:cs typeface="Calibri Light"/>
              </a:rPr>
              <a:t>T</a:t>
            </a:r>
            <a:r>
              <a:rPr sz="4000" spc="-150" dirty="0">
                <a:solidFill>
                  <a:srgbClr val="FFFCFF"/>
                </a:solidFill>
                <a:latin typeface="Calibri Light"/>
                <a:cs typeface="Calibri Light"/>
              </a:rPr>
              <a:t>y</a:t>
            </a:r>
            <a:r>
              <a:rPr sz="4000" spc="-165" dirty="0">
                <a:solidFill>
                  <a:srgbClr val="FFFCFF"/>
                </a:solidFill>
                <a:latin typeface="Calibri Light"/>
                <a:cs typeface="Calibri Light"/>
              </a:rPr>
              <a:t>p</a:t>
            </a:r>
            <a:r>
              <a:rPr sz="4000" spc="-145" dirty="0">
                <a:solidFill>
                  <a:srgbClr val="FFFCFF"/>
                </a:solidFill>
                <a:latin typeface="Calibri Light"/>
                <a:cs typeface="Calibri Light"/>
              </a:rPr>
              <a:t>e</a:t>
            </a:r>
            <a:r>
              <a:rPr sz="4000" spc="-5" dirty="0">
                <a:solidFill>
                  <a:srgbClr val="FFFCFF"/>
                </a:solidFill>
                <a:latin typeface="Calibri Light"/>
                <a:cs typeface="Calibri Light"/>
              </a:rPr>
              <a:t>s</a:t>
            </a:r>
            <a:r>
              <a:rPr sz="4000" spc="-355" dirty="0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35" dirty="0">
                <a:solidFill>
                  <a:srgbClr val="FFFCFF"/>
                </a:solidFill>
                <a:latin typeface="Calibri Light"/>
                <a:cs typeface="Calibri Light"/>
              </a:rPr>
              <a:t>of </a:t>
            </a:r>
            <a:r>
              <a:rPr sz="4000" spc="-155" dirty="0">
                <a:solidFill>
                  <a:srgbClr val="FFFCFF"/>
                </a:solidFill>
                <a:latin typeface="Calibri Light"/>
                <a:cs typeface="Calibri Light"/>
              </a:rPr>
              <a:t>Inheritance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97855" y="1989962"/>
            <a:ext cx="3282315" cy="2261235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260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800" spc="65" dirty="0">
                <a:latin typeface="Cambria"/>
                <a:cs typeface="Cambria"/>
              </a:rPr>
              <a:t>Single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Hierarchal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32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39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Multi-Level</a:t>
            </a:r>
            <a:r>
              <a:rPr sz="1800" spc="16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Multiple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34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1405"/>
              </a:spcBef>
              <a:buClr>
                <a:srgbClr val="529E39"/>
              </a:buClr>
              <a:buSzPct val="108333"/>
              <a:buFont typeface="Wingdings"/>
              <a:buChar char=""/>
              <a:tabLst>
                <a:tab pos="240665" algn="l"/>
              </a:tabLst>
            </a:pPr>
            <a:r>
              <a:rPr sz="1800" spc="55" dirty="0">
                <a:latin typeface="Cambria"/>
                <a:cs typeface="Cambria"/>
              </a:rPr>
              <a:t>Hybrid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Class</a:t>
            </a:r>
            <a:r>
              <a:rPr sz="1800" spc="15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Inheritance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</a:pPr>
            <a:endParaRPr sz="4000">
              <a:latin typeface="Times New Roman"/>
              <a:cs typeface="Times New Roman"/>
            </a:endParaRPr>
          </a:p>
          <a:p>
            <a:pPr marL="774065">
              <a:lnSpc>
                <a:spcPct val="100000"/>
              </a:lnSpc>
            </a:pPr>
            <a:r>
              <a:rPr sz="4000" spc="-145" dirty="0">
                <a:solidFill>
                  <a:srgbClr val="FFFCFF"/>
                </a:solidFill>
                <a:latin typeface="Calibri Light"/>
                <a:cs typeface="Calibri Light"/>
              </a:rPr>
              <a:t>Single</a:t>
            </a:r>
            <a:r>
              <a:rPr sz="4000" spc="-305" dirty="0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10" dirty="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8011" y="1888235"/>
            <a:ext cx="7251065" cy="923290"/>
          </a:xfrm>
          <a:custGeom>
            <a:avLst/>
            <a:gdLst/>
            <a:ahLst/>
            <a:cxnLst/>
            <a:rect l="l" t="t" r="r" b="b"/>
            <a:pathLst>
              <a:path w="7251065" h="923289">
                <a:moveTo>
                  <a:pt x="7250684" y="0"/>
                </a:moveTo>
                <a:lnTo>
                  <a:pt x="0" y="0"/>
                </a:lnTo>
                <a:lnTo>
                  <a:pt x="0" y="923163"/>
                </a:lnTo>
                <a:lnTo>
                  <a:pt x="7250684" y="923163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88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Single</a:t>
            </a:r>
            <a:r>
              <a:rPr spc="160" dirty="0"/>
              <a:t> </a:t>
            </a:r>
            <a:r>
              <a:rPr spc="45" dirty="0"/>
              <a:t>inheritance</a:t>
            </a:r>
            <a:r>
              <a:rPr spc="140" dirty="0"/>
              <a:t> </a:t>
            </a:r>
            <a:r>
              <a:rPr dirty="0"/>
              <a:t>is</a:t>
            </a:r>
            <a:r>
              <a:rPr spc="120" dirty="0"/>
              <a:t> </a:t>
            </a:r>
            <a:r>
              <a:rPr spc="60" dirty="0"/>
              <a:t>defined</a:t>
            </a:r>
            <a:r>
              <a:rPr spc="204" dirty="0"/>
              <a:t> </a:t>
            </a:r>
            <a:r>
              <a:rPr dirty="0"/>
              <a:t>as</a:t>
            </a:r>
            <a:r>
              <a:rPr spc="140" dirty="0"/>
              <a:t> </a:t>
            </a:r>
            <a:r>
              <a:rPr dirty="0"/>
              <a:t>the</a:t>
            </a:r>
            <a:r>
              <a:rPr spc="140" dirty="0"/>
              <a:t> </a:t>
            </a:r>
            <a:r>
              <a:rPr spc="50" dirty="0"/>
              <a:t>inheritance</a:t>
            </a:r>
            <a:r>
              <a:rPr spc="14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dirty="0"/>
              <a:t>which</a:t>
            </a:r>
            <a:r>
              <a:rPr spc="105" dirty="0"/>
              <a:t> </a:t>
            </a:r>
            <a:r>
              <a:rPr dirty="0"/>
              <a:t>a</a:t>
            </a:r>
            <a:r>
              <a:rPr spc="160" dirty="0"/>
              <a:t> </a:t>
            </a:r>
            <a:r>
              <a:rPr spc="50" dirty="0"/>
              <a:t>derived </a:t>
            </a:r>
            <a:r>
              <a:rPr dirty="0"/>
              <a:t>class</a:t>
            </a:r>
            <a:r>
              <a:rPr spc="170" dirty="0"/>
              <a:t> </a:t>
            </a:r>
            <a:r>
              <a:rPr dirty="0"/>
              <a:t>is</a:t>
            </a:r>
            <a:r>
              <a:rPr spc="135" dirty="0"/>
              <a:t> </a:t>
            </a:r>
            <a:r>
              <a:rPr spc="45" dirty="0"/>
              <a:t>inherited</a:t>
            </a:r>
            <a:r>
              <a:rPr spc="170" dirty="0"/>
              <a:t> </a:t>
            </a:r>
            <a:r>
              <a:rPr dirty="0"/>
              <a:t>from</a:t>
            </a:r>
            <a:r>
              <a:rPr spc="120" dirty="0"/>
              <a:t> </a:t>
            </a:r>
            <a:r>
              <a:rPr dirty="0"/>
              <a:t>the</a:t>
            </a:r>
            <a:r>
              <a:rPr spc="170" dirty="0"/>
              <a:t> </a:t>
            </a:r>
            <a:r>
              <a:rPr dirty="0"/>
              <a:t>only</a:t>
            </a:r>
            <a:r>
              <a:rPr spc="145" dirty="0"/>
              <a:t> </a:t>
            </a:r>
            <a:r>
              <a:rPr spc="55" dirty="0"/>
              <a:t>one</a:t>
            </a:r>
            <a:r>
              <a:rPr spc="190" dirty="0"/>
              <a:t> </a:t>
            </a:r>
            <a:r>
              <a:rPr spc="70" dirty="0"/>
              <a:t>base</a:t>
            </a:r>
            <a:r>
              <a:rPr spc="254" dirty="0"/>
              <a:t> </a:t>
            </a:r>
            <a:r>
              <a:rPr spc="50" dirty="0"/>
              <a:t>class.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629143" y="3189732"/>
            <a:ext cx="982980" cy="2714625"/>
            <a:chOff x="7629143" y="3189732"/>
            <a:chExt cx="982980" cy="27146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143" y="3189732"/>
              <a:ext cx="982979" cy="27142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00415" y="4191000"/>
              <a:ext cx="393065" cy="711835"/>
            </a:xfrm>
            <a:custGeom>
              <a:avLst/>
              <a:gdLst/>
              <a:ahLst/>
              <a:cxnLst/>
              <a:rect l="l" t="t" r="r" b="b"/>
              <a:pathLst>
                <a:path w="393065" h="711835">
                  <a:moveTo>
                    <a:pt x="392683" y="0"/>
                  </a:moveTo>
                  <a:lnTo>
                    <a:pt x="0" y="0"/>
                  </a:lnTo>
                  <a:lnTo>
                    <a:pt x="0" y="711581"/>
                  </a:lnTo>
                  <a:lnTo>
                    <a:pt x="392683" y="711581"/>
                  </a:lnTo>
                  <a:lnTo>
                    <a:pt x="392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73135" y="4249966"/>
              <a:ext cx="57150" cy="685165"/>
            </a:xfrm>
            <a:custGeom>
              <a:avLst/>
              <a:gdLst/>
              <a:ahLst/>
              <a:cxnLst/>
              <a:rect l="l" t="t" r="r" b="b"/>
              <a:pathLst>
                <a:path w="57150" h="685164">
                  <a:moveTo>
                    <a:pt x="56896" y="0"/>
                  </a:moveTo>
                  <a:lnTo>
                    <a:pt x="0" y="0"/>
                  </a:lnTo>
                  <a:lnTo>
                    <a:pt x="0" y="684745"/>
                  </a:lnTo>
                  <a:lnTo>
                    <a:pt x="56896" y="684745"/>
                  </a:lnTo>
                  <a:lnTo>
                    <a:pt x="568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16239" y="4107180"/>
              <a:ext cx="170687" cy="1713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4336" y="432816"/>
            <a:ext cx="248920" cy="167640"/>
            <a:chOff x="1164336" y="432816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544" y="432816"/>
              <a:ext cx="108203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4336" y="441960"/>
              <a:ext cx="114300" cy="158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71344" y="432816"/>
            <a:ext cx="108204" cy="167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7132" y="707136"/>
            <a:ext cx="108203" cy="169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3832" y="1530096"/>
            <a:ext cx="108204" cy="169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7432" y="3176016"/>
            <a:ext cx="108203" cy="1691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3832" y="3726179"/>
            <a:ext cx="108204" cy="1676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0432" y="5372100"/>
            <a:ext cx="108203" cy="16764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0532" y="5372100"/>
            <a:ext cx="108204" cy="1676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41882" y="353695"/>
            <a:ext cx="26416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 dirty="0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413384" algn="l"/>
                <a:tab pos="812165" algn="l"/>
                <a:tab pos="2146300" algn="l"/>
              </a:tabLst>
            </a:pPr>
            <a:r>
              <a:rPr sz="1800" spc="60" dirty="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 dirty="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5" dirty="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24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td;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9057" y="1725548"/>
            <a:ext cx="2188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</a:tabLst>
            </a:pPr>
            <a:r>
              <a:rPr sz="1800" spc="8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3538" y="2274189"/>
            <a:ext cx="9220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29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41882" y="2823209"/>
            <a:ext cx="36048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812165" algn="l"/>
                <a:tab pos="2012314" algn="l"/>
                <a:tab pos="307911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-12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-12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12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99057" y="3920185"/>
            <a:ext cx="20497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latin typeface="Trebuchet MS"/>
                <a:cs typeface="Trebuchet MS"/>
              </a:rPr>
              <a:t>Su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la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1800" spc="140" dirty="0">
                <a:latin typeface="Trebuchet MS"/>
                <a:cs typeface="Trebuchet MS"/>
              </a:rPr>
              <a:t>cout</a:t>
            </a:r>
            <a:r>
              <a:rPr sz="1800" spc="140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spc="140" dirty="0">
                <a:solidFill>
                  <a:srgbClr val="A11515"/>
                </a:solidFill>
                <a:latin typeface="Trebuchet MS"/>
                <a:cs typeface="Trebuchet MS"/>
              </a:rPr>
              <a:t>"\</a:t>
            </a:r>
            <a:r>
              <a:rPr sz="1800" spc="-38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7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89426" y="4469383"/>
            <a:ext cx="792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1882" y="5017719"/>
            <a:ext cx="13220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spcBef>
                <a:spcPts val="5"/>
              </a:spcBef>
              <a:tabLst>
                <a:tab pos="545465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99057" y="5841288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99969" y="5841288"/>
            <a:ext cx="529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latin typeface="Trebuchet MS"/>
                <a:cs typeface="Trebuchet MS"/>
              </a:rPr>
              <a:t>ob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j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1882" y="6115608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3148" y="548640"/>
            <a:ext cx="248920" cy="169545"/>
            <a:chOff x="803148" y="548640"/>
            <a:chExt cx="248920" cy="169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0" y="548640"/>
              <a:ext cx="106680" cy="1691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148" y="557784"/>
              <a:ext cx="114300" cy="16002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548640"/>
            <a:ext cx="106680" cy="1691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7467" y="822960"/>
            <a:ext cx="108203" cy="169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7967" y="1645920"/>
            <a:ext cx="106680" cy="169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4167" y="1920239"/>
            <a:ext cx="106680" cy="1691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7967" y="2470404"/>
            <a:ext cx="106680" cy="1676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43555" y="3842003"/>
            <a:ext cx="106680" cy="16763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4167" y="4390644"/>
            <a:ext cx="106680" cy="1676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4667" y="4664964"/>
            <a:ext cx="108204" cy="16763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68067" y="4664964"/>
            <a:ext cx="106680" cy="16763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81304" y="469772"/>
            <a:ext cx="26409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 dirty="0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tabLst>
                <a:tab pos="413384" algn="l"/>
                <a:tab pos="812165" algn="l"/>
                <a:tab pos="2145665" algn="l"/>
              </a:tabLst>
            </a:pPr>
            <a:r>
              <a:rPr sz="1800" spc="60" dirty="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 dirty="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23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td;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1304" y="1841753"/>
            <a:ext cx="53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2616" y="1566748"/>
            <a:ext cx="10934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  <a:tab pos="812165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90" dirty="0">
                <a:latin typeface="Trebuchet MS"/>
                <a:cs typeface="Trebuchet MS"/>
              </a:rPr>
              <a:t>a,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80" dirty="0">
                <a:latin typeface="Trebuchet MS"/>
                <a:cs typeface="Trebuchet MS"/>
              </a:rPr>
              <a:t>b; </a:t>
            </a:r>
            <a:endParaRPr sz="1800">
              <a:latin typeface="Trebuchet MS"/>
              <a:cs typeface="Trebuchet MS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7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503" y="2116073"/>
            <a:ext cx="22599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A</a:t>
            </a:r>
            <a:r>
              <a:rPr sz="1800" spc="-29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)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1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0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)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,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2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0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)</a:t>
            </a:r>
            <a:r>
              <a:rPr sz="1800" spc="-28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{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  <a:p>
            <a:pPr marL="146685">
              <a:lnSpc>
                <a:spcPct val="100000"/>
              </a:lnSpc>
              <a:tabLst>
                <a:tab pos="545465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35" dirty="0">
                <a:latin typeface="Trebuchet MS"/>
                <a:cs typeface="Trebuchet MS"/>
              </a:rPr>
              <a:t>add()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403985" algn="l"/>
                <a:tab pos="1670685" algn="l"/>
                <a:tab pos="1937385" algn="l"/>
              </a:tabLst>
            </a:pPr>
            <a:r>
              <a:rPr sz="1800" spc="145" dirty="0">
                <a:solidFill>
                  <a:srgbClr val="0000FF"/>
                </a:solidFill>
                <a:latin typeface="Trebuchet MS"/>
                <a:cs typeface="Trebuchet MS"/>
              </a:rPr>
              <a:t>return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a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+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85" dirty="0">
                <a:latin typeface="Trebuchet MS"/>
                <a:cs typeface="Trebuchet MS"/>
              </a:rPr>
              <a:t>b;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503" y="3213608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304" y="3487928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1304" y="3762247"/>
            <a:ext cx="22942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1078865" algn="l"/>
                <a:tab pos="1878964" algn="l"/>
                <a:tab pos="214566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B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503" y="4585461"/>
            <a:ext cx="2563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  <a:tab pos="680085" algn="l"/>
                <a:tab pos="946785" algn="l"/>
              </a:tabLst>
            </a:pPr>
            <a:r>
              <a:rPr sz="1800" spc="25" dirty="0">
                <a:solidFill>
                  <a:srgbClr val="0000FF"/>
                </a:solidFill>
                <a:latin typeface="Trebuchet MS"/>
                <a:cs typeface="Trebuchet MS"/>
              </a:rPr>
              <a:t>vo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latin typeface="Trebuchet MS"/>
                <a:cs typeface="Trebuchet MS"/>
              </a:rPr>
              <a:t>d</a:t>
            </a:r>
            <a:r>
              <a:rPr sz="1800" dirty="0">
                <a:latin typeface="Trebuchet MS"/>
                <a:cs typeface="Trebuchet MS"/>
              </a:rPr>
              <a:t>	s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</a:t>
            </a:r>
            <a:r>
              <a:rPr sz="1800" spc="-27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y</a:t>
            </a:r>
            <a:r>
              <a:rPr sz="1800" spc="-2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</a:tabLst>
            </a:pPr>
            <a:r>
              <a:rPr sz="1800" spc="80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7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2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nswe</a:t>
            </a:r>
            <a:r>
              <a:rPr sz="1800" spc="-27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A11515"/>
                </a:solidFill>
                <a:latin typeface="Trebuchet MS"/>
                <a:cs typeface="Trebuchet MS"/>
              </a:rPr>
              <a:t>r: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62146" y="5134102"/>
            <a:ext cx="149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  <a:tab pos="680085" algn="l"/>
              </a:tabLst>
            </a:pPr>
            <a:r>
              <a:rPr sz="1800" spc="-5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add</a:t>
            </a:r>
            <a:r>
              <a:rPr sz="1800" spc="-140" dirty="0">
                <a:latin typeface="Trebuchet MS"/>
                <a:cs typeface="Trebuchet MS"/>
              </a:rPr>
              <a:t> </a:t>
            </a:r>
            <a:r>
              <a:rPr sz="1800" spc="150" dirty="0">
                <a:latin typeface="Trebuchet MS"/>
                <a:cs typeface="Trebuchet MS"/>
              </a:rPr>
              <a:t>();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1304" y="5683097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32092" y="2787395"/>
            <a:ext cx="106679" cy="1691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32192" y="2787395"/>
            <a:ext cx="108203" cy="169163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936993" y="2709798"/>
            <a:ext cx="1226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</a:pP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</a:t>
            </a:r>
            <a:r>
              <a:rPr sz="1800" spc="140" dirty="0">
                <a:latin typeface="Trebuchet MS"/>
                <a:cs typeface="Trebuchet MS"/>
              </a:rPr>
              <a:t> </a:t>
            </a:r>
            <a:r>
              <a:rPr sz="1800" spc="114" dirty="0">
                <a:latin typeface="Trebuchet MS"/>
                <a:cs typeface="Trebuchet MS"/>
              </a:rPr>
              <a:t>n()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03263" y="2984119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56804" y="3610355"/>
            <a:ext cx="108203" cy="16916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7260463" y="3258439"/>
            <a:ext cx="1706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</a:pP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B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110" dirty="0">
                <a:latin typeface="Trebuchet MS"/>
                <a:cs typeface="Trebuchet MS"/>
              </a:rPr>
              <a:t>ob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j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rebuchet MS"/>
                <a:cs typeface="Trebuchet MS"/>
              </a:rPr>
              <a:t>obj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.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125" dirty="0">
                <a:latin typeface="Trebuchet MS"/>
                <a:cs typeface="Trebuchet MS"/>
              </a:rPr>
              <a:t>dspla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y(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)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03263" y="3807332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</a:pPr>
            <a:endParaRPr sz="4000">
              <a:latin typeface="Times New Roman"/>
              <a:cs typeface="Times New Roman"/>
            </a:endParaRPr>
          </a:p>
          <a:p>
            <a:pPr marL="1368425" marR="783590" indent="-576580">
              <a:lnSpc>
                <a:spcPts val="4110"/>
              </a:lnSpc>
            </a:pPr>
            <a:r>
              <a:rPr sz="4000" spc="-165" dirty="0">
                <a:solidFill>
                  <a:srgbClr val="FFFCFF"/>
                </a:solidFill>
                <a:latin typeface="Calibri Light"/>
                <a:cs typeface="Calibri Light"/>
              </a:rPr>
              <a:t>Multi-</a:t>
            </a:r>
            <a:r>
              <a:rPr sz="4000" spc="-150" dirty="0">
                <a:solidFill>
                  <a:srgbClr val="FFFCFF"/>
                </a:solidFill>
                <a:latin typeface="Calibri Light"/>
                <a:cs typeface="Calibri Light"/>
              </a:rPr>
              <a:t>Level </a:t>
            </a:r>
            <a:r>
              <a:rPr sz="4000" spc="-10" dirty="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8011" y="1824227"/>
            <a:ext cx="7251065" cy="646430"/>
          </a:xfrm>
          <a:custGeom>
            <a:avLst/>
            <a:gdLst/>
            <a:ahLst/>
            <a:cxnLst/>
            <a:rect l="l" t="t" r="r" b="b"/>
            <a:pathLst>
              <a:path w="7251065" h="646430">
                <a:moveTo>
                  <a:pt x="7250684" y="0"/>
                </a:moveTo>
                <a:lnTo>
                  <a:pt x="0" y="0"/>
                </a:lnTo>
                <a:lnTo>
                  <a:pt x="0" y="645922"/>
                </a:lnTo>
                <a:lnTo>
                  <a:pt x="7250684" y="645922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Multilevel</a:t>
            </a:r>
            <a:r>
              <a:rPr spc="215" dirty="0"/>
              <a:t> </a:t>
            </a:r>
            <a:r>
              <a:rPr spc="45" dirty="0"/>
              <a:t>inheritance</a:t>
            </a:r>
            <a:r>
              <a:rPr spc="175" dirty="0"/>
              <a:t> </a:t>
            </a:r>
            <a:r>
              <a:rPr dirty="0"/>
              <a:t>is</a:t>
            </a:r>
            <a:r>
              <a:rPr spc="160" dirty="0"/>
              <a:t> </a:t>
            </a:r>
            <a:r>
              <a:rPr dirty="0"/>
              <a:t>a</a:t>
            </a:r>
            <a:r>
              <a:rPr spc="204" dirty="0"/>
              <a:t> </a:t>
            </a:r>
            <a:r>
              <a:rPr spc="50" dirty="0"/>
              <a:t>process</a:t>
            </a:r>
            <a:r>
              <a:rPr spc="200" dirty="0"/>
              <a:t> </a:t>
            </a:r>
            <a:r>
              <a:rPr dirty="0"/>
              <a:t>of</a:t>
            </a:r>
            <a:r>
              <a:rPr spc="150" dirty="0"/>
              <a:t> </a:t>
            </a:r>
            <a:r>
              <a:rPr spc="65" dirty="0"/>
              <a:t>deriving</a:t>
            </a:r>
            <a:r>
              <a:rPr spc="180" dirty="0"/>
              <a:t> </a:t>
            </a:r>
            <a:r>
              <a:rPr dirty="0"/>
              <a:t>a</a:t>
            </a:r>
            <a:r>
              <a:rPr spc="190" dirty="0"/>
              <a:t> </a:t>
            </a:r>
            <a:r>
              <a:rPr dirty="0"/>
              <a:t>class</a:t>
            </a:r>
            <a:r>
              <a:rPr spc="165" dirty="0"/>
              <a:t> </a:t>
            </a:r>
            <a:r>
              <a:rPr dirty="0"/>
              <a:t>from</a:t>
            </a:r>
            <a:r>
              <a:rPr spc="155" dirty="0"/>
              <a:t> </a:t>
            </a:r>
            <a:r>
              <a:rPr spc="-10" dirty="0"/>
              <a:t>another </a:t>
            </a:r>
            <a:r>
              <a:rPr spc="60" dirty="0"/>
              <a:t>derived</a:t>
            </a:r>
            <a:r>
              <a:rPr spc="180" dirty="0"/>
              <a:t> </a:t>
            </a:r>
            <a:r>
              <a:rPr spc="50" dirty="0"/>
              <a:t>class.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9567" y="2551175"/>
            <a:ext cx="2709672" cy="3672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1416" y="696468"/>
            <a:ext cx="248920" cy="167640"/>
            <a:chOff x="661416" y="696468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4" y="696468"/>
              <a:ext cx="108204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416" y="705612"/>
              <a:ext cx="114300" cy="158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948" y="696468"/>
            <a:ext cx="106680" cy="167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736" y="970788"/>
            <a:ext cx="108203" cy="169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2436" y="1793748"/>
            <a:ext cx="108203" cy="169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8623" y="3439667"/>
            <a:ext cx="108203" cy="1691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2436" y="3989832"/>
            <a:ext cx="108203" cy="1676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9267" y="617346"/>
            <a:ext cx="264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 dirty="0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4655" algn="l"/>
                <a:tab pos="812165" algn="l"/>
                <a:tab pos="2145665" algn="l"/>
              </a:tabLst>
            </a:pPr>
            <a:r>
              <a:rPr sz="1800" spc="60" dirty="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 dirty="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267" y="1165986"/>
            <a:ext cx="1343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6467" y="1989201"/>
            <a:ext cx="2188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</a:tabLst>
            </a:pPr>
            <a:r>
              <a:rPr sz="1800" spc="8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0871" y="2537536"/>
            <a:ext cx="92201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3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267" y="308686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9267" y="3361182"/>
            <a:ext cx="37433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5665" algn="l"/>
                <a:tab pos="2946400" algn="l"/>
                <a:tab pos="3213100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</a:pPr>
            <a:r>
              <a:rPr sz="1800" spc="10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6467" y="4184395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Sub</a:t>
            </a:r>
            <a:r>
              <a:rPr sz="1800" spc="-325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Class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1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469515" algn="l"/>
                <a:tab pos="3269615" algn="l"/>
              </a:tabLst>
            </a:pPr>
            <a:r>
              <a:rPr sz="1800" spc="7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1"</a:t>
            </a:r>
            <a:r>
              <a:rPr sz="1800" spc="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9267" y="528192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3059" y="1424939"/>
            <a:ext cx="106679" cy="16763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6871" y="1973579"/>
            <a:ext cx="106679" cy="1676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41947" y="3619500"/>
            <a:ext cx="108203" cy="16916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2047" y="3619500"/>
            <a:ext cx="108203" cy="169163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6414261" y="1345438"/>
            <a:ext cx="44100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6300" algn="l"/>
                <a:tab pos="2945130" algn="l"/>
                <a:tab pos="3211830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11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31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9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ss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SubCl</a:t>
            </a:r>
            <a:r>
              <a:rPr sz="1800" spc="114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B91AD"/>
                </a:solidFill>
                <a:latin typeface="Trebuchet MS"/>
                <a:cs typeface="Trebuchet MS"/>
              </a:rPr>
              <a:t>a</a:t>
            </a:r>
            <a:r>
              <a:rPr sz="1800" spc="-22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2B91AD"/>
                </a:solidFill>
                <a:latin typeface="Trebuchet MS"/>
                <a:cs typeface="Trebuchet MS"/>
              </a:rPr>
              <a:t>ss2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160" dirty="0">
                <a:latin typeface="Trebuchet MS"/>
                <a:cs typeface="Trebuchet MS"/>
              </a:rPr>
              <a:t> </a:t>
            </a:r>
            <a:r>
              <a:rPr sz="1800" spc="7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5" dirty="0">
                <a:solidFill>
                  <a:srgbClr val="2B91AD"/>
                </a:solidFill>
                <a:latin typeface="Trebuchet MS"/>
                <a:cs typeface="Trebuchet MS"/>
              </a:rPr>
              <a:t>SubCla</a:t>
            </a:r>
            <a:r>
              <a:rPr sz="1800" spc="-14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s</a:t>
            </a:r>
            <a:r>
              <a:rPr sz="1800" spc="-21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s</a:t>
            </a:r>
            <a:r>
              <a:rPr sz="1800" spc="-229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71461" y="2168778"/>
            <a:ext cx="1459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Sub</a:t>
            </a:r>
            <a:r>
              <a:rPr sz="1800" spc="-325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Class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2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28661" y="2717419"/>
            <a:ext cx="318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0085" algn="l"/>
                <a:tab pos="1079500" algn="l"/>
                <a:tab pos="2012314" algn="l"/>
                <a:tab pos="2812415" algn="l"/>
              </a:tabLst>
            </a:pPr>
            <a:r>
              <a:rPr sz="1800" spc="8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3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30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31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30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30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150" dirty="0">
                <a:solidFill>
                  <a:srgbClr val="A11515"/>
                </a:solidFill>
                <a:latin typeface="Trebuchet MS"/>
                <a:cs typeface="Trebuchet MS"/>
              </a:rPr>
              <a:t>2"</a:t>
            </a:r>
            <a:r>
              <a:rPr sz="1800" spc="-21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71461" y="2991434"/>
            <a:ext cx="109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14261" y="32663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48373" y="3540632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4261" y="381495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1461" y="4088968"/>
            <a:ext cx="1200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60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60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204961" y="4088968"/>
            <a:ext cx="530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latin typeface="Trebuchet MS"/>
                <a:cs typeface="Trebuchet MS"/>
              </a:rPr>
              <a:t>ob</a:t>
            </a:r>
            <a:r>
              <a:rPr sz="1800" spc="-3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j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14261" y="436397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</a:pPr>
            <a:endParaRPr sz="40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</a:pPr>
            <a:r>
              <a:rPr sz="4000" spc="-145" dirty="0">
                <a:solidFill>
                  <a:srgbClr val="FFFCFF"/>
                </a:solidFill>
                <a:latin typeface="Calibri Light"/>
                <a:cs typeface="Calibri Light"/>
              </a:rPr>
              <a:t>Multiple</a:t>
            </a:r>
            <a:r>
              <a:rPr sz="4000" spc="-300" dirty="0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20" dirty="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8011" y="1824227"/>
            <a:ext cx="7251065" cy="646430"/>
          </a:xfrm>
          <a:custGeom>
            <a:avLst/>
            <a:gdLst/>
            <a:ahLst/>
            <a:cxnLst/>
            <a:rect l="l" t="t" r="r" b="b"/>
            <a:pathLst>
              <a:path w="7251065" h="646430">
                <a:moveTo>
                  <a:pt x="7250684" y="0"/>
                </a:moveTo>
                <a:lnTo>
                  <a:pt x="0" y="0"/>
                </a:lnTo>
                <a:lnTo>
                  <a:pt x="0" y="645922"/>
                </a:lnTo>
                <a:lnTo>
                  <a:pt x="7250684" y="645922"/>
                </a:lnTo>
                <a:lnTo>
                  <a:pt x="7250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Multiple</a:t>
            </a:r>
            <a:r>
              <a:rPr spc="170" dirty="0"/>
              <a:t> </a:t>
            </a:r>
            <a:r>
              <a:rPr spc="45" dirty="0"/>
              <a:t>inheritance</a:t>
            </a:r>
            <a:r>
              <a:rPr spc="165" dirty="0"/>
              <a:t> </a:t>
            </a:r>
            <a:r>
              <a:rPr dirty="0"/>
              <a:t>is</a:t>
            </a:r>
            <a:r>
              <a:rPr spc="140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spc="50" dirty="0"/>
              <a:t>process</a:t>
            </a:r>
            <a:r>
              <a:rPr spc="190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65" dirty="0"/>
              <a:t>deriving</a:t>
            </a:r>
            <a:r>
              <a:rPr spc="185" dirty="0"/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dirty="0"/>
              <a:t>new</a:t>
            </a:r>
            <a:r>
              <a:rPr spc="160" dirty="0"/>
              <a:t> </a:t>
            </a:r>
            <a:r>
              <a:rPr spc="50" dirty="0"/>
              <a:t>class</a:t>
            </a:r>
            <a:r>
              <a:rPr spc="160" dirty="0"/>
              <a:t> </a:t>
            </a:r>
            <a:r>
              <a:rPr spc="-20" dirty="0"/>
              <a:t>that </a:t>
            </a:r>
            <a:r>
              <a:rPr dirty="0"/>
              <a:t>inherits</a:t>
            </a:r>
            <a:r>
              <a:rPr spc="16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attributes</a:t>
            </a:r>
            <a:r>
              <a:rPr spc="120" dirty="0"/>
              <a:t> </a:t>
            </a:r>
            <a:r>
              <a:rPr dirty="0"/>
              <a:t>from</a:t>
            </a:r>
            <a:r>
              <a:rPr spc="145" dirty="0"/>
              <a:t> </a:t>
            </a:r>
            <a:r>
              <a:rPr dirty="0"/>
              <a:t>two</a:t>
            </a:r>
            <a:r>
              <a:rPr spc="100" dirty="0"/>
              <a:t> </a:t>
            </a:r>
            <a:r>
              <a:rPr dirty="0"/>
              <a:t>or</a:t>
            </a:r>
            <a:r>
              <a:rPr spc="170" dirty="0"/>
              <a:t> </a:t>
            </a:r>
            <a:r>
              <a:rPr dirty="0"/>
              <a:t>more</a:t>
            </a:r>
            <a:r>
              <a:rPr spc="200" dirty="0"/>
              <a:t> </a:t>
            </a:r>
            <a:r>
              <a:rPr spc="60" dirty="0"/>
              <a:t>classes.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4147" y="2804160"/>
            <a:ext cx="5817108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6240" y="600455"/>
            <a:ext cx="248920" cy="169545"/>
            <a:chOff x="396240" y="600455"/>
            <a:chExt cx="248920" cy="1695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448" y="600455"/>
              <a:ext cx="108204" cy="1691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" y="609599"/>
              <a:ext cx="114300" cy="160020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03247" y="600455"/>
            <a:ext cx="108203" cy="1691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036" y="874775"/>
            <a:ext cx="108204" cy="169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736" y="1697735"/>
            <a:ext cx="108203" cy="169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736" y="3893820"/>
            <a:ext cx="108203" cy="16763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3481" y="521589"/>
            <a:ext cx="2640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 dirty="0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3384" algn="l"/>
                <a:tab pos="812165" algn="l"/>
                <a:tab pos="2145665" algn="l"/>
              </a:tabLst>
            </a:pPr>
            <a:r>
              <a:rPr sz="1800" spc="60" dirty="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 dirty="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481" y="1070228"/>
            <a:ext cx="14732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5" dirty="0">
                <a:solidFill>
                  <a:srgbClr val="2B91AD"/>
                </a:solidFill>
                <a:latin typeface="Trebuchet MS"/>
                <a:cs typeface="Trebuchet MS"/>
              </a:rPr>
              <a:t>Base1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0681" y="1893570"/>
            <a:ext cx="35083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latin typeface="Trebuchet MS"/>
                <a:cs typeface="Trebuchet MS"/>
              </a:rPr>
              <a:t>Base</a:t>
            </a:r>
            <a:r>
              <a:rPr sz="1800" spc="-3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1</a:t>
            </a:r>
            <a:r>
              <a:rPr sz="1800" spc="-335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336800" algn="l"/>
                <a:tab pos="3136900" algn="l"/>
              </a:tabLst>
            </a:pPr>
            <a:r>
              <a:rPr sz="1800" spc="8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30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31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30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30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145" dirty="0">
                <a:solidFill>
                  <a:srgbClr val="A11515"/>
                </a:solidFill>
                <a:latin typeface="Trebuchet MS"/>
                <a:cs typeface="Trebuchet MS"/>
              </a:rPr>
              <a:t>1"</a:t>
            </a:r>
            <a:r>
              <a:rPr sz="1800" spc="-22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3481" y="299110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1" y="3265423"/>
            <a:ext cx="14732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65" dirty="0">
                <a:solidFill>
                  <a:srgbClr val="2B91AD"/>
                </a:solidFill>
                <a:latin typeface="Trebuchet MS"/>
                <a:cs typeface="Trebuchet MS"/>
              </a:rPr>
              <a:t>Base2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681" y="4088079"/>
            <a:ext cx="37674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5" dirty="0">
                <a:latin typeface="Trebuchet MS"/>
                <a:cs typeface="Trebuchet MS"/>
              </a:rPr>
              <a:t>Base</a:t>
            </a:r>
            <a:r>
              <a:rPr sz="1800" spc="-3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2</a:t>
            </a:r>
            <a:r>
              <a:rPr sz="1800" spc="-340" dirty="0">
                <a:latin typeface="Trebuchet MS"/>
                <a:cs typeface="Trebuchet MS"/>
              </a:rPr>
              <a:t> </a:t>
            </a:r>
            <a:r>
              <a:rPr sz="1800" spc="65" dirty="0">
                <a:latin typeface="Trebuchet MS"/>
                <a:cs typeface="Trebuchet MS"/>
              </a:rPr>
              <a:t>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603500" algn="l"/>
                <a:tab pos="3403600" algn="l"/>
              </a:tabLst>
            </a:pPr>
            <a:r>
              <a:rPr sz="1800" spc="7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50" dirty="0">
                <a:solidFill>
                  <a:srgbClr val="A11515"/>
                </a:solidFill>
                <a:latin typeface="Trebuchet MS"/>
                <a:cs typeface="Trebuchet MS"/>
              </a:rPr>
              <a:t>nBase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60" dirty="0">
                <a:solidFill>
                  <a:srgbClr val="A11515"/>
                </a:solidFill>
                <a:latin typeface="Trebuchet MS"/>
                <a:cs typeface="Trebuchet MS"/>
              </a:rPr>
              <a:t>Cla</a:t>
            </a:r>
            <a:r>
              <a:rPr sz="1800" spc="-1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35" dirty="0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2</a:t>
            </a:r>
            <a:r>
              <a:rPr sz="1800" spc="-18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481" y="5185613"/>
            <a:ext cx="294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15756" y="1571244"/>
            <a:ext cx="108203" cy="16763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8543" y="1571244"/>
            <a:ext cx="106679" cy="16763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82156" y="2119883"/>
            <a:ext cx="108203" cy="16763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8755" y="3765803"/>
            <a:ext cx="108203" cy="1676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48856" y="3765803"/>
            <a:ext cx="108203" cy="16763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020815" y="1491437"/>
            <a:ext cx="404812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012314" algn="l"/>
                <a:tab pos="307911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2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0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3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: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sz="1800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1800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b</a:t>
            </a:r>
            <a:r>
              <a:rPr sz="1800" spc="-12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12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130" dirty="0">
                <a:solidFill>
                  <a:srgbClr val="2B91AD"/>
                </a:solidFill>
                <a:latin typeface="Trebuchet MS"/>
                <a:cs typeface="Trebuchet MS"/>
              </a:rPr>
              <a:t>Base1</a:t>
            </a:r>
            <a:r>
              <a:rPr sz="1800" spc="-130" dirty="0">
                <a:latin typeface="Trebuchet MS"/>
                <a:cs typeface="Trebuchet MS"/>
              </a:rPr>
              <a:t>,</a:t>
            </a:r>
            <a:r>
              <a:rPr sz="1800" spc="-13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555351" y="1491437"/>
            <a:ext cx="940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8765" algn="l"/>
              </a:tabLst>
            </a:pP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5" dirty="0">
                <a:solidFill>
                  <a:srgbClr val="2B91AD"/>
                </a:solidFill>
                <a:latin typeface="Trebuchet MS"/>
                <a:cs typeface="Trebuchet MS"/>
              </a:rPr>
              <a:t>Base2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78015" y="2315083"/>
            <a:ext cx="23209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u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105" dirty="0">
                <a:latin typeface="Trebuchet MS"/>
                <a:cs typeface="Trebuchet MS"/>
              </a:rPr>
              <a:t>la</a:t>
            </a:r>
            <a:r>
              <a:rPr sz="1800" spc="-3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</a:tabLst>
            </a:pPr>
            <a:r>
              <a:rPr sz="1800" spc="9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33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3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n</a:t>
            </a:r>
            <a:r>
              <a:rPr sz="1800" spc="-3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A11515"/>
                </a:solidFill>
                <a:latin typeface="Trebuchet MS"/>
                <a:cs typeface="Trebuchet MS"/>
              </a:rPr>
              <a:t>Sub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34957" y="2863977"/>
            <a:ext cx="9220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C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29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020815" y="3412617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54928" y="3686936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20815" y="3960952"/>
            <a:ext cx="109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78015" y="4235957"/>
            <a:ext cx="106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4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78928" y="4235957"/>
            <a:ext cx="525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obj;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0815" y="4510278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1790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10"/>
              </a:spcBef>
            </a:pPr>
            <a:endParaRPr sz="4000">
              <a:latin typeface="Times New Roman"/>
              <a:cs typeface="Times New Roman"/>
            </a:endParaRPr>
          </a:p>
          <a:p>
            <a:pPr marL="1368425" marR="743585" indent="-628015">
              <a:lnSpc>
                <a:spcPts val="4110"/>
              </a:lnSpc>
            </a:pPr>
            <a:r>
              <a:rPr sz="4000" spc="-175" dirty="0">
                <a:solidFill>
                  <a:srgbClr val="FFFCFF"/>
                </a:solidFill>
                <a:latin typeface="Calibri Light"/>
                <a:cs typeface="Calibri Light"/>
              </a:rPr>
              <a:t>Hierarchical </a:t>
            </a:r>
            <a:r>
              <a:rPr sz="4000" spc="-20" dirty="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14671" y="1208532"/>
            <a:ext cx="7252970" cy="646430"/>
          </a:xfrm>
          <a:custGeom>
            <a:avLst/>
            <a:gdLst/>
            <a:ahLst/>
            <a:cxnLst/>
            <a:rect l="l" t="t" r="r" b="b"/>
            <a:pathLst>
              <a:path w="7252970" h="646430">
                <a:moveTo>
                  <a:pt x="7252461" y="0"/>
                </a:moveTo>
                <a:lnTo>
                  <a:pt x="0" y="0"/>
                </a:lnTo>
                <a:lnTo>
                  <a:pt x="0" y="645922"/>
                </a:lnTo>
                <a:lnTo>
                  <a:pt x="7252461" y="645922"/>
                </a:lnTo>
                <a:lnTo>
                  <a:pt x="7252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95190" y="1241805"/>
            <a:ext cx="700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latin typeface="Cambria"/>
                <a:cs typeface="Cambria"/>
              </a:rPr>
              <a:t>Hierarchical</a:t>
            </a:r>
            <a:r>
              <a:rPr sz="1800" spc="12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inheritance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defined</a:t>
            </a:r>
            <a:r>
              <a:rPr sz="1800" spc="20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as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1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process</a:t>
            </a:r>
            <a:r>
              <a:rPr sz="1800" spc="1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deriving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-20" dirty="0">
                <a:latin typeface="Cambria"/>
                <a:cs typeface="Cambria"/>
              </a:rPr>
              <a:t>more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95190" y="1515821"/>
            <a:ext cx="33940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</a:t>
            </a:r>
            <a:r>
              <a:rPr spc="110" dirty="0"/>
              <a:t> </a:t>
            </a:r>
            <a:r>
              <a:rPr spc="55" dirty="0"/>
              <a:t>one</a:t>
            </a:r>
            <a:r>
              <a:rPr spc="160" dirty="0"/>
              <a:t> </a:t>
            </a:r>
            <a:r>
              <a:rPr dirty="0"/>
              <a:t>class</a:t>
            </a:r>
            <a:r>
              <a:rPr spc="150" dirty="0"/>
              <a:t> </a:t>
            </a:r>
            <a:r>
              <a:rPr dirty="0"/>
              <a:t>from</a:t>
            </a:r>
            <a:r>
              <a:rPr spc="105" dirty="0"/>
              <a:t> </a:t>
            </a:r>
            <a:r>
              <a:rPr dirty="0"/>
              <a:t>a</a:t>
            </a:r>
            <a:r>
              <a:rPr spc="165" dirty="0"/>
              <a:t> </a:t>
            </a:r>
            <a:r>
              <a:rPr spc="65" dirty="0"/>
              <a:t>base</a:t>
            </a:r>
            <a:r>
              <a:rPr spc="229" dirty="0"/>
              <a:t> </a:t>
            </a:r>
            <a:r>
              <a:rPr spc="50" dirty="0"/>
              <a:t>class.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9364" y="2350007"/>
            <a:ext cx="5323332" cy="32293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1416" y="696468"/>
            <a:ext cx="248920" cy="167640"/>
            <a:chOff x="661416" y="696468"/>
            <a:chExt cx="248920" cy="167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624" y="696468"/>
              <a:ext cx="108204" cy="16763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1416" y="705612"/>
              <a:ext cx="114300" cy="1584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9948" y="696468"/>
            <a:ext cx="106680" cy="167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736" y="970788"/>
            <a:ext cx="108203" cy="1691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2436" y="1793748"/>
            <a:ext cx="108203" cy="16916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8623" y="3439667"/>
            <a:ext cx="108203" cy="1691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2436" y="3989832"/>
            <a:ext cx="108203" cy="1676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9267" y="617346"/>
            <a:ext cx="2641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808080"/>
                </a:solidFill>
                <a:latin typeface="Trebuchet MS"/>
                <a:cs typeface="Trebuchet MS"/>
              </a:rPr>
              <a:t>nclude</a:t>
            </a:r>
            <a:r>
              <a:rPr sz="1800" spc="105" dirty="0">
                <a:solidFill>
                  <a:srgbClr val="A11515"/>
                </a:solidFill>
                <a:latin typeface="Trebuchet MS"/>
                <a:cs typeface="Trebuchet MS"/>
              </a:rPr>
              <a:t>&lt;ostream&gt;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414655" algn="l"/>
                <a:tab pos="812165" algn="l"/>
                <a:tab pos="2145665" algn="l"/>
              </a:tabLst>
            </a:pPr>
            <a:r>
              <a:rPr sz="1800" spc="60" dirty="0">
                <a:solidFill>
                  <a:srgbClr val="0000FF"/>
                </a:solidFill>
                <a:latin typeface="Trebuchet MS"/>
                <a:cs typeface="Trebuchet MS"/>
              </a:rPr>
              <a:t>us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00FF"/>
                </a:solidFill>
                <a:latin typeface="Trebuchet MS"/>
                <a:cs typeface="Trebuchet MS"/>
              </a:rPr>
              <a:t>ng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60" dirty="0">
                <a:solidFill>
                  <a:srgbClr val="0000FF"/>
                </a:solidFill>
                <a:latin typeface="Trebuchet MS"/>
                <a:cs typeface="Trebuchet MS"/>
              </a:rPr>
              <a:t>names</a:t>
            </a:r>
            <a:r>
              <a:rPr sz="1800" spc="-1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30" dirty="0">
                <a:solidFill>
                  <a:srgbClr val="0000FF"/>
                </a:solidFill>
                <a:latin typeface="Trebuchet MS"/>
                <a:cs typeface="Trebuchet MS"/>
              </a:rPr>
              <a:t>pace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s</a:t>
            </a:r>
            <a:r>
              <a:rPr sz="1800" spc="-229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td;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9267" y="1165986"/>
            <a:ext cx="1343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6467" y="1989201"/>
            <a:ext cx="35134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Base()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603500" algn="l"/>
              </a:tabLst>
            </a:pPr>
            <a:r>
              <a:rPr sz="1800" spc="8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spc="95" dirty="0">
                <a:solidFill>
                  <a:srgbClr val="A11515"/>
                </a:solidFill>
                <a:latin typeface="Trebuchet MS"/>
                <a:cs typeface="Trebuchet MS"/>
              </a:rPr>
              <a:t>“\n</a:t>
            </a:r>
            <a:r>
              <a:rPr sz="1800" spc="-39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90" dirty="0">
                <a:solidFill>
                  <a:srgbClr val="A11515"/>
                </a:solidFill>
                <a:latin typeface="Trebuchet MS"/>
                <a:cs typeface="Trebuchet MS"/>
              </a:rPr>
              <a:t>Base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l</a:t>
            </a:r>
            <a:r>
              <a:rPr sz="1800" spc="-25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a</a:t>
            </a:r>
            <a:r>
              <a:rPr sz="1800" spc="-24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40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s</a:t>
            </a:r>
            <a:r>
              <a:rPr sz="1800" spc="-25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23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9267" y="3086861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9267" y="3361182"/>
            <a:ext cx="37433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5665" algn="l"/>
                <a:tab pos="2946400" algn="l"/>
                <a:tab pos="3213100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1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1355" algn="l"/>
              </a:tabLst>
            </a:pPr>
            <a:r>
              <a:rPr sz="1800" spc="10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6467" y="4184395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Sub</a:t>
            </a:r>
            <a:r>
              <a:rPr sz="1800" spc="-325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Class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1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065" algn="l"/>
                <a:tab pos="2469515" algn="l"/>
                <a:tab pos="3269615" algn="l"/>
              </a:tabLst>
            </a:pPr>
            <a:r>
              <a:rPr sz="1800" spc="7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1"</a:t>
            </a:r>
            <a:r>
              <a:rPr sz="1800" spc="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9267" y="528192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3059" y="1424939"/>
            <a:ext cx="106679" cy="16763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6871" y="1973579"/>
            <a:ext cx="106679" cy="16763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41947" y="3619500"/>
            <a:ext cx="108203" cy="16916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42047" y="3619500"/>
            <a:ext cx="108203" cy="16916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414261" y="1345438"/>
            <a:ext cx="374205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2165" algn="l"/>
                <a:tab pos="2146300" algn="l"/>
                <a:tab pos="2945130" algn="l"/>
                <a:tab pos="3211830" algn="l"/>
              </a:tabLst>
            </a:pP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1800" spc="-2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1800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11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55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r>
              <a:rPr sz="1800" dirty="0">
                <a:solidFill>
                  <a:srgbClr val="2B91AD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latin typeface="Trebuchet MS"/>
                <a:cs typeface="Trebuchet MS"/>
              </a:rPr>
              <a:t>: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-5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spc="70" dirty="0">
                <a:solidFill>
                  <a:srgbClr val="2B91AD"/>
                </a:solidFill>
                <a:latin typeface="Trebuchet MS"/>
                <a:cs typeface="Trebuchet MS"/>
              </a:rPr>
              <a:t>Base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680085" algn="l"/>
              </a:tabLst>
            </a:pPr>
            <a:r>
              <a:rPr sz="1800" spc="105" dirty="0">
                <a:solidFill>
                  <a:srgbClr val="0000FF"/>
                </a:solidFill>
                <a:latin typeface="Trebuchet MS"/>
                <a:cs typeface="Trebuchet MS"/>
              </a:rPr>
              <a:t>publ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c</a:t>
            </a:r>
            <a:r>
              <a:rPr sz="1800" spc="-2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71461" y="2168778"/>
            <a:ext cx="3633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35" dirty="0">
                <a:latin typeface="Trebuchet MS"/>
                <a:cs typeface="Trebuchet MS"/>
              </a:rPr>
              <a:t>Sub</a:t>
            </a:r>
            <a:r>
              <a:rPr sz="1800" spc="-325" dirty="0">
                <a:latin typeface="Trebuchet MS"/>
                <a:cs typeface="Trebuchet MS"/>
              </a:rPr>
              <a:t> </a:t>
            </a:r>
            <a:r>
              <a:rPr sz="1800" spc="170" dirty="0">
                <a:latin typeface="Trebuchet MS"/>
                <a:cs typeface="Trebuchet MS"/>
              </a:rPr>
              <a:t>Class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2</a:t>
            </a:r>
            <a:r>
              <a:rPr sz="1800" spc="-3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33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tabLst>
                <a:tab pos="1137285" algn="l"/>
                <a:tab pos="1536700" algn="l"/>
                <a:tab pos="2469515" algn="l"/>
                <a:tab pos="3269615" algn="l"/>
              </a:tabLst>
            </a:pPr>
            <a:r>
              <a:rPr sz="1800" spc="75" dirty="0">
                <a:latin typeface="Trebuchet MS"/>
                <a:cs typeface="Trebuchet MS"/>
              </a:rPr>
              <a:t>cout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solidFill>
                  <a:srgbClr val="008080"/>
                </a:solidFill>
                <a:latin typeface="Trebuchet MS"/>
                <a:cs typeface="Trebuchet MS"/>
              </a:rPr>
              <a:t>&lt;&lt;</a:t>
            </a:r>
            <a:r>
              <a:rPr sz="1800" dirty="0">
                <a:solidFill>
                  <a:srgbClr val="008080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"</a:t>
            </a:r>
            <a:r>
              <a:rPr sz="1800" spc="-8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\</a:t>
            </a:r>
            <a:r>
              <a:rPr sz="1800" spc="-15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A11515"/>
                </a:solidFill>
                <a:latin typeface="Trebuchet MS"/>
                <a:cs typeface="Trebuchet MS"/>
              </a:rPr>
              <a:t>nSub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C</a:t>
            </a:r>
            <a:r>
              <a:rPr sz="1800" spc="-204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70" dirty="0">
                <a:solidFill>
                  <a:srgbClr val="A11515"/>
                </a:solidFill>
                <a:latin typeface="Trebuchet MS"/>
                <a:cs typeface="Trebuchet MS"/>
              </a:rPr>
              <a:t>la</a:t>
            </a:r>
            <a:r>
              <a:rPr sz="1800" spc="-29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65" dirty="0">
                <a:solidFill>
                  <a:srgbClr val="A11515"/>
                </a:solidFill>
                <a:latin typeface="Trebuchet MS"/>
                <a:cs typeface="Trebuchet MS"/>
              </a:rPr>
              <a:t>ss</a:t>
            </a:r>
            <a:r>
              <a:rPr sz="1800" dirty="0">
                <a:solidFill>
                  <a:srgbClr val="A11515"/>
                </a:solidFill>
                <a:latin typeface="Trebuchet MS"/>
                <a:cs typeface="Trebuchet MS"/>
              </a:rPr>
              <a:t>	2"</a:t>
            </a:r>
            <a:r>
              <a:rPr sz="1800" spc="5" dirty="0">
                <a:solidFill>
                  <a:srgbClr val="A1151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4261" y="3266313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};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48373" y="3540632"/>
            <a:ext cx="1188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1480" algn="l"/>
              </a:tabLst>
            </a:pPr>
            <a:r>
              <a:rPr sz="1800" spc="65" dirty="0">
                <a:solidFill>
                  <a:srgbClr val="0000FF"/>
                </a:solidFill>
                <a:latin typeface="Trebuchet MS"/>
                <a:cs typeface="Trebuchet MS"/>
              </a:rPr>
              <a:t>nt</a:t>
            </a:r>
            <a:r>
              <a:rPr sz="1800" dirty="0">
                <a:solidFill>
                  <a:srgbClr val="0000FF"/>
                </a:solidFill>
                <a:latin typeface="Trebuchet MS"/>
                <a:cs typeface="Trebuchet MS"/>
              </a:rPr>
              <a:t>	</a:t>
            </a:r>
            <a:r>
              <a:rPr sz="1800" dirty="0">
                <a:latin typeface="Trebuchet MS"/>
                <a:cs typeface="Trebuchet MS"/>
              </a:rPr>
              <a:t>ma</a:t>
            </a:r>
            <a:r>
              <a:rPr sz="1800" spc="1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(</a:t>
            </a:r>
            <a:r>
              <a:rPr sz="1800" spc="-270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14261" y="381495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{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71461" y="4088968"/>
            <a:ext cx="12001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solidFill>
                  <a:srgbClr val="2B91AD"/>
                </a:solidFill>
                <a:latin typeface="Trebuchet MS"/>
                <a:cs typeface="Trebuchet MS"/>
              </a:rPr>
              <a:t>Sub</a:t>
            </a:r>
            <a:r>
              <a:rPr sz="1800" spc="-360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140" dirty="0">
                <a:solidFill>
                  <a:srgbClr val="2B91AD"/>
                </a:solidFill>
                <a:latin typeface="Trebuchet MS"/>
                <a:cs typeface="Trebuchet MS"/>
              </a:rPr>
              <a:t>Class</a:t>
            </a:r>
            <a:r>
              <a:rPr sz="1800" spc="-360" dirty="0">
                <a:solidFill>
                  <a:srgbClr val="2B91AD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B91AD"/>
                </a:solidFill>
                <a:latin typeface="Trebuchet MS"/>
                <a:cs typeface="Trebuchet MS"/>
              </a:rPr>
              <a:t>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04961" y="4088968"/>
            <a:ext cx="530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latin typeface="Trebuchet MS"/>
                <a:cs typeface="Trebuchet MS"/>
              </a:rPr>
              <a:t>ob</a:t>
            </a:r>
            <a:r>
              <a:rPr sz="1800" spc="-3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j</a:t>
            </a:r>
            <a:r>
              <a:rPr sz="1800" spc="-31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;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4261" y="4363973"/>
            <a:ext cx="10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rebuchet MS"/>
                <a:cs typeface="Trebuchet MS"/>
              </a:rPr>
              <a:t>}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26852" y="9144"/>
            <a:ext cx="1539240" cy="556260"/>
          </a:xfrm>
          <a:custGeom>
            <a:avLst/>
            <a:gdLst/>
            <a:ahLst/>
            <a:cxnLst/>
            <a:rect l="l" t="t" r="r" b="b"/>
            <a:pathLst>
              <a:path w="1539240" h="556260">
                <a:moveTo>
                  <a:pt x="1539240" y="556259"/>
                </a:moveTo>
                <a:lnTo>
                  <a:pt x="1494027" y="532891"/>
                </a:lnTo>
                <a:lnTo>
                  <a:pt x="1448434" y="509904"/>
                </a:lnTo>
                <a:lnTo>
                  <a:pt x="1402461" y="487425"/>
                </a:lnTo>
                <a:lnTo>
                  <a:pt x="1356232" y="465454"/>
                </a:lnTo>
                <a:lnTo>
                  <a:pt x="1309497" y="443864"/>
                </a:lnTo>
                <a:lnTo>
                  <a:pt x="1262633" y="422782"/>
                </a:lnTo>
                <a:lnTo>
                  <a:pt x="1215390" y="402081"/>
                </a:lnTo>
                <a:lnTo>
                  <a:pt x="1167765" y="381761"/>
                </a:lnTo>
                <a:lnTo>
                  <a:pt x="1120013" y="361822"/>
                </a:lnTo>
                <a:lnTo>
                  <a:pt x="1072006" y="342391"/>
                </a:lnTo>
                <a:lnTo>
                  <a:pt x="1023747" y="323341"/>
                </a:lnTo>
                <a:lnTo>
                  <a:pt x="975359" y="304673"/>
                </a:lnTo>
                <a:lnTo>
                  <a:pt x="926846" y="286257"/>
                </a:lnTo>
                <a:lnTo>
                  <a:pt x="878077" y="268350"/>
                </a:lnTo>
                <a:lnTo>
                  <a:pt x="829309" y="250825"/>
                </a:lnTo>
                <a:lnTo>
                  <a:pt x="780288" y="233552"/>
                </a:lnTo>
                <a:lnTo>
                  <a:pt x="731266" y="216661"/>
                </a:lnTo>
                <a:lnTo>
                  <a:pt x="682244" y="200151"/>
                </a:lnTo>
                <a:lnTo>
                  <a:pt x="633095" y="183896"/>
                </a:lnTo>
                <a:lnTo>
                  <a:pt x="583946" y="168021"/>
                </a:lnTo>
                <a:lnTo>
                  <a:pt x="534797" y="152526"/>
                </a:lnTo>
                <a:lnTo>
                  <a:pt x="485648" y="137286"/>
                </a:lnTo>
                <a:lnTo>
                  <a:pt x="436499" y="122300"/>
                </a:lnTo>
                <a:lnTo>
                  <a:pt x="387476" y="107569"/>
                </a:lnTo>
                <a:lnTo>
                  <a:pt x="338581" y="93217"/>
                </a:lnTo>
                <a:lnTo>
                  <a:pt x="289687" y="79121"/>
                </a:lnTo>
                <a:lnTo>
                  <a:pt x="241046" y="65404"/>
                </a:lnTo>
                <a:lnTo>
                  <a:pt x="192404" y="51815"/>
                </a:lnTo>
                <a:lnTo>
                  <a:pt x="144018" y="38480"/>
                </a:lnTo>
                <a:lnTo>
                  <a:pt x="95757" y="25400"/>
                </a:lnTo>
                <a:lnTo>
                  <a:pt x="47751" y="12573"/>
                </a:lnTo>
                <a:lnTo>
                  <a:pt x="0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47376" y="5013959"/>
            <a:ext cx="1918970" cy="1830070"/>
          </a:xfrm>
          <a:custGeom>
            <a:avLst/>
            <a:gdLst/>
            <a:ahLst/>
            <a:cxnLst/>
            <a:rect l="l" t="t" r="r" b="b"/>
            <a:pathLst>
              <a:path w="1918970" h="1830070">
                <a:moveTo>
                  <a:pt x="0" y="1829942"/>
                </a:moveTo>
                <a:lnTo>
                  <a:pt x="40004" y="1798867"/>
                </a:lnTo>
                <a:lnTo>
                  <a:pt x="79882" y="1767612"/>
                </a:lnTo>
                <a:lnTo>
                  <a:pt x="119633" y="1736181"/>
                </a:lnTo>
                <a:lnTo>
                  <a:pt x="159384" y="1704568"/>
                </a:lnTo>
                <a:lnTo>
                  <a:pt x="199008" y="1672793"/>
                </a:lnTo>
                <a:lnTo>
                  <a:pt x="238632" y="1640839"/>
                </a:lnTo>
                <a:lnTo>
                  <a:pt x="278002" y="1608696"/>
                </a:lnTo>
                <a:lnTo>
                  <a:pt x="317373" y="1576400"/>
                </a:lnTo>
                <a:lnTo>
                  <a:pt x="356743" y="1543926"/>
                </a:lnTo>
                <a:lnTo>
                  <a:pt x="395858" y="1511287"/>
                </a:lnTo>
                <a:lnTo>
                  <a:pt x="434975" y="1478470"/>
                </a:lnTo>
                <a:lnTo>
                  <a:pt x="473964" y="1445488"/>
                </a:lnTo>
                <a:lnTo>
                  <a:pt x="512825" y="1412341"/>
                </a:lnTo>
                <a:lnTo>
                  <a:pt x="551560" y="1379029"/>
                </a:lnTo>
                <a:lnTo>
                  <a:pt x="590169" y="1345539"/>
                </a:lnTo>
                <a:lnTo>
                  <a:pt x="628776" y="1311897"/>
                </a:lnTo>
                <a:lnTo>
                  <a:pt x="667130" y="1278089"/>
                </a:lnTo>
                <a:lnTo>
                  <a:pt x="705484" y="1244130"/>
                </a:lnTo>
                <a:lnTo>
                  <a:pt x="743712" y="1209992"/>
                </a:lnTo>
                <a:lnTo>
                  <a:pt x="781684" y="1175702"/>
                </a:lnTo>
                <a:lnTo>
                  <a:pt x="819657" y="1141260"/>
                </a:lnTo>
                <a:lnTo>
                  <a:pt x="857503" y="1106652"/>
                </a:lnTo>
                <a:lnTo>
                  <a:pt x="895096" y="1071892"/>
                </a:lnTo>
                <a:lnTo>
                  <a:pt x="932688" y="1036967"/>
                </a:lnTo>
                <a:lnTo>
                  <a:pt x="970026" y="1001890"/>
                </a:lnTo>
                <a:lnTo>
                  <a:pt x="1007364" y="966660"/>
                </a:lnTo>
                <a:lnTo>
                  <a:pt x="1044448" y="931278"/>
                </a:lnTo>
                <a:lnTo>
                  <a:pt x="1081404" y="895743"/>
                </a:lnTo>
                <a:lnTo>
                  <a:pt x="1118234" y="860056"/>
                </a:lnTo>
                <a:lnTo>
                  <a:pt x="1154938" y="824229"/>
                </a:lnTo>
                <a:lnTo>
                  <a:pt x="1191387" y="788238"/>
                </a:lnTo>
                <a:lnTo>
                  <a:pt x="1227835" y="752106"/>
                </a:lnTo>
                <a:lnTo>
                  <a:pt x="1264030" y="715835"/>
                </a:lnTo>
                <a:lnTo>
                  <a:pt x="1300099" y="679411"/>
                </a:lnTo>
                <a:lnTo>
                  <a:pt x="1335913" y="642848"/>
                </a:lnTo>
                <a:lnTo>
                  <a:pt x="1371727" y="606132"/>
                </a:lnTo>
                <a:lnTo>
                  <a:pt x="1407287" y="569213"/>
                </a:lnTo>
                <a:lnTo>
                  <a:pt x="1442593" y="532256"/>
                </a:lnTo>
                <a:lnTo>
                  <a:pt x="1477772" y="495172"/>
                </a:lnTo>
                <a:lnTo>
                  <a:pt x="1512824" y="457834"/>
                </a:lnTo>
                <a:lnTo>
                  <a:pt x="1547749" y="420496"/>
                </a:lnTo>
                <a:lnTo>
                  <a:pt x="1582420" y="382904"/>
                </a:lnTo>
                <a:lnTo>
                  <a:pt x="1616837" y="345185"/>
                </a:lnTo>
                <a:lnTo>
                  <a:pt x="1651127" y="307339"/>
                </a:lnTo>
                <a:lnTo>
                  <a:pt x="1685290" y="269366"/>
                </a:lnTo>
                <a:lnTo>
                  <a:pt x="1719199" y="231266"/>
                </a:lnTo>
                <a:lnTo>
                  <a:pt x="1752853" y="193039"/>
                </a:lnTo>
                <a:lnTo>
                  <a:pt x="1786381" y="154685"/>
                </a:lnTo>
                <a:lnTo>
                  <a:pt x="1819782" y="116204"/>
                </a:lnTo>
                <a:lnTo>
                  <a:pt x="1852802" y="77596"/>
                </a:lnTo>
                <a:lnTo>
                  <a:pt x="1885696" y="38862"/>
                </a:lnTo>
                <a:lnTo>
                  <a:pt x="191846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02923" y="9144"/>
            <a:ext cx="963294" cy="367030"/>
          </a:xfrm>
          <a:custGeom>
            <a:avLst/>
            <a:gdLst/>
            <a:ahLst/>
            <a:cxnLst/>
            <a:rect l="l" t="t" r="r" b="b"/>
            <a:pathLst>
              <a:path w="963295" h="367030">
                <a:moveTo>
                  <a:pt x="963041" y="366902"/>
                </a:moveTo>
                <a:lnTo>
                  <a:pt x="916558" y="344931"/>
                </a:lnTo>
                <a:lnTo>
                  <a:pt x="869823" y="323469"/>
                </a:lnTo>
                <a:lnTo>
                  <a:pt x="822832" y="302386"/>
                </a:lnTo>
                <a:lnTo>
                  <a:pt x="775461" y="281685"/>
                </a:lnTo>
                <a:lnTo>
                  <a:pt x="727836" y="261365"/>
                </a:lnTo>
                <a:lnTo>
                  <a:pt x="679957" y="241426"/>
                </a:lnTo>
                <a:lnTo>
                  <a:pt x="631951" y="221869"/>
                </a:lnTo>
                <a:lnTo>
                  <a:pt x="583692" y="202819"/>
                </a:lnTo>
                <a:lnTo>
                  <a:pt x="535304" y="184023"/>
                </a:lnTo>
                <a:lnTo>
                  <a:pt x="486791" y="165607"/>
                </a:lnTo>
                <a:lnTo>
                  <a:pt x="438276" y="147574"/>
                </a:lnTo>
                <a:lnTo>
                  <a:pt x="389508" y="129921"/>
                </a:lnTo>
                <a:lnTo>
                  <a:pt x="340741" y="112522"/>
                </a:lnTo>
                <a:lnTo>
                  <a:pt x="291973" y="95503"/>
                </a:lnTo>
                <a:lnTo>
                  <a:pt x="243204" y="78739"/>
                </a:lnTo>
                <a:lnTo>
                  <a:pt x="194436" y="62356"/>
                </a:lnTo>
                <a:lnTo>
                  <a:pt x="145669" y="46354"/>
                </a:lnTo>
                <a:lnTo>
                  <a:pt x="97027" y="30606"/>
                </a:lnTo>
                <a:lnTo>
                  <a:pt x="48386" y="15112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4264" y="5274564"/>
            <a:ext cx="1667510" cy="1578610"/>
          </a:xfrm>
          <a:custGeom>
            <a:avLst/>
            <a:gdLst/>
            <a:ahLst/>
            <a:cxnLst/>
            <a:rect l="l" t="t" r="r" b="b"/>
            <a:pathLst>
              <a:path w="1667509" h="1578609">
                <a:moveTo>
                  <a:pt x="0" y="1578481"/>
                </a:moveTo>
                <a:lnTo>
                  <a:pt x="39496" y="1546707"/>
                </a:lnTo>
                <a:lnTo>
                  <a:pt x="78993" y="1514778"/>
                </a:lnTo>
                <a:lnTo>
                  <a:pt x="118363" y="1482695"/>
                </a:lnTo>
                <a:lnTo>
                  <a:pt x="157733" y="1450454"/>
                </a:lnTo>
                <a:lnTo>
                  <a:pt x="196976" y="1418069"/>
                </a:lnTo>
                <a:lnTo>
                  <a:pt x="236092" y="1385519"/>
                </a:lnTo>
                <a:lnTo>
                  <a:pt x="275081" y="1352829"/>
                </a:lnTo>
                <a:lnTo>
                  <a:pt x="314070" y="1319974"/>
                </a:lnTo>
                <a:lnTo>
                  <a:pt x="352932" y="1286979"/>
                </a:lnTo>
                <a:lnTo>
                  <a:pt x="391794" y="1253820"/>
                </a:lnTo>
                <a:lnTo>
                  <a:pt x="430402" y="1220508"/>
                </a:lnTo>
                <a:lnTo>
                  <a:pt x="469010" y="1187056"/>
                </a:lnTo>
                <a:lnTo>
                  <a:pt x="507491" y="1153452"/>
                </a:lnTo>
                <a:lnTo>
                  <a:pt x="545845" y="1119682"/>
                </a:lnTo>
                <a:lnTo>
                  <a:pt x="584200" y="1085773"/>
                </a:lnTo>
                <a:lnTo>
                  <a:pt x="622300" y="1051712"/>
                </a:lnTo>
                <a:lnTo>
                  <a:pt x="660272" y="1017498"/>
                </a:lnTo>
                <a:lnTo>
                  <a:pt x="698245" y="983145"/>
                </a:lnTo>
                <a:lnTo>
                  <a:pt x="735964" y="948639"/>
                </a:lnTo>
                <a:lnTo>
                  <a:pt x="773683" y="913980"/>
                </a:lnTo>
                <a:lnTo>
                  <a:pt x="811276" y="879170"/>
                </a:lnTo>
                <a:lnTo>
                  <a:pt x="848613" y="844207"/>
                </a:lnTo>
                <a:lnTo>
                  <a:pt x="885951" y="809104"/>
                </a:lnTo>
                <a:lnTo>
                  <a:pt x="923035" y="773861"/>
                </a:lnTo>
                <a:lnTo>
                  <a:pt x="960119" y="738454"/>
                </a:lnTo>
                <a:lnTo>
                  <a:pt x="996950" y="702906"/>
                </a:lnTo>
                <a:lnTo>
                  <a:pt x="1033652" y="667219"/>
                </a:lnTo>
                <a:lnTo>
                  <a:pt x="1070228" y="631380"/>
                </a:lnTo>
                <a:lnTo>
                  <a:pt x="1106677" y="595388"/>
                </a:lnTo>
                <a:lnTo>
                  <a:pt x="1143000" y="559257"/>
                </a:lnTo>
                <a:lnTo>
                  <a:pt x="1179067" y="522986"/>
                </a:lnTo>
                <a:lnTo>
                  <a:pt x="1215008" y="486562"/>
                </a:lnTo>
                <a:lnTo>
                  <a:pt x="1250822" y="449999"/>
                </a:lnTo>
                <a:lnTo>
                  <a:pt x="1286509" y="413283"/>
                </a:lnTo>
                <a:lnTo>
                  <a:pt x="1321942" y="376428"/>
                </a:lnTo>
                <a:lnTo>
                  <a:pt x="1357249" y="339432"/>
                </a:lnTo>
                <a:lnTo>
                  <a:pt x="1392427" y="302260"/>
                </a:lnTo>
                <a:lnTo>
                  <a:pt x="1427352" y="265049"/>
                </a:lnTo>
                <a:lnTo>
                  <a:pt x="1462151" y="227584"/>
                </a:lnTo>
                <a:lnTo>
                  <a:pt x="1496821" y="189992"/>
                </a:lnTo>
                <a:lnTo>
                  <a:pt x="1531238" y="152273"/>
                </a:lnTo>
                <a:lnTo>
                  <a:pt x="1565402" y="114427"/>
                </a:lnTo>
                <a:lnTo>
                  <a:pt x="1599437" y="76454"/>
                </a:lnTo>
                <a:lnTo>
                  <a:pt x="1633346" y="38227"/>
                </a:lnTo>
                <a:lnTo>
                  <a:pt x="1667002" y="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501628" y="9144"/>
            <a:ext cx="664210" cy="257810"/>
          </a:xfrm>
          <a:custGeom>
            <a:avLst/>
            <a:gdLst/>
            <a:ahLst/>
            <a:cxnLst/>
            <a:rect l="l" t="t" r="r" b="b"/>
            <a:pathLst>
              <a:path w="664209" h="257810">
                <a:moveTo>
                  <a:pt x="664082" y="257301"/>
                </a:moveTo>
                <a:lnTo>
                  <a:pt x="618236" y="236981"/>
                </a:lnTo>
                <a:lnTo>
                  <a:pt x="572007" y="217042"/>
                </a:lnTo>
                <a:lnTo>
                  <a:pt x="525526" y="197357"/>
                </a:lnTo>
                <a:lnTo>
                  <a:pt x="478917" y="177926"/>
                </a:lnTo>
                <a:lnTo>
                  <a:pt x="431926" y="158876"/>
                </a:lnTo>
                <a:lnTo>
                  <a:pt x="384810" y="140080"/>
                </a:lnTo>
                <a:lnTo>
                  <a:pt x="337312" y="121538"/>
                </a:lnTo>
                <a:lnTo>
                  <a:pt x="289687" y="103250"/>
                </a:lnTo>
                <a:lnTo>
                  <a:pt x="241935" y="85344"/>
                </a:lnTo>
                <a:lnTo>
                  <a:pt x="193928" y="67690"/>
                </a:lnTo>
                <a:lnTo>
                  <a:pt x="145669" y="50291"/>
                </a:lnTo>
                <a:lnTo>
                  <a:pt x="97281" y="33274"/>
                </a:lnTo>
                <a:lnTo>
                  <a:pt x="48768" y="16509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40568" y="5408676"/>
            <a:ext cx="1525270" cy="1435735"/>
          </a:xfrm>
          <a:custGeom>
            <a:avLst/>
            <a:gdLst/>
            <a:ahLst/>
            <a:cxnLst/>
            <a:rect l="l" t="t" r="r" b="b"/>
            <a:pathLst>
              <a:path w="1525270" h="1435734">
                <a:moveTo>
                  <a:pt x="0" y="1435481"/>
                </a:moveTo>
                <a:lnTo>
                  <a:pt x="39624" y="1403407"/>
                </a:lnTo>
                <a:lnTo>
                  <a:pt x="79121" y="1371180"/>
                </a:lnTo>
                <a:lnTo>
                  <a:pt x="118490" y="1338802"/>
                </a:lnTo>
                <a:lnTo>
                  <a:pt x="157860" y="1306271"/>
                </a:lnTo>
                <a:lnTo>
                  <a:pt x="197103" y="1273594"/>
                </a:lnTo>
                <a:lnTo>
                  <a:pt x="236220" y="1240764"/>
                </a:lnTo>
                <a:lnTo>
                  <a:pt x="275208" y="1207782"/>
                </a:lnTo>
                <a:lnTo>
                  <a:pt x="314198" y="1174648"/>
                </a:lnTo>
                <a:lnTo>
                  <a:pt x="352932" y="1141374"/>
                </a:lnTo>
                <a:lnTo>
                  <a:pt x="391667" y="1107935"/>
                </a:lnTo>
                <a:lnTo>
                  <a:pt x="430275" y="1074356"/>
                </a:lnTo>
                <a:lnTo>
                  <a:pt x="468756" y="1040638"/>
                </a:lnTo>
                <a:lnTo>
                  <a:pt x="507110" y="1006767"/>
                </a:lnTo>
                <a:lnTo>
                  <a:pt x="545464" y="972743"/>
                </a:lnTo>
                <a:lnTo>
                  <a:pt x="583564" y="938568"/>
                </a:lnTo>
                <a:lnTo>
                  <a:pt x="621537" y="904252"/>
                </a:lnTo>
                <a:lnTo>
                  <a:pt x="659510" y="869797"/>
                </a:lnTo>
                <a:lnTo>
                  <a:pt x="697229" y="835190"/>
                </a:lnTo>
                <a:lnTo>
                  <a:pt x="734822" y="800442"/>
                </a:lnTo>
                <a:lnTo>
                  <a:pt x="772413" y="765543"/>
                </a:lnTo>
                <a:lnTo>
                  <a:pt x="809751" y="730504"/>
                </a:lnTo>
                <a:lnTo>
                  <a:pt x="846962" y="695312"/>
                </a:lnTo>
                <a:lnTo>
                  <a:pt x="884047" y="659993"/>
                </a:lnTo>
                <a:lnTo>
                  <a:pt x="921003" y="624522"/>
                </a:lnTo>
                <a:lnTo>
                  <a:pt x="957833" y="588899"/>
                </a:lnTo>
                <a:lnTo>
                  <a:pt x="994536" y="553148"/>
                </a:lnTo>
                <a:lnTo>
                  <a:pt x="1030985" y="517245"/>
                </a:lnTo>
                <a:lnTo>
                  <a:pt x="1067434" y="481203"/>
                </a:lnTo>
                <a:lnTo>
                  <a:pt x="1103629" y="445033"/>
                </a:lnTo>
                <a:lnTo>
                  <a:pt x="1139698" y="408711"/>
                </a:lnTo>
                <a:lnTo>
                  <a:pt x="1175511" y="372249"/>
                </a:lnTo>
                <a:lnTo>
                  <a:pt x="1211326" y="335635"/>
                </a:lnTo>
                <a:lnTo>
                  <a:pt x="1246885" y="298894"/>
                </a:lnTo>
                <a:lnTo>
                  <a:pt x="1282191" y="262013"/>
                </a:lnTo>
                <a:lnTo>
                  <a:pt x="1317498" y="225005"/>
                </a:lnTo>
                <a:lnTo>
                  <a:pt x="1352550" y="187845"/>
                </a:lnTo>
                <a:lnTo>
                  <a:pt x="1387348" y="150495"/>
                </a:lnTo>
                <a:lnTo>
                  <a:pt x="1422146" y="113157"/>
                </a:lnTo>
                <a:lnTo>
                  <a:pt x="1456689" y="75565"/>
                </a:lnTo>
                <a:lnTo>
                  <a:pt x="1490979" y="37846"/>
                </a:lnTo>
                <a:lnTo>
                  <a:pt x="1525142" y="0"/>
                </a:lnTo>
              </a:path>
              <a:path w="1525270" h="1435734">
                <a:moveTo>
                  <a:pt x="163067" y="1435481"/>
                </a:moveTo>
                <a:lnTo>
                  <a:pt x="201802" y="1402273"/>
                </a:lnTo>
                <a:lnTo>
                  <a:pt x="240537" y="1368919"/>
                </a:lnTo>
                <a:lnTo>
                  <a:pt x="279273" y="1335420"/>
                </a:lnTo>
                <a:lnTo>
                  <a:pt x="317753" y="1301775"/>
                </a:lnTo>
                <a:lnTo>
                  <a:pt x="356234" y="1267980"/>
                </a:lnTo>
                <a:lnTo>
                  <a:pt x="394588" y="1234046"/>
                </a:lnTo>
                <a:lnTo>
                  <a:pt x="432942" y="1199972"/>
                </a:lnTo>
                <a:lnTo>
                  <a:pt x="471042" y="1165733"/>
                </a:lnTo>
                <a:lnTo>
                  <a:pt x="509142" y="1131366"/>
                </a:lnTo>
                <a:lnTo>
                  <a:pt x="547115" y="1096848"/>
                </a:lnTo>
                <a:lnTo>
                  <a:pt x="584961" y="1062177"/>
                </a:lnTo>
                <a:lnTo>
                  <a:pt x="622807" y="1027366"/>
                </a:lnTo>
                <a:lnTo>
                  <a:pt x="660400" y="992416"/>
                </a:lnTo>
                <a:lnTo>
                  <a:pt x="697991" y="957313"/>
                </a:lnTo>
                <a:lnTo>
                  <a:pt x="735329" y="922058"/>
                </a:lnTo>
                <a:lnTo>
                  <a:pt x="772667" y="886663"/>
                </a:lnTo>
                <a:lnTo>
                  <a:pt x="809878" y="851128"/>
                </a:lnTo>
                <a:lnTo>
                  <a:pt x="846962" y="815441"/>
                </a:lnTo>
                <a:lnTo>
                  <a:pt x="883920" y="779614"/>
                </a:lnTo>
                <a:lnTo>
                  <a:pt x="920750" y="743635"/>
                </a:lnTo>
                <a:lnTo>
                  <a:pt x="957326" y="707504"/>
                </a:lnTo>
                <a:lnTo>
                  <a:pt x="993901" y="671245"/>
                </a:lnTo>
                <a:lnTo>
                  <a:pt x="1030351" y="634822"/>
                </a:lnTo>
                <a:lnTo>
                  <a:pt x="1066673" y="598258"/>
                </a:lnTo>
                <a:lnTo>
                  <a:pt x="1102867" y="561555"/>
                </a:lnTo>
                <a:lnTo>
                  <a:pt x="1138808" y="524713"/>
                </a:lnTo>
                <a:lnTo>
                  <a:pt x="1174750" y="487705"/>
                </a:lnTo>
                <a:lnTo>
                  <a:pt x="1210436" y="450570"/>
                </a:lnTo>
                <a:lnTo>
                  <a:pt x="1245997" y="413283"/>
                </a:lnTo>
                <a:lnTo>
                  <a:pt x="1281429" y="375843"/>
                </a:lnTo>
                <a:lnTo>
                  <a:pt x="1316735" y="338264"/>
                </a:lnTo>
                <a:lnTo>
                  <a:pt x="1351914" y="300532"/>
                </a:lnTo>
                <a:lnTo>
                  <a:pt x="1386839" y="262661"/>
                </a:lnTo>
                <a:lnTo>
                  <a:pt x="1421637" y="224650"/>
                </a:lnTo>
                <a:lnTo>
                  <a:pt x="1456308" y="186486"/>
                </a:lnTo>
                <a:lnTo>
                  <a:pt x="1490852" y="148209"/>
                </a:lnTo>
                <a:lnTo>
                  <a:pt x="1525142" y="10972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64"/>
            <a:ext cx="5169215" cy="685170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0978895" y="5693664"/>
            <a:ext cx="1187450" cy="1150620"/>
          </a:xfrm>
          <a:custGeom>
            <a:avLst/>
            <a:gdLst/>
            <a:ahLst/>
            <a:cxnLst/>
            <a:rect l="l" t="t" r="r" b="b"/>
            <a:pathLst>
              <a:path w="1187450" h="1150620">
                <a:moveTo>
                  <a:pt x="0" y="1150620"/>
                </a:moveTo>
                <a:lnTo>
                  <a:pt x="37973" y="1117702"/>
                </a:lnTo>
                <a:lnTo>
                  <a:pt x="75692" y="1084657"/>
                </a:lnTo>
                <a:lnTo>
                  <a:pt x="113410" y="1051482"/>
                </a:lnTo>
                <a:lnTo>
                  <a:pt x="151002" y="1018184"/>
                </a:lnTo>
                <a:lnTo>
                  <a:pt x="188595" y="984745"/>
                </a:lnTo>
                <a:lnTo>
                  <a:pt x="225932" y="951191"/>
                </a:lnTo>
                <a:lnTo>
                  <a:pt x="263144" y="917498"/>
                </a:lnTo>
                <a:lnTo>
                  <a:pt x="300354" y="883691"/>
                </a:lnTo>
                <a:lnTo>
                  <a:pt x="337311" y="849757"/>
                </a:lnTo>
                <a:lnTo>
                  <a:pt x="374269" y="815695"/>
                </a:lnTo>
                <a:lnTo>
                  <a:pt x="411099" y="781519"/>
                </a:lnTo>
                <a:lnTo>
                  <a:pt x="447801" y="747217"/>
                </a:lnTo>
                <a:lnTo>
                  <a:pt x="484250" y="712787"/>
                </a:lnTo>
                <a:lnTo>
                  <a:pt x="520700" y="678243"/>
                </a:lnTo>
                <a:lnTo>
                  <a:pt x="557022" y="643572"/>
                </a:lnTo>
                <a:lnTo>
                  <a:pt x="593217" y="608787"/>
                </a:lnTo>
                <a:lnTo>
                  <a:pt x="629284" y="573887"/>
                </a:lnTo>
                <a:lnTo>
                  <a:pt x="665099" y="538861"/>
                </a:lnTo>
                <a:lnTo>
                  <a:pt x="700912" y="503732"/>
                </a:lnTo>
                <a:lnTo>
                  <a:pt x="736600" y="468477"/>
                </a:lnTo>
                <a:lnTo>
                  <a:pt x="772032" y="433108"/>
                </a:lnTo>
                <a:lnTo>
                  <a:pt x="807465" y="397624"/>
                </a:lnTo>
                <a:lnTo>
                  <a:pt x="842645" y="362026"/>
                </a:lnTo>
                <a:lnTo>
                  <a:pt x="877697" y="326313"/>
                </a:lnTo>
                <a:lnTo>
                  <a:pt x="912749" y="290499"/>
                </a:lnTo>
                <a:lnTo>
                  <a:pt x="947547" y="254571"/>
                </a:lnTo>
                <a:lnTo>
                  <a:pt x="982090" y="218528"/>
                </a:lnTo>
                <a:lnTo>
                  <a:pt x="1016634" y="182372"/>
                </a:lnTo>
                <a:lnTo>
                  <a:pt x="1051052" y="146113"/>
                </a:lnTo>
                <a:lnTo>
                  <a:pt x="1085214" y="109740"/>
                </a:lnTo>
                <a:lnTo>
                  <a:pt x="1119251" y="73266"/>
                </a:lnTo>
                <a:lnTo>
                  <a:pt x="1153159" y="36690"/>
                </a:lnTo>
                <a:lnTo>
                  <a:pt x="1186942" y="0"/>
                </a:lnTo>
              </a:path>
              <a:path w="1187450" h="1150620">
                <a:moveTo>
                  <a:pt x="307721" y="1150620"/>
                </a:moveTo>
                <a:lnTo>
                  <a:pt x="346836" y="1117669"/>
                </a:lnTo>
                <a:lnTo>
                  <a:pt x="385825" y="1084562"/>
                </a:lnTo>
                <a:lnTo>
                  <a:pt x="424687" y="1051295"/>
                </a:lnTo>
                <a:lnTo>
                  <a:pt x="463550" y="1017879"/>
                </a:lnTo>
                <a:lnTo>
                  <a:pt x="502284" y="984300"/>
                </a:lnTo>
                <a:lnTo>
                  <a:pt x="541020" y="950582"/>
                </a:lnTo>
                <a:lnTo>
                  <a:pt x="579627" y="916711"/>
                </a:lnTo>
                <a:lnTo>
                  <a:pt x="618235" y="882688"/>
                </a:lnTo>
                <a:lnTo>
                  <a:pt x="656717" y="848537"/>
                </a:lnTo>
                <a:lnTo>
                  <a:pt x="695198" y="814235"/>
                </a:lnTo>
                <a:lnTo>
                  <a:pt x="733551" y="779792"/>
                </a:lnTo>
                <a:lnTo>
                  <a:pt x="771778" y="745223"/>
                </a:lnTo>
                <a:lnTo>
                  <a:pt x="810005" y="710514"/>
                </a:lnTo>
                <a:lnTo>
                  <a:pt x="848105" y="675678"/>
                </a:lnTo>
                <a:lnTo>
                  <a:pt x="886205" y="640715"/>
                </a:lnTo>
                <a:lnTo>
                  <a:pt x="924051" y="605612"/>
                </a:lnTo>
                <a:lnTo>
                  <a:pt x="961898" y="570395"/>
                </a:lnTo>
                <a:lnTo>
                  <a:pt x="999617" y="535063"/>
                </a:lnTo>
                <a:lnTo>
                  <a:pt x="1037335" y="499605"/>
                </a:lnTo>
                <a:lnTo>
                  <a:pt x="1074927" y="464019"/>
                </a:lnTo>
                <a:lnTo>
                  <a:pt x="1112393" y="428332"/>
                </a:lnTo>
                <a:lnTo>
                  <a:pt x="1149730" y="392531"/>
                </a:lnTo>
                <a:lnTo>
                  <a:pt x="1186942" y="35661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0100" y="1699260"/>
            <a:ext cx="3674110" cy="502920"/>
          </a:xfrm>
          <a:custGeom>
            <a:avLst/>
            <a:gdLst/>
            <a:ahLst/>
            <a:cxnLst/>
            <a:rect l="l" t="t" r="r" b="b"/>
            <a:pathLst>
              <a:path w="3674110" h="502919">
                <a:moveTo>
                  <a:pt x="3673983" y="0"/>
                </a:moveTo>
                <a:lnTo>
                  <a:pt x="0" y="0"/>
                </a:lnTo>
                <a:lnTo>
                  <a:pt x="0" y="502920"/>
                </a:lnTo>
                <a:lnTo>
                  <a:pt x="3673983" y="502920"/>
                </a:lnTo>
                <a:lnTo>
                  <a:pt x="3673983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82595" y="4898135"/>
            <a:ext cx="315595" cy="271145"/>
          </a:xfrm>
          <a:custGeom>
            <a:avLst/>
            <a:gdLst/>
            <a:ahLst/>
            <a:cxnLst/>
            <a:rect l="l" t="t" r="r" b="b"/>
            <a:pathLst>
              <a:path w="315594" h="271145">
                <a:moveTo>
                  <a:pt x="315341" y="0"/>
                </a:moveTo>
                <a:lnTo>
                  <a:pt x="0" y="0"/>
                </a:lnTo>
                <a:lnTo>
                  <a:pt x="157734" y="270763"/>
                </a:lnTo>
                <a:lnTo>
                  <a:pt x="315341" y="0"/>
                </a:lnTo>
                <a:close/>
              </a:path>
            </a:pathLst>
          </a:custGeom>
          <a:solidFill>
            <a:srgbClr val="529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6195" y="2275332"/>
            <a:ext cx="3668395" cy="2624455"/>
          </a:xfrm>
          <a:prstGeom prst="rect">
            <a:avLst/>
          </a:prstGeom>
          <a:solidFill>
            <a:srgbClr val="529E39"/>
          </a:solidFill>
        </p:spPr>
        <p:txBody>
          <a:bodyPr vert="horz" wrap="square" lIns="0" tIns="336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50"/>
              </a:spcBef>
            </a:pPr>
            <a:endParaRPr sz="4000">
              <a:latin typeface="Times New Roman"/>
              <a:cs typeface="Times New Roman"/>
            </a:endParaRPr>
          </a:p>
          <a:p>
            <a:pPr marL="702310">
              <a:lnSpc>
                <a:spcPct val="100000"/>
              </a:lnSpc>
            </a:pPr>
            <a:r>
              <a:rPr sz="4000" spc="-135" dirty="0">
                <a:solidFill>
                  <a:srgbClr val="FFFCFF"/>
                </a:solidFill>
                <a:latin typeface="Calibri Light"/>
                <a:cs typeface="Calibri Light"/>
              </a:rPr>
              <a:t>Hybrid</a:t>
            </a:r>
            <a:r>
              <a:rPr sz="4000" spc="-335" dirty="0">
                <a:solidFill>
                  <a:srgbClr val="FFFCFF"/>
                </a:solidFill>
                <a:latin typeface="Calibri Light"/>
                <a:cs typeface="Calibri Light"/>
              </a:rPr>
              <a:t> </a:t>
            </a:r>
            <a:r>
              <a:rPr sz="4000" spc="-20" dirty="0">
                <a:solidFill>
                  <a:srgbClr val="FFFCFF"/>
                </a:solidFill>
                <a:latin typeface="Calibri Light"/>
                <a:cs typeface="Calibri Light"/>
              </a:rPr>
              <a:t>Class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04003" y="1219200"/>
            <a:ext cx="7252970" cy="646430"/>
          </a:xfrm>
          <a:custGeom>
            <a:avLst/>
            <a:gdLst/>
            <a:ahLst/>
            <a:cxnLst/>
            <a:rect l="l" t="t" r="r" b="b"/>
            <a:pathLst>
              <a:path w="7252970" h="646430">
                <a:moveTo>
                  <a:pt x="7252461" y="0"/>
                </a:moveTo>
                <a:lnTo>
                  <a:pt x="0" y="0"/>
                </a:lnTo>
                <a:lnTo>
                  <a:pt x="0" y="645922"/>
                </a:lnTo>
                <a:lnTo>
                  <a:pt x="7252461" y="645922"/>
                </a:lnTo>
                <a:lnTo>
                  <a:pt x="7252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684521" y="1241805"/>
            <a:ext cx="6793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0269" algn="l"/>
                <a:tab pos="2211705" algn="l"/>
                <a:tab pos="2508885" algn="l"/>
                <a:tab pos="2759075" algn="l"/>
                <a:tab pos="4194810" algn="l"/>
              </a:tabLst>
            </a:pPr>
            <a:r>
              <a:rPr sz="1800" spc="50" dirty="0">
                <a:latin typeface="Cambria"/>
                <a:cs typeface="Cambria"/>
              </a:rPr>
              <a:t>Hybrid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35" dirty="0">
                <a:latin typeface="Cambria"/>
                <a:cs typeface="Cambria"/>
              </a:rPr>
              <a:t>inheritance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25" dirty="0">
                <a:latin typeface="Cambria"/>
                <a:cs typeface="Cambria"/>
              </a:rPr>
              <a:t>is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-50" dirty="0">
                <a:latin typeface="Cambria"/>
                <a:cs typeface="Cambria"/>
              </a:rPr>
              <a:t>a</a:t>
            </a:r>
            <a:r>
              <a:rPr sz="1800" dirty="0">
                <a:latin typeface="Cambria"/>
                <a:cs typeface="Cambria"/>
              </a:rPr>
              <a:t>	</a:t>
            </a:r>
            <a:r>
              <a:rPr sz="1800" spc="35" dirty="0">
                <a:latin typeface="Cambria"/>
                <a:cs typeface="Cambria"/>
              </a:rPr>
              <a:t>combination</a:t>
            </a:r>
            <a:r>
              <a:rPr sz="1800" dirty="0">
                <a:latin typeface="Cambria"/>
                <a:cs typeface="Cambria"/>
              </a:rPr>
              <a:t>	of</a:t>
            </a:r>
            <a:r>
              <a:rPr sz="1800" spc="2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more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than</a:t>
            </a:r>
            <a:r>
              <a:rPr sz="1800" spc="24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one</a:t>
            </a:r>
            <a:r>
              <a:rPr sz="1800" spc="254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type</a:t>
            </a:r>
            <a:r>
              <a:rPr sz="1800" spc="28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of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35" dirty="0">
                <a:latin typeface="Cambria"/>
                <a:cs typeface="Cambria"/>
              </a:rPr>
              <a:t>inheritance.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2803" y="2395727"/>
            <a:ext cx="3837432" cy="34427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Write</a:t>
            </a:r>
            <a:r>
              <a:rPr spc="75" dirty="0"/>
              <a:t> </a:t>
            </a:r>
            <a:r>
              <a:rPr dirty="0"/>
              <a:t>a</a:t>
            </a:r>
            <a:r>
              <a:rPr spc="70" dirty="0"/>
              <a:t> </a:t>
            </a:r>
            <a:r>
              <a:rPr dirty="0"/>
              <a:t>program</a:t>
            </a:r>
            <a:r>
              <a:rPr spc="70" dirty="0"/>
              <a:t> </a:t>
            </a:r>
            <a:r>
              <a:rPr dirty="0"/>
              <a:t>in</a:t>
            </a:r>
            <a:r>
              <a:rPr spc="70" dirty="0"/>
              <a:t> </a:t>
            </a:r>
            <a:r>
              <a:rPr dirty="0"/>
              <a:t>which</a:t>
            </a:r>
            <a:r>
              <a:rPr spc="85" dirty="0"/>
              <a:t> </a:t>
            </a:r>
            <a:r>
              <a:rPr dirty="0"/>
              <a:t>class</a:t>
            </a:r>
            <a:r>
              <a:rPr spc="60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base</a:t>
            </a:r>
            <a:r>
              <a:rPr spc="60" dirty="0"/>
              <a:t> </a:t>
            </a:r>
            <a:r>
              <a:rPr dirty="0"/>
              <a:t>class</a:t>
            </a:r>
            <a:r>
              <a:rPr spc="70" dirty="0"/>
              <a:t> </a:t>
            </a:r>
            <a:r>
              <a:rPr dirty="0"/>
              <a:t>for</a:t>
            </a:r>
            <a:r>
              <a:rPr spc="75" dirty="0"/>
              <a:t> </a:t>
            </a:r>
            <a:r>
              <a:rPr dirty="0"/>
              <a:t>class</a:t>
            </a:r>
            <a:r>
              <a:rPr spc="60" dirty="0"/>
              <a:t> </a:t>
            </a:r>
            <a:r>
              <a:rPr dirty="0"/>
              <a:t>B.</a:t>
            </a:r>
            <a:r>
              <a:rPr spc="75" dirty="0"/>
              <a:t> </a:t>
            </a:r>
            <a:r>
              <a:rPr spc="-10" dirty="0"/>
              <a:t>While </a:t>
            </a:r>
            <a:r>
              <a:rPr dirty="0"/>
              <a:t>Class</a:t>
            </a:r>
            <a:r>
              <a:rPr spc="150" dirty="0"/>
              <a:t> </a:t>
            </a:r>
            <a:r>
              <a:rPr dirty="0"/>
              <a:t>C</a:t>
            </a:r>
            <a:r>
              <a:rPr spc="145" dirty="0"/>
              <a:t> </a:t>
            </a:r>
            <a:r>
              <a:rPr dirty="0"/>
              <a:t>is</a:t>
            </a:r>
            <a:r>
              <a:rPr spc="145" dirty="0"/>
              <a:t> </a:t>
            </a:r>
            <a:r>
              <a:rPr dirty="0"/>
              <a:t>derived</a:t>
            </a:r>
            <a:r>
              <a:rPr spc="145" dirty="0"/>
              <a:t> </a:t>
            </a:r>
            <a:r>
              <a:rPr dirty="0"/>
              <a:t>from</a:t>
            </a:r>
            <a:r>
              <a:rPr spc="130" dirty="0"/>
              <a:t> </a:t>
            </a:r>
            <a:r>
              <a:rPr dirty="0"/>
              <a:t>class</a:t>
            </a:r>
            <a:r>
              <a:rPr spc="140" dirty="0"/>
              <a:t> </a:t>
            </a:r>
            <a:r>
              <a:rPr dirty="0"/>
              <a:t>B</a:t>
            </a:r>
            <a:r>
              <a:rPr spc="135" dirty="0"/>
              <a:t> </a:t>
            </a:r>
            <a:r>
              <a:rPr dirty="0"/>
              <a:t>and</a:t>
            </a:r>
            <a:r>
              <a:rPr spc="150" dirty="0"/>
              <a:t> </a:t>
            </a:r>
            <a:r>
              <a:rPr dirty="0"/>
              <a:t>class</a:t>
            </a:r>
            <a:r>
              <a:rPr spc="150" dirty="0"/>
              <a:t> </a:t>
            </a:r>
            <a:r>
              <a:rPr dirty="0"/>
              <a:t>D</a:t>
            </a:r>
            <a:r>
              <a:rPr spc="145" dirty="0"/>
              <a:t> </a:t>
            </a:r>
            <a:r>
              <a:rPr dirty="0"/>
              <a:t>is</a:t>
            </a:r>
            <a:r>
              <a:rPr spc="145" dirty="0"/>
              <a:t> </a:t>
            </a:r>
            <a:r>
              <a:rPr dirty="0"/>
              <a:t>derived</a:t>
            </a:r>
            <a:r>
              <a:rPr spc="135" dirty="0"/>
              <a:t> </a:t>
            </a:r>
            <a:r>
              <a:rPr dirty="0"/>
              <a:t>from</a:t>
            </a:r>
            <a:r>
              <a:rPr spc="135" dirty="0"/>
              <a:t> </a:t>
            </a:r>
            <a:r>
              <a:rPr spc="-10" dirty="0"/>
              <a:t>class</a:t>
            </a:r>
          </a:p>
          <a:p>
            <a:pPr marL="12700" marR="5080" algn="just">
              <a:lnSpc>
                <a:spcPct val="100000"/>
              </a:lnSpc>
            </a:pPr>
            <a:r>
              <a:rPr dirty="0"/>
              <a:t>E.</a:t>
            </a:r>
            <a:r>
              <a:rPr spc="275" dirty="0"/>
              <a:t> </a:t>
            </a:r>
            <a:r>
              <a:rPr dirty="0"/>
              <a:t>Provide</a:t>
            </a:r>
            <a:r>
              <a:rPr spc="240" dirty="0"/>
              <a:t> </a:t>
            </a:r>
            <a:r>
              <a:rPr dirty="0"/>
              <a:t>explicit</a:t>
            </a:r>
            <a:r>
              <a:rPr spc="275" dirty="0"/>
              <a:t> </a:t>
            </a:r>
            <a:r>
              <a:rPr dirty="0"/>
              <a:t>implementation</a:t>
            </a:r>
            <a:r>
              <a:rPr spc="300" dirty="0"/>
              <a:t> </a:t>
            </a:r>
            <a:r>
              <a:rPr dirty="0"/>
              <a:t>of</a:t>
            </a:r>
            <a:r>
              <a:rPr spc="265" dirty="0"/>
              <a:t> </a:t>
            </a:r>
            <a:r>
              <a:rPr dirty="0"/>
              <a:t>default</a:t>
            </a:r>
            <a:r>
              <a:rPr spc="270" dirty="0"/>
              <a:t> </a:t>
            </a:r>
            <a:r>
              <a:rPr dirty="0"/>
              <a:t>constructors</a:t>
            </a:r>
            <a:r>
              <a:rPr spc="265" dirty="0"/>
              <a:t> </a:t>
            </a:r>
            <a:r>
              <a:rPr spc="-25" dirty="0"/>
              <a:t>and </a:t>
            </a:r>
            <a:r>
              <a:rPr dirty="0"/>
              <a:t>destructors.</a:t>
            </a:r>
            <a:r>
              <a:rPr spc="509" dirty="0"/>
              <a:t> </a:t>
            </a:r>
            <a:r>
              <a:rPr dirty="0"/>
              <a:t>Write</a:t>
            </a:r>
            <a:r>
              <a:rPr spc="520" dirty="0"/>
              <a:t> </a:t>
            </a:r>
            <a:r>
              <a:rPr dirty="0"/>
              <a:t>a</a:t>
            </a:r>
            <a:r>
              <a:rPr spc="515" dirty="0"/>
              <a:t> </a:t>
            </a:r>
            <a:r>
              <a:rPr dirty="0"/>
              <a:t>test</a:t>
            </a:r>
            <a:r>
              <a:rPr spc="509" dirty="0"/>
              <a:t> </a:t>
            </a:r>
            <a:r>
              <a:rPr dirty="0"/>
              <a:t>program</a:t>
            </a:r>
            <a:r>
              <a:rPr spc="509" dirty="0"/>
              <a:t> </a:t>
            </a:r>
            <a:r>
              <a:rPr dirty="0"/>
              <a:t>which</a:t>
            </a:r>
            <a:r>
              <a:rPr spc="509" dirty="0"/>
              <a:t> </a:t>
            </a:r>
            <a:r>
              <a:rPr dirty="0"/>
              <a:t>initializes</a:t>
            </a:r>
            <a:r>
              <a:rPr spc="525" dirty="0"/>
              <a:t> </a:t>
            </a:r>
            <a:r>
              <a:rPr dirty="0"/>
              <a:t>each</a:t>
            </a:r>
            <a:r>
              <a:rPr spc="515" dirty="0"/>
              <a:t> </a:t>
            </a:r>
            <a:r>
              <a:rPr spc="-10" dirty="0"/>
              <a:t>class </a:t>
            </a:r>
            <a:r>
              <a:rPr dirty="0"/>
              <a:t>object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shows</a:t>
            </a:r>
            <a:r>
              <a:rPr spc="-25" dirty="0"/>
              <a:t> </a:t>
            </a:r>
            <a:r>
              <a:rPr dirty="0"/>
              <a:t>execution</a:t>
            </a:r>
            <a:r>
              <a:rPr spc="-35" dirty="0"/>
              <a:t> </a:t>
            </a:r>
            <a:r>
              <a:rPr dirty="0"/>
              <a:t>order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constructor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destructor </a:t>
            </a:r>
            <a:r>
              <a:rPr dirty="0"/>
              <a:t>by</a:t>
            </a:r>
            <a:r>
              <a:rPr spc="-114" dirty="0"/>
              <a:t> </a:t>
            </a:r>
            <a:r>
              <a:rPr dirty="0"/>
              <a:t>printing</a:t>
            </a:r>
            <a:r>
              <a:rPr spc="-95" dirty="0"/>
              <a:t> </a:t>
            </a:r>
            <a:r>
              <a:rPr spc="-10" dirty="0"/>
              <a:t>appropriate</a:t>
            </a:r>
            <a:r>
              <a:rPr spc="-120" dirty="0"/>
              <a:t> </a:t>
            </a:r>
            <a:r>
              <a:rPr spc="-10" dirty="0"/>
              <a:t>messages.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767537"/>
            <a:ext cx="3382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u="sng" dirty="0">
                <a:solidFill>
                  <a:srgbClr val="121212"/>
                </a:solidFill>
                <a:uFill>
                  <a:solidFill>
                    <a:srgbClr val="121212"/>
                  </a:solidFill>
                </a:uFill>
                <a:latin typeface="Arial"/>
                <a:cs typeface="Arial"/>
              </a:rPr>
              <a:t>QUESTION</a:t>
            </a:r>
            <a:r>
              <a:rPr sz="4000" b="1" u="sng" spc="-45" dirty="0">
                <a:solidFill>
                  <a:srgbClr val="121212"/>
                </a:solidFill>
                <a:uFill>
                  <a:solidFill>
                    <a:srgbClr val="121212"/>
                  </a:solidFill>
                </a:uFill>
                <a:latin typeface="Arial"/>
                <a:cs typeface="Arial"/>
              </a:rPr>
              <a:t> </a:t>
            </a:r>
            <a:r>
              <a:rPr sz="4000" b="1" u="sng" spc="-25" dirty="0">
                <a:solidFill>
                  <a:srgbClr val="121212"/>
                </a:solidFill>
                <a:uFill>
                  <a:solidFill>
                    <a:srgbClr val="121212"/>
                  </a:solidFill>
                </a:uFill>
                <a:latin typeface="Arial"/>
                <a:cs typeface="Arial"/>
              </a:rPr>
              <a:t>01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947</Words>
  <Application>Microsoft Office PowerPoint</Application>
  <PresentationFormat>Widescreen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Trebuchet MS</vt:lpstr>
      <vt:lpstr>Wingdings</vt:lpstr>
      <vt:lpstr>Office Theme</vt:lpstr>
      <vt:lpstr>C SC -210: Object Oriented Programming</vt:lpstr>
      <vt:lpstr>PowerPoint Presentation</vt:lpstr>
      <vt:lpstr>PowerPoint Presentation</vt:lpstr>
      <vt:lpstr>Single inheritance is defined as the inheritance in which a derived class is inherited from the only one base class.</vt:lpstr>
      <vt:lpstr>PowerPoint Presentation</vt:lpstr>
      <vt:lpstr>PowerPoint Presentation</vt:lpstr>
      <vt:lpstr>Multilevel inheritance is a process of deriving a class from another derived class.</vt:lpstr>
      <vt:lpstr>PowerPoint Presentation</vt:lpstr>
      <vt:lpstr>Multiple inheritance is the process of deriving a new class that inherits the attributes from two or more classes.</vt:lpstr>
      <vt:lpstr>PowerPoint Presentation</vt:lpstr>
      <vt:lpstr>than one class from a base class.</vt:lpstr>
      <vt:lpstr>PowerPoint Presentation</vt:lpstr>
      <vt:lpstr>PowerPoint Presentation</vt:lpstr>
      <vt:lpstr>QUESTION 01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</dc:title>
  <dc:creator>Zupash Awais BULC</dc:creator>
  <cp:lastModifiedBy>Muhammad Umar Hameed</cp:lastModifiedBy>
  <cp:revision>2</cp:revision>
  <dcterms:created xsi:type="dcterms:W3CDTF">2025-01-01T04:28:53Z</dcterms:created>
  <dcterms:modified xsi:type="dcterms:W3CDTF">2025-01-08T06:52:40Z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2025-01-01T00:00:00Z</vt:filetime>
  </property>
  <property fmtid="{D5CDD505-2E9C-101B-9397-08002B2CF9AE}" pid="5" name="Producer">
    <vt:lpwstr>Microsoft® PowerPoint® 2013</vt:lpwstr>
  </property>
</Properties>
</file>