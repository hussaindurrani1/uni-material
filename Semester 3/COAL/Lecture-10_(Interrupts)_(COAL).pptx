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13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16.xml" ContentType="application/vnd.openxmlformats-officedocument.presentationml.slideLayout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8" d="100"/>
          <a:sy n="78" d="100"/>
        </p:scale>
        <p:origin x="878" y="62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AC2F9F4-56DB-A6DD-38B1-F177106478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43665D-668C-402D-B1EE-490F7ADEC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156BB4-04C0-FE1B-71DD-036A86B066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ED78D4-8B6E-6EB0-CB5B-A3FC6B9F1F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1110250-5B09-DFA3-B867-512154BE2A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BCBC03-904E-7223-653E-CC871073D42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A2C9E1-62D9-696B-F971-70D3FD789E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EDB3EE-463E-75B7-EAD6-1A32DF0389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508EDF-81E2-279F-CABD-C88313FA1A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DE2748-CEED-2D3F-7F5C-1C8A417C94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7A3A10E-B896-64B1-D0C3-222F77F7C4B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3B1166-A2FA-7549-AA0A-F95D9DFE1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D8E092-0CFF-9399-4C7D-6CAB6BCE03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F09B32-0D31-CB8E-51E8-76F606B902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88C6C0-F1AE-6C4B-78E1-5914022D205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0DC9307-BE66-81C3-767B-F6BEC3486F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1EABD0-750F-4680-EADA-381CFF3346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679A195-F1E0-1FC1-B06F-55B361014D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83AC7-1703-7322-3023-DE2E9BE2736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021ED7-5E71-527D-6983-E67F21B45D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769456-952D-E3A5-2192-4577399C48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E035BE-C31B-84B3-6F7B-2E652C5ECCD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3121A6-23A9-8C31-92B4-8F4218CF147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52A57E-A60D-1499-4D20-C1C0A8CE4BF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0D38CC-33A8-E955-4C24-36BBDB0A9F2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6824519" name="Title 1"/>
          <p:cNvSpPr>
            <a:spLocks noGrp="1"/>
          </p:cNvSpPr>
          <p:nvPr>
            <p:ph type="ctrTitle"/>
          </p:nvPr>
        </p:nvSpPr>
        <p:spPr bwMode="auto"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24285766" name="Subtitle 2"/>
          <p:cNvSpPr>
            <a:spLocks noGrp="1"/>
          </p:cNvSpPr>
          <p:nvPr>
            <p:ph type="subTitle" idx="1"/>
          </p:nvPr>
        </p:nvSpPr>
        <p:spPr bwMode="auto"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9269340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91627968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9345034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 fill="norm" stroke="1" extrusionOk="0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00536644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529540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276269" name="Title 1"/>
          <p:cNvSpPr>
            <a:spLocks noGrp="1"/>
          </p:cNvSpPr>
          <p:nvPr>
            <p:ph type="title"/>
          </p:nvPr>
        </p:nvSpPr>
        <p:spPr bwMode="auto">
          <a:xfrm>
            <a:off x="2592925" y="624110"/>
            <a:ext cx="8911687" cy="1280890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60298907" name="Content Placeholder 2"/>
          <p:cNvSpPr>
            <a:spLocks noGrp="1"/>
          </p:cNvSpPr>
          <p:nvPr>
            <p:ph idx="1"/>
          </p:nvPr>
        </p:nvSpPr>
        <p:spPr bwMode="auto">
          <a:xfrm>
            <a:off x="2589212" y="2133600"/>
            <a:ext cx="8915400" cy="3777622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6137957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32104450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04307195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1400363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193951" name="Title 1"/>
          <p:cNvSpPr>
            <a:spLocks noGrp="1"/>
          </p:cNvSpPr>
          <p:nvPr>
            <p:ph type="title"/>
          </p:nvPr>
        </p:nvSpPr>
        <p:spPr bwMode="auto"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6614990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8257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717337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49019091" name="Freeform 11"/>
          <p:cNvSpPr/>
          <p:nvPr/>
        </p:nvSpPr>
        <p:spPr bwMode="auto">
          <a:xfrm flipV="1">
            <a:off x="-4189" y="31781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90648361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3244139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209" name="Title 7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37505689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1312798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600199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27720459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85497457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94408473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787782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152421" name="Title 9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3496354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9208661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2008475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24491651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165091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16014160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39947158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5678489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787782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06802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990899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06893392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34801359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9898416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689550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24198804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17010832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92451072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10426" name="Title 1"/>
          <p:cNvSpPr>
            <a:spLocks noGrp="1"/>
          </p:cNvSpPr>
          <p:nvPr>
            <p:ph type="title"/>
          </p:nvPr>
        </p:nvSpPr>
        <p:spPr bwMode="auto"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43715234" name="Content Placeholder 2"/>
          <p:cNvSpPr>
            <a:spLocks noGrp="1"/>
          </p:cNvSpPr>
          <p:nvPr>
            <p:ph idx="1"/>
          </p:nvPr>
        </p:nvSpPr>
        <p:spPr bwMode="auto"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781773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7257871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79771998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8070806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7563710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8284247" name="Title 1"/>
          <p:cNvSpPr>
            <a:spLocks noGrp="1"/>
          </p:cNvSpPr>
          <p:nvPr>
            <p:ph type="title"/>
          </p:nvPr>
        </p:nvSpPr>
        <p:spPr bwMode="auto"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6486208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80898710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3076000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90675086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3062961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135216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itle and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1350685" name="Title 1"/>
          <p:cNvSpPr>
            <a:spLocks noGrp="1"/>
          </p:cNvSpPr>
          <p:nvPr>
            <p:ph type="title"/>
          </p:nvPr>
        </p:nvSpPr>
        <p:spPr bwMode="auto"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789327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8841119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21431438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73377116" name="Freeform 11"/>
          <p:cNvSpPr/>
          <p:nvPr/>
        </p:nvSpPr>
        <p:spPr bwMode="auto">
          <a:xfrm flipV="1">
            <a:off x="-4189" y="31781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37872350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3244139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3300014" name="Title 1"/>
          <p:cNvSpPr>
            <a:spLocks noGrp="1"/>
          </p:cNvSpPr>
          <p:nvPr>
            <p:ph type="title"/>
          </p:nvPr>
        </p:nvSpPr>
        <p:spPr bwMode="auto"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891303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3275012" y="3505199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8690901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7538068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532193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86430736" name="Freeform 11"/>
          <p:cNvSpPr/>
          <p:nvPr/>
        </p:nvSpPr>
        <p:spPr bwMode="auto">
          <a:xfrm flipV="1">
            <a:off x="-4189" y="31781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17335667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3244139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  <p:sp>
        <p:nvSpPr>
          <p:cNvPr id="853868160" name="TextBox 13"/>
          <p:cNvSpPr txBox="1"/>
          <p:nvPr/>
        </p:nvSpPr>
        <p:spPr bwMode="auto">
          <a:xfrm>
            <a:off x="2467651" y="648005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337557849" name="TextBox 14"/>
          <p:cNvSpPr txBox="1"/>
          <p:nvPr/>
        </p:nvSpPr>
        <p:spPr bwMode="auto">
          <a:xfrm>
            <a:off x="11114852" y="290530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963946" name="Title 1"/>
          <p:cNvSpPr>
            <a:spLocks noGrp="1"/>
          </p:cNvSpPr>
          <p:nvPr>
            <p:ph type="title"/>
          </p:nvPr>
        </p:nvSpPr>
        <p:spPr bwMode="auto"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024094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89815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213276399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3202390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89713240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Quote Name Card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14244" name="Title 1"/>
          <p:cNvSpPr>
            <a:spLocks noGrp="1"/>
          </p:cNvSpPr>
          <p:nvPr>
            <p:ph type="title"/>
          </p:nvPr>
        </p:nvSpPr>
        <p:spPr bwMode="auto"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5445835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7600847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73058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618227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4718718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864045059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  <p:sp>
        <p:nvSpPr>
          <p:cNvPr id="1553439814" name="TextBox 16"/>
          <p:cNvSpPr txBox="1"/>
          <p:nvPr/>
        </p:nvSpPr>
        <p:spPr bwMode="auto">
          <a:xfrm>
            <a:off x="2467651" y="648005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“</a:t>
            </a:r>
            <a:endParaRPr/>
          </a:p>
        </p:txBody>
      </p:sp>
      <p:sp>
        <p:nvSpPr>
          <p:cNvPr id="568972673" name="TextBox 17"/>
          <p:cNvSpPr txBox="1"/>
          <p:nvPr/>
        </p:nvSpPr>
        <p:spPr bwMode="auto">
          <a:xfrm>
            <a:off x="11114852" y="2905306"/>
            <a:ext cx="609600" cy="584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>
              <a:defRPr/>
            </a:pPr>
            <a:r>
              <a:rPr lang="en-US" sz="8000">
                <a:ln w="3175" cmpd="sng">
                  <a:noFill/>
                </a:ln>
                <a:solidFill>
                  <a:schemeClr val="accent1"/>
                </a:solidFill>
                <a:latin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True or Fals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322863" name="Title 1"/>
          <p:cNvSpPr>
            <a:spLocks noGrp="1"/>
          </p:cNvSpPr>
          <p:nvPr>
            <p:ph type="title"/>
          </p:nvPr>
        </p:nvSpPr>
        <p:spPr bwMode="auto"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82574624" name="Text Placeholder 9"/>
          <p:cNvSpPr>
            <a:spLocks noGrp="1"/>
          </p:cNvSpPr>
          <p:nvPr>
            <p:ph type="body" sz="quarter" idx="13"/>
          </p:nvPr>
        </p:nvSpPr>
        <p:spPr bwMode="auto"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33999669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9546956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3010240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51345104" name="Freeform 11"/>
          <p:cNvSpPr/>
          <p:nvPr/>
        </p:nvSpPr>
        <p:spPr bwMode="auto">
          <a:xfrm flipV="1">
            <a:off x="-4189" y="491172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21161361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31812" y="4983087"/>
            <a:ext cx="779766" cy="365125"/>
          </a:xfrm>
        </p:spPr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517125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0685015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 anchor="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9735314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76513329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1080043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964044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42519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294812" y="627405"/>
            <a:ext cx="2207601" cy="5283817"/>
          </a:xfrm>
        </p:spPr>
        <p:txBody>
          <a:bodyPr vert="eaVert" anchor="ctr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6838838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2589212" y="627405"/>
            <a:ext cx="6477000" cy="5283817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945886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3429767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7572499" name="Freeform 11"/>
          <p:cNvSpPr/>
          <p:nvPr/>
        </p:nvSpPr>
        <p:spPr bwMode="auto">
          <a:xfrm flipV="1">
            <a:off x="-4189" y="714375"/>
            <a:ext cx="1588526" cy="507296"/>
          </a:xfrm>
          <a:custGeom>
            <a:avLst/>
            <a:gdLst/>
            <a:ahLst/>
            <a:cxnLst/>
            <a:rect l="l" t="t" r="r" b="b"/>
            <a:pathLst>
              <a:path w="9248" h="10000" fill="norm" stroke="1" extrusionOk="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5115663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3">
        <a:schemeClr val="bg2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29899250" name="Group 22"/>
          <p:cNvGrpSpPr/>
          <p:nvPr/>
        </p:nvGrpSpPr>
        <p:grpSpPr bwMode="auto"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 fill="norm" stroke="1" extrusionOk="0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 fill="norm" stroke="1" extrusionOk="0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 fill="norm" stroke="1" extrusionOk="0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 fill="norm" stroke="1" extrusionOk="0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 fill="norm" stroke="1" extrusionOk="0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 fill="norm" stroke="1" extrusionOk="0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 fill="norm" stroke="1" extrusionOk="0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 fill="norm" stroke="1" extrusionOk="0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 fill="norm" stroke="1" extrusionOk="0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 fill="norm" stroke="1" extrusionOk="0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 fill="norm" stroke="1" extrusionOk="0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 fill="norm" stroke="1" extrusionOk="0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400578734" name="Group 9"/>
          <p:cNvGrpSpPr/>
          <p:nvPr/>
        </p:nvGrpSpPr>
        <p:grpSpPr bwMode="auto"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 fill="norm" stroke="1" extrusionOk="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 fill="norm" stroke="1" extrusionOk="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 fill="norm" stroke="1" extrusionOk="0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 fill="norm" stroke="1" extrusionOk="0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 fill="norm" stroke="1" extrusionOk="0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 fill="norm" stroke="1" extrusionOk="0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 fill="norm" stroke="1" extrusionOk="0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 fill="norm" stroke="1" extrusionOk="0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 fill="norm" stroke="1" extrusionOk="0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 fill="norm" stroke="1" extrusionOk="0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 fill="norm" stroke="1" extrusionOk="0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 fill="norm" stroke="1" extrusionOk="0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654629536" name="Rectangle 6"/>
          <p:cNvSpPr/>
          <p:nvPr/>
        </p:nvSpPr>
        <p:spPr bwMode="auto"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607173107" name="Title Placeholder 1"/>
          <p:cNvSpPr>
            <a:spLocks noGrp="1"/>
          </p:cNvSpPr>
          <p:nvPr>
            <p:ph type="title"/>
          </p:nvPr>
        </p:nvSpPr>
        <p:spPr bwMode="auto"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4246067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6471469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FE7B930-DF20-4CDD-81DD-3BDCD136AC74}" type="datetimeFigureOut">
              <a:rPr lang="en-US"/>
              <a:t>12/3/2025</a:t>
            </a:fld>
            <a:endParaRPr lang="en-US"/>
          </a:p>
        </p:txBody>
      </p:sp>
      <p:sp>
        <p:nvSpPr>
          <p:cNvPr id="1149695514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338239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>
              <a:defRPr/>
            </a:pPr>
            <a:fld id="{43F739FE-3459-4B2C-A2CE-E0F4E9D935F0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>
        <a:spcBef>
          <a:spcPts val="0"/>
        </a:spcBef>
        <a:buNone/>
        <a:defRPr sz="36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>
        <a:defRPr>
          <a:solidFill>
            <a:schemeClr val="tx2"/>
          </a:solidFill>
        </a:defRPr>
      </a:lvl2pPr>
      <a:lvl3pPr>
        <a:defRPr>
          <a:solidFill>
            <a:schemeClr val="tx2"/>
          </a:solidFill>
        </a:defRPr>
      </a:lvl3pPr>
      <a:lvl4pPr>
        <a:defRPr>
          <a:solidFill>
            <a:schemeClr val="tx2"/>
          </a:solidFill>
        </a:defRPr>
      </a:lvl4pPr>
      <a:lvl5pPr>
        <a:defRPr>
          <a:solidFill>
            <a:schemeClr val="tx2"/>
          </a:solidFill>
        </a:defRPr>
      </a:lvl5pPr>
      <a:lvl6pPr>
        <a:defRPr>
          <a:solidFill>
            <a:schemeClr val="tx2"/>
          </a:solidFill>
        </a:defRPr>
      </a:lvl6pPr>
      <a:lvl7pPr>
        <a:defRPr>
          <a:solidFill>
            <a:schemeClr val="tx2"/>
          </a:solidFill>
        </a:defRPr>
      </a:lvl7pPr>
      <a:lvl8pPr>
        <a:defRPr>
          <a:solidFill>
            <a:schemeClr val="tx2"/>
          </a:solidFill>
        </a:defRPr>
      </a:lvl8pPr>
      <a:lvl9pPr>
        <a:defRPr>
          <a:solidFill>
            <a:schemeClr val="tx2"/>
          </a:solidFill>
        </a:defRPr>
      </a:lvl9pPr>
    </p:titleStyle>
    <p:bodyStyle>
      <a:lvl1pPr marL="342900" indent="-3429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8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6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4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1000"/>
        </a:spcBef>
        <a:spcAft>
          <a:spcPts val="0"/>
        </a:spcAft>
        <a:buClr>
          <a:schemeClr val="accent1"/>
        </a:buClr>
        <a:buFont typeface="Wingdings 3"/>
        <a:buChar char=""/>
        <a:defRPr sz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6027785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573099541" name="Subtitle 2"/>
          <p:cNvSpPr>
            <a:spLocks noGrp="1"/>
          </p:cNvSpPr>
          <p:nvPr>
            <p:ph type="subTitle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en-US" sz="2400" b="1"/>
              <a:t>Lecture 10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28974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13813149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instruction is like a FAR call</a:t>
            </a:r>
            <a:endParaRPr/>
          </a:p>
          <a:p>
            <a:pPr>
              <a:defRPr/>
            </a:pPr>
            <a:r>
              <a:rPr lang="en-US"/>
              <a:t>When it is invoked, it saves CS:IP and the flags on the stack and goes to the subroutine associated with that interrupt.</a:t>
            </a:r>
            <a:endParaRPr/>
          </a:p>
          <a:p>
            <a:pPr>
              <a:defRPr/>
            </a:pPr>
            <a:r>
              <a:rPr lang="en-US"/>
              <a:t>It has following format:</a:t>
            </a:r>
            <a:endParaRPr/>
          </a:p>
          <a:p>
            <a:pPr>
              <a:defRPr/>
            </a:pPr>
            <a:endParaRPr lang="en-US"/>
          </a:p>
          <a:p>
            <a:pPr lvl="2">
              <a:defRPr/>
            </a:pPr>
            <a:r>
              <a:rPr lang="en-US"/>
              <a:t>INT xx 		; xx can be 00 -</a:t>
            </a:r>
            <a:r>
              <a:rPr lang="en-US"/>
              <a:t>FFh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9785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176506725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Most widely used interrupts are</a:t>
            </a:r>
            <a:endParaRPr/>
          </a:p>
          <a:p>
            <a:pPr lvl="1">
              <a:defRPr/>
            </a:pPr>
            <a:r>
              <a:rPr lang="en-US"/>
              <a:t>10H</a:t>
            </a:r>
            <a:endParaRPr/>
          </a:p>
          <a:p>
            <a:pPr lvl="1">
              <a:defRPr/>
            </a:pPr>
            <a:r>
              <a:rPr lang="en-US"/>
              <a:t>16H</a:t>
            </a:r>
            <a:endParaRPr/>
          </a:p>
          <a:p>
            <a:pPr lvl="1">
              <a:defRPr/>
            </a:pPr>
            <a:r>
              <a:rPr lang="en-US"/>
              <a:t>21H</a:t>
            </a:r>
            <a:endParaRPr/>
          </a:p>
          <a:p>
            <a:pPr lvl="1"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/>
              <a:t>Each can perform many functions. </a:t>
            </a:r>
            <a:endParaRPr/>
          </a:p>
          <a:p>
            <a:pPr marL="457200" lvl="1" indent="0">
              <a:buNone/>
              <a:defRPr/>
            </a:pPr>
            <a:r>
              <a:rPr lang="en-US"/>
              <a:t>Before the service is requested, certain registers must have specific values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21947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BIOS INT 10H</a:t>
            </a:r>
            <a:endParaRPr/>
          </a:p>
        </p:txBody>
      </p:sp>
      <p:sp>
        <p:nvSpPr>
          <p:cNvPr id="150330087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Many functions are associated with INT 10H</a:t>
            </a:r>
            <a:endParaRPr/>
          </a:p>
          <a:p>
            <a:pPr lvl="1">
              <a:defRPr/>
            </a:pPr>
            <a:r>
              <a:rPr lang="en-US"/>
              <a:t>Changing the color of character or background color</a:t>
            </a:r>
            <a:endParaRPr/>
          </a:p>
          <a:p>
            <a:pPr lvl="1">
              <a:defRPr/>
            </a:pPr>
            <a:r>
              <a:rPr lang="en-US"/>
              <a:t>Clearing the screen</a:t>
            </a:r>
            <a:endParaRPr/>
          </a:p>
          <a:p>
            <a:pPr lvl="1">
              <a:defRPr/>
            </a:pPr>
            <a:r>
              <a:rPr lang="en-US"/>
              <a:t>Changing the location of the cursor</a:t>
            </a:r>
            <a:endParaRPr/>
          </a:p>
          <a:p>
            <a:pPr marL="457200" lvl="1" indent="0">
              <a:buNone/>
              <a:defRPr/>
            </a:pPr>
            <a:endParaRPr lang="en-US"/>
          </a:p>
          <a:p>
            <a:pPr marL="457200" lvl="1" indent="0">
              <a:buNone/>
              <a:defRPr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32720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Monitor Screen in Text mode</a:t>
            </a:r>
            <a:endParaRPr/>
          </a:p>
        </p:txBody>
      </p:sp>
      <p:pic>
        <p:nvPicPr>
          <p:cNvPr id="928202405" name="Content Placeholder 4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364986" y="2708091"/>
            <a:ext cx="7363853" cy="2629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88990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Clearing the screen using INT 10H function 06H</a:t>
            </a:r>
            <a:endParaRPr/>
          </a:p>
        </p:txBody>
      </p:sp>
      <p:sp>
        <p:nvSpPr>
          <p:cNvPr id="9503454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;clearing the screen</a:t>
            </a:r>
            <a:endParaRPr/>
          </a:p>
          <a:p>
            <a:pPr marL="0" indent="0">
              <a:buNone/>
              <a:defRPr/>
            </a:pPr>
            <a:r>
              <a:rPr lang="en-US"/>
              <a:t>mov ax, 0600h       ;scroll the entire screen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bh,07           ;normal attribute</a:t>
            </a:r>
            <a:endParaRPr/>
          </a:p>
          <a:p>
            <a:pPr marL="0" indent="0">
              <a:buNone/>
              <a:defRPr/>
            </a:pPr>
            <a:r>
              <a:rPr lang="en-US"/>
              <a:t>mov cx,0            ; row and column of top left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dx,184fh        ; row and column of bottom right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            ;invoke the video of BIOS service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7107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Setting the cursor to a specific location</a:t>
            </a:r>
            <a:br>
              <a:rPr lang="en-US"/>
            </a:br>
            <a:r>
              <a:rPr lang="en-US"/>
              <a:t>INT 10H function 02H</a:t>
            </a:r>
            <a:endParaRPr/>
          </a:p>
        </p:txBody>
      </p:sp>
      <p:sp>
        <p:nvSpPr>
          <p:cNvPr id="162948378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ah,02           ;set cursor option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bh,00           ;page 0</a:t>
            </a:r>
            <a:endParaRPr/>
          </a:p>
          <a:p>
            <a:pPr marL="0" indent="0">
              <a:buNone/>
              <a:defRPr/>
            </a:pPr>
            <a:r>
              <a:rPr lang="en-US"/>
              <a:t>mov dl, 10          ;column position</a:t>
            </a:r>
            <a:endParaRPr/>
          </a:p>
          <a:p>
            <a:pPr marL="0" indent="0">
              <a:buNone/>
              <a:defRPr/>
            </a:pPr>
            <a:r>
              <a:rPr lang="en-US"/>
              <a:t>mov dh, 10          ; row position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            ; invoke interrupt 10h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2789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10H function 03: </a:t>
            </a:r>
            <a:br>
              <a:rPr lang="en-US"/>
            </a:br>
            <a:r>
              <a:rPr lang="en-US"/>
              <a:t>Get Current Cursor Position</a:t>
            </a:r>
            <a:endParaRPr/>
          </a:p>
        </p:txBody>
      </p:sp>
      <p:sp>
        <p:nvSpPr>
          <p:cNvPr id="198092954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ah,03        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bh,00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904503" name="Title 1"/>
          <p:cNvSpPr>
            <a:spLocks noGrp="1"/>
          </p:cNvSpPr>
          <p:nvPr>
            <p:ph type="title"/>
          </p:nvPr>
        </p:nvSpPr>
        <p:spPr bwMode="auto">
          <a:xfrm>
            <a:off x="1661653" y="624110"/>
            <a:ext cx="9842960" cy="128089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INT 10H function 09: </a:t>
            </a:r>
            <a:br>
              <a:rPr lang="en-US"/>
            </a:br>
            <a:r>
              <a:rPr lang="en-US" sz="3100"/>
              <a:t>Write a character and its attribute at the cursor position</a:t>
            </a:r>
            <a:endParaRPr lang="en-US"/>
          </a:p>
        </p:txBody>
      </p:sp>
      <p:sp>
        <p:nvSpPr>
          <p:cNvPr id="10938712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Register used</a:t>
            </a:r>
            <a:endParaRPr/>
          </a:p>
          <a:p>
            <a:pPr marL="0" indent="0">
              <a:buNone/>
              <a:defRPr/>
            </a:pPr>
            <a:r>
              <a:rPr lang="en-US"/>
              <a:t>AH = 9H</a:t>
            </a:r>
            <a:endParaRPr/>
          </a:p>
          <a:p>
            <a:pPr marL="0" indent="0">
              <a:buNone/>
              <a:defRPr/>
            </a:pPr>
            <a:r>
              <a:rPr lang="en-US"/>
              <a:t>AL = ASCII value</a:t>
            </a:r>
            <a:endParaRPr/>
          </a:p>
          <a:p>
            <a:pPr marL="0" indent="0">
              <a:buNone/>
              <a:defRPr/>
            </a:pPr>
            <a:r>
              <a:rPr lang="en-US"/>
              <a:t>BH = Display page</a:t>
            </a:r>
            <a:endParaRPr/>
          </a:p>
          <a:p>
            <a:pPr marL="0" indent="0">
              <a:buNone/>
              <a:defRPr/>
            </a:pPr>
            <a:r>
              <a:rPr lang="en-US"/>
              <a:t>BL = Attribute</a:t>
            </a:r>
            <a:endParaRPr/>
          </a:p>
          <a:p>
            <a:pPr marL="0" indent="0">
              <a:buNone/>
              <a:defRPr/>
            </a:pPr>
            <a:r>
              <a:rPr lang="en-US"/>
              <a:t>CX = Number of characters to write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6658788" name="Title 1"/>
          <p:cNvSpPr>
            <a:spLocks noGrp="1"/>
          </p:cNvSpPr>
          <p:nvPr>
            <p:ph type="title"/>
          </p:nvPr>
        </p:nvSpPr>
        <p:spPr bwMode="auto">
          <a:xfrm>
            <a:off x="1641987" y="624110"/>
            <a:ext cx="9862625" cy="128089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/>
              <a:t>INT 10H function 09: </a:t>
            </a:r>
            <a:br>
              <a:rPr lang="en-US"/>
            </a:br>
            <a:r>
              <a:rPr lang="en-US" sz="3100"/>
              <a:t>Write a character and its attribute at the cursor position</a:t>
            </a:r>
            <a:endParaRPr lang="en-US"/>
          </a:p>
        </p:txBody>
      </p:sp>
      <p:sp>
        <p:nvSpPr>
          <p:cNvPr id="95280667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ah,09     ;display option</a:t>
            </a:r>
            <a:endParaRPr/>
          </a:p>
          <a:p>
            <a:pPr marL="0" indent="0">
              <a:buNone/>
              <a:defRPr/>
            </a:pPr>
            <a:r>
              <a:rPr lang="en-US"/>
              <a:t>mov bh,00     ;page 0</a:t>
            </a:r>
            <a:endParaRPr/>
          </a:p>
          <a:p>
            <a:pPr marL="0" indent="0">
              <a:buNone/>
              <a:defRPr/>
            </a:pPr>
            <a:r>
              <a:rPr lang="en-US"/>
              <a:t>mov al,44h    ;ascii character to display</a:t>
            </a:r>
            <a:endParaRPr/>
          </a:p>
          <a:p>
            <a:pPr marL="0" indent="0">
              <a:buNone/>
              <a:defRPr/>
            </a:pPr>
            <a:r>
              <a:rPr lang="en-US"/>
              <a:t>mov cx, 200h  ;repeat 200h times</a:t>
            </a:r>
            <a:endParaRPr/>
          </a:p>
          <a:p>
            <a:pPr marL="0" indent="0">
              <a:buNone/>
              <a:defRPr/>
            </a:pPr>
            <a:r>
              <a:rPr lang="en-US"/>
              <a:t>mov bl,1fh   ;black on white blinking </a:t>
            </a:r>
            <a:endParaRPr/>
          </a:p>
          <a:p>
            <a:pPr marL="0" indent="0">
              <a:buNone/>
              <a:defRPr/>
            </a:pPr>
            <a:r>
              <a:rPr lang="en-US"/>
              <a:t>int 10h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6970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 21H</a:t>
            </a:r>
            <a:endParaRPr/>
          </a:p>
        </p:txBody>
      </p:sp>
      <p:sp>
        <p:nvSpPr>
          <p:cNvPr id="53299466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Provided by DOS</a:t>
            </a:r>
            <a:endParaRPr/>
          </a:p>
          <a:p>
            <a:pPr marL="0" indent="0">
              <a:buNone/>
              <a:defRPr/>
            </a:pPr>
            <a:r>
              <a:rPr lang="en-US"/>
              <a:t>Perform extremely useful functions</a:t>
            </a:r>
            <a:endParaRPr/>
          </a:p>
          <a:p>
            <a:pPr marL="0" indent="0">
              <a:buNone/>
              <a:defRPr/>
            </a:pPr>
            <a:r>
              <a:rPr lang="en-US"/>
              <a:t>Input from keyboard</a:t>
            </a:r>
            <a:endParaRPr/>
          </a:p>
          <a:p>
            <a:pPr marL="0" indent="0">
              <a:buNone/>
              <a:defRPr/>
            </a:pPr>
            <a:r>
              <a:rPr lang="en-US"/>
              <a:t>Displaying it on screen</a:t>
            </a:r>
            <a:endParaRPr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56482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09: outputting a string of data to the monitor </a:t>
            </a:r>
            <a:endParaRPr/>
          </a:p>
        </p:txBody>
      </p:sp>
      <p:sp>
        <p:nvSpPr>
          <p:cNvPr id="1570644305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Data1 </a:t>
            </a:r>
            <a:r>
              <a:rPr lang="en-US"/>
              <a:t>db</a:t>
            </a:r>
            <a:r>
              <a:rPr lang="en-US"/>
              <a:t> ‘The earth is but one country’ , ‘$’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nn-NO"/>
              <a:t>MOV AH,09					;display string of data</a:t>
            </a:r>
            <a:endParaRPr/>
          </a:p>
          <a:p>
            <a:pPr marL="0" indent="0">
              <a:buNone/>
              <a:defRPr/>
            </a:pPr>
            <a:r>
              <a:rPr lang="nn-NO"/>
              <a:t>MOV DX, OFFSET DATA1		;DX= offset address of data</a:t>
            </a:r>
            <a:endParaRPr/>
          </a:p>
          <a:p>
            <a:pPr marL="0" indent="0">
              <a:buNone/>
              <a:defRPr/>
            </a:pPr>
            <a:r>
              <a:rPr lang="nn-NO"/>
              <a:t>INT 21H						;inoke the interrupt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866856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02: outputting a single character to the monitor </a:t>
            </a:r>
            <a:endParaRPr/>
          </a:p>
        </p:txBody>
      </p:sp>
      <p:sp>
        <p:nvSpPr>
          <p:cNvPr id="124011395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nn-NO"/>
              <a:t>MOV AH,02				;displays one character</a:t>
            </a:r>
            <a:endParaRPr/>
          </a:p>
          <a:p>
            <a:pPr marL="0" indent="0">
              <a:buNone/>
              <a:defRPr/>
            </a:pPr>
            <a:r>
              <a:rPr lang="nn-NO"/>
              <a:t>MOV DL, ‘J’				;DL holds the character to be displayed</a:t>
            </a:r>
            <a:endParaRPr/>
          </a:p>
          <a:p>
            <a:pPr marL="0" indent="0">
              <a:buNone/>
              <a:defRPr/>
            </a:pPr>
            <a:r>
              <a:rPr lang="nn-NO"/>
              <a:t>INT 21H					;invoke the interrupt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53462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01: inputting a single character, with echo </a:t>
            </a:r>
            <a:endParaRPr/>
          </a:p>
        </p:txBody>
      </p:sp>
      <p:sp>
        <p:nvSpPr>
          <p:cNvPr id="1135535879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 01			;inputs one character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				; AL = input character (ASCII)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8432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Class Activity:</a:t>
            </a:r>
            <a:br>
              <a:rPr lang="en-US"/>
            </a:br>
            <a:endParaRPr lang="en-US"/>
          </a:p>
        </p:txBody>
      </p:sp>
      <p:sp>
        <p:nvSpPr>
          <p:cNvPr id="208220690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Write a program to 1) clears the screen, 2) sets the cursor to the center of the screen and 3) starting at that point of the screen, displays the message “ this is a test of the display routine”.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430957" name="Content Placeholder 2"/>
          <p:cNvSpPr>
            <a:spLocks noGrp="1"/>
          </p:cNvSpPr>
          <p:nvPr>
            <p:ph idx="1"/>
          </p:nvPr>
        </p:nvSpPr>
        <p:spPr bwMode="auto">
          <a:xfrm>
            <a:off x="1828800" y="1130709"/>
            <a:ext cx="9243193" cy="5319251"/>
          </a:xfrm>
        </p:spPr>
        <p:txBody>
          <a:bodyPr numCol="3">
            <a:normAutofit/>
          </a:bodyPr>
          <a:lstStyle/>
          <a:p>
            <a:pPr marL="0" indent="0">
              <a:buNone/>
              <a:defRPr/>
            </a:pPr>
            <a:r>
              <a:rPr lang="en-US" sz="1100"/>
              <a:t>MESSAGE DB ‘THIS IS A TEST OF THE DISPLAY ROUTINE','$'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.code 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</a:t>
            </a:r>
            <a:r>
              <a:rPr lang="en-US" sz="1100" b="1"/>
              <a:t>MAIN PROC FAR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mov </a:t>
            </a:r>
            <a:r>
              <a:rPr lang="en-US" sz="1100"/>
              <a:t>ax,@data</a:t>
            </a: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mov </a:t>
            </a:r>
            <a:r>
              <a:rPr lang="en-US" sz="1100"/>
              <a:t>ds,ax</a:t>
            </a:r>
            <a:r>
              <a:rPr lang="en-US" sz="1100"/>
              <a:t>   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CALL CLEAR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CALL CURSOR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CALL DISPLAY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MOV AH,4CH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INT 21H 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.exit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MAIN ENDP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 b="1"/>
              <a:t>CLEAR PROC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AX,0600H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BH,07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CX,0000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DX, 184FH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INT 10H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RET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CLEAR ENDP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 b="1"/>
              <a:t>CURSOR PROC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AH,02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BH,00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DH,10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DL,22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INT 10H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RET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CURSOR ENDP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 b="1"/>
              <a:t>DISPLAY PROC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AH,09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MOV DX, OFFSET MESSAGE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INT 21H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RET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    DISPLAY ENDP</a:t>
            </a:r>
            <a:endParaRPr/>
          </a:p>
          <a:p>
            <a:pPr marL="0" indent="0">
              <a:buNone/>
              <a:defRPr/>
            </a:pPr>
            <a:r>
              <a:rPr lang="en-US" sz="1100"/>
              <a:t>END MAIN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r>
              <a:rPr lang="en-US" sz="1100"/>
              <a:t>   </a:t>
            </a:r>
            <a:endParaRPr/>
          </a:p>
          <a:p>
            <a:pPr marL="0" indent="0">
              <a:buNone/>
              <a:defRPr/>
            </a:pPr>
            <a:endParaRPr lang="en-US" sz="1100"/>
          </a:p>
          <a:p>
            <a:pPr marL="0" indent="0">
              <a:buNone/>
              <a:defRPr/>
            </a:pP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5629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0AH: inputting a String of data from keyboard </a:t>
            </a:r>
            <a:endParaRPr/>
          </a:p>
        </p:txBody>
      </p:sp>
      <p:sp>
        <p:nvSpPr>
          <p:cNvPr id="14087698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DATA1 DB 6,?,6 DUP(0FFH)</a:t>
            </a:r>
            <a:endParaRPr/>
          </a:p>
          <a:p>
            <a:pPr marL="0" indent="0">
              <a:buNone/>
              <a:defRPr/>
            </a:pPr>
            <a:r>
              <a:rPr lang="en-US"/>
              <a:t> .CODE    </a:t>
            </a:r>
            <a:endParaRPr/>
          </a:p>
          <a:p>
            <a:pPr marL="0" indent="0">
              <a:buNone/>
              <a:defRPr/>
            </a:pPr>
            <a:r>
              <a:rPr lang="en-US"/>
              <a:t> MOV AX, @DATA</a:t>
            </a:r>
            <a:endParaRPr/>
          </a:p>
          <a:p>
            <a:pPr marL="0" indent="0">
              <a:buNone/>
              <a:defRPr/>
            </a:pPr>
            <a:r>
              <a:rPr lang="en-US"/>
              <a:t> MOV DS, AX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AH,0AH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DATA1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560787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READS IN LAST NAME AND DISPLAYS LENGTH</a:t>
            </a:r>
            <a:endParaRPr/>
          </a:p>
        </p:txBody>
      </p:sp>
      <p:sp>
        <p:nvSpPr>
          <p:cNvPr id="921899163" name="Content Placeholder 2"/>
          <p:cNvSpPr>
            <a:spLocks noGrp="1"/>
          </p:cNvSpPr>
          <p:nvPr>
            <p:ph idx="1"/>
          </p:nvPr>
        </p:nvSpPr>
        <p:spPr bwMode="auto"/>
        <p:txBody>
          <a:bodyPr numCol="3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/>
              <a:t>MESSAGE1 DB 'what is your last name?','$'  </a:t>
            </a:r>
            <a:endParaRPr/>
          </a:p>
          <a:p>
            <a:pPr marL="0" indent="0">
              <a:buNone/>
              <a:defRPr/>
            </a:pPr>
            <a:r>
              <a:rPr lang="en-US"/>
              <a:t>buffer1 </a:t>
            </a:r>
            <a:r>
              <a:rPr lang="en-US"/>
              <a:t>db</a:t>
            </a:r>
            <a:r>
              <a:rPr lang="en-US"/>
              <a:t> 9,?,9 dup(0)</a:t>
            </a:r>
            <a:endParaRPr/>
          </a:p>
          <a:p>
            <a:pPr marL="0" indent="0">
              <a:buNone/>
              <a:defRPr/>
            </a:pPr>
            <a:r>
              <a:rPr lang="en-US"/>
              <a:t>message2 </a:t>
            </a:r>
            <a:r>
              <a:rPr lang="en-US"/>
              <a:t>db</a:t>
            </a:r>
            <a:r>
              <a:rPr lang="en-US"/>
              <a:t> cr,</a:t>
            </a:r>
            <a:r>
              <a:rPr lang="en-US"/>
              <a:t>lf</a:t>
            </a:r>
            <a:r>
              <a:rPr lang="en-US"/>
              <a:t>,'the number of letter in your names is: ','$'</a:t>
            </a:r>
            <a:endParaRPr/>
          </a:p>
          <a:p>
            <a:pPr marL="0" indent="0">
              <a:buNone/>
              <a:defRPr/>
            </a:pPr>
            <a:r>
              <a:rPr lang="en-US"/>
              <a:t>cr</a:t>
            </a:r>
            <a:r>
              <a:rPr lang="en-US"/>
              <a:t> </a:t>
            </a:r>
            <a:r>
              <a:rPr lang="en-US"/>
              <a:t>equ</a:t>
            </a:r>
            <a:r>
              <a:rPr lang="en-US"/>
              <a:t> 0dh</a:t>
            </a:r>
            <a:endParaRPr/>
          </a:p>
          <a:p>
            <a:pPr marL="0" indent="0">
              <a:buNone/>
              <a:defRPr/>
            </a:pPr>
            <a:r>
              <a:rPr lang="en-US"/>
              <a:t>lf</a:t>
            </a:r>
            <a:r>
              <a:rPr lang="en-US"/>
              <a:t> </a:t>
            </a:r>
            <a:r>
              <a:rPr lang="en-US"/>
              <a:t>equ</a:t>
            </a:r>
            <a:r>
              <a:rPr lang="en-US"/>
              <a:t> 0ah</a:t>
            </a:r>
            <a:endParaRPr/>
          </a:p>
          <a:p>
            <a:pPr marL="0" indent="0">
              <a:buNone/>
              <a:defRPr/>
            </a:pPr>
            <a:r>
              <a:rPr lang="en-US"/>
              <a:t>.code </a:t>
            </a:r>
            <a:endParaRPr/>
          </a:p>
          <a:p>
            <a:pPr marL="0" indent="0">
              <a:buNone/>
              <a:defRPr/>
            </a:pPr>
            <a:r>
              <a:rPr lang="en-US"/>
              <a:t>main proc far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AX, @DATA</a:t>
            </a:r>
            <a:endParaRPr/>
          </a:p>
          <a:p>
            <a:pPr marL="0" indent="0">
              <a:buNone/>
              <a:defRPr/>
            </a:pPr>
            <a:r>
              <a:rPr lang="en-US"/>
              <a:t>MOV DS, AX 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MOV AH,09H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message1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             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 0ah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buffer1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mov bx, offset buffer1</a:t>
            </a:r>
            <a:endParaRPr/>
          </a:p>
          <a:p>
            <a:pPr marL="0" indent="0">
              <a:buNone/>
              <a:defRPr/>
            </a:pPr>
            <a:r>
              <a:rPr lang="en-US"/>
              <a:t>mov cl,[bx+1]</a:t>
            </a:r>
            <a:endParaRPr/>
          </a:p>
          <a:p>
            <a:pPr marL="0" indent="0">
              <a:buNone/>
              <a:defRPr/>
            </a:pPr>
            <a:r>
              <a:rPr lang="en-US"/>
              <a:t>or cl, 30h</a:t>
            </a:r>
            <a:endParaRPr/>
          </a:p>
          <a:p>
            <a:pPr marL="0" indent="0">
              <a:buNone/>
              <a:defRPr/>
            </a:pPr>
            <a:r>
              <a:rPr lang="en-US"/>
              <a:t>mov message2+40,cl   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ah,09</a:t>
            </a:r>
            <a:endParaRPr/>
          </a:p>
          <a:p>
            <a:pPr marL="0" indent="0">
              <a:buNone/>
              <a:defRPr/>
            </a:pPr>
            <a:r>
              <a:rPr lang="en-US"/>
              <a:t>mov dx, offset message2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mov ah,4ch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main </a:t>
            </a:r>
            <a:r>
              <a:rPr lang="en-US"/>
              <a:t>endp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end main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37268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21H option 07: keyboard input without echo </a:t>
            </a:r>
            <a:endParaRPr/>
          </a:p>
        </p:txBody>
      </p:sp>
      <p:sp>
        <p:nvSpPr>
          <p:cNvPr id="762721374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 07			;provides the character in AL</a:t>
            </a:r>
            <a:endParaRPr/>
          </a:p>
          <a:p>
            <a:pPr marL="0" indent="0">
              <a:buNone/>
              <a:defRPr/>
            </a:pPr>
            <a:r>
              <a:rPr lang="en-US"/>
              <a:t>INT 21H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1278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 16H KEYBOARD PROGRAMMING</a:t>
            </a:r>
            <a:endParaRPr/>
          </a:p>
        </p:txBody>
      </p:sp>
      <p:sp>
        <p:nvSpPr>
          <p:cNvPr id="208044393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AH,01		; check for key press</a:t>
            </a:r>
            <a:endParaRPr/>
          </a:p>
          <a:p>
            <a:pPr marL="0" indent="0">
              <a:buNone/>
              <a:defRPr/>
            </a:pPr>
            <a:r>
              <a:rPr lang="en-US"/>
              <a:t>INT 16H			; using INT 16h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r>
              <a:rPr lang="en-US"/>
              <a:t>ZF=0 	if there is a key press</a:t>
            </a:r>
            <a:endParaRPr/>
          </a:p>
          <a:p>
            <a:pPr marL="0" indent="0">
              <a:buNone/>
              <a:defRPr/>
            </a:pPr>
            <a:r>
              <a:rPr lang="en-US"/>
              <a:t>ZF=1	if there is no key press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9261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</a:t>
            </a:r>
            <a:endParaRPr/>
          </a:p>
        </p:txBody>
      </p:sp>
      <p:sp>
        <p:nvSpPr>
          <p:cNvPr id="822876687" name="Content Placeholder 2"/>
          <p:cNvSpPr>
            <a:spLocks noGrp="1"/>
          </p:cNvSpPr>
          <p:nvPr>
            <p:ph idx="1"/>
          </p:nvPr>
        </p:nvSpPr>
        <p:spPr bwMode="auto"/>
        <p:txBody>
          <a:bodyPr numCol="2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en-US"/>
              <a:t>message </a:t>
            </a:r>
            <a:r>
              <a:rPr lang="en-US"/>
              <a:t>db</a:t>
            </a:r>
            <a:r>
              <a:rPr lang="en-US"/>
              <a:t> 'to stop the bell sound press any key $'</a:t>
            </a:r>
            <a:endParaRPr/>
          </a:p>
          <a:p>
            <a:pPr marL="0" indent="0">
              <a:buNone/>
              <a:defRPr/>
            </a:pPr>
            <a:r>
              <a:rPr lang="en-US"/>
              <a:t>.CODE</a:t>
            </a:r>
            <a:endParaRPr/>
          </a:p>
          <a:p>
            <a:pPr marL="0" indent="0">
              <a:buNone/>
              <a:defRPr/>
            </a:pPr>
            <a:r>
              <a:rPr lang="en-US"/>
              <a:t>MAIN PROC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AX,@DATA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DS, AX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AH,09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DX, OFFSET MESSAGE</a:t>
            </a:r>
            <a:endParaRPr/>
          </a:p>
          <a:p>
            <a:pPr marL="0" indent="0">
              <a:buNone/>
              <a:defRPr/>
            </a:pPr>
            <a:r>
              <a:rPr lang="en-US"/>
              <a:t>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</a:t>
            </a:r>
            <a:endParaRPr/>
          </a:p>
          <a:p>
            <a:pPr marL="0" indent="0">
              <a:buNone/>
              <a:defRPr/>
            </a:pPr>
            <a:r>
              <a:rPr lang="en-US"/>
              <a:t>AGAIN:  MOV AH,02        ;</a:t>
            </a:r>
            <a:r>
              <a:rPr lang="en-US">
                <a:solidFill>
                  <a:srgbClr val="00B050"/>
                </a:solidFill>
              </a:rPr>
              <a:t>sending to monitor a single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DL,07        ; </a:t>
            </a:r>
            <a:r>
              <a:rPr lang="en-US">
                <a:solidFill>
                  <a:srgbClr val="00B050"/>
                </a:solidFill>
              </a:rPr>
              <a:t>send out the bell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AH,01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16H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JZ AGAIN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AH,4CH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MAIN ENDP</a:t>
            </a:r>
            <a:endParaRPr/>
          </a:p>
          <a:p>
            <a:pPr marL="0" indent="0">
              <a:buNone/>
              <a:defRPr/>
            </a:pPr>
            <a:r>
              <a:rPr lang="en-US"/>
              <a:t>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2665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Which key is pressed	?</a:t>
            </a:r>
            <a:endParaRPr/>
          </a:p>
        </p:txBody>
      </p:sp>
      <p:sp>
        <p:nvSpPr>
          <p:cNvPr id="148758026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MOV AH,0			;AL contains the ASCII character</a:t>
            </a:r>
            <a:endParaRPr/>
          </a:p>
          <a:p>
            <a:pPr marL="0" indent="0">
              <a:buNone/>
              <a:defRPr/>
            </a:pPr>
            <a:r>
              <a:rPr lang="en-US"/>
              <a:t>INT 16H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54586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Example</a:t>
            </a:r>
            <a:endParaRPr/>
          </a:p>
        </p:txBody>
      </p:sp>
      <p:sp>
        <p:nvSpPr>
          <p:cNvPr id="1767914985" name="Content Placeholder 2"/>
          <p:cNvSpPr>
            <a:spLocks noGrp="1"/>
          </p:cNvSpPr>
          <p:nvPr>
            <p:ph idx="1"/>
          </p:nvPr>
        </p:nvSpPr>
        <p:spPr bwMode="auto"/>
        <p:txBody>
          <a:bodyPr numCol="2">
            <a:normAutofit fontScale="62500" lnSpcReduction="20000"/>
          </a:bodyPr>
          <a:lstStyle/>
          <a:p>
            <a:pPr marL="0" indent="0">
              <a:buNone/>
              <a:defRPr/>
            </a:pPr>
            <a:r>
              <a:rPr lang="en-US"/>
              <a:t>.data</a:t>
            </a:r>
            <a:endParaRPr/>
          </a:p>
          <a:p>
            <a:pPr marL="0" indent="0">
              <a:buNone/>
              <a:defRPr/>
            </a:pPr>
            <a:r>
              <a:rPr lang="en-US"/>
              <a:t>message </a:t>
            </a:r>
            <a:r>
              <a:rPr lang="en-US"/>
              <a:t>db</a:t>
            </a:r>
            <a:r>
              <a:rPr lang="en-US"/>
              <a:t> 'TO STOP THE BELL SOUND PRESS Q (or q) KEY $'</a:t>
            </a:r>
            <a:endParaRPr/>
          </a:p>
          <a:p>
            <a:pPr marL="0" indent="0">
              <a:buNone/>
              <a:defRPr/>
            </a:pPr>
            <a:r>
              <a:rPr lang="en-US"/>
              <a:t>.code</a:t>
            </a:r>
            <a:endParaRPr/>
          </a:p>
          <a:p>
            <a:pPr marL="0" indent="0">
              <a:buNone/>
              <a:defRPr/>
            </a:pPr>
            <a:r>
              <a:rPr lang="en-US"/>
              <a:t>main proc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</a:t>
            </a:r>
            <a:r>
              <a:rPr lang="en-US"/>
              <a:t>ax,@data</a:t>
            </a:r>
            <a:endParaRPr lang="en-US"/>
          </a:p>
          <a:p>
            <a:pPr marL="0" indent="0">
              <a:buNone/>
              <a:defRPr/>
            </a:pPr>
            <a:r>
              <a:rPr lang="en-US"/>
              <a:t>    mov ds, ax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ah,09</a:t>
            </a:r>
            <a:endParaRPr/>
          </a:p>
          <a:p>
            <a:pPr marL="0" indent="0">
              <a:buNone/>
              <a:defRPr/>
            </a:pPr>
            <a:r>
              <a:rPr lang="en-US"/>
              <a:t>    mov dx, offset message</a:t>
            </a:r>
            <a:endParaRPr/>
          </a:p>
          <a:p>
            <a:pPr marL="0" indent="0">
              <a:buNone/>
              <a:defRPr/>
            </a:pPr>
            <a:r>
              <a:rPr lang="en-US"/>
              <a:t>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</a:t>
            </a:r>
            <a:endParaRPr/>
          </a:p>
          <a:p>
            <a:pPr marL="0" indent="0">
              <a:buNone/>
              <a:defRPr/>
            </a:pPr>
            <a:r>
              <a:rPr lang="en-US"/>
              <a:t>AGAIN:  MOV AH,02        ;sending to monitor a single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DL,07        ; send out the bell char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AH,01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16H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JZ AGAIN 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MOV AH,0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16H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CMP AL,'Q'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JE EXIT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CMP AL, 'q'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JE EXIT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JMP AGAIN</a:t>
            </a:r>
            <a:endParaRPr/>
          </a:p>
          <a:p>
            <a:pPr marL="0" indent="0">
              <a:buNone/>
              <a:defRPr/>
            </a:pPr>
            <a:r>
              <a:rPr lang="en-US"/>
              <a:t>EXIT:   MOV AH,4CH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INT 21H</a:t>
            </a:r>
            <a:endParaRPr/>
          </a:p>
          <a:p>
            <a:pPr marL="0" indent="0">
              <a:buNone/>
              <a:defRPr/>
            </a:pPr>
            <a:r>
              <a:rPr lang="en-US"/>
              <a:t>        MAIN ENDP</a:t>
            </a:r>
            <a:endParaRPr/>
          </a:p>
          <a:p>
            <a:pPr marL="0" indent="0">
              <a:buNone/>
              <a:defRPr/>
            </a:pPr>
            <a:r>
              <a:rPr lang="en-US"/>
              <a:t>END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48682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INTERRUPTS</a:t>
            </a:r>
            <a:endParaRPr/>
          </a:p>
        </p:txBody>
      </p:sp>
      <p:sp>
        <p:nvSpPr>
          <p:cNvPr id="185770941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The processor uses the interrupt number to index </a:t>
            </a:r>
            <a:r>
              <a:rPr lang="en-US" b="1"/>
              <a:t>the Interrupt Vector Table </a:t>
            </a:r>
            <a:r>
              <a:rPr lang="en-US"/>
              <a:t>(IVT) to get the address of a special type of procedure called </a:t>
            </a:r>
            <a:r>
              <a:rPr lang="en-US" b="1"/>
              <a:t>an Interrupt Service Routine </a:t>
            </a:r>
            <a:r>
              <a:rPr lang="en-US"/>
              <a:t>(ISR). </a:t>
            </a:r>
            <a:endParaRPr/>
          </a:p>
          <a:p>
            <a:pPr marL="0" indent="0">
              <a:buNone/>
              <a:defRPr/>
            </a:pPr>
            <a:r>
              <a:rPr lang="en-US"/>
              <a:t>The ISR is executed whenever the interrupt is generated. </a:t>
            </a:r>
            <a:endParaRPr/>
          </a:p>
          <a:p>
            <a:pPr marL="0" indent="0">
              <a:buNone/>
              <a:defRPr/>
            </a:pPr>
            <a:r>
              <a:rPr lang="en-US"/>
              <a:t>There are 256 entries in IVT, and each entry stores the logical address of a respective ISR. </a:t>
            </a:r>
            <a:endParaRPr/>
          </a:p>
          <a:p>
            <a:pPr marL="0" indent="0">
              <a:buNone/>
              <a:defRPr/>
            </a:pPr>
            <a:r>
              <a:rPr lang="en-US"/>
              <a:t>IVT resides in memory at physical address 0x00000.</a:t>
            </a:r>
            <a:endParaRPr/>
          </a:p>
          <a:p>
            <a:pPr marL="0" indent="0">
              <a:buNone/>
              <a:defRPr/>
            </a:pPr>
            <a:r>
              <a:rPr lang="en-US"/>
              <a:t>Each entry stores the logical address, which is 4 bytes; the total size of the IVT is 256 x 4B = 1 KB. </a:t>
            </a:r>
            <a:endParaRPr/>
          </a:p>
          <a:p>
            <a:pPr marL="0" indent="0">
              <a:buNone/>
              <a:defRPr/>
            </a:pPr>
            <a:r>
              <a:rPr lang="en-US"/>
              <a:t>To index the IVT, the processor multiplies the interrupt number by 4 to get the physical address of the entry against that interrupt number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768067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ISR</a:t>
            </a:r>
            <a:endParaRPr/>
          </a:p>
        </p:txBody>
      </p:sp>
      <p:sp>
        <p:nvSpPr>
          <p:cNvPr id="79754947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None/>
              <a:defRPr/>
            </a:pPr>
            <a:r>
              <a:rPr lang="en-US"/>
              <a:t>ISR is a special procedure that is called whenever an interrupt is generated.</a:t>
            </a:r>
            <a:endParaRPr/>
          </a:p>
          <a:p>
            <a:pPr marL="0" indent="0">
              <a:buNone/>
              <a:defRPr/>
            </a:pPr>
            <a:r>
              <a:rPr lang="en-US"/>
              <a:t> Whenever an ISR is called as a result of an interrupt, the flag register is pushed onto the stack along with IP and CS. </a:t>
            </a:r>
            <a:endParaRPr/>
          </a:p>
          <a:p>
            <a:pPr marL="0" indent="0">
              <a:buNone/>
              <a:defRPr/>
            </a:pPr>
            <a:r>
              <a:rPr lang="en-US"/>
              <a:t>Therefore, unlike procedures, the ISRs return control by issuing "IRET" instructions instead of "RET" instructions. </a:t>
            </a:r>
            <a:endParaRPr/>
          </a:p>
          <a:p>
            <a:pPr marL="0" indent="0">
              <a:buNone/>
              <a:defRPr/>
            </a:pPr>
            <a:r>
              <a:rPr lang="en-US"/>
              <a:t>The IRET instruction also pops the flag register from the stack, whereas the RET instruction does not.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">
      <a:majorFont>
        <a:latin typeface="Century Gothic"/>
        <a:ea typeface="Arial"/>
        <a:cs typeface="Arial"/>
      </a:majorFont>
      <a:minorFont>
        <a:latin typeface="Century Gothic"/>
        <a:ea typeface="Arial"/>
        <a:cs typeface="Arial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ONLYOFFICE/9.0.4.50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Hina Tahir</dc:creator>
  <cp:lastModifiedBy/>
  <cp:revision>7</cp:revision>
  <dcterms:created xsi:type="dcterms:W3CDTF">2025-12-03T15:59:19Z</dcterms:created>
  <dcterms:modified xsi:type="dcterms:W3CDTF">2025-12-10T18:08:32Z</dcterms:modified>
</cp:coreProperties>
</file>