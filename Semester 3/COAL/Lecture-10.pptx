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1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4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33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3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9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6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5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3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209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7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350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24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88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9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7B930-DF20-4CDD-81DD-3BDCD136AC7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3F739FE-3459-4B2C-A2CE-E0F4E9D93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9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5376-C176-8E97-A722-ECE1E0BA7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B0929-AE37-0DE5-ABC8-56D64F21D8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Lecture 10</a:t>
            </a:r>
          </a:p>
        </p:txBody>
      </p:sp>
    </p:spTree>
    <p:extLst>
      <p:ext uri="{BB962C8B-B14F-4D97-AF65-F5344CB8AC3E}">
        <p14:creationId xmlns:p14="http://schemas.microsoft.com/office/powerpoint/2010/main" val="1307448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824D-E39F-EE0D-404E-4E97721C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54F9-DC1E-9587-1AD9-65C096CA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instruction is like a FAR call</a:t>
            </a:r>
          </a:p>
          <a:p>
            <a:r>
              <a:rPr lang="en-US" dirty="0"/>
              <a:t>When it is invoked, it saves CS:IP and the flags on the stack and goes to the subroutine associated with that interrupt.</a:t>
            </a:r>
          </a:p>
          <a:p>
            <a:r>
              <a:rPr lang="en-US" dirty="0"/>
              <a:t>It has following format:</a:t>
            </a:r>
          </a:p>
          <a:p>
            <a:endParaRPr lang="en-US" dirty="0"/>
          </a:p>
          <a:p>
            <a:pPr lvl="2"/>
            <a:r>
              <a:rPr lang="en-US" dirty="0"/>
              <a:t>INT xx 		; xx can be 00 -</a:t>
            </a:r>
            <a:r>
              <a:rPr lang="en-US" dirty="0" err="1"/>
              <a:t>FFh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46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F6BC-8719-AB24-125E-88CE15D9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9E6C-7E94-18AD-CF68-D334955A8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widely used interrupts are</a:t>
            </a:r>
          </a:p>
          <a:p>
            <a:pPr lvl="1"/>
            <a:r>
              <a:rPr lang="en-US" dirty="0"/>
              <a:t>10H</a:t>
            </a:r>
          </a:p>
          <a:p>
            <a:pPr lvl="1"/>
            <a:r>
              <a:rPr lang="en-US" dirty="0"/>
              <a:t>16H</a:t>
            </a:r>
          </a:p>
          <a:p>
            <a:pPr lvl="1"/>
            <a:r>
              <a:rPr lang="en-US" dirty="0"/>
              <a:t>21H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Each can perform many functions. </a:t>
            </a:r>
          </a:p>
          <a:p>
            <a:pPr marL="457200" lvl="1" indent="0">
              <a:buNone/>
            </a:pPr>
            <a:r>
              <a:rPr lang="en-US" dirty="0"/>
              <a:t>Before the service is requested, certain registers must have specific values </a:t>
            </a:r>
          </a:p>
        </p:txBody>
      </p:sp>
    </p:spTree>
    <p:extLst>
      <p:ext uri="{BB962C8B-B14F-4D97-AF65-F5344CB8AC3E}">
        <p14:creationId xmlns:p14="http://schemas.microsoft.com/office/powerpoint/2010/main" val="274453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00C7-48E1-8102-86F4-FF26AE96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 INT 10H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8D0D7-6AE3-8AE9-4B74-024D0A7F4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</a:t>
            </a:r>
            <a:r>
              <a:rPr lang="en-US" dirty="0" err="1"/>
              <a:t>fuctions</a:t>
            </a:r>
            <a:r>
              <a:rPr lang="en-US" dirty="0"/>
              <a:t> are associated with INT 10H</a:t>
            </a:r>
          </a:p>
          <a:p>
            <a:pPr lvl="1"/>
            <a:r>
              <a:rPr lang="en-US" dirty="0"/>
              <a:t>Changing the color of character or background color</a:t>
            </a:r>
          </a:p>
          <a:p>
            <a:pPr lvl="1"/>
            <a:r>
              <a:rPr lang="en-US" dirty="0"/>
              <a:t>Clearing the screen</a:t>
            </a:r>
          </a:p>
          <a:p>
            <a:pPr lvl="1"/>
            <a:r>
              <a:rPr lang="en-US" dirty="0"/>
              <a:t>Changing the location of the cursor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94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035E-BE62-00CB-7C46-B571D25F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Screen in Text mode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C895A3-09C2-4E26-40EA-A7D76D9E4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986" y="2708091"/>
            <a:ext cx="7363853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E683-2129-1DA2-B515-E899F4BC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the screen using INT 10H function 06H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D63F-8E60-09BB-2BFE-4697CE6F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;clearing the screen</a:t>
            </a:r>
          </a:p>
          <a:p>
            <a:pPr marL="0" indent="0">
              <a:buNone/>
            </a:pPr>
            <a:r>
              <a:rPr lang="en-US" dirty="0"/>
              <a:t>mov ax, 0600h       ;scroll the entire screen</a:t>
            </a:r>
          </a:p>
          <a:p>
            <a:pPr marL="0" indent="0">
              <a:buNone/>
            </a:pPr>
            <a:r>
              <a:rPr lang="en-US" dirty="0"/>
              <a:t>mov bh,07           ;normal attribute</a:t>
            </a:r>
          </a:p>
          <a:p>
            <a:pPr marL="0" indent="0">
              <a:buNone/>
            </a:pPr>
            <a:r>
              <a:rPr lang="en-US" dirty="0"/>
              <a:t>mov cx,0            ; row and column of top left</a:t>
            </a:r>
          </a:p>
          <a:p>
            <a:pPr marL="0" indent="0">
              <a:buNone/>
            </a:pPr>
            <a:r>
              <a:rPr lang="en-US" dirty="0"/>
              <a:t>mov dx,184fh        ; row and column of bottom right</a:t>
            </a:r>
          </a:p>
          <a:p>
            <a:pPr marL="0" indent="0">
              <a:buNone/>
            </a:pPr>
            <a:r>
              <a:rPr lang="en-US" dirty="0"/>
              <a:t>int 10h             ;invoke the video of BIOS service</a:t>
            </a:r>
          </a:p>
        </p:txBody>
      </p:sp>
    </p:spTree>
    <p:extLst>
      <p:ext uri="{BB962C8B-B14F-4D97-AF65-F5344CB8AC3E}">
        <p14:creationId xmlns:p14="http://schemas.microsoft.com/office/powerpoint/2010/main" val="1342439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69BF-5AD1-3E72-5A62-66B2DE91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the cursor to a specific location</a:t>
            </a:r>
            <a:br>
              <a:rPr lang="en-US" dirty="0"/>
            </a:br>
            <a:r>
              <a:rPr lang="en-US" dirty="0"/>
              <a:t>INT 10H function 02H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76A2-CFE5-2E4D-BF9F-55B16FB9D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ah,02           ;set cursor option</a:t>
            </a:r>
          </a:p>
          <a:p>
            <a:pPr marL="0" indent="0">
              <a:buNone/>
            </a:pPr>
            <a:r>
              <a:rPr lang="en-US" dirty="0"/>
              <a:t>mov bh,00           ;page 0</a:t>
            </a:r>
          </a:p>
          <a:p>
            <a:pPr marL="0" indent="0">
              <a:buNone/>
            </a:pPr>
            <a:r>
              <a:rPr lang="en-US" dirty="0"/>
              <a:t>mov dl, 10          ;column position</a:t>
            </a:r>
          </a:p>
          <a:p>
            <a:pPr marL="0" indent="0">
              <a:buNone/>
            </a:pPr>
            <a:r>
              <a:rPr lang="en-US" dirty="0"/>
              <a:t>mov dh, 10          ; row position</a:t>
            </a:r>
          </a:p>
          <a:p>
            <a:pPr marL="0" indent="0">
              <a:buNone/>
            </a:pPr>
            <a:r>
              <a:rPr lang="en-US" dirty="0"/>
              <a:t>int 10h             ; invoke interrupt 10h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8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59DC-B319-8FC0-C1E4-5CEF6C37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10H function 03: </a:t>
            </a:r>
            <a:br>
              <a:rPr lang="en-US" dirty="0"/>
            </a:br>
            <a:r>
              <a:rPr lang="en-US" dirty="0"/>
              <a:t>Get Current Cursor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057BC-D740-D903-5291-1CA0EE65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ah,03           </a:t>
            </a:r>
          </a:p>
          <a:p>
            <a:pPr marL="0" indent="0">
              <a:buNone/>
            </a:pPr>
            <a:r>
              <a:rPr lang="en-US" dirty="0"/>
              <a:t>mov bh,00</a:t>
            </a:r>
          </a:p>
          <a:p>
            <a:pPr marL="0" indent="0">
              <a:buNone/>
            </a:pPr>
            <a:r>
              <a:rPr lang="en-US" dirty="0"/>
              <a:t>int 10h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38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339-168F-9139-7D02-FB418451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653" y="624110"/>
            <a:ext cx="9842960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INT 10H function 09: </a:t>
            </a:r>
            <a:br>
              <a:rPr lang="en-US" dirty="0"/>
            </a:br>
            <a:r>
              <a:rPr lang="en-US" sz="3100" dirty="0"/>
              <a:t>Write a character and its attribute at the cursor position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9B9FC-3992-4CFB-4499-20EE7AAF9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Register used</a:t>
            </a:r>
          </a:p>
          <a:p>
            <a:pPr marL="0" indent="0">
              <a:buNone/>
            </a:pPr>
            <a:r>
              <a:rPr lang="en-US" dirty="0"/>
              <a:t>AH = 9H</a:t>
            </a:r>
          </a:p>
          <a:p>
            <a:pPr marL="0" indent="0">
              <a:buNone/>
            </a:pPr>
            <a:r>
              <a:rPr lang="en-US" dirty="0"/>
              <a:t>AL = ASCII value</a:t>
            </a:r>
          </a:p>
          <a:p>
            <a:pPr marL="0" indent="0">
              <a:buNone/>
            </a:pPr>
            <a:r>
              <a:rPr lang="en-US" dirty="0"/>
              <a:t>BH = Display page</a:t>
            </a:r>
          </a:p>
          <a:p>
            <a:pPr marL="0" indent="0">
              <a:buNone/>
            </a:pPr>
            <a:r>
              <a:rPr lang="en-US" dirty="0"/>
              <a:t>BL = Attribute</a:t>
            </a:r>
          </a:p>
          <a:p>
            <a:pPr marL="0" indent="0">
              <a:buNone/>
            </a:pPr>
            <a:r>
              <a:rPr lang="en-US" dirty="0"/>
              <a:t>CX = Number of characters to write</a:t>
            </a:r>
          </a:p>
        </p:txBody>
      </p:sp>
    </p:spTree>
    <p:extLst>
      <p:ext uri="{BB962C8B-B14F-4D97-AF65-F5344CB8AC3E}">
        <p14:creationId xmlns:p14="http://schemas.microsoft.com/office/powerpoint/2010/main" val="3382169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3FF6-F637-1F64-F608-E20019AC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987" y="624110"/>
            <a:ext cx="9862625" cy="1280890"/>
          </a:xfrm>
        </p:spPr>
        <p:txBody>
          <a:bodyPr>
            <a:normAutofit fontScale="90000"/>
          </a:bodyPr>
          <a:lstStyle/>
          <a:p>
            <a:r>
              <a:rPr lang="en-US" dirty="0"/>
              <a:t>INT 10H function 09: </a:t>
            </a:r>
            <a:br>
              <a:rPr lang="en-US" dirty="0"/>
            </a:br>
            <a:r>
              <a:rPr lang="en-US" sz="3100" dirty="0"/>
              <a:t>Write a character and its attribute at the cursor position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B591-56C3-4D2E-6591-C9764EC5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ah,09     ;display option</a:t>
            </a:r>
          </a:p>
          <a:p>
            <a:pPr marL="0" indent="0">
              <a:buNone/>
            </a:pPr>
            <a:r>
              <a:rPr lang="en-US" dirty="0"/>
              <a:t>mov bh,00     ;page 0</a:t>
            </a:r>
          </a:p>
          <a:p>
            <a:pPr marL="0" indent="0">
              <a:buNone/>
            </a:pPr>
            <a:r>
              <a:rPr lang="en-US" dirty="0"/>
              <a:t>mov al,44h    ;ascii character to display</a:t>
            </a:r>
          </a:p>
          <a:p>
            <a:pPr marL="0" indent="0">
              <a:buNone/>
            </a:pPr>
            <a:r>
              <a:rPr lang="en-US" dirty="0"/>
              <a:t>mov cx, 200h  ;repeat 200h times</a:t>
            </a:r>
          </a:p>
          <a:p>
            <a:pPr marL="0" indent="0">
              <a:buNone/>
            </a:pPr>
            <a:r>
              <a:rPr lang="en-US" dirty="0"/>
              <a:t>mov bl,1fh   ;black on white blinking </a:t>
            </a:r>
          </a:p>
          <a:p>
            <a:pPr marL="0" indent="0">
              <a:buNone/>
            </a:pPr>
            <a:r>
              <a:rPr lang="en-US" dirty="0"/>
              <a:t>int 10h </a:t>
            </a:r>
          </a:p>
        </p:txBody>
      </p:sp>
    </p:spTree>
    <p:extLst>
      <p:ext uri="{BB962C8B-B14F-4D97-AF65-F5344CB8AC3E}">
        <p14:creationId xmlns:p14="http://schemas.microsoft.com/office/powerpoint/2010/main" val="1219681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B221-C388-2BE4-FCB5-C37AE465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D9E75-C045-4173-8278-16306DB08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processor uses the interrupt number to index </a:t>
            </a:r>
            <a:r>
              <a:rPr lang="en-US" b="1" dirty="0"/>
              <a:t>the Interrupt Vector Table </a:t>
            </a:r>
            <a:r>
              <a:rPr lang="en-US" dirty="0"/>
              <a:t>(IVT) to get the address of a special type of procedure called </a:t>
            </a:r>
            <a:r>
              <a:rPr lang="en-US" b="1" dirty="0"/>
              <a:t>an Interrupt Service Routine </a:t>
            </a:r>
            <a:r>
              <a:rPr lang="en-US" dirty="0"/>
              <a:t>(ISR). </a:t>
            </a:r>
          </a:p>
          <a:p>
            <a:pPr marL="0" indent="0">
              <a:buNone/>
            </a:pPr>
            <a:r>
              <a:rPr lang="en-US" dirty="0"/>
              <a:t>The ISR is executed whenever the interrupt is generated. </a:t>
            </a:r>
          </a:p>
          <a:p>
            <a:pPr marL="0" indent="0">
              <a:buNone/>
            </a:pPr>
            <a:r>
              <a:rPr lang="en-US" dirty="0"/>
              <a:t>There are 256 entries in IVT, and each entry stores the logical address of a respective ISR. </a:t>
            </a:r>
          </a:p>
          <a:p>
            <a:pPr marL="0" indent="0">
              <a:buNone/>
            </a:pPr>
            <a:r>
              <a:rPr lang="en-US" dirty="0"/>
              <a:t>IVT resides in memory at physical address 0x00000.</a:t>
            </a:r>
          </a:p>
          <a:p>
            <a:pPr marL="0" indent="0">
              <a:buNone/>
            </a:pPr>
            <a:r>
              <a:rPr lang="en-US" dirty="0"/>
              <a:t>Each entry stores the logical address, which is 4 bytes; the total size of the IVT is 256 x 4B = 1 KB. </a:t>
            </a:r>
          </a:p>
          <a:p>
            <a:pPr marL="0" indent="0">
              <a:buNone/>
            </a:pPr>
            <a:r>
              <a:rPr lang="en-US" dirty="0"/>
              <a:t>To index the IVT, the processor multiplies the interrupt number by 4 to get the physical address of the entry against that interrupt number</a:t>
            </a:r>
          </a:p>
        </p:txBody>
      </p:sp>
    </p:spTree>
    <p:extLst>
      <p:ext uri="{BB962C8B-B14F-4D97-AF65-F5344CB8AC3E}">
        <p14:creationId xmlns:p14="http://schemas.microsoft.com/office/powerpoint/2010/main" val="1929467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6174-3597-13B9-4BB6-E2348905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F8BB-D888-CDC9-32C2-B203BB875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ISR is a special procedure that is called whenever an interrupt is generated.</a:t>
            </a:r>
          </a:p>
          <a:p>
            <a:pPr marL="0" indent="0">
              <a:buNone/>
            </a:pPr>
            <a:r>
              <a:rPr lang="en-US" dirty="0"/>
              <a:t> Whenever an ISR is called as a result of an interrupt, the flag register is pushed onto the stack along with IP and CS. </a:t>
            </a:r>
          </a:p>
          <a:p>
            <a:pPr marL="0" indent="0">
              <a:buNone/>
            </a:pPr>
            <a:r>
              <a:rPr lang="en-US" dirty="0"/>
              <a:t>Therefore, unlike procedures, the ISRs return control by issuing "IRET" instructions instead of "RET" instructions. </a:t>
            </a:r>
          </a:p>
          <a:p>
            <a:pPr marL="0" indent="0">
              <a:buNone/>
            </a:pPr>
            <a:r>
              <a:rPr lang="en-US" dirty="0"/>
              <a:t>The IRET instruction also pops the flag register from the stack, whereas the RET instruction does not.</a:t>
            </a:r>
          </a:p>
        </p:txBody>
      </p:sp>
    </p:spTree>
    <p:extLst>
      <p:ext uri="{BB962C8B-B14F-4D97-AF65-F5344CB8AC3E}">
        <p14:creationId xmlns:p14="http://schemas.microsoft.com/office/powerpoint/2010/main" val="23034718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542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INTERRUPTS</vt:lpstr>
      <vt:lpstr>INTERRUPTS</vt:lpstr>
      <vt:lpstr>INTERRUPTS</vt:lpstr>
      <vt:lpstr>BIOS INT 10H</vt:lpstr>
      <vt:lpstr>Monitor Screen in Text mode</vt:lpstr>
      <vt:lpstr>Clearing the screen using INT 10H function 06H</vt:lpstr>
      <vt:lpstr>Setting the cursor to a specific location INT 10H function 02H</vt:lpstr>
      <vt:lpstr>INT 10H function 03:  Get Current Cursor Position</vt:lpstr>
      <vt:lpstr>INT 10H function 09:  Write a character and its attribute at the cursor position</vt:lpstr>
      <vt:lpstr>INT 10H function 09:  Write a character and its attribute at the cursor position</vt:lpstr>
      <vt:lpstr>INTERRUPTS</vt:lpstr>
      <vt:lpstr>ISR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Hina Tahir</dc:creator>
  <cp:lastModifiedBy>Hina Tahir</cp:lastModifiedBy>
  <cp:revision>2</cp:revision>
  <dcterms:created xsi:type="dcterms:W3CDTF">2025-12-03T15:59:19Z</dcterms:created>
  <dcterms:modified xsi:type="dcterms:W3CDTF">2025-12-03T17:07:32Z</dcterms:modified>
</cp:coreProperties>
</file>