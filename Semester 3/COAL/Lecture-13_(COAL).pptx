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2"/>
  </p:notesMasterIdLst>
  <p:sldIdLst>
    <p:sldId id="256" r:id="rId2"/>
    <p:sldId id="261" r:id="rId3"/>
    <p:sldId id="262" r:id="rId4"/>
    <p:sldId id="263" r:id="rId5"/>
    <p:sldId id="264" r:id="rId6"/>
    <p:sldId id="266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int a = 10, b = 20, c = 0;</a:t>
            </a:r>
          </a:p>
          <a:p>
            <a:r>
              <a:rPr lang="en-US" dirty="0"/>
              <a:t>__</a:t>
            </a:r>
            <a:r>
              <a:rPr lang="en-US" dirty="0" err="1"/>
              <a:t>asm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mov </a:t>
            </a:r>
            <a:r>
              <a:rPr lang="en-US" dirty="0" err="1"/>
              <a:t>ebx,a</a:t>
            </a:r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ebx,b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c,ebx</a:t>
            </a:r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 err="1"/>
              <a:t>cout</a:t>
            </a:r>
            <a:r>
              <a:rPr lang="en-US" dirty="0"/>
              <a:t> &lt;&lt; "Sum of " &lt;&lt; a &lt;&lt; " and " &lt;&lt; b &lt;&lt; " is " &lt;&lt; c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19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array1[] = { 1,2,3,4,5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push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ebp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ebp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offset array1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0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ecx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5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l1: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ebp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4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loop l1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ebp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i++)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array1[i-1];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75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array1[] = { 1,2,3,4,5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20; i = i + 4)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[array1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i++)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array1[i-1];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54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array1[] = { 1,2,3,4,5 };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20; i = i + 4)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rol dword ptr[array1 + eax], 1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i++)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97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array1[3][4] = { {1,2,3,1},{4,5,6,1},{7,8,9,1}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 = 0;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3; i++)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= 0; j &lt; 4;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 = 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4 + j) *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sizeof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index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[array1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1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"("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")"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"-&gt;"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][j]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297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1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41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3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55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13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04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40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5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0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932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91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63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07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276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884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50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8DCF-28BD-4481-80CA-43880169E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5B6BB-8C5C-5F4C-A55D-F74D5C8AD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13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3885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A470-F03F-1E0D-57A4-C1F9022B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Registers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1532-2BF5-73FD-A9AB-CB03E2D0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Intel 80386 was the first 32-bit processor of the Intel family of microprocessors.</a:t>
            </a:r>
          </a:p>
          <a:p>
            <a:pPr algn="just"/>
            <a:r>
              <a:rPr lang="en-US" dirty="0"/>
              <a:t>It has 32-bit addresses and data buses.</a:t>
            </a:r>
          </a:p>
          <a:p>
            <a:pPr algn="just"/>
            <a:r>
              <a:rPr lang="en-US" dirty="0"/>
              <a:t>The protected mode was also introduced in this processor that limits the operation of user programs.</a:t>
            </a:r>
          </a:p>
          <a:p>
            <a:pPr algn="just"/>
            <a:r>
              <a:rPr lang="en-US" dirty="0"/>
              <a:t>It doesn’t allow user programs to go beyond their memory limits assign to them and directly access IO devices.</a:t>
            </a:r>
          </a:p>
          <a:p>
            <a:pPr algn="just"/>
            <a:r>
              <a:rPr lang="en-US" dirty="0"/>
              <a:t>The size of existing registers, except the segment registers, were extended to 32-bit.</a:t>
            </a:r>
          </a:p>
          <a:p>
            <a:pPr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96513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9B21-5B43-03D6-764D-429CC1C5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Registers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D8CE37-AEAF-8D88-26AB-5B33BDFC2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734" y="2570970"/>
            <a:ext cx="6038531" cy="3541660"/>
          </a:xfrm>
        </p:spPr>
      </p:pic>
    </p:spTree>
    <p:extLst>
      <p:ext uri="{BB962C8B-B14F-4D97-AF65-F5344CB8AC3E}">
        <p14:creationId xmlns:p14="http://schemas.microsoft.com/office/powerpoint/2010/main" val="296022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65C6-4062-14A3-1FF1-D7BA4997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Aliasing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0BA915-FB7F-C0B5-AA5F-7AF91D975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313" y="3353408"/>
            <a:ext cx="5231374" cy="2105054"/>
          </a:xfrm>
        </p:spPr>
      </p:pic>
    </p:spTree>
    <p:extLst>
      <p:ext uri="{BB962C8B-B14F-4D97-AF65-F5344CB8AC3E}">
        <p14:creationId xmlns:p14="http://schemas.microsoft.com/office/powerpoint/2010/main" val="47091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FEF4-7487-E00C-FC7C-726FC462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Addressing Modes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5EF2-30A5-842C-3D6F-8690C202B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addressing modes are the same.</a:t>
            </a:r>
          </a:p>
          <a:p>
            <a:pPr algn="just"/>
            <a:r>
              <a:rPr lang="en-US" dirty="0"/>
              <a:t>In 80386 and above, any 32-bit register may be used in register indirect addressing mode.</a:t>
            </a:r>
          </a:p>
          <a:p>
            <a:pPr lvl="1" algn="just"/>
            <a:r>
              <a:rPr lang="en-US" dirty="0"/>
              <a:t>The MOV [EDX], CL instruction copies the byte sized contents of register CL into the data segment memory location addressed by EDX</a:t>
            </a:r>
          </a:p>
          <a:p>
            <a:pPr algn="just"/>
            <a:r>
              <a:rPr lang="en-US" dirty="0"/>
              <a:t>Any two registers from the above may be combined to generate the memory address.</a:t>
            </a:r>
          </a:p>
          <a:p>
            <a:pPr lvl="1" algn="just"/>
            <a:r>
              <a:rPr lang="en-US" dirty="0"/>
              <a:t>The MOV [EAX+EBX], CL instruction copies the byte sized contents of register CL into the data segment memory location addressed by EAX plus EBX.</a:t>
            </a:r>
          </a:p>
          <a:p>
            <a:pPr algn="just"/>
            <a:r>
              <a:rPr lang="en-US" dirty="0"/>
              <a:t>Use any 32-bit register except ESP to address memory</a:t>
            </a:r>
          </a:p>
        </p:txBody>
      </p:sp>
    </p:spTree>
    <p:extLst>
      <p:ext uri="{BB962C8B-B14F-4D97-AF65-F5344CB8AC3E}">
        <p14:creationId xmlns:p14="http://schemas.microsoft.com/office/powerpoint/2010/main" val="274343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835E-4683-173F-E908-99A7CA2A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2DEF-A268-3E64-4162-9986D33E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Addressing Modes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6C42-029F-5484-3403-7BF1681C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Register Direct Addressing (EAX, EBX)</a:t>
            </a:r>
          </a:p>
          <a:p>
            <a:pPr algn="just"/>
            <a:r>
              <a:rPr lang="en-US" dirty="0"/>
              <a:t>Register Indirect Addressing ([EBX], [EAX +4])</a:t>
            </a:r>
          </a:p>
          <a:p>
            <a:pPr algn="just"/>
            <a:r>
              <a:rPr lang="en-US" dirty="0"/>
              <a:t>Register Offset Addressing ([EBX + EAX], [EDX + ECX * 4])</a:t>
            </a:r>
          </a:p>
          <a:p>
            <a:pPr algn="just"/>
            <a:r>
              <a:rPr lang="en-US" dirty="0"/>
              <a:t>Base + Offset Addressing ([EBX + 10], [EAX + 0x20])</a:t>
            </a:r>
          </a:p>
          <a:p>
            <a:pPr algn="just"/>
            <a:r>
              <a:rPr lang="en-US" dirty="0"/>
              <a:t>Immediate Addressing (32-bit immediate value)</a:t>
            </a:r>
          </a:p>
          <a:p>
            <a:pPr algn="just"/>
            <a:r>
              <a:rPr lang="en-US" dirty="0"/>
              <a:t>Segment : Offset Addressing ([CS:1234], [DS:2000])</a:t>
            </a:r>
          </a:p>
        </p:txBody>
      </p:sp>
    </p:spTree>
    <p:extLst>
      <p:ext uri="{BB962C8B-B14F-4D97-AF65-F5344CB8AC3E}">
        <p14:creationId xmlns:p14="http://schemas.microsoft.com/office/powerpoint/2010/main" val="96855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1D12-B340-C13C-8904-97306F02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Assembly Language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1F4B-8192-2B75-35A2-F1BD5897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Assembly language serves many purposes:</a:t>
            </a:r>
          </a:p>
          <a:p>
            <a:pPr lvl="1"/>
            <a:r>
              <a:rPr lang="en-US" dirty="0"/>
              <a:t>Improving program speed</a:t>
            </a:r>
          </a:p>
          <a:p>
            <a:pPr lvl="1"/>
            <a:r>
              <a:rPr lang="en-US" dirty="0"/>
              <a:t>Reducing memory needs</a:t>
            </a:r>
          </a:p>
          <a:p>
            <a:pPr lvl="1"/>
            <a:r>
              <a:rPr lang="en-US" dirty="0"/>
              <a:t>Controlling hardware when writing kernel modules</a:t>
            </a:r>
          </a:p>
          <a:p>
            <a:r>
              <a:rPr lang="en-US" dirty="0"/>
              <a:t>You can use the inline assembler to embed assembly-language instructions directly in your C and C++ source programs without extra assembly and link steps.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4123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5CA5-B40F-490B-E5D7-74C09FCD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9DEE-8B87-C8F9-BF9E-28CCE6F4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Assembly Language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BF74-4383-CC55-DEF1-71C1A091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inline assembler is built into the compiler, so you don't need a separate assembler</a:t>
            </a:r>
          </a:p>
          <a:p>
            <a:pPr algn="just"/>
            <a:r>
              <a:rPr lang="en-US" dirty="0"/>
              <a:t>Because the inline assembler doesn't require separate assembly and link steps, it is more convenient than a separate assembler</a:t>
            </a:r>
          </a:p>
          <a:p>
            <a:pPr algn="just"/>
            <a:r>
              <a:rPr lang="en-US" dirty="0"/>
              <a:t>Inline assembly code can use any C or C++ variable or function name that is in scope, so it is easy to integrate it with your program's C and C++ code.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5097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786C-C503-A22B-8E3A-250D60F9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</a:t>
            </a:r>
            <a:r>
              <a:rPr lang="en-US" dirty="0" err="1"/>
              <a:t>asm</a:t>
            </a:r>
            <a:r>
              <a:rPr lang="en-US" dirty="0"/>
              <a:t> Keyword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E3D0B-68BF-9A81-81BA-E747F21A6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The__</a:t>
            </a:r>
            <a:r>
              <a:rPr lang="en-US" dirty="0" err="1"/>
              <a:t>asm</a:t>
            </a:r>
            <a:r>
              <a:rPr lang="en-US" dirty="0"/>
              <a:t> keyword invokes the inline assembler and can appear wherever a C or C++ statement is legal. </a:t>
            </a:r>
          </a:p>
          <a:p>
            <a:r>
              <a:rPr lang="en-US" dirty="0"/>
              <a:t>It cannot appear by itself. </a:t>
            </a:r>
          </a:p>
          <a:p>
            <a:r>
              <a:rPr lang="en-US" dirty="0"/>
              <a:t>It must be followed by an assembly instruction, a group of instructions enclosed in braces, or, at the very least, an empty pair of braces.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0295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0049-8DBC-6FB0-2970-8EA8DE75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3700A7-CD08-D483-F9C9-7D19ED5A9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3222" y="2659279"/>
            <a:ext cx="2885555" cy="3417107"/>
          </a:xfrm>
        </p:spPr>
      </p:pic>
    </p:spTree>
    <p:extLst>
      <p:ext uri="{BB962C8B-B14F-4D97-AF65-F5344CB8AC3E}">
        <p14:creationId xmlns:p14="http://schemas.microsoft.com/office/powerpoint/2010/main" val="362455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6B59-1A7D-444A-B6A5-AF2310E0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and Preserving Registers in Inline Assembly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4A56-ABB6-3BD5-491C-95FAAB313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register will not have a given value when an __</a:t>
            </a:r>
            <a:r>
              <a:rPr lang="en-US" dirty="0" err="1"/>
              <a:t>asm</a:t>
            </a:r>
            <a:r>
              <a:rPr lang="en-US" dirty="0"/>
              <a:t> block begins.</a:t>
            </a:r>
          </a:p>
          <a:p>
            <a:pPr algn="just"/>
            <a:r>
              <a:rPr lang="en-US" dirty="0"/>
              <a:t>Register values are not guaranteed to be preserved across separate __</a:t>
            </a:r>
            <a:r>
              <a:rPr lang="en-US" dirty="0" err="1"/>
              <a:t>asm</a:t>
            </a:r>
            <a:r>
              <a:rPr lang="en-US" dirty="0"/>
              <a:t> blocks.</a:t>
            </a:r>
          </a:p>
          <a:p>
            <a:pPr algn="just"/>
            <a:r>
              <a:rPr lang="en-US" dirty="0"/>
              <a:t>If you end a block of inline code and begin another, you cannot rely on the registers in the second block to retain their values from the first block.</a:t>
            </a:r>
          </a:p>
          <a:p>
            <a:pPr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84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4BCE-9AAF-D897-CA9F-6F960AE9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001796"/>
            <a:ext cx="9601196" cy="1303867"/>
          </a:xfrm>
        </p:spPr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2527E-AE52-0A94-7839-296AEE2BB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1497" y="2609222"/>
            <a:ext cx="6469005" cy="3572694"/>
          </a:xfrm>
        </p:spPr>
      </p:pic>
    </p:spTree>
    <p:extLst>
      <p:ext uri="{BB962C8B-B14F-4D97-AF65-F5344CB8AC3E}">
        <p14:creationId xmlns:p14="http://schemas.microsoft.com/office/powerpoint/2010/main" val="2763591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D6DC-5F23-A701-AE0B-0BC7AC17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Array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39C8F-212B-B8BE-17E1-96F9EF8125DF}"/>
              </a:ext>
            </a:extLst>
          </p:cNvPr>
          <p:cNvSpPr txBox="1"/>
          <p:nvPr/>
        </p:nvSpPr>
        <p:spPr>
          <a:xfrm>
            <a:off x="1981458" y="2542457"/>
            <a:ext cx="9308429" cy="784830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array1[] = { 1, 2, 3, 4, 5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push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ebp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ebp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offset array1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0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ecx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5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l1: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ebp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loop l1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pop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ebp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5; i++)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"pause"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099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243A-5697-F9E0-1206-E1F58AEC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Array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C6EA3-38D5-AEBB-C819-FA6B7682A131}"/>
              </a:ext>
            </a:extLst>
          </p:cNvPr>
          <p:cNvSpPr txBox="1"/>
          <p:nvPr/>
        </p:nvSpPr>
        <p:spPr>
          <a:xfrm>
            <a:off x="1838633" y="961374"/>
            <a:ext cx="10137058" cy="535531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&lt;iostream&gt;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array1[] = { 1, 2, 3, 4, 5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20; i = i + 4)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[array1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5; i++)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]&lt;&lt;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"pause"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0209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DD844-F38A-C7E8-8EB3-7576AF21C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75655"/>
            <a:ext cx="9601196" cy="1303867"/>
          </a:xfrm>
        </p:spPr>
        <p:txBody>
          <a:bodyPr/>
          <a:lstStyle/>
          <a:p>
            <a:r>
              <a:rPr lang="en-US" dirty="0"/>
              <a:t>Example – Rotate Left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15D09-45A0-60C4-9C22-6DB53379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379951"/>
            <a:ext cx="9601196" cy="3318936"/>
          </a:xfrm>
        </p:spPr>
        <p:txBody>
          <a:bodyPr numCol="2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array1[] = { 1, 2, 3, 4, 5 };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20; i = i + 4)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rol dword ptr[array1 + eax], 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5; i++)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&lt;&lt;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"pause"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0600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8B41-12C8-F851-07E9-E09DBB4A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2D Array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A469C-B3B8-3C7F-5017-2E61F52E8759}"/>
              </a:ext>
            </a:extLst>
          </p:cNvPr>
          <p:cNvSpPr txBox="1"/>
          <p:nvPr/>
        </p:nvSpPr>
        <p:spPr>
          <a:xfrm>
            <a:off x="1091380" y="2442407"/>
            <a:ext cx="10225549" cy="618630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array1[3][4] = { { 1, 2, 3, 1 }, { 4, 5, 6, 1 }, { 7, 8, 9, 1 }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index = 0;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3; i++)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for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 = 0; j &lt; 4;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 = 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4 + j) *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sizeof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index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add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[array1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 1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"("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j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")"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"-&gt;"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][j]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"pause"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875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A73F-F322-324B-46F5-5FF1DADE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Call Function Written in Assembly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0957-267C-0170-A89E-F69C5346A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extern "C" int sum1(int a, int b);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x, y;</a:t>
            </a:r>
          </a:p>
          <a:p>
            <a:pPr marL="0" indent="0">
              <a:buNone/>
            </a:pPr>
            <a:r>
              <a:rPr lang="en-US" dirty="0" err="1"/>
              <a:t>cin</a:t>
            </a:r>
            <a:r>
              <a:rPr lang="en-US" dirty="0"/>
              <a:t> &gt;&gt; x &gt;&gt; y;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"sum is " &lt;&lt; sum1(x, y);</a:t>
            </a:r>
          </a:p>
          <a:p>
            <a:pPr marL="0" indent="0">
              <a:buNone/>
            </a:pPr>
            <a:r>
              <a:rPr lang="en-US" dirty="0"/>
              <a:t>system("pause");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.model flat</a:t>
            </a:r>
          </a:p>
          <a:p>
            <a:pPr marL="0" indent="0">
              <a:buNone/>
            </a:pPr>
            <a:r>
              <a:rPr lang="en-US" dirty="0"/>
              <a:t>.code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_sum1 PROC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push </a:t>
            </a:r>
            <a:r>
              <a:rPr lang="en-US" dirty="0" err="1"/>
              <a:t>ebp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ebp,esp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eax</a:t>
            </a:r>
            <a:r>
              <a:rPr lang="en-US" dirty="0"/>
              <a:t>, [ebp+8]</a:t>
            </a:r>
          </a:p>
          <a:p>
            <a:pPr marL="0" indent="0">
              <a:buNone/>
            </a:pPr>
            <a:r>
              <a:rPr lang="en-US" dirty="0"/>
              <a:t>add </a:t>
            </a:r>
            <a:r>
              <a:rPr lang="en-US" dirty="0" err="1"/>
              <a:t>eax</a:t>
            </a:r>
            <a:r>
              <a:rPr lang="en-US" dirty="0"/>
              <a:t>,[ebp+12]</a:t>
            </a:r>
          </a:p>
          <a:p>
            <a:pPr marL="0" indent="0">
              <a:buNone/>
            </a:pPr>
            <a:r>
              <a:rPr lang="en-US" dirty="0"/>
              <a:t>pop </a:t>
            </a:r>
            <a:r>
              <a:rPr lang="en-US" dirty="0" err="1"/>
              <a:t>ebp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_sum1 </a:t>
            </a:r>
            <a:r>
              <a:rPr lang="en-US" dirty="0" err="1"/>
              <a:t>endp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038797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3F98-E9B6-0811-4718-FC24EF0C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AF41-EA7E-6B11-0DC7-846376FD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Flat model means a single linear address space (used in modern 32-bit systems, </a:t>
            </a:r>
          </a:p>
          <a:p>
            <a:pPr marL="0" indent="0">
              <a:buNone/>
            </a:pPr>
            <a:r>
              <a:rPr lang="en-US" dirty="0"/>
              <a:t>unlike segmented memory in older architectures like 16-bit mode).</a:t>
            </a:r>
          </a:p>
          <a:p>
            <a:r>
              <a:rPr lang="en-US" dirty="0"/>
              <a:t> .CODE tells MASM that the following code belongs to the code segment.</a:t>
            </a:r>
          </a:p>
          <a:p>
            <a:r>
              <a:rPr lang="en-US" dirty="0"/>
              <a:t>_sum declares the function as a procedure (PROC). The leading underscore (_) </a:t>
            </a:r>
          </a:p>
          <a:p>
            <a:pPr marL="0" indent="0">
              <a:buNone/>
            </a:pPr>
            <a:r>
              <a:rPr lang="en-US" dirty="0"/>
              <a:t>suggests it follows </a:t>
            </a:r>
            <a:r>
              <a:rPr lang="en-US" dirty="0" err="1"/>
              <a:t>stdcall</a:t>
            </a:r>
            <a:r>
              <a:rPr lang="en-US" dirty="0"/>
              <a:t> conventions, typically for calling from C/C++. The </a:t>
            </a:r>
          </a:p>
          <a:p>
            <a:pPr marL="0" indent="0">
              <a:buNone/>
            </a:pPr>
            <a:r>
              <a:rPr lang="en-US" dirty="0"/>
              <a:t>caller will call this function as sum( ) without ( _ ) underscore.</a:t>
            </a:r>
          </a:p>
          <a:p>
            <a:r>
              <a:rPr lang="en-US" dirty="0"/>
              <a:t>Assembly functions (written in TASM, MASM, NASM) follow C-style calling </a:t>
            </a:r>
          </a:p>
          <a:p>
            <a:pPr marL="0" indent="0">
              <a:buNone/>
            </a:pPr>
            <a:r>
              <a:rPr lang="en-US" dirty="0"/>
              <a:t>conventions. extern "C" ensures the function name remains unaltered, so it can </a:t>
            </a:r>
          </a:p>
          <a:p>
            <a:pPr marL="0" indent="0">
              <a:buNone/>
            </a:pPr>
            <a:r>
              <a:rPr lang="en-US" dirty="0"/>
              <a:t>be called from C++</a:t>
            </a:r>
          </a:p>
        </p:txBody>
      </p:sp>
    </p:spTree>
    <p:extLst>
      <p:ext uri="{BB962C8B-B14F-4D97-AF65-F5344CB8AC3E}">
        <p14:creationId xmlns:p14="http://schemas.microsoft.com/office/powerpoint/2010/main" val="500702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53E47-4DA5-31AD-EB74-FFDA587F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Call Function Written in C/C++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24E23E-43BD-2496-59D9-1DE6C8735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590" y="2458454"/>
            <a:ext cx="9304422" cy="358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20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C4AA-6D2A-3DBA-EAC4-86E26BDC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32B2-0573-F47F-A0D1-7BA49311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.386 directive tells the assembler that the code is for Intel 80386 and later processors.</a:t>
            </a:r>
          </a:p>
          <a:p>
            <a:pPr marL="0" indent="0">
              <a:buNone/>
            </a:pPr>
            <a:r>
              <a:rPr lang="en-US" dirty="0"/>
              <a:t>It enables 32-bit instructions and registers.</a:t>
            </a:r>
          </a:p>
          <a:p>
            <a:pPr marL="0" indent="0">
              <a:buNone/>
            </a:pPr>
            <a:r>
              <a:rPr lang="en-US" dirty="0"/>
              <a:t>▪ .model flat specifies a flat memory model, meaning there's a single continuous </a:t>
            </a:r>
          </a:p>
          <a:p>
            <a:pPr marL="0" indent="0">
              <a:buNone/>
            </a:pPr>
            <a:r>
              <a:rPr lang="en-US" dirty="0"/>
              <a:t>memory space (used in 32-bit applications).</a:t>
            </a:r>
          </a:p>
          <a:p>
            <a:pPr marL="0" indent="0">
              <a:buNone/>
            </a:pPr>
            <a:r>
              <a:rPr lang="en-US" dirty="0"/>
              <a:t>▪ C specifies that the C calling convention is used.</a:t>
            </a:r>
          </a:p>
          <a:p>
            <a:pPr marL="0" indent="0">
              <a:buNone/>
            </a:pPr>
            <a:r>
              <a:rPr lang="en-US" dirty="0"/>
              <a:t>▪ extern declares that _add is an external function, meaning it is defined in another file </a:t>
            </a:r>
          </a:p>
          <a:p>
            <a:pPr marL="0" indent="0">
              <a:buNone/>
            </a:pPr>
            <a:r>
              <a:rPr lang="en-US" dirty="0"/>
              <a:t>(likely a C file).</a:t>
            </a:r>
          </a:p>
          <a:p>
            <a:pPr marL="0" indent="0">
              <a:buNone/>
            </a:pPr>
            <a:r>
              <a:rPr lang="en-US" dirty="0"/>
              <a:t>▪ _add In MSVC, C function names are prefixed with _ in </a:t>
            </a:r>
            <a:r>
              <a:rPr lang="en-US" dirty="0" err="1"/>
              <a:t>stdcall</a:t>
            </a:r>
            <a:r>
              <a:rPr lang="en-US" dirty="0"/>
              <a:t> calling convention.</a:t>
            </a:r>
          </a:p>
          <a:p>
            <a:pPr marL="0" indent="0">
              <a:buNone/>
            </a:pPr>
            <a:r>
              <a:rPr lang="en-US" dirty="0"/>
              <a:t>▪ :PROC indicates that _add is a procedure</a:t>
            </a:r>
          </a:p>
        </p:txBody>
      </p:sp>
    </p:spTree>
    <p:extLst>
      <p:ext uri="{BB962C8B-B14F-4D97-AF65-F5344CB8AC3E}">
        <p14:creationId xmlns:p14="http://schemas.microsoft.com/office/powerpoint/2010/main" val="20976777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7220</TotalTime>
  <Words>1744</Words>
  <Application>Microsoft Office PowerPoint</Application>
  <PresentationFormat>Widescreen</PresentationFormat>
  <Paragraphs>316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Cascadia Mono</vt:lpstr>
      <vt:lpstr>Consolas</vt:lpstr>
      <vt:lpstr>Garamond</vt:lpstr>
      <vt:lpstr>Organic</vt:lpstr>
      <vt:lpstr>COAL</vt:lpstr>
      <vt:lpstr>32-bit Registers</vt:lpstr>
      <vt:lpstr>32-bit Registers</vt:lpstr>
      <vt:lpstr>Register Aliasing</vt:lpstr>
      <vt:lpstr>32-bit Addressing Modes</vt:lpstr>
      <vt:lpstr>32-bit Addressing Modes</vt:lpstr>
      <vt:lpstr>Inline Assembly Language</vt:lpstr>
      <vt:lpstr>Inline Assembly Language</vt:lpstr>
      <vt:lpstr>__asm Keyword</vt:lpstr>
      <vt:lpstr>Example</vt:lpstr>
      <vt:lpstr>Using and Preserving Registers in Inline Assembly</vt:lpstr>
      <vt:lpstr>Example</vt:lpstr>
      <vt:lpstr>Example – Array</vt:lpstr>
      <vt:lpstr>Example – Array</vt:lpstr>
      <vt:lpstr>Example – Rotate Left</vt:lpstr>
      <vt:lpstr>Example – 2D Array</vt:lpstr>
      <vt:lpstr>To Call Function Written in Assembly </vt:lpstr>
      <vt:lpstr>Convention </vt:lpstr>
      <vt:lpstr>To Call Function Written in C/C++ </vt:lpstr>
      <vt:lpstr>Conventions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39</cp:revision>
  <dcterms:created xsi:type="dcterms:W3CDTF">2023-10-17T17:30:28Z</dcterms:created>
  <dcterms:modified xsi:type="dcterms:W3CDTF">2025-12-23T08:59:59Z</dcterms:modified>
</cp:coreProperties>
</file>