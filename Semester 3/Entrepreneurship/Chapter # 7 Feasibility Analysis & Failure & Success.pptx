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1" d="100"/>
          <a:sy n="71" d="100"/>
        </p:scale>
        <p:origin x="696" y="6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D46128-8015-03D5-C2BA-A2F81FFFDC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96AF62-0954-E2DE-9264-1154F0F62E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432E35-A887-3C62-68D0-42DC8A650E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6057D5-8743-F9BE-A4F9-9593DBCFB6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AB94DD-66F6-86C5-14E1-0571D70F2C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772439-C62E-96E3-86F9-379CEC579C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9F3467-6AC0-850F-C8C9-558C1123FC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17C7E1-C2C7-566F-9E02-4DEB319853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27A84D-6083-A2ED-A35F-F5D205082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710557" name="Title 1"/>
          <p:cNvSpPr>
            <a:spLocks noGrp="1"/>
          </p:cNvSpPr>
          <p:nvPr>
            <p:ph type="ctrTitle"/>
          </p:nvPr>
        </p:nvSpPr>
        <p:spPr bwMode="auto"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9416117" name="Subtitle 2"/>
          <p:cNvSpPr>
            <a:spLocks noGrp="1"/>
          </p:cNvSpPr>
          <p:nvPr>
            <p:ph type="subTitle" idx="1"/>
          </p:nvPr>
        </p:nvSpPr>
        <p:spPr bwMode="auto"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524934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211535027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416500" y="329307"/>
            <a:ext cx="4973915" cy="309201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27198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437664" y="798973"/>
            <a:ext cx="811019" cy="503578"/>
          </a:xfrm>
        </p:spPr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853461899" name="Straight Connector 14"/>
          <p:cNvCxnSpPr/>
          <p:nvPr/>
        </p:nvCxnSpPr>
        <p:spPr bwMode="auto">
          <a:xfrm>
            <a:off x="2417780" y="3528541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2804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7514407" name="Content Placeholder 2"/>
          <p:cNvSpPr>
            <a:spLocks noGrp="1"/>
          </p:cNvSpPr>
          <p:nvPr>
            <p:ph idx="1"/>
          </p:nvPr>
        </p:nvSpPr>
        <p:spPr bwMode="auto"/>
        <p:txBody>
          <a:bodyPr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15020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20738906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898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695056963" name="Straight Connector 32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864390" name="Title 1"/>
          <p:cNvSpPr>
            <a:spLocks noGrp="1"/>
          </p:cNvSpPr>
          <p:nvPr>
            <p:ph type="title"/>
          </p:nvPr>
        </p:nvSpPr>
        <p:spPr bwMode="auto"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20536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46089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17975566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8634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1442613251" name="Straight Connector 14"/>
          <p:cNvCxnSpPr/>
          <p:nvPr/>
        </p:nvCxnSpPr>
        <p:spPr bwMode="auto"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718276" name="Title 1"/>
          <p:cNvSpPr>
            <a:spLocks noGrp="1"/>
          </p:cNvSpPr>
          <p:nvPr>
            <p:ph type="title"/>
          </p:nvPr>
        </p:nvSpPr>
        <p:spPr bwMode="auto">
          <a:xfrm>
            <a:off x="1449217" y="804889"/>
            <a:ext cx="9605635" cy="105930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92095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47331" y="2010878"/>
            <a:ext cx="4645152" cy="344859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234359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413771" y="2017343"/>
            <a:ext cx="4645152" cy="344152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806747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20551155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0123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1782644058" name="Straight Connector 34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049456" name="Title 1"/>
          <p:cNvSpPr>
            <a:spLocks noGrp="1"/>
          </p:cNvSpPr>
          <p:nvPr>
            <p:ph type="title"/>
          </p:nvPr>
        </p:nvSpPr>
        <p:spPr bwMode="auto">
          <a:xfrm>
            <a:off x="1447191" y="804163"/>
            <a:ext cx="9607661" cy="105631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84711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28551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447191" y="2824269"/>
            <a:ext cx="4645152" cy="264445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972523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12361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2472314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12361" y="2821491"/>
            <a:ext cx="4645152" cy="263737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920059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69589789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59602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1289790611" name="Straight Connector 28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497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796484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5649863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28992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1479146196" name="Straight Connector 24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21437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107298819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402420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108131" name="Title 1"/>
          <p:cNvSpPr>
            <a:spLocks noGrp="1"/>
          </p:cNvSpPr>
          <p:nvPr>
            <p:ph type="title"/>
          </p:nvPr>
        </p:nvSpPr>
        <p:spPr bwMode="auto"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2157477" name="Content Placeholder 2"/>
          <p:cNvSpPr>
            <a:spLocks noGrp="1"/>
          </p:cNvSpPr>
          <p:nvPr>
            <p:ph idx="1"/>
          </p:nvPr>
        </p:nvSpPr>
        <p:spPr bwMode="auto">
          <a:xfrm>
            <a:off x="5043714" y="798974"/>
            <a:ext cx="6012470" cy="4658826"/>
          </a:xfrm>
        </p:spPr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6788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71348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8372103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0050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1714193684" name="Straight Connector 16"/>
          <p:cNvCxnSpPr/>
          <p:nvPr/>
        </p:nvCxnSpPr>
        <p:spPr bwMode="auto"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46455329" name="Group 7"/>
          <p:cNvGrpSpPr/>
          <p:nvPr/>
        </p:nvGrpSpPr>
        <p:grpSpPr bwMode="auto">
          <a:xfrm>
            <a:off x="7477386" y="482170"/>
            <a:ext cx="4074533" cy="5149101"/>
            <a:chOff x="7477386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6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935861568" name="Title 1"/>
          <p:cNvSpPr>
            <a:spLocks noGrp="1"/>
          </p:cNvSpPr>
          <p:nvPr>
            <p:ph type="title"/>
          </p:nvPr>
        </p:nvSpPr>
        <p:spPr bwMode="auto"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811973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8124389" y="1122542"/>
            <a:ext cx="2791171" cy="386632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034604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10589990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1475439304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1447382" y="318640"/>
            <a:ext cx="5541004" cy="320931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111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30690306" name="Straight Connector 30"/>
          <p:cNvCxnSpPr/>
          <p:nvPr/>
        </p:nvCxnSpPr>
        <p:spPr bwMode="auto"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143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252544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76260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18344452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746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374375518" name="Straight Connector 25"/>
          <p:cNvCxnSpPr/>
          <p:nvPr/>
        </p:nvCxnSpPr>
        <p:spPr bwMode="auto">
          <a:xfrm>
            <a:off x="1453896" y="1847088"/>
            <a:ext cx="96075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84287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783396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444672" y="798973"/>
            <a:ext cx="7828830" cy="4659889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10839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16949468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38071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2066813800" name="Straight Connector 14"/>
          <p:cNvCxnSpPr/>
          <p:nvPr/>
        </p:nvCxnSpPr>
        <p:spPr bwMode="auto"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959626" name="Rectangle 7"/>
          <p:cNvSpPr/>
          <p:nvPr/>
        </p:nvSpPr>
        <p:spPr bwMode="auto"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51768245" name="Picture 6"/>
          <p:cNvPicPr>
            <a:picLocks noChangeAspect="1"/>
          </p:cNvPicPr>
          <p:nvPr/>
        </p:nvPicPr>
        <p:blipFill>
          <a:blip r:embed="rId13"/>
          <a:srcRect l="0" t="1538" r="0" b="-1537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1716124672" name="Title Placeholder 1"/>
          <p:cNvSpPr>
            <a:spLocks noGrp="1"/>
          </p:cNvSpPr>
          <p:nvPr>
            <p:ph type="title"/>
          </p:nvPr>
        </p:nvSpPr>
        <p:spPr bwMode="auto"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66313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494337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554138" y="330370"/>
            <a:ext cx="350071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5AC3699-B5E5-4100-8C49-5A07E83C021D}" type="datetimeFigureOut">
              <a:rPr/>
              <a:t>08/12/2025</a:t>
            </a:fld>
            <a:endParaRPr/>
          </a:p>
        </p:txBody>
      </p:sp>
      <p:sp>
        <p:nvSpPr>
          <p:cNvPr id="14977421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167297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40F5E2D-50C3-481D-A65B-562505853928}" type="slidenum">
              <a:rPr/>
              <a:t>‹#›</a:t>
            </a:fld>
            <a:endParaRPr/>
          </a:p>
        </p:txBody>
      </p:sp>
      <p:cxnSp>
        <p:nvCxnSpPr>
          <p:cNvPr id="1555654942" name="Straight Connector 9"/>
          <p:cNvCxnSpPr/>
          <p:nvPr/>
        </p:nvCxnSpPr>
        <p:spPr bwMode="auto"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200" b="0" i="0" cap="all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324642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/>
              <a:t>Feasibility Analysis &amp; Entrepreneurial Fears</a:t>
            </a:r>
            <a:endParaRPr/>
          </a:p>
        </p:txBody>
      </p:sp>
      <p:sp>
        <p:nvSpPr>
          <p:cNvPr id="1753068733" name="Subtitle 2"/>
          <p:cNvSpPr>
            <a:spLocks noGrp="1"/>
          </p:cNvSpPr>
          <p:nvPr>
            <p:ph type="subTitle" idx="1"/>
          </p:nvPr>
        </p:nvSpPr>
        <p:spPr bwMode="auto"/>
        <p:txBody>
          <a:bodyPr>
            <a:noAutofit/>
          </a:bodyPr>
          <a:lstStyle/>
          <a:p>
            <a:pPr algn="ctr">
              <a:defRPr/>
            </a:pPr>
            <a:r>
              <a:rPr lang="en-US" sz="3200"/>
              <a:t>(Failure &amp; Success)</a:t>
            </a:r>
            <a:br>
              <a:rPr lang="en-US" sz="3200"/>
            </a:br>
            <a:r>
              <a:rPr lang="en-US" sz="2400"/>
              <a:t>Lecture # 7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3190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5900" b="0" i="0" u="none" strike="noStrike" cap="all" spc="0">
                <a:ln>
                  <a:noFill/>
                </a:ln>
                <a:solidFill>
                  <a:prstClr val="black"/>
                </a:solidFill>
                <a:latin typeface="Gill Sans MT"/>
                <a:ea typeface="+mj-ea"/>
                <a:cs typeface="+mj-cs"/>
              </a:rPr>
              <a:t>Feasibility Analysis</a:t>
            </a:r>
            <a:endParaRPr/>
          </a:p>
        </p:txBody>
      </p:sp>
      <p:sp>
        <p:nvSpPr>
          <p:cNvPr id="212112800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What is Feasibility Analysis?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A process used to determine whether a business idea is </a:t>
            </a:r>
            <a:r>
              <a:rPr lang="en-US" b="1"/>
              <a:t>practical, profitable, and achievable</a:t>
            </a:r>
            <a:endParaRPr lang="en-US"/>
          </a:p>
          <a:p>
            <a:pPr>
              <a:buFont typeface="Arial"/>
              <a:buChar char="•"/>
              <a:defRPr/>
            </a:pPr>
            <a:r>
              <a:rPr lang="en-US"/>
              <a:t>Helps entrepreneurs decide </a:t>
            </a:r>
            <a:r>
              <a:rPr lang="en-US" b="1"/>
              <a:t>“Should I proceed or not?”</a:t>
            </a:r>
            <a:endParaRPr lang="en-US"/>
          </a:p>
          <a:p>
            <a:pPr>
              <a:buFont typeface="Arial"/>
              <a:buChar char="•"/>
              <a:defRPr/>
            </a:pPr>
            <a:r>
              <a:rPr lang="en-US"/>
              <a:t>Conducted </a:t>
            </a:r>
            <a:r>
              <a:rPr lang="en-US" b="1"/>
              <a:t>before</a:t>
            </a:r>
            <a:r>
              <a:rPr lang="en-US"/>
              <a:t> writing a business plan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765747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 sz="4000" b="0" i="0" u="none" strike="noStrike" cap="all" spc="0">
                <a:ln>
                  <a:noFill/>
                </a:ln>
                <a:solidFill>
                  <a:prstClr val="black"/>
                </a:solidFill>
                <a:latin typeface="Gill Sans MT"/>
                <a:ea typeface="+mj-ea"/>
                <a:cs typeface="+mj-cs"/>
              </a:rPr>
              <a:t>Components Of Feasibility Analysis</a:t>
            </a:r>
            <a:endParaRPr sz="4000"/>
          </a:p>
        </p:txBody>
      </p:sp>
      <p:sp>
        <p:nvSpPr>
          <p:cNvPr id="17394258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Font typeface="+mj-lt"/>
              <a:buAutoNum type="arabicPeriod"/>
              <a:defRPr/>
            </a:pPr>
            <a:r>
              <a:rPr lang="en-US" b="1"/>
              <a:t>Product/Service Feasibility</a:t>
            </a:r>
            <a:endParaRPr lang="en-US"/>
          </a:p>
          <a:p>
            <a:pPr>
              <a:buFont typeface="+mj-lt"/>
              <a:buAutoNum type="arabicPeriod"/>
              <a:defRPr/>
            </a:pPr>
            <a:r>
              <a:rPr lang="en-US" b="1"/>
              <a:t>Market Feasibility</a:t>
            </a:r>
            <a:endParaRPr lang="en-US"/>
          </a:p>
          <a:p>
            <a:pPr>
              <a:buFont typeface="+mj-lt"/>
              <a:buAutoNum type="arabicPeriod"/>
              <a:defRPr/>
            </a:pPr>
            <a:r>
              <a:rPr lang="en-US" b="1"/>
              <a:t>Organizational Feasibility</a:t>
            </a:r>
            <a:endParaRPr lang="en-US"/>
          </a:p>
          <a:p>
            <a:pPr>
              <a:buFont typeface="+mj-lt"/>
              <a:buAutoNum type="arabicPeriod"/>
              <a:defRPr/>
            </a:pPr>
            <a:r>
              <a:rPr lang="en-US" b="1"/>
              <a:t>Financial Feasibility</a:t>
            </a:r>
            <a:endParaRPr lang="en-US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9288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4000" b="0" i="0" u="none" strike="noStrike" cap="all" spc="0">
                <a:ln>
                  <a:noFill/>
                </a:ln>
                <a:solidFill>
                  <a:prstClr val="black"/>
                </a:solidFill>
                <a:latin typeface="Gill Sans MT"/>
                <a:ea typeface="+mj-ea"/>
                <a:cs typeface="+mj-cs"/>
              </a:rPr>
              <a:t>Components Of Feasibility Analysis</a:t>
            </a:r>
            <a:endParaRPr/>
          </a:p>
        </p:txBody>
      </p:sp>
      <p:sp>
        <p:nvSpPr>
          <p:cNvPr id="306268164" name="Content Placeholder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Product/Service Feasibility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Does the product solve a real problem?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Is there a need or demand for it?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Prototype or minimum viable product (MVP)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Customer feedback or testing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2006984857" name="Content Placeholder 3"/>
          <p:cNvSpPr>
            <a:spLocks noGrp="1"/>
          </p:cNvSpPr>
          <p:nvPr>
            <p:ph sz="half" idx="2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Market Feasibility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Target market size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Customer segments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Competitor analysis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Industry trends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Market growth potential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1760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4000" b="0" i="0" u="none" strike="noStrike" cap="all" spc="0">
                <a:ln>
                  <a:noFill/>
                </a:ln>
                <a:solidFill>
                  <a:prstClr val="black"/>
                </a:solidFill>
                <a:latin typeface="Gill Sans MT"/>
                <a:ea typeface="+mj-ea"/>
                <a:cs typeface="+mj-cs"/>
              </a:rPr>
              <a:t>Components Of Feasibility Analysis</a:t>
            </a:r>
            <a:endParaRPr/>
          </a:p>
        </p:txBody>
      </p:sp>
      <p:sp>
        <p:nvSpPr>
          <p:cNvPr id="415108134" name="Content Placeholder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Organizational Feasibility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Founders’ skills &amp; experience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Human resources needed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Availability of team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Organizational structure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1375488477" name="Content Placeholder 3"/>
          <p:cNvSpPr>
            <a:spLocks noGrp="1"/>
          </p:cNvSpPr>
          <p:nvPr>
            <p:ph sz="half" idx="2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Financial Feasibility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Startup costs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Pricing strategy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Estimated revenue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Break-even point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Funding requirements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190365" name="Title 1"/>
          <p:cNvSpPr>
            <a:spLocks noGrp="1"/>
          </p:cNvSpPr>
          <p:nvPr>
            <p:ph type="title"/>
          </p:nvPr>
        </p:nvSpPr>
        <p:spPr bwMode="auto">
          <a:xfrm>
            <a:off x="1450328" y="609657"/>
            <a:ext cx="5532328" cy="183058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000" b="0" i="0" u="none" strike="noStrike" cap="all" spc="0">
                <a:ln>
                  <a:noFill/>
                </a:ln>
                <a:solidFill>
                  <a:prstClr val="black"/>
                </a:solidFill>
                <a:latin typeface="Gill Sans MT"/>
                <a:ea typeface="+mj-ea"/>
                <a:cs typeface="+mj-cs"/>
              </a:rPr>
              <a:t>FEAR OF FAILURE IN ENTREPRENUERSHIP</a:t>
            </a:r>
            <a:endParaRPr sz="4000"/>
          </a:p>
        </p:txBody>
      </p:sp>
      <p:sp>
        <p:nvSpPr>
          <p:cNvPr id="2564431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50328" y="2633107"/>
            <a:ext cx="5524404" cy="3053102"/>
          </a:xfrm>
        </p:spPr>
        <p:txBody>
          <a:bodyPr>
            <a:normAutofit fontScale="92500" lnSpcReduction="20000"/>
          </a:bodyPr>
          <a:lstStyle/>
          <a:p>
            <a:pPr marL="228600" marR="0" lvl="0" indent="-228600" algn="l" defTabSz="91440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9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Fear that the business may not succeed</a:t>
            </a:r>
            <a:endParaRPr/>
          </a:p>
          <a:p>
            <a:pPr marL="228600" marR="0" lvl="0" indent="-228600" algn="l" defTabSz="91440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9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Common sources: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7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Financial loss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7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Social embarrassment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7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Self-doubt</a:t>
            </a:r>
            <a:endParaRPr/>
          </a:p>
          <a:p>
            <a:pPr marL="228600" marR="0" lvl="0" indent="-228600" algn="l" defTabSz="91440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9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Effects: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7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Procrastination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7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Avoiding opportunities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7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Overthinking risks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1347063719" name="Picture Placeholder 9"/>
          <p:cNvPicPr>
            <a:picLocks noChangeAspect="1" noGrp="1"/>
          </p:cNvPicPr>
          <p:nvPr>
            <p:ph type="pic" idx="1"/>
          </p:nvPr>
        </p:nvPicPr>
        <p:blipFill>
          <a:blip r:embed="rId3"/>
          <a:srcRect l="22232" t="0" r="22232" b="0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418439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800" b="1"/>
              <a:t>MANAGING FEAR OF FAILURE</a:t>
            </a:r>
            <a:endParaRPr sz="4800" b="1"/>
          </a:p>
        </p:txBody>
      </p:sp>
      <p:sp>
        <p:nvSpPr>
          <p:cNvPr id="154246563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50329" y="3145991"/>
            <a:ext cx="5524404" cy="2811055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  <a:defRPr/>
            </a:pPr>
            <a:r>
              <a:rPr lang="en-US" sz="2400"/>
              <a:t>Start small (MVP)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400"/>
              <a:t>Conduct feasibility analysis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400"/>
              <a:t>Prepare backup plans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400"/>
              <a:t>Seek mentorship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2400"/>
              <a:t>Build confidence through testing</a:t>
            </a:r>
            <a:endParaRPr/>
          </a:p>
          <a:p>
            <a:pPr>
              <a:defRPr/>
            </a:pPr>
            <a:endParaRPr sz="2400"/>
          </a:p>
        </p:txBody>
      </p:sp>
      <p:pic>
        <p:nvPicPr>
          <p:cNvPr id="1430362502" name="Picture Placeholder 13"/>
          <p:cNvPicPr>
            <a:picLocks noChangeAspect="1" noGrp="1"/>
          </p:cNvPicPr>
          <p:nvPr>
            <p:ph type="pic" idx="1"/>
          </p:nvPr>
        </p:nvPicPr>
        <p:blipFill>
          <a:blip r:embed="rId3"/>
          <a:srcRect l="12104" t="0" r="12104" b="0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410484" name="Title 1"/>
          <p:cNvSpPr>
            <a:spLocks noGrp="1"/>
          </p:cNvSpPr>
          <p:nvPr>
            <p:ph type="title"/>
          </p:nvPr>
        </p:nvSpPr>
        <p:spPr bwMode="auto">
          <a:xfrm>
            <a:off x="282388" y="798973"/>
            <a:ext cx="5813611" cy="2247117"/>
          </a:xfrm>
        </p:spPr>
        <p:txBody>
          <a:bodyPr/>
          <a:lstStyle/>
          <a:p>
            <a:pPr algn="ctr">
              <a:defRPr/>
            </a:pPr>
            <a:r>
              <a:rPr lang="en-US" sz="2900" b="1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j-ea"/>
                <a:cs typeface="+mj-cs"/>
              </a:rPr>
              <a:t>FEAR OF SUCCESS IN ENTRAPRENUERSHIP</a:t>
            </a:r>
            <a:endParaRPr/>
          </a:p>
        </p:txBody>
      </p:sp>
      <p:sp>
        <p:nvSpPr>
          <p:cNvPr id="20739502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03413" y="3205491"/>
            <a:ext cx="5549154" cy="2853536"/>
          </a:xfrm>
        </p:spPr>
        <p:txBody>
          <a:bodyPr>
            <a:normAutofit lnSpcReduction="10000"/>
          </a:bodyPr>
          <a:lstStyle/>
          <a:p>
            <a:pPr marL="228600" marR="0" lvl="0" indent="-228600" algn="l" defTabSz="91440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Less known but real</a:t>
            </a:r>
            <a:endParaRPr/>
          </a:p>
          <a:p>
            <a:pPr marL="228600" marR="0" lvl="0" indent="-228600" algn="l" defTabSz="914400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20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Fear of: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Increased responsibility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Pressure to perform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Expectations from others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Lifestyle changes</a:t>
            </a:r>
            <a:endParaRPr/>
          </a:p>
          <a:p>
            <a:pPr marL="742950" marR="0" lvl="1" indent="-285750" algn="l" defTabSz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Losing personal time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1478738646" name="Content Placeholder 9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6239436" y="798974"/>
            <a:ext cx="4881282" cy="4526062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131697" name="Title 1"/>
          <p:cNvSpPr>
            <a:spLocks noGrp="1"/>
          </p:cNvSpPr>
          <p:nvPr>
            <p:ph type="title"/>
          </p:nvPr>
        </p:nvSpPr>
        <p:spPr bwMode="auto">
          <a:xfrm>
            <a:off x="1021976" y="798973"/>
            <a:ext cx="5074023" cy="2247117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000" b="1"/>
              <a:t>MANAGING FEAR OF SUCCESS</a:t>
            </a:r>
            <a:endParaRPr sz="4000" b="1"/>
          </a:p>
        </p:txBody>
      </p:sp>
      <p:pic>
        <p:nvPicPr>
          <p:cNvPr id="1277517805" name="Content Placeholder 5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6306671" y="798973"/>
            <a:ext cx="5074023" cy="4606745"/>
          </a:xfrm>
        </p:spPr>
      </p:pic>
      <p:sp>
        <p:nvSpPr>
          <p:cNvPr id="5712856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20271" y="3205491"/>
            <a:ext cx="5486400" cy="2853536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  <a:defRPr/>
            </a:pPr>
            <a:r>
              <a:rPr lang="en-US"/>
              <a:t>Set healthy boundaries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Build supportive teams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Delegate tasks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Focus on sustainable growth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Celebrate milestones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Gallery">
      <a:fillStyleLst>
        <a:solidFill>
          <a:schemeClr val="phClr"/>
        </a:solidFill>
        <a:gradFill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Gallery">
      <a:fillStyleLst>
        <a:solidFill>
          <a:schemeClr val="phClr"/>
        </a:solidFill>
        <a:gradFill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0</Words>
  <Application>ONLYOFFICE/9.0.4.50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Feasibility Analysis</dc:title>
  <dc:creator>Faiza Khan Burki</dc:creator>
  <cp:lastModifiedBy/>
  <cp:revision>13</cp:revision>
  <dcterms:created xsi:type="dcterms:W3CDTF">2025-12-08T06:49:51Z</dcterms:created>
  <dcterms:modified xsi:type="dcterms:W3CDTF">2025-12-13T15:16:53Z</dcterms:modified>
</cp:coreProperties>
</file>