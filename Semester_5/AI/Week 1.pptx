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handoutMasterIdLst>
    <p:handoutMasterId r:id="rId56"/>
  </p:handoutMasterIdLst>
  <p:sldIdLst>
    <p:sldId id="256" r:id="rId5"/>
    <p:sldId id="257" r:id="rId6"/>
    <p:sldId id="344" r:id="rId7"/>
    <p:sldId id="258" r:id="rId8"/>
    <p:sldId id="315" r:id="rId9"/>
    <p:sldId id="320" r:id="rId10"/>
    <p:sldId id="326" r:id="rId11"/>
    <p:sldId id="260" r:id="rId12"/>
    <p:sldId id="330" r:id="rId13"/>
    <p:sldId id="386" r:id="rId14"/>
    <p:sldId id="265" r:id="rId15"/>
    <p:sldId id="329" r:id="rId16"/>
    <p:sldId id="263" r:id="rId17"/>
    <p:sldId id="261" r:id="rId18"/>
    <p:sldId id="262" r:id="rId19"/>
    <p:sldId id="266" r:id="rId20"/>
    <p:sldId id="381" r:id="rId21"/>
    <p:sldId id="301" r:id="rId22"/>
    <p:sldId id="379" r:id="rId23"/>
    <p:sldId id="331" r:id="rId24"/>
    <p:sldId id="346" r:id="rId25"/>
    <p:sldId id="387" r:id="rId26"/>
    <p:sldId id="334" r:id="rId27"/>
    <p:sldId id="333" r:id="rId28"/>
    <p:sldId id="335" r:id="rId29"/>
    <p:sldId id="337" r:id="rId30"/>
    <p:sldId id="389" r:id="rId31"/>
    <p:sldId id="388" r:id="rId32"/>
    <p:sldId id="338" r:id="rId33"/>
    <p:sldId id="384" r:id="rId34"/>
    <p:sldId id="385" r:id="rId35"/>
    <p:sldId id="340" r:id="rId36"/>
    <p:sldId id="342" r:id="rId37"/>
    <p:sldId id="283" r:id="rId38"/>
    <p:sldId id="276" r:id="rId39"/>
    <p:sldId id="310" r:id="rId40"/>
    <p:sldId id="313" r:id="rId41"/>
    <p:sldId id="345" r:id="rId42"/>
    <p:sldId id="278" r:id="rId43"/>
    <p:sldId id="277" r:id="rId44"/>
    <p:sldId id="279" r:id="rId45"/>
    <p:sldId id="280" r:id="rId46"/>
    <p:sldId id="282" r:id="rId47"/>
    <p:sldId id="295" r:id="rId48"/>
    <p:sldId id="323" r:id="rId49"/>
    <p:sldId id="322" r:id="rId50"/>
    <p:sldId id="321" r:id="rId51"/>
    <p:sldId id="324" r:id="rId52"/>
    <p:sldId id="314" r:id="rId53"/>
    <p:sldId id="38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2"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notesViewPr>
    <p:cSldViewPr snapToGrid="0">
      <p:cViewPr>
        <p:scale>
          <a:sx n="146" d="100"/>
          <a:sy n="146" d="100"/>
        </p:scale>
        <p:origin x="1406" y="-2755"/>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B04FCC-C1FD-4F85-B99F-C0A20BD4946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0BF8C067-FF5C-4E65-A81F-C7DDAA6E01F6}">
      <dgm:prSet custT="1"/>
      <dgm:spPr/>
      <dgm:t>
        <a:bodyPr/>
        <a:lstStyle/>
        <a:p>
          <a:pPr rtl="0"/>
          <a:r>
            <a:rPr lang="en-US" sz="1400" dirty="0"/>
            <a:t>Perceive</a:t>
          </a:r>
        </a:p>
      </dgm:t>
    </dgm:pt>
    <dgm:pt modelId="{C5048DF5-77B2-4278-B2CA-D3E81EFE5CB5}" type="parTrans" cxnId="{2FC162A8-9FBA-4855-84A4-63D8992D1150}">
      <dgm:prSet/>
      <dgm:spPr/>
      <dgm:t>
        <a:bodyPr/>
        <a:lstStyle/>
        <a:p>
          <a:endParaRPr lang="en-US"/>
        </a:p>
      </dgm:t>
    </dgm:pt>
    <dgm:pt modelId="{C3D0B710-94F5-4063-A371-5CC3C00839DB}" type="sibTrans" cxnId="{2FC162A8-9FBA-4855-84A4-63D8992D1150}">
      <dgm:prSet/>
      <dgm:spPr/>
      <dgm:t>
        <a:bodyPr/>
        <a:lstStyle/>
        <a:p>
          <a:endParaRPr lang="en-US"/>
        </a:p>
      </dgm:t>
    </dgm:pt>
    <dgm:pt modelId="{3F97903B-71DA-41BE-834A-04BF42AD5FF0}">
      <dgm:prSet custT="1"/>
      <dgm:spPr/>
      <dgm:t>
        <a:bodyPr/>
        <a:lstStyle/>
        <a:p>
          <a:pPr rtl="0"/>
          <a:r>
            <a:rPr lang="en-US" sz="1400" dirty="0"/>
            <a:t>Understand</a:t>
          </a:r>
        </a:p>
      </dgm:t>
    </dgm:pt>
    <dgm:pt modelId="{2665DC0E-E1C0-4219-9C06-736C6A91E783}" type="parTrans" cxnId="{1A708BF3-BA05-46C6-9C85-8706B8830C06}">
      <dgm:prSet/>
      <dgm:spPr/>
      <dgm:t>
        <a:bodyPr/>
        <a:lstStyle/>
        <a:p>
          <a:endParaRPr lang="en-US"/>
        </a:p>
      </dgm:t>
    </dgm:pt>
    <dgm:pt modelId="{0CBAFB0C-2D08-48FA-B78E-2F138B4BC592}" type="sibTrans" cxnId="{1A708BF3-BA05-46C6-9C85-8706B8830C06}">
      <dgm:prSet/>
      <dgm:spPr/>
      <dgm:t>
        <a:bodyPr/>
        <a:lstStyle/>
        <a:p>
          <a:endParaRPr lang="en-US"/>
        </a:p>
      </dgm:t>
    </dgm:pt>
    <dgm:pt modelId="{A4EF36D0-CE3B-4288-8F1A-C15884784E29}">
      <dgm:prSet custT="1"/>
      <dgm:spPr/>
      <dgm:t>
        <a:bodyPr/>
        <a:lstStyle/>
        <a:p>
          <a:pPr rtl="0"/>
          <a:r>
            <a:rPr lang="en-US" sz="1400" dirty="0"/>
            <a:t>Remember</a:t>
          </a:r>
        </a:p>
      </dgm:t>
    </dgm:pt>
    <dgm:pt modelId="{FBFBDC86-BA1E-45D5-9678-F1FEEAC439D7}" type="parTrans" cxnId="{BC170FEC-4F90-4397-97C4-C95CC2A93C56}">
      <dgm:prSet/>
      <dgm:spPr/>
      <dgm:t>
        <a:bodyPr/>
        <a:lstStyle/>
        <a:p>
          <a:endParaRPr lang="en-US"/>
        </a:p>
      </dgm:t>
    </dgm:pt>
    <dgm:pt modelId="{EB614391-6FCD-4C0B-ABFF-31E849CBEF42}" type="sibTrans" cxnId="{BC170FEC-4F90-4397-97C4-C95CC2A93C56}">
      <dgm:prSet/>
      <dgm:spPr/>
      <dgm:t>
        <a:bodyPr/>
        <a:lstStyle/>
        <a:p>
          <a:endParaRPr lang="en-US"/>
        </a:p>
      </dgm:t>
    </dgm:pt>
    <dgm:pt modelId="{1EEE8761-3BBD-48AC-997D-91DC3CC8641E}">
      <dgm:prSet custT="1"/>
      <dgm:spPr/>
      <dgm:t>
        <a:bodyPr/>
        <a:lstStyle/>
        <a:p>
          <a:pPr rtl="0"/>
          <a:r>
            <a:rPr lang="en-US" sz="1400" dirty="0"/>
            <a:t>Think</a:t>
          </a:r>
        </a:p>
      </dgm:t>
    </dgm:pt>
    <dgm:pt modelId="{7A3C8AFC-601C-426B-9F50-818B2D097198}" type="parTrans" cxnId="{D65CF4D7-68DD-4B85-98E1-9C347E756DBB}">
      <dgm:prSet/>
      <dgm:spPr/>
      <dgm:t>
        <a:bodyPr/>
        <a:lstStyle/>
        <a:p>
          <a:endParaRPr lang="en-US"/>
        </a:p>
      </dgm:t>
    </dgm:pt>
    <dgm:pt modelId="{B1F729CC-7109-451C-9351-4A047DDC26C0}" type="sibTrans" cxnId="{D65CF4D7-68DD-4B85-98E1-9C347E756DBB}">
      <dgm:prSet/>
      <dgm:spPr/>
      <dgm:t>
        <a:bodyPr/>
        <a:lstStyle/>
        <a:p>
          <a:endParaRPr lang="en-US"/>
        </a:p>
      </dgm:t>
    </dgm:pt>
    <dgm:pt modelId="{4185AE64-09CD-45C6-806B-B74705E612DE}">
      <dgm:prSet custT="1"/>
      <dgm:spPr/>
      <dgm:t>
        <a:bodyPr/>
        <a:lstStyle/>
        <a:p>
          <a:pPr rtl="0"/>
          <a:r>
            <a:rPr lang="en-US" sz="1400" dirty="0"/>
            <a:t>Reason</a:t>
          </a:r>
        </a:p>
      </dgm:t>
    </dgm:pt>
    <dgm:pt modelId="{3F822CA2-A22F-4A23-8FD1-EA9DA2846DD3}" type="parTrans" cxnId="{733BDD30-698A-4D21-8B3A-7BBFBDE6691D}">
      <dgm:prSet/>
      <dgm:spPr/>
      <dgm:t>
        <a:bodyPr/>
        <a:lstStyle/>
        <a:p>
          <a:endParaRPr lang="en-US"/>
        </a:p>
      </dgm:t>
    </dgm:pt>
    <dgm:pt modelId="{D8F63001-97E5-46D1-B9F2-BDDC4141A800}" type="sibTrans" cxnId="{733BDD30-698A-4D21-8B3A-7BBFBDE6691D}">
      <dgm:prSet/>
      <dgm:spPr/>
      <dgm:t>
        <a:bodyPr/>
        <a:lstStyle/>
        <a:p>
          <a:endParaRPr lang="en-US"/>
        </a:p>
      </dgm:t>
    </dgm:pt>
    <dgm:pt modelId="{7227B277-078F-4441-9A05-DDD64AF88DC5}">
      <dgm:prSet custT="1"/>
      <dgm:spPr/>
      <dgm:t>
        <a:bodyPr/>
        <a:lstStyle/>
        <a:p>
          <a:pPr rtl="0"/>
          <a:r>
            <a:rPr lang="en-US" sz="1400" dirty="0"/>
            <a:t>Learn from Experience</a:t>
          </a:r>
        </a:p>
      </dgm:t>
    </dgm:pt>
    <dgm:pt modelId="{92C624FA-4502-496B-9EC4-EC1D3B5B59B0}" type="parTrans" cxnId="{BB3CB389-B612-4BE2-9000-556020714CE7}">
      <dgm:prSet/>
      <dgm:spPr/>
      <dgm:t>
        <a:bodyPr/>
        <a:lstStyle/>
        <a:p>
          <a:endParaRPr lang="en-US"/>
        </a:p>
      </dgm:t>
    </dgm:pt>
    <dgm:pt modelId="{D78776C1-01DE-4253-BF66-57AD285EA54E}" type="sibTrans" cxnId="{BB3CB389-B612-4BE2-9000-556020714CE7}">
      <dgm:prSet/>
      <dgm:spPr/>
      <dgm:t>
        <a:bodyPr/>
        <a:lstStyle/>
        <a:p>
          <a:endParaRPr lang="en-US"/>
        </a:p>
      </dgm:t>
    </dgm:pt>
    <dgm:pt modelId="{1D7FA5BA-DA81-4D4D-87A4-E176B2AF4D18}">
      <dgm:prSet custT="1"/>
      <dgm:spPr/>
      <dgm:t>
        <a:bodyPr/>
        <a:lstStyle/>
        <a:p>
          <a:pPr rtl="0"/>
          <a:r>
            <a:rPr lang="en-US" sz="1400" dirty="0"/>
            <a:t>Adapt to the new Situation</a:t>
          </a:r>
        </a:p>
      </dgm:t>
    </dgm:pt>
    <dgm:pt modelId="{A8A1F9B5-3AC4-4DCB-A505-60DC28C9F30D}" type="parTrans" cxnId="{6183B5B1-0DFE-4ECE-BAE7-491C93970322}">
      <dgm:prSet/>
      <dgm:spPr/>
      <dgm:t>
        <a:bodyPr/>
        <a:lstStyle/>
        <a:p>
          <a:endParaRPr lang="en-US"/>
        </a:p>
      </dgm:t>
    </dgm:pt>
    <dgm:pt modelId="{2450CB64-66FC-493D-8DFB-19BAAE6D96C7}" type="sibTrans" cxnId="{6183B5B1-0DFE-4ECE-BAE7-491C93970322}">
      <dgm:prSet/>
      <dgm:spPr/>
      <dgm:t>
        <a:bodyPr/>
        <a:lstStyle/>
        <a:p>
          <a:endParaRPr lang="en-US"/>
        </a:p>
      </dgm:t>
    </dgm:pt>
    <dgm:pt modelId="{5684C6F9-E1CF-4D50-97EB-3283CA3712A5}">
      <dgm:prSet custT="1"/>
      <dgm:spPr/>
      <dgm:t>
        <a:bodyPr/>
        <a:lstStyle/>
        <a:p>
          <a:pPr rtl="0"/>
          <a:r>
            <a:rPr lang="en-US" sz="1400" dirty="0"/>
            <a:t>Problem Solving</a:t>
          </a:r>
        </a:p>
      </dgm:t>
    </dgm:pt>
    <dgm:pt modelId="{EECF45E3-63C7-4B59-A1F9-E02B525C287A}" type="parTrans" cxnId="{2E7B3307-E0A3-4034-AB54-0C05180BA763}">
      <dgm:prSet/>
      <dgm:spPr/>
      <dgm:t>
        <a:bodyPr/>
        <a:lstStyle/>
        <a:p>
          <a:endParaRPr lang="en-US"/>
        </a:p>
      </dgm:t>
    </dgm:pt>
    <dgm:pt modelId="{05CF286B-7F19-4394-A0E4-3DB3894A099B}" type="sibTrans" cxnId="{2E7B3307-E0A3-4034-AB54-0C05180BA763}">
      <dgm:prSet/>
      <dgm:spPr/>
      <dgm:t>
        <a:bodyPr/>
        <a:lstStyle/>
        <a:p>
          <a:endParaRPr lang="en-US"/>
        </a:p>
      </dgm:t>
    </dgm:pt>
    <dgm:pt modelId="{910A055B-F1EC-4612-86DC-36CB5C76F3CC}" type="pres">
      <dgm:prSet presAssocID="{14B04FCC-C1FD-4F85-B99F-C0A20BD49461}" presName="Name0" presStyleCnt="0">
        <dgm:presLayoutVars>
          <dgm:dir/>
          <dgm:animLvl val="lvl"/>
          <dgm:resizeHandles val="exact"/>
        </dgm:presLayoutVars>
      </dgm:prSet>
      <dgm:spPr/>
    </dgm:pt>
    <dgm:pt modelId="{556050D2-7B84-4740-AE20-3745A147640D}" type="pres">
      <dgm:prSet presAssocID="{0BF8C067-FF5C-4E65-A81F-C7DDAA6E01F6}" presName="linNode" presStyleCnt="0"/>
      <dgm:spPr/>
    </dgm:pt>
    <dgm:pt modelId="{C8A7097D-CFB5-46E8-9AA2-A34A16E96D12}" type="pres">
      <dgm:prSet presAssocID="{0BF8C067-FF5C-4E65-A81F-C7DDAA6E01F6}" presName="parentText" presStyleLbl="node1" presStyleIdx="0" presStyleCnt="8">
        <dgm:presLayoutVars>
          <dgm:chMax val="1"/>
          <dgm:bulletEnabled val="1"/>
        </dgm:presLayoutVars>
      </dgm:prSet>
      <dgm:spPr/>
    </dgm:pt>
    <dgm:pt modelId="{CE26E203-6EB4-41F8-8736-5A3E049B33C5}" type="pres">
      <dgm:prSet presAssocID="{C3D0B710-94F5-4063-A371-5CC3C00839DB}" presName="sp" presStyleCnt="0"/>
      <dgm:spPr/>
    </dgm:pt>
    <dgm:pt modelId="{5596C92A-B6AB-4CCD-AA15-EA9E52854812}" type="pres">
      <dgm:prSet presAssocID="{3F97903B-71DA-41BE-834A-04BF42AD5FF0}" presName="linNode" presStyleCnt="0"/>
      <dgm:spPr/>
    </dgm:pt>
    <dgm:pt modelId="{49AA50F4-EFBD-4E92-9D65-E4D6E29A86EF}" type="pres">
      <dgm:prSet presAssocID="{3F97903B-71DA-41BE-834A-04BF42AD5FF0}" presName="parentText" presStyleLbl="node1" presStyleIdx="1" presStyleCnt="8">
        <dgm:presLayoutVars>
          <dgm:chMax val="1"/>
          <dgm:bulletEnabled val="1"/>
        </dgm:presLayoutVars>
      </dgm:prSet>
      <dgm:spPr/>
    </dgm:pt>
    <dgm:pt modelId="{D6491DB1-7BE3-4ED8-905B-C5611EB64D37}" type="pres">
      <dgm:prSet presAssocID="{0CBAFB0C-2D08-48FA-B78E-2F138B4BC592}" presName="sp" presStyleCnt="0"/>
      <dgm:spPr/>
    </dgm:pt>
    <dgm:pt modelId="{6134D007-1903-4314-8F03-E6E7142165B4}" type="pres">
      <dgm:prSet presAssocID="{A4EF36D0-CE3B-4288-8F1A-C15884784E29}" presName="linNode" presStyleCnt="0"/>
      <dgm:spPr/>
    </dgm:pt>
    <dgm:pt modelId="{54BC2BC7-632B-452B-8060-3A495ACE8312}" type="pres">
      <dgm:prSet presAssocID="{A4EF36D0-CE3B-4288-8F1A-C15884784E29}" presName="parentText" presStyleLbl="node1" presStyleIdx="2" presStyleCnt="8">
        <dgm:presLayoutVars>
          <dgm:chMax val="1"/>
          <dgm:bulletEnabled val="1"/>
        </dgm:presLayoutVars>
      </dgm:prSet>
      <dgm:spPr/>
    </dgm:pt>
    <dgm:pt modelId="{A74DFE87-AA23-426E-B49F-D3923ACA5AB0}" type="pres">
      <dgm:prSet presAssocID="{EB614391-6FCD-4C0B-ABFF-31E849CBEF42}" presName="sp" presStyleCnt="0"/>
      <dgm:spPr/>
    </dgm:pt>
    <dgm:pt modelId="{D5C756FC-306C-4532-A97D-4445ECAA16F9}" type="pres">
      <dgm:prSet presAssocID="{1EEE8761-3BBD-48AC-997D-91DC3CC8641E}" presName="linNode" presStyleCnt="0"/>
      <dgm:spPr/>
    </dgm:pt>
    <dgm:pt modelId="{D58F99D9-11CF-4061-BA08-37AB452DD1ED}" type="pres">
      <dgm:prSet presAssocID="{1EEE8761-3BBD-48AC-997D-91DC3CC8641E}" presName="parentText" presStyleLbl="node1" presStyleIdx="3" presStyleCnt="8">
        <dgm:presLayoutVars>
          <dgm:chMax val="1"/>
          <dgm:bulletEnabled val="1"/>
        </dgm:presLayoutVars>
      </dgm:prSet>
      <dgm:spPr/>
    </dgm:pt>
    <dgm:pt modelId="{AB44E8C3-AE97-40FF-8595-D34926D5C75B}" type="pres">
      <dgm:prSet presAssocID="{B1F729CC-7109-451C-9351-4A047DDC26C0}" presName="sp" presStyleCnt="0"/>
      <dgm:spPr/>
    </dgm:pt>
    <dgm:pt modelId="{AB617AC4-A97D-470C-8DBC-08602C3ADF2A}" type="pres">
      <dgm:prSet presAssocID="{4185AE64-09CD-45C6-806B-B74705E612DE}" presName="linNode" presStyleCnt="0"/>
      <dgm:spPr/>
    </dgm:pt>
    <dgm:pt modelId="{4E9C4CF3-8BAC-458D-974D-DA214165AAB5}" type="pres">
      <dgm:prSet presAssocID="{4185AE64-09CD-45C6-806B-B74705E612DE}" presName="parentText" presStyleLbl="node1" presStyleIdx="4" presStyleCnt="8">
        <dgm:presLayoutVars>
          <dgm:chMax val="1"/>
          <dgm:bulletEnabled val="1"/>
        </dgm:presLayoutVars>
      </dgm:prSet>
      <dgm:spPr/>
    </dgm:pt>
    <dgm:pt modelId="{37C177EE-A85B-4BE5-A774-35CEA721E43F}" type="pres">
      <dgm:prSet presAssocID="{D8F63001-97E5-46D1-B9F2-BDDC4141A800}" presName="sp" presStyleCnt="0"/>
      <dgm:spPr/>
    </dgm:pt>
    <dgm:pt modelId="{D445EED4-8BED-4BDF-9DBA-9A545B6C6CD7}" type="pres">
      <dgm:prSet presAssocID="{7227B277-078F-4441-9A05-DDD64AF88DC5}" presName="linNode" presStyleCnt="0"/>
      <dgm:spPr/>
    </dgm:pt>
    <dgm:pt modelId="{1A87E8B8-D89D-4857-8BEA-96B73A639490}" type="pres">
      <dgm:prSet presAssocID="{7227B277-078F-4441-9A05-DDD64AF88DC5}" presName="parentText" presStyleLbl="node1" presStyleIdx="5" presStyleCnt="8">
        <dgm:presLayoutVars>
          <dgm:chMax val="1"/>
          <dgm:bulletEnabled val="1"/>
        </dgm:presLayoutVars>
      </dgm:prSet>
      <dgm:spPr/>
    </dgm:pt>
    <dgm:pt modelId="{F87C0CF5-942A-42A2-9A1A-D5515551EF66}" type="pres">
      <dgm:prSet presAssocID="{D78776C1-01DE-4253-BF66-57AD285EA54E}" presName="sp" presStyleCnt="0"/>
      <dgm:spPr/>
    </dgm:pt>
    <dgm:pt modelId="{82CE32C0-119C-40D9-85AD-9C147F00F17C}" type="pres">
      <dgm:prSet presAssocID="{1D7FA5BA-DA81-4D4D-87A4-E176B2AF4D18}" presName="linNode" presStyleCnt="0"/>
      <dgm:spPr/>
    </dgm:pt>
    <dgm:pt modelId="{69A35359-0596-4549-B387-6E0EC20DDE0D}" type="pres">
      <dgm:prSet presAssocID="{1D7FA5BA-DA81-4D4D-87A4-E176B2AF4D18}" presName="parentText" presStyleLbl="node1" presStyleIdx="6" presStyleCnt="8">
        <dgm:presLayoutVars>
          <dgm:chMax val="1"/>
          <dgm:bulletEnabled val="1"/>
        </dgm:presLayoutVars>
      </dgm:prSet>
      <dgm:spPr/>
    </dgm:pt>
    <dgm:pt modelId="{EABA9362-2A66-4395-AEDF-CE95809F0734}" type="pres">
      <dgm:prSet presAssocID="{2450CB64-66FC-493D-8DFB-19BAAE6D96C7}" presName="sp" presStyleCnt="0"/>
      <dgm:spPr/>
    </dgm:pt>
    <dgm:pt modelId="{97ADC3E3-741D-480A-90C4-AAC5D5C31156}" type="pres">
      <dgm:prSet presAssocID="{5684C6F9-E1CF-4D50-97EB-3283CA3712A5}" presName="linNode" presStyleCnt="0"/>
      <dgm:spPr/>
    </dgm:pt>
    <dgm:pt modelId="{28F96BF6-B8BC-4300-A17D-A0707488DFC8}" type="pres">
      <dgm:prSet presAssocID="{5684C6F9-E1CF-4D50-97EB-3283CA3712A5}" presName="parentText" presStyleLbl="node1" presStyleIdx="7" presStyleCnt="8">
        <dgm:presLayoutVars>
          <dgm:chMax val="1"/>
          <dgm:bulletEnabled val="1"/>
        </dgm:presLayoutVars>
      </dgm:prSet>
      <dgm:spPr/>
    </dgm:pt>
  </dgm:ptLst>
  <dgm:cxnLst>
    <dgm:cxn modelId="{2E7B3307-E0A3-4034-AB54-0C05180BA763}" srcId="{14B04FCC-C1FD-4F85-B99F-C0A20BD49461}" destId="{5684C6F9-E1CF-4D50-97EB-3283CA3712A5}" srcOrd="7" destOrd="0" parTransId="{EECF45E3-63C7-4B59-A1F9-E02B525C287A}" sibTransId="{05CF286B-7F19-4394-A0E4-3DB3894A099B}"/>
    <dgm:cxn modelId="{8DBC9E27-59A5-4170-9851-B2EB337B2717}" type="presOf" srcId="{1D7FA5BA-DA81-4D4D-87A4-E176B2AF4D18}" destId="{69A35359-0596-4549-B387-6E0EC20DDE0D}" srcOrd="0" destOrd="0" presId="urn:microsoft.com/office/officeart/2005/8/layout/vList5"/>
    <dgm:cxn modelId="{733BDD30-698A-4D21-8B3A-7BBFBDE6691D}" srcId="{14B04FCC-C1FD-4F85-B99F-C0A20BD49461}" destId="{4185AE64-09CD-45C6-806B-B74705E612DE}" srcOrd="4" destOrd="0" parTransId="{3F822CA2-A22F-4A23-8FD1-EA9DA2846DD3}" sibTransId="{D8F63001-97E5-46D1-B9F2-BDDC4141A800}"/>
    <dgm:cxn modelId="{38005B3C-4783-45E9-9646-343A57C57377}" type="presOf" srcId="{0BF8C067-FF5C-4E65-A81F-C7DDAA6E01F6}" destId="{C8A7097D-CFB5-46E8-9AA2-A34A16E96D12}" srcOrd="0" destOrd="0" presId="urn:microsoft.com/office/officeart/2005/8/layout/vList5"/>
    <dgm:cxn modelId="{D73B5440-28AA-4518-B4DE-864AAE01B8EA}" type="presOf" srcId="{3F97903B-71DA-41BE-834A-04BF42AD5FF0}" destId="{49AA50F4-EFBD-4E92-9D65-E4D6E29A86EF}" srcOrd="0" destOrd="0" presId="urn:microsoft.com/office/officeart/2005/8/layout/vList5"/>
    <dgm:cxn modelId="{240AE162-6159-457D-8D19-F88164D7FD40}" type="presOf" srcId="{1EEE8761-3BBD-48AC-997D-91DC3CC8641E}" destId="{D58F99D9-11CF-4061-BA08-37AB452DD1ED}" srcOrd="0" destOrd="0" presId="urn:microsoft.com/office/officeart/2005/8/layout/vList5"/>
    <dgm:cxn modelId="{CE0A534C-1DD0-4DFC-9416-F255742350C3}" type="presOf" srcId="{5684C6F9-E1CF-4D50-97EB-3283CA3712A5}" destId="{28F96BF6-B8BC-4300-A17D-A0707488DFC8}" srcOrd="0" destOrd="0" presId="urn:microsoft.com/office/officeart/2005/8/layout/vList5"/>
    <dgm:cxn modelId="{5821F96E-1630-48BE-AB17-4645C2EB22AC}" type="presOf" srcId="{4185AE64-09CD-45C6-806B-B74705E612DE}" destId="{4E9C4CF3-8BAC-458D-974D-DA214165AAB5}" srcOrd="0" destOrd="0" presId="urn:microsoft.com/office/officeart/2005/8/layout/vList5"/>
    <dgm:cxn modelId="{C243E358-B3F1-4D04-A695-0A170BB39AA1}" type="presOf" srcId="{A4EF36D0-CE3B-4288-8F1A-C15884784E29}" destId="{54BC2BC7-632B-452B-8060-3A495ACE8312}" srcOrd="0" destOrd="0" presId="urn:microsoft.com/office/officeart/2005/8/layout/vList5"/>
    <dgm:cxn modelId="{BB3CB389-B612-4BE2-9000-556020714CE7}" srcId="{14B04FCC-C1FD-4F85-B99F-C0A20BD49461}" destId="{7227B277-078F-4441-9A05-DDD64AF88DC5}" srcOrd="5" destOrd="0" parTransId="{92C624FA-4502-496B-9EC4-EC1D3B5B59B0}" sibTransId="{D78776C1-01DE-4253-BF66-57AD285EA54E}"/>
    <dgm:cxn modelId="{16208193-4B56-4C2A-8089-DD804527375F}" type="presOf" srcId="{7227B277-078F-4441-9A05-DDD64AF88DC5}" destId="{1A87E8B8-D89D-4857-8BEA-96B73A639490}" srcOrd="0" destOrd="0" presId="urn:microsoft.com/office/officeart/2005/8/layout/vList5"/>
    <dgm:cxn modelId="{2FC162A8-9FBA-4855-84A4-63D8992D1150}" srcId="{14B04FCC-C1FD-4F85-B99F-C0A20BD49461}" destId="{0BF8C067-FF5C-4E65-A81F-C7DDAA6E01F6}" srcOrd="0" destOrd="0" parTransId="{C5048DF5-77B2-4278-B2CA-D3E81EFE5CB5}" sibTransId="{C3D0B710-94F5-4063-A371-5CC3C00839DB}"/>
    <dgm:cxn modelId="{6183B5B1-0DFE-4ECE-BAE7-491C93970322}" srcId="{14B04FCC-C1FD-4F85-B99F-C0A20BD49461}" destId="{1D7FA5BA-DA81-4D4D-87A4-E176B2AF4D18}" srcOrd="6" destOrd="0" parTransId="{A8A1F9B5-3AC4-4DCB-A505-60DC28C9F30D}" sibTransId="{2450CB64-66FC-493D-8DFB-19BAAE6D96C7}"/>
    <dgm:cxn modelId="{D65CF4D7-68DD-4B85-98E1-9C347E756DBB}" srcId="{14B04FCC-C1FD-4F85-B99F-C0A20BD49461}" destId="{1EEE8761-3BBD-48AC-997D-91DC3CC8641E}" srcOrd="3" destOrd="0" parTransId="{7A3C8AFC-601C-426B-9F50-818B2D097198}" sibTransId="{B1F729CC-7109-451C-9351-4A047DDC26C0}"/>
    <dgm:cxn modelId="{AC1FCEDD-7176-46B9-B2C5-0390FAA47AD5}" type="presOf" srcId="{14B04FCC-C1FD-4F85-B99F-C0A20BD49461}" destId="{910A055B-F1EC-4612-86DC-36CB5C76F3CC}" srcOrd="0" destOrd="0" presId="urn:microsoft.com/office/officeart/2005/8/layout/vList5"/>
    <dgm:cxn modelId="{BC170FEC-4F90-4397-97C4-C95CC2A93C56}" srcId="{14B04FCC-C1FD-4F85-B99F-C0A20BD49461}" destId="{A4EF36D0-CE3B-4288-8F1A-C15884784E29}" srcOrd="2" destOrd="0" parTransId="{FBFBDC86-BA1E-45D5-9678-F1FEEAC439D7}" sibTransId="{EB614391-6FCD-4C0B-ABFF-31E849CBEF42}"/>
    <dgm:cxn modelId="{1A708BF3-BA05-46C6-9C85-8706B8830C06}" srcId="{14B04FCC-C1FD-4F85-B99F-C0A20BD49461}" destId="{3F97903B-71DA-41BE-834A-04BF42AD5FF0}" srcOrd="1" destOrd="0" parTransId="{2665DC0E-E1C0-4219-9C06-736C6A91E783}" sibTransId="{0CBAFB0C-2D08-48FA-B78E-2F138B4BC592}"/>
    <dgm:cxn modelId="{AEFDA650-C97E-49F2-839F-126F36B79B29}" type="presParOf" srcId="{910A055B-F1EC-4612-86DC-36CB5C76F3CC}" destId="{556050D2-7B84-4740-AE20-3745A147640D}" srcOrd="0" destOrd="0" presId="urn:microsoft.com/office/officeart/2005/8/layout/vList5"/>
    <dgm:cxn modelId="{3F855D46-11CC-4736-873E-3F36B4424C3F}" type="presParOf" srcId="{556050D2-7B84-4740-AE20-3745A147640D}" destId="{C8A7097D-CFB5-46E8-9AA2-A34A16E96D12}" srcOrd="0" destOrd="0" presId="urn:microsoft.com/office/officeart/2005/8/layout/vList5"/>
    <dgm:cxn modelId="{AB4D5E5F-5F07-4341-97C8-9AA4821F982F}" type="presParOf" srcId="{910A055B-F1EC-4612-86DC-36CB5C76F3CC}" destId="{CE26E203-6EB4-41F8-8736-5A3E049B33C5}" srcOrd="1" destOrd="0" presId="urn:microsoft.com/office/officeart/2005/8/layout/vList5"/>
    <dgm:cxn modelId="{E7E8C9F4-2E30-49D1-9B82-13A0D4A93839}" type="presParOf" srcId="{910A055B-F1EC-4612-86DC-36CB5C76F3CC}" destId="{5596C92A-B6AB-4CCD-AA15-EA9E52854812}" srcOrd="2" destOrd="0" presId="urn:microsoft.com/office/officeart/2005/8/layout/vList5"/>
    <dgm:cxn modelId="{25AE453D-8C02-43EE-884F-50244C9B91EA}" type="presParOf" srcId="{5596C92A-B6AB-4CCD-AA15-EA9E52854812}" destId="{49AA50F4-EFBD-4E92-9D65-E4D6E29A86EF}" srcOrd="0" destOrd="0" presId="urn:microsoft.com/office/officeart/2005/8/layout/vList5"/>
    <dgm:cxn modelId="{C4282296-ACC0-43C2-995C-1337967A9189}" type="presParOf" srcId="{910A055B-F1EC-4612-86DC-36CB5C76F3CC}" destId="{D6491DB1-7BE3-4ED8-905B-C5611EB64D37}" srcOrd="3" destOrd="0" presId="urn:microsoft.com/office/officeart/2005/8/layout/vList5"/>
    <dgm:cxn modelId="{0450F638-1B53-4F6F-B676-1E22FC4E4081}" type="presParOf" srcId="{910A055B-F1EC-4612-86DC-36CB5C76F3CC}" destId="{6134D007-1903-4314-8F03-E6E7142165B4}" srcOrd="4" destOrd="0" presId="urn:microsoft.com/office/officeart/2005/8/layout/vList5"/>
    <dgm:cxn modelId="{77173F75-AE1D-463C-A3BC-FA722C1F803C}" type="presParOf" srcId="{6134D007-1903-4314-8F03-E6E7142165B4}" destId="{54BC2BC7-632B-452B-8060-3A495ACE8312}" srcOrd="0" destOrd="0" presId="urn:microsoft.com/office/officeart/2005/8/layout/vList5"/>
    <dgm:cxn modelId="{C0A035D9-A197-474A-B0EE-76D75CCF4EDD}" type="presParOf" srcId="{910A055B-F1EC-4612-86DC-36CB5C76F3CC}" destId="{A74DFE87-AA23-426E-B49F-D3923ACA5AB0}" srcOrd="5" destOrd="0" presId="urn:microsoft.com/office/officeart/2005/8/layout/vList5"/>
    <dgm:cxn modelId="{64C620EF-DA5A-4242-9C6C-DB554D49F7D8}" type="presParOf" srcId="{910A055B-F1EC-4612-86DC-36CB5C76F3CC}" destId="{D5C756FC-306C-4532-A97D-4445ECAA16F9}" srcOrd="6" destOrd="0" presId="urn:microsoft.com/office/officeart/2005/8/layout/vList5"/>
    <dgm:cxn modelId="{0DD82BC1-F485-4563-9E5D-F48A8CDBA823}" type="presParOf" srcId="{D5C756FC-306C-4532-A97D-4445ECAA16F9}" destId="{D58F99D9-11CF-4061-BA08-37AB452DD1ED}" srcOrd="0" destOrd="0" presId="urn:microsoft.com/office/officeart/2005/8/layout/vList5"/>
    <dgm:cxn modelId="{E7B4AC3E-1FD6-4B71-9615-0F3DB09D5415}" type="presParOf" srcId="{910A055B-F1EC-4612-86DC-36CB5C76F3CC}" destId="{AB44E8C3-AE97-40FF-8595-D34926D5C75B}" srcOrd="7" destOrd="0" presId="urn:microsoft.com/office/officeart/2005/8/layout/vList5"/>
    <dgm:cxn modelId="{1BE69229-339F-47A8-B11D-99B9AB776782}" type="presParOf" srcId="{910A055B-F1EC-4612-86DC-36CB5C76F3CC}" destId="{AB617AC4-A97D-470C-8DBC-08602C3ADF2A}" srcOrd="8" destOrd="0" presId="urn:microsoft.com/office/officeart/2005/8/layout/vList5"/>
    <dgm:cxn modelId="{4C96A225-2EBE-4F99-9510-2C7B1804BEB1}" type="presParOf" srcId="{AB617AC4-A97D-470C-8DBC-08602C3ADF2A}" destId="{4E9C4CF3-8BAC-458D-974D-DA214165AAB5}" srcOrd="0" destOrd="0" presId="urn:microsoft.com/office/officeart/2005/8/layout/vList5"/>
    <dgm:cxn modelId="{392462A5-570A-4CC3-8D65-C0539AB8141F}" type="presParOf" srcId="{910A055B-F1EC-4612-86DC-36CB5C76F3CC}" destId="{37C177EE-A85B-4BE5-A774-35CEA721E43F}" srcOrd="9" destOrd="0" presId="urn:microsoft.com/office/officeart/2005/8/layout/vList5"/>
    <dgm:cxn modelId="{7F96AD91-D994-4ADF-A819-00491925DC33}" type="presParOf" srcId="{910A055B-F1EC-4612-86DC-36CB5C76F3CC}" destId="{D445EED4-8BED-4BDF-9DBA-9A545B6C6CD7}" srcOrd="10" destOrd="0" presId="urn:microsoft.com/office/officeart/2005/8/layout/vList5"/>
    <dgm:cxn modelId="{185F16EC-D3EE-43FF-8AE3-5F077FE2BBA6}" type="presParOf" srcId="{D445EED4-8BED-4BDF-9DBA-9A545B6C6CD7}" destId="{1A87E8B8-D89D-4857-8BEA-96B73A639490}" srcOrd="0" destOrd="0" presId="urn:microsoft.com/office/officeart/2005/8/layout/vList5"/>
    <dgm:cxn modelId="{BAC12F76-814F-4B51-891A-C0461BC14305}" type="presParOf" srcId="{910A055B-F1EC-4612-86DC-36CB5C76F3CC}" destId="{F87C0CF5-942A-42A2-9A1A-D5515551EF66}" srcOrd="11" destOrd="0" presId="urn:microsoft.com/office/officeart/2005/8/layout/vList5"/>
    <dgm:cxn modelId="{3523D741-40C5-40A2-BF3F-8C60FA8AC73D}" type="presParOf" srcId="{910A055B-F1EC-4612-86DC-36CB5C76F3CC}" destId="{82CE32C0-119C-40D9-85AD-9C147F00F17C}" srcOrd="12" destOrd="0" presId="urn:microsoft.com/office/officeart/2005/8/layout/vList5"/>
    <dgm:cxn modelId="{D3305893-3600-4AF7-BCCE-1479C0F32E65}" type="presParOf" srcId="{82CE32C0-119C-40D9-85AD-9C147F00F17C}" destId="{69A35359-0596-4549-B387-6E0EC20DDE0D}" srcOrd="0" destOrd="0" presId="urn:microsoft.com/office/officeart/2005/8/layout/vList5"/>
    <dgm:cxn modelId="{59B04AFB-99F0-4829-915E-A85065C4A2BC}" type="presParOf" srcId="{910A055B-F1EC-4612-86DC-36CB5C76F3CC}" destId="{EABA9362-2A66-4395-AEDF-CE95809F0734}" srcOrd="13" destOrd="0" presId="urn:microsoft.com/office/officeart/2005/8/layout/vList5"/>
    <dgm:cxn modelId="{2D781D0B-087D-4EC7-BC14-AF5056AB255C}" type="presParOf" srcId="{910A055B-F1EC-4612-86DC-36CB5C76F3CC}" destId="{97ADC3E3-741D-480A-90C4-AAC5D5C31156}" srcOrd="14" destOrd="0" presId="urn:microsoft.com/office/officeart/2005/8/layout/vList5"/>
    <dgm:cxn modelId="{E08199AA-2453-4415-A6D2-88104757E717}" type="presParOf" srcId="{97ADC3E3-741D-480A-90C4-AAC5D5C31156}" destId="{28F96BF6-B8BC-4300-A17D-A0707488DFC8}" srcOrd="0"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7097D-CFB5-46E8-9AA2-A34A16E96D12}">
      <dsp:nvSpPr>
        <dsp:cNvPr id="0" name=""/>
        <dsp:cNvSpPr/>
      </dsp:nvSpPr>
      <dsp:spPr>
        <a:xfrm>
          <a:off x="1682496" y="177"/>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Perceive</a:t>
          </a:r>
        </a:p>
      </dsp:txBody>
      <dsp:txXfrm>
        <a:off x="1708622" y="26303"/>
        <a:ext cx="1840556" cy="482939"/>
      </dsp:txXfrm>
    </dsp:sp>
    <dsp:sp modelId="{49AA50F4-EFBD-4E92-9D65-E4D6E29A86EF}">
      <dsp:nvSpPr>
        <dsp:cNvPr id="0" name=""/>
        <dsp:cNvSpPr/>
      </dsp:nvSpPr>
      <dsp:spPr>
        <a:xfrm>
          <a:off x="1682496" y="562128"/>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Understand</a:t>
          </a:r>
        </a:p>
      </dsp:txBody>
      <dsp:txXfrm>
        <a:off x="1708622" y="588254"/>
        <a:ext cx="1840556" cy="482939"/>
      </dsp:txXfrm>
    </dsp:sp>
    <dsp:sp modelId="{54BC2BC7-632B-452B-8060-3A495ACE8312}">
      <dsp:nvSpPr>
        <dsp:cNvPr id="0" name=""/>
        <dsp:cNvSpPr/>
      </dsp:nvSpPr>
      <dsp:spPr>
        <a:xfrm>
          <a:off x="1682496" y="1124079"/>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Remember</a:t>
          </a:r>
        </a:p>
      </dsp:txBody>
      <dsp:txXfrm>
        <a:off x="1708622" y="1150205"/>
        <a:ext cx="1840556" cy="482939"/>
      </dsp:txXfrm>
    </dsp:sp>
    <dsp:sp modelId="{D58F99D9-11CF-4061-BA08-37AB452DD1ED}">
      <dsp:nvSpPr>
        <dsp:cNvPr id="0" name=""/>
        <dsp:cNvSpPr/>
      </dsp:nvSpPr>
      <dsp:spPr>
        <a:xfrm>
          <a:off x="1682496" y="1686030"/>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Think</a:t>
          </a:r>
        </a:p>
      </dsp:txBody>
      <dsp:txXfrm>
        <a:off x="1708622" y="1712156"/>
        <a:ext cx="1840556" cy="482939"/>
      </dsp:txXfrm>
    </dsp:sp>
    <dsp:sp modelId="{4E9C4CF3-8BAC-458D-974D-DA214165AAB5}">
      <dsp:nvSpPr>
        <dsp:cNvPr id="0" name=""/>
        <dsp:cNvSpPr/>
      </dsp:nvSpPr>
      <dsp:spPr>
        <a:xfrm>
          <a:off x="1682496" y="2247981"/>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Reason</a:t>
          </a:r>
        </a:p>
      </dsp:txBody>
      <dsp:txXfrm>
        <a:off x="1708622" y="2274107"/>
        <a:ext cx="1840556" cy="482939"/>
      </dsp:txXfrm>
    </dsp:sp>
    <dsp:sp modelId="{1A87E8B8-D89D-4857-8BEA-96B73A639490}">
      <dsp:nvSpPr>
        <dsp:cNvPr id="0" name=""/>
        <dsp:cNvSpPr/>
      </dsp:nvSpPr>
      <dsp:spPr>
        <a:xfrm>
          <a:off x="1682496" y="2809932"/>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Learn from Experience</a:t>
          </a:r>
        </a:p>
      </dsp:txBody>
      <dsp:txXfrm>
        <a:off x="1708622" y="2836058"/>
        <a:ext cx="1840556" cy="482939"/>
      </dsp:txXfrm>
    </dsp:sp>
    <dsp:sp modelId="{69A35359-0596-4549-B387-6E0EC20DDE0D}">
      <dsp:nvSpPr>
        <dsp:cNvPr id="0" name=""/>
        <dsp:cNvSpPr/>
      </dsp:nvSpPr>
      <dsp:spPr>
        <a:xfrm>
          <a:off x="1682496" y="3371884"/>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Adapt to the new Situation</a:t>
          </a:r>
        </a:p>
      </dsp:txBody>
      <dsp:txXfrm>
        <a:off x="1708622" y="3398010"/>
        <a:ext cx="1840556" cy="482939"/>
      </dsp:txXfrm>
    </dsp:sp>
    <dsp:sp modelId="{28F96BF6-B8BC-4300-A17D-A0707488DFC8}">
      <dsp:nvSpPr>
        <dsp:cNvPr id="0" name=""/>
        <dsp:cNvSpPr/>
      </dsp:nvSpPr>
      <dsp:spPr>
        <a:xfrm>
          <a:off x="1682496" y="3933835"/>
          <a:ext cx="1892808" cy="5351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Problem Solving</a:t>
          </a:r>
        </a:p>
      </dsp:txBody>
      <dsp:txXfrm>
        <a:off x="1708622" y="3959961"/>
        <a:ext cx="1840556" cy="48293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411ABF-B010-CFD1-CC03-4A491B6D10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E1CC25-7198-E6DC-CF74-50088F0247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C6AE14-8BE3-408B-B02B-845A73F7ACD9}" type="datetimeFigureOut">
              <a:rPr lang="en-US" smtClean="0"/>
              <a:t>9/29/2026</a:t>
            </a:fld>
            <a:endParaRPr lang="en-US"/>
          </a:p>
        </p:txBody>
      </p:sp>
      <p:sp>
        <p:nvSpPr>
          <p:cNvPr id="4" name="Footer Placeholder 3">
            <a:extLst>
              <a:ext uri="{FF2B5EF4-FFF2-40B4-BE49-F238E27FC236}">
                <a16:creationId xmlns:a16="http://schemas.microsoft.com/office/drawing/2014/main" id="{FD7BCEAD-AE2B-8167-5C22-595BFA4CD5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8506B2B-E228-6D74-0085-A78CDB5F69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AF4718-62D8-4987-A20A-6C3559CD1F90}" type="slidenum">
              <a:rPr lang="en-US" smtClean="0"/>
              <a:t>‹#›</a:t>
            </a:fld>
            <a:endParaRPr lang="en-US"/>
          </a:p>
        </p:txBody>
      </p:sp>
    </p:spTree>
    <p:extLst>
      <p:ext uri="{BB962C8B-B14F-4D97-AF65-F5344CB8AC3E}">
        <p14:creationId xmlns:p14="http://schemas.microsoft.com/office/powerpoint/2010/main" val="22660774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91929-9EEB-44BC-8577-8C27F2E0F7FE}"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E8A97-55A0-4124-80B4-339E241955E7}" type="slidenum">
              <a:rPr lang="en-US" smtClean="0"/>
              <a:t>‹#›</a:t>
            </a:fld>
            <a:endParaRPr lang="en-US"/>
          </a:p>
        </p:txBody>
      </p:sp>
    </p:spTree>
    <p:extLst>
      <p:ext uri="{BB962C8B-B14F-4D97-AF65-F5344CB8AC3E}">
        <p14:creationId xmlns:p14="http://schemas.microsoft.com/office/powerpoint/2010/main" val="55498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041BCE9-72F6-4466-B507-C460131847C4}" type="slidenum">
              <a:rPr lang="en-US" smtClean="0"/>
              <a:pPr/>
              <a:t>14</a:t>
            </a:fld>
            <a:endParaRPr lang="en-US"/>
          </a:p>
        </p:txBody>
      </p:sp>
    </p:spTree>
    <p:extLst>
      <p:ext uri="{BB962C8B-B14F-4D97-AF65-F5344CB8AC3E}">
        <p14:creationId xmlns:p14="http://schemas.microsoft.com/office/powerpoint/2010/main" val="2491102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Think</a:t>
            </a:r>
            <a:r>
              <a:rPr lang="en-US" baseline="0" dirty="0"/>
              <a:t> like people --- cognitive science, neuroscience</a:t>
            </a:r>
          </a:p>
          <a:p>
            <a:endParaRPr lang="en-US" baseline="0" dirty="0"/>
          </a:p>
          <a:p>
            <a:r>
              <a:rPr lang="en-US" baseline="0" dirty="0"/>
              <a:t>Bottom left: act like people --- actually very early definition, dating back to Alan Turing --- Turing test;  problem to do really well you start focusing on things like don’t answer too quickly what the square root of 1412 is, don’t spell too well,  and make sure you have a favorite movie etc.  So it wasn’t really leading us to build intelligence</a:t>
            </a:r>
          </a:p>
          <a:p>
            <a:endParaRPr lang="en-US" baseline="0" dirty="0"/>
          </a:p>
          <a:p>
            <a:r>
              <a:rPr lang="en-US" baseline="0" dirty="0"/>
              <a:t>Think rationally – long tradition dating back to Aristotle --- but not a winner, because difficult to encode how to think, and in the end it’s not about how you think, it’s about how you end up acting</a:t>
            </a:r>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16</a:t>
            </a:fld>
            <a:endParaRPr lang="en-US"/>
          </a:p>
        </p:txBody>
      </p:sp>
    </p:spTree>
    <p:extLst>
      <p:ext uri="{BB962C8B-B14F-4D97-AF65-F5344CB8AC3E}">
        <p14:creationId xmlns:p14="http://schemas.microsoft.com/office/powerpoint/2010/main" val="3396760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launched on Mars in 2011; whether the planet could have ever supported microbial life.</a:t>
            </a:r>
          </a:p>
        </p:txBody>
      </p:sp>
      <p:sp>
        <p:nvSpPr>
          <p:cNvPr id="4" name="Slide Number Placeholder 3"/>
          <p:cNvSpPr>
            <a:spLocks noGrp="1"/>
          </p:cNvSpPr>
          <p:nvPr>
            <p:ph type="sldNum" sz="quarter" idx="5"/>
          </p:nvPr>
        </p:nvSpPr>
        <p:spPr/>
        <p:txBody>
          <a:bodyPr/>
          <a:lstStyle/>
          <a:p>
            <a:fld id="{2D7E8A97-55A0-4124-80B4-339E241955E7}" type="slidenum">
              <a:rPr lang="en-US" smtClean="0"/>
              <a:t>29</a:t>
            </a:fld>
            <a:endParaRPr lang="en-US"/>
          </a:p>
        </p:txBody>
      </p:sp>
    </p:spTree>
    <p:extLst>
      <p:ext uri="{BB962C8B-B14F-4D97-AF65-F5344CB8AC3E}">
        <p14:creationId xmlns:p14="http://schemas.microsoft.com/office/powerpoint/2010/main" val="2398059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launched on Mars in 2011; whether the planet could have ever supported microbial life.</a:t>
            </a:r>
          </a:p>
        </p:txBody>
      </p:sp>
      <p:sp>
        <p:nvSpPr>
          <p:cNvPr id="4" name="Slide Number Placeholder 3"/>
          <p:cNvSpPr>
            <a:spLocks noGrp="1"/>
          </p:cNvSpPr>
          <p:nvPr>
            <p:ph type="sldNum" sz="quarter" idx="5"/>
          </p:nvPr>
        </p:nvSpPr>
        <p:spPr/>
        <p:txBody>
          <a:bodyPr/>
          <a:lstStyle/>
          <a:p>
            <a:fld id="{2D7E8A97-55A0-4124-80B4-339E241955E7}" type="slidenum">
              <a:rPr lang="en-US" smtClean="0"/>
              <a:t>30</a:t>
            </a:fld>
            <a:endParaRPr lang="en-US"/>
          </a:p>
        </p:txBody>
      </p:sp>
    </p:spTree>
    <p:extLst>
      <p:ext uri="{BB962C8B-B14F-4D97-AF65-F5344CB8AC3E}">
        <p14:creationId xmlns:p14="http://schemas.microsoft.com/office/powerpoint/2010/main" val="1973473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B52CF98C-66FC-4ACE-AB89-953F0A486EB9}" type="slidenum">
              <a:rPr lang="en-PK" smtClean="0"/>
              <a:t>34</a:t>
            </a:fld>
            <a:endParaRPr lang="en-PK"/>
          </a:p>
        </p:txBody>
      </p:sp>
    </p:spTree>
    <p:extLst>
      <p:ext uri="{BB962C8B-B14F-4D97-AF65-F5344CB8AC3E}">
        <p14:creationId xmlns:p14="http://schemas.microsoft.com/office/powerpoint/2010/main" val="2827812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138113" y="766763"/>
            <a:ext cx="6823075" cy="3838575"/>
          </a:xfrm>
          <a:solidFill>
            <a:srgbClr val="FFFFFF"/>
          </a:solidFill>
          <a:ln/>
        </p:spPr>
      </p:sp>
      <p:sp>
        <p:nvSpPr>
          <p:cNvPr id="40963" name="Rectangle 2"/>
          <p:cNvSpPr>
            <a:spLocks noGrp="1" noChangeArrowheads="1"/>
          </p:cNvSpPr>
          <p:nvPr>
            <p:ph type="body" idx="1"/>
          </p:nvPr>
        </p:nvSpPr>
        <p:spPr>
          <a:xfrm>
            <a:off x="709613" y="4860925"/>
            <a:ext cx="5680075" cy="4606925"/>
          </a:xfrm>
          <a:noFill/>
          <a:ln/>
        </p:spPr>
        <p:txBody>
          <a:bodyPr/>
          <a:lstStyle/>
          <a:p>
            <a:r>
              <a:rPr lang="en-US" sz="4000" dirty="0"/>
              <a:t>Goals are expressed in terms of the utility of outcomes : mean to maximize overall utility in every aspect possible</a:t>
            </a:r>
          </a:p>
        </p:txBody>
      </p:sp>
    </p:spTree>
    <p:extLst>
      <p:ext uri="{BB962C8B-B14F-4D97-AF65-F5344CB8AC3E}">
        <p14:creationId xmlns:p14="http://schemas.microsoft.com/office/powerpoint/2010/main" val="3067224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E8A97-55A0-4124-80B4-339E241955E7}" type="slidenum">
              <a:rPr lang="en-US" smtClean="0"/>
              <a:t>38</a:t>
            </a:fld>
            <a:endParaRPr lang="en-US"/>
          </a:p>
        </p:txBody>
      </p:sp>
      <p:pic>
        <p:nvPicPr>
          <p:cNvPr id="6" name="Picture 5">
            <a:extLst>
              <a:ext uri="{FF2B5EF4-FFF2-40B4-BE49-F238E27FC236}">
                <a16:creationId xmlns:a16="http://schemas.microsoft.com/office/drawing/2014/main" id="{01292363-11A1-3BF9-2D3C-30070C3568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462" y="4913314"/>
            <a:ext cx="4937293" cy="1422832"/>
          </a:xfrm>
          <a:prstGeom prst="rect">
            <a:avLst/>
          </a:prstGeom>
        </p:spPr>
      </p:pic>
    </p:spTree>
    <p:extLst>
      <p:ext uri="{BB962C8B-B14F-4D97-AF65-F5344CB8AC3E}">
        <p14:creationId xmlns:p14="http://schemas.microsoft.com/office/powerpoint/2010/main" val="633314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40</a:t>
            </a:fld>
            <a:endParaRPr lang="en-US"/>
          </a:p>
        </p:txBody>
      </p:sp>
    </p:spTree>
    <p:extLst>
      <p:ext uri="{BB962C8B-B14F-4D97-AF65-F5344CB8AC3E}">
        <p14:creationId xmlns:p14="http://schemas.microsoft.com/office/powerpoint/2010/main" val="4019133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138113" y="766763"/>
            <a:ext cx="6823075" cy="3838575"/>
          </a:xfrm>
          <a:solidFill>
            <a:srgbClr val="FFFFFF"/>
          </a:solidFill>
          <a:ln/>
        </p:spPr>
      </p:sp>
      <p:sp>
        <p:nvSpPr>
          <p:cNvPr id="41987" name="Rectangle 2"/>
          <p:cNvSpPr>
            <a:spLocks noGrp="1" noChangeArrowheads="1"/>
          </p:cNvSpPr>
          <p:nvPr>
            <p:ph type="body" idx="1"/>
          </p:nvPr>
        </p:nvSpPr>
        <p:spPr>
          <a:xfrm>
            <a:off x="709613" y="4860925"/>
            <a:ext cx="5680075" cy="4606925"/>
          </a:xfrm>
          <a:noFill/>
          <a:ln/>
        </p:spPr>
        <p:txBody>
          <a:bodyPr/>
          <a:lstStyle/>
          <a:p>
            <a:r>
              <a:rPr lang="en-US" dirty="0">
                <a:latin typeface="Helvetica" charset="0"/>
                <a:cs typeface="Helvetica" charset="0"/>
                <a:sym typeface="Helvetica" charset="0"/>
              </a:rPr>
              <a:t>All applications can be thought of as decision making or useful sub-components of decision making</a:t>
            </a:r>
          </a:p>
        </p:txBody>
      </p:sp>
    </p:spTree>
    <p:extLst>
      <p:ext uri="{BB962C8B-B14F-4D97-AF65-F5344CB8AC3E}">
        <p14:creationId xmlns:p14="http://schemas.microsoft.com/office/powerpoint/2010/main" val="357239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Inference</a:t>
            </a:r>
            <a:r>
              <a:rPr lang="en-US" dirty="0"/>
              <a:t> is the process of drawing conclusions or making decisions based on known information, facts, or reasoning.</a:t>
            </a:r>
          </a:p>
        </p:txBody>
      </p:sp>
      <p:sp>
        <p:nvSpPr>
          <p:cNvPr id="4" name="Slide Number Placeholder 3"/>
          <p:cNvSpPr>
            <a:spLocks noGrp="1"/>
          </p:cNvSpPr>
          <p:nvPr>
            <p:ph type="sldNum" sz="quarter" idx="5"/>
          </p:nvPr>
        </p:nvSpPr>
        <p:spPr/>
        <p:txBody>
          <a:bodyPr/>
          <a:lstStyle/>
          <a:p>
            <a:fld id="{2D7E8A97-55A0-4124-80B4-339E241955E7}" type="slidenum">
              <a:rPr lang="en-US" smtClean="0"/>
              <a:t>49</a:t>
            </a:fld>
            <a:endParaRPr lang="en-US"/>
          </a:p>
        </p:txBody>
      </p:sp>
    </p:spTree>
    <p:extLst>
      <p:ext uri="{BB962C8B-B14F-4D97-AF65-F5344CB8AC3E}">
        <p14:creationId xmlns:p14="http://schemas.microsoft.com/office/powerpoint/2010/main" val="2048462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65DF8-3918-1F95-200D-6D45ECF12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45CD6-DB36-5380-3084-38B4B154E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D4494-2FD8-EEDA-CED2-54C65B62E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81EFBE-1D4C-C42B-9CC4-20399AC10B38}"/>
              </a:ext>
            </a:extLst>
          </p:cNvPr>
          <p:cNvSpPr>
            <a:spLocks noGrp="1"/>
          </p:cNvSpPr>
          <p:nvPr>
            <p:ph type="sldNum" sz="quarter" idx="5"/>
          </p:nvPr>
        </p:nvSpPr>
        <p:spPr/>
        <p:txBody>
          <a:bodyPr/>
          <a:lstStyle/>
          <a:p>
            <a:fld id="{2D7E8A97-55A0-4124-80B4-339E241955E7}" type="slidenum">
              <a:rPr lang="en-US" smtClean="0"/>
              <a:t>50</a:t>
            </a:fld>
            <a:endParaRPr lang="en-US"/>
          </a:p>
        </p:txBody>
      </p:sp>
    </p:spTree>
    <p:extLst>
      <p:ext uri="{BB962C8B-B14F-4D97-AF65-F5344CB8AC3E}">
        <p14:creationId xmlns:p14="http://schemas.microsoft.com/office/powerpoint/2010/main" val="2224795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D60ED9C-60DA-4644-8251-CEB6E8D3B7EC}"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19467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02646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ED9C-60DA-4644-8251-CEB6E8D3B7EC}"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503094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ED9C-60DA-4644-8251-CEB6E8D3B7EC}"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71816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ED9C-60DA-4644-8251-CEB6E8D3B7EC}"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423632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ED9C-60DA-4644-8251-CEB6E8D3B7EC}"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423851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ED9C-60DA-4644-8251-CEB6E8D3B7EC}"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174728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60ED9C-60DA-4644-8251-CEB6E8D3B7EC}"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933979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60ED9C-60DA-4644-8251-CEB6E8D3B7EC}"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322812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126955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ED9C-60DA-4644-8251-CEB6E8D3B7EC}"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2F1CC-7916-4088-85E3-1E2E8409C45B}" type="slidenum">
              <a:rPr lang="en-US" smtClean="0"/>
              <a:t>‹#›</a:t>
            </a:fld>
            <a:endParaRPr lang="en-US"/>
          </a:p>
        </p:txBody>
      </p:sp>
    </p:spTree>
    <p:extLst>
      <p:ext uri="{BB962C8B-B14F-4D97-AF65-F5344CB8AC3E}">
        <p14:creationId xmlns:p14="http://schemas.microsoft.com/office/powerpoint/2010/main" val="2488842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p:spPr>
        <p:txBody>
          <a:bodyPr/>
          <a:lstStyle>
            <a:lvl1pPr>
              <a:defRPr/>
            </a:lvl1pPr>
          </a:lstStyle>
          <a:p>
            <a:endParaRPr lang="en-GB"/>
          </a:p>
        </p:txBody>
      </p:sp>
      <p:sp>
        <p:nvSpPr>
          <p:cNvPr id="6" name="Footer Placeholder 5"/>
          <p:cNvSpPr>
            <a:spLocks noGrp="1"/>
          </p:cNvSpPr>
          <p:nvPr>
            <p:ph type="ftr" sz="quarter" idx="11"/>
          </p:nvPr>
        </p:nvSpPr>
        <p:spPr>
          <a:xfrm>
            <a:off x="4876800" y="6243638"/>
            <a:ext cx="38608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11434619" y="5583382"/>
            <a:ext cx="609600" cy="457200"/>
          </a:xfrm>
        </p:spPr>
        <p:txBody>
          <a:bodyPr/>
          <a:lstStyle>
            <a:lvl1pPr>
              <a:defRPr/>
            </a:lvl1pPr>
          </a:lstStyle>
          <a:p>
            <a:fld id="{866E2486-6858-4FB8-B8B5-59109720FE73}" type="slidenum">
              <a:rPr lang="en-GB"/>
              <a:pPr/>
              <a:t>‹#›</a:t>
            </a:fld>
            <a:endParaRPr lang="en-GB" dirty="0"/>
          </a:p>
        </p:txBody>
      </p:sp>
    </p:spTree>
    <p:extLst>
      <p:ext uri="{BB962C8B-B14F-4D97-AF65-F5344CB8AC3E}">
        <p14:creationId xmlns:p14="http://schemas.microsoft.com/office/powerpoint/2010/main" val="3262976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p:spPr>
        <p:txBody>
          <a:bodyPr/>
          <a:lstStyle>
            <a:lvl1pPr>
              <a:defRPr/>
            </a:lvl1pPr>
          </a:lstStyle>
          <a:p>
            <a:endParaRPr lang="en-GB"/>
          </a:p>
        </p:txBody>
      </p:sp>
      <p:sp>
        <p:nvSpPr>
          <p:cNvPr id="7" name="Footer Placeholder 6"/>
          <p:cNvSpPr>
            <a:spLocks noGrp="1"/>
          </p:cNvSpPr>
          <p:nvPr>
            <p:ph type="ftr" sz="quarter" idx="11"/>
          </p:nvPr>
        </p:nvSpPr>
        <p:spPr>
          <a:xfrm>
            <a:off x="4876800" y="6243638"/>
            <a:ext cx="3860800" cy="457200"/>
          </a:xfrm>
        </p:spPr>
        <p:txBody>
          <a:bodyPr/>
          <a:lstStyle>
            <a:lvl1pPr>
              <a:defRPr/>
            </a:lvl1pPr>
          </a:lstStyle>
          <a:p>
            <a:endParaRPr lang="en-GB"/>
          </a:p>
        </p:txBody>
      </p:sp>
      <p:sp>
        <p:nvSpPr>
          <p:cNvPr id="8" name="Slide Number Placeholder 7"/>
          <p:cNvSpPr>
            <a:spLocks noGrp="1"/>
          </p:cNvSpPr>
          <p:nvPr>
            <p:ph type="sldNum" sz="quarter" idx="12"/>
          </p:nvPr>
        </p:nvSpPr>
        <p:spPr>
          <a:xfrm>
            <a:off x="11383817" y="5618018"/>
            <a:ext cx="711200" cy="457200"/>
          </a:xfrm>
        </p:spPr>
        <p:txBody>
          <a:bodyPr/>
          <a:lstStyle>
            <a:lvl1pPr>
              <a:defRPr/>
            </a:lvl1pPr>
          </a:lstStyle>
          <a:p>
            <a:fld id="{23F6A611-99D9-4A61-A991-1B40D77C3E07}" type="slidenum">
              <a:rPr lang="en-GB"/>
              <a:pPr/>
              <a:t>‹#›</a:t>
            </a:fld>
            <a:endParaRPr lang="en-GB"/>
          </a:p>
        </p:txBody>
      </p:sp>
    </p:spTree>
    <p:extLst>
      <p:ext uri="{BB962C8B-B14F-4D97-AF65-F5344CB8AC3E}">
        <p14:creationId xmlns:p14="http://schemas.microsoft.com/office/powerpoint/2010/main" val="297456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ED9C-60DA-4644-8251-CEB6E8D3B7EC}"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2F1CC-7916-4088-85E3-1E2E8409C45B}" type="slidenum">
              <a:rPr lang="en-US" smtClean="0"/>
              <a:t>‹#›</a:t>
            </a:fld>
            <a:endParaRPr lang="en-US"/>
          </a:p>
        </p:txBody>
      </p:sp>
    </p:spTree>
    <p:extLst>
      <p:ext uri="{BB962C8B-B14F-4D97-AF65-F5344CB8AC3E}">
        <p14:creationId xmlns:p14="http://schemas.microsoft.com/office/powerpoint/2010/main" val="1734155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futuresoft.yolasite.com/resources/Artificial%20Intelligence%20Illuminated.pdf"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hyperlink" Target="http://ai.berkeley.edu/home.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1.xml"/><Relationship Id="rId7" Type="http://schemas.openxmlformats.org/officeDocument/2006/relationships/diagramLayout" Target="../diagrams/layout1.xml"/><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diagramData" Target="../diagrams/data1.xml"/><Relationship Id="rId5" Type="http://schemas.openxmlformats.org/officeDocument/2006/relationships/image" Target="../media/image7.wmf"/><Relationship Id="rId10" Type="http://schemas.microsoft.com/office/2007/relationships/diagramDrawing" Target="../diagrams/drawing1.xml"/><Relationship Id="rId4" Type="http://schemas.openxmlformats.org/officeDocument/2006/relationships/oleObject" Target="../embeddings/oleObject1.bin"/><Relationship Id="rId9" Type="http://schemas.openxmlformats.org/officeDocument/2006/relationships/diagramColors" Target="../diagrams/colors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upload.wikimedia.org/wikipedia/commons/7/76/Kinect2-ir-image.png" TargetMode="External"/><Relationship Id="rId7" Type="http://schemas.openxmlformats.org/officeDocument/2006/relationships/hyperlink" Target="/upload.wikimedia.org/wikipedia/commons/6/67/Xbox-360-Kinect-Standalone.png" TargetMode="External"/><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hyperlink" Target="/upload.wikimedia.org/wikipedia/commons/9/90/Kinect2-deepmap.png" TargetMode="Externa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jpe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0017" y="541543"/>
            <a:ext cx="9144000" cy="1289465"/>
          </a:xfrm>
        </p:spPr>
        <p:txBody>
          <a:bodyPr/>
          <a:lstStyle/>
          <a:p>
            <a:r>
              <a:rPr lang="en-US" dirty="0"/>
              <a:t>Artificial Intelligence</a:t>
            </a:r>
          </a:p>
        </p:txBody>
      </p:sp>
      <p:sp>
        <p:nvSpPr>
          <p:cNvPr id="3" name="Subtitle 2"/>
          <p:cNvSpPr>
            <a:spLocks noGrp="1"/>
          </p:cNvSpPr>
          <p:nvPr>
            <p:ph type="subTitle" idx="1"/>
          </p:nvPr>
        </p:nvSpPr>
        <p:spPr>
          <a:xfrm>
            <a:off x="1630017" y="1923084"/>
            <a:ext cx="9144000" cy="1655762"/>
          </a:xfrm>
        </p:spPr>
        <p:txBody>
          <a:bodyPr>
            <a:normAutofit/>
          </a:bodyPr>
          <a:lstStyle/>
          <a:p>
            <a:r>
              <a:rPr lang="en-US" sz="3200" dirty="0"/>
              <a:t>Introduction</a:t>
            </a:r>
          </a:p>
        </p:txBody>
      </p:sp>
      <p:pic>
        <p:nvPicPr>
          <p:cNvPr id="5" name="Picture 4"/>
          <p:cNvPicPr>
            <a:picLocks noChangeAspect="1"/>
          </p:cNvPicPr>
          <p:nvPr/>
        </p:nvPicPr>
        <p:blipFill>
          <a:blip r:embed="rId2"/>
          <a:stretch>
            <a:fillRect/>
          </a:stretch>
        </p:blipFill>
        <p:spPr>
          <a:xfrm>
            <a:off x="3635998" y="2433488"/>
            <a:ext cx="5132033" cy="2290715"/>
          </a:xfrm>
          <a:prstGeom prst="rect">
            <a:avLst/>
          </a:prstGeom>
        </p:spPr>
      </p:pic>
      <p:sp>
        <p:nvSpPr>
          <p:cNvPr id="6" name="Rectangle 5"/>
          <p:cNvSpPr/>
          <p:nvPr/>
        </p:nvSpPr>
        <p:spPr>
          <a:xfrm>
            <a:off x="1066798" y="6397945"/>
            <a:ext cx="10270435" cy="276999"/>
          </a:xfrm>
          <a:prstGeom prst="rect">
            <a:avLst/>
          </a:prstGeom>
        </p:spPr>
        <p:txBody>
          <a:bodyPr wrap="square">
            <a:spAutoFit/>
          </a:bodyPr>
          <a:lstStyle/>
          <a:p>
            <a:pPr algn="ctr"/>
            <a:r>
              <a:rPr lang="en-US" sz="1200" dirty="0">
                <a:solidFill>
                  <a:schemeClr val="tx1">
                    <a:lumMod val="75000"/>
                    <a:lumOff val="25000"/>
                  </a:schemeClr>
                </a:solidFill>
              </a:rPr>
              <a:t>Modified slides of CS-188 Berkeley University</a:t>
            </a:r>
            <a:endParaRPr lang="en-US" sz="1200" dirty="0"/>
          </a:p>
        </p:txBody>
      </p:sp>
    </p:spTree>
    <p:extLst>
      <p:ext uri="{BB962C8B-B14F-4D97-AF65-F5344CB8AC3E}">
        <p14:creationId xmlns:p14="http://schemas.microsoft.com/office/powerpoint/2010/main" val="769552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Books</a:t>
            </a:r>
          </a:p>
        </p:txBody>
      </p:sp>
      <p:sp>
        <p:nvSpPr>
          <p:cNvPr id="3" name="Content Placeholder 2"/>
          <p:cNvSpPr>
            <a:spLocks noGrp="1"/>
          </p:cNvSpPr>
          <p:nvPr>
            <p:ph idx="1"/>
          </p:nvPr>
        </p:nvSpPr>
        <p:spPr>
          <a:xfrm>
            <a:off x="838200" y="1825625"/>
            <a:ext cx="7126357" cy="4351338"/>
          </a:xfrm>
        </p:spPr>
        <p:txBody>
          <a:bodyPr>
            <a:normAutofit/>
          </a:bodyPr>
          <a:lstStyle/>
          <a:p>
            <a:r>
              <a:rPr lang="en-US" b="1" dirty="0"/>
              <a:t>Artificial Intelligence: A Modern Approach</a:t>
            </a:r>
            <a:r>
              <a:rPr lang="en-US" dirty="0"/>
              <a:t>,</a:t>
            </a:r>
          </a:p>
          <a:p>
            <a:pPr marL="0" indent="0">
              <a:buNone/>
            </a:pPr>
            <a:r>
              <a:rPr lang="en-US" dirty="0"/>
              <a:t>  Russell &amp; </a:t>
            </a:r>
            <a:r>
              <a:rPr lang="en-US" dirty="0" err="1"/>
              <a:t>Norvig</a:t>
            </a:r>
            <a:r>
              <a:rPr lang="en-US" dirty="0"/>
              <a:t>. </a:t>
            </a:r>
          </a:p>
          <a:p>
            <a:pPr marL="0" indent="0">
              <a:buNone/>
            </a:pPr>
            <a:r>
              <a:rPr lang="en-US" sz="1200" dirty="0"/>
              <a:t>      </a:t>
            </a:r>
            <a:endParaRPr lang="en-US" dirty="0"/>
          </a:p>
          <a:p>
            <a:endParaRPr lang="en-US" dirty="0"/>
          </a:p>
          <a:p>
            <a:r>
              <a:rPr lang="en-US" dirty="0"/>
              <a:t>“</a:t>
            </a:r>
            <a:r>
              <a:rPr lang="en-US" b="1" dirty="0"/>
              <a:t>Artificial Intelligence Illuminated</a:t>
            </a:r>
            <a:r>
              <a:rPr lang="en-US" dirty="0"/>
              <a:t>”   </a:t>
            </a:r>
          </a:p>
          <a:p>
            <a:pPr marL="0" indent="0">
              <a:buNone/>
            </a:pPr>
            <a:r>
              <a:rPr lang="en-US" dirty="0"/>
              <a:t>   Ben Coppin, </a:t>
            </a:r>
          </a:p>
          <a:p>
            <a:pPr marL="0" indent="0">
              <a:buNone/>
            </a:pPr>
            <a:r>
              <a:rPr lang="en-US" sz="1200" dirty="0"/>
              <a:t>       (</a:t>
            </a:r>
            <a:r>
              <a:rPr lang="en-US" sz="1200" dirty="0">
                <a:hlinkClick r:id="rId2"/>
              </a:rPr>
              <a:t>http://futuresoft.yolasite.com/resources/Artificial%20Intelligence%20Illuminated.pdf</a:t>
            </a:r>
            <a:r>
              <a:rPr lang="en-US" sz="1200" dirty="0"/>
              <a:t>)</a:t>
            </a:r>
          </a:p>
          <a:p>
            <a:endParaRPr lang="en-US" dirty="0"/>
          </a:p>
          <a:p>
            <a:endParaRPr lang="en-US" dirty="0"/>
          </a:p>
        </p:txBody>
      </p:sp>
      <p:pic>
        <p:nvPicPr>
          <p:cNvPr id="5" name="Picture 4"/>
          <p:cNvPicPr>
            <a:picLocks noChangeAspect="1"/>
          </p:cNvPicPr>
          <p:nvPr/>
        </p:nvPicPr>
        <p:blipFill>
          <a:blip r:embed="rId3"/>
          <a:stretch>
            <a:fillRect/>
          </a:stretch>
        </p:blipFill>
        <p:spPr>
          <a:xfrm>
            <a:off x="8734892" y="249513"/>
            <a:ext cx="2476500" cy="3060459"/>
          </a:xfrm>
          <a:prstGeom prst="rect">
            <a:avLst/>
          </a:prstGeom>
        </p:spPr>
      </p:pic>
      <p:pic>
        <p:nvPicPr>
          <p:cNvPr id="2052" name="Picture 4" descr="Image result for artificial intelligence illuminat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4892" y="3425584"/>
            <a:ext cx="247650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343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Books</a:t>
            </a:r>
          </a:p>
        </p:txBody>
      </p:sp>
      <p:sp>
        <p:nvSpPr>
          <p:cNvPr id="3" name="Content Placeholder 2"/>
          <p:cNvSpPr>
            <a:spLocks noGrp="1"/>
          </p:cNvSpPr>
          <p:nvPr>
            <p:ph idx="1"/>
          </p:nvPr>
        </p:nvSpPr>
        <p:spPr/>
        <p:txBody>
          <a:bodyPr/>
          <a:lstStyle/>
          <a:p>
            <a:r>
              <a:rPr lang="en-US" dirty="0"/>
              <a:t>“Artificial Intelligence – Structures and Strategies for Complex problem solving”, George F. Luger, Pearson International Edition, Sixth edition, 2009.</a:t>
            </a:r>
          </a:p>
          <a:p>
            <a:r>
              <a:rPr lang="en-US" dirty="0"/>
              <a:t>“Artificial Intelligence: A new synthesis”  Nils Nilsson, Morgan Kaufmann, 1998</a:t>
            </a:r>
          </a:p>
          <a:p>
            <a:r>
              <a:rPr lang="it-IT" b="1" dirty="0"/>
              <a:t>UC Berkeley CS188 Intro to AI </a:t>
            </a:r>
            <a:r>
              <a:rPr lang="it-IT" dirty="0"/>
              <a:t>(</a:t>
            </a:r>
            <a:r>
              <a:rPr lang="en-US" dirty="0">
                <a:hlinkClick r:id="rId2"/>
              </a:rPr>
              <a:t>http://ai.berkeley.edu/home.html</a:t>
            </a:r>
            <a:r>
              <a:rPr lang="it-IT" dirty="0"/>
              <a:t>)</a:t>
            </a:r>
            <a:endParaRPr lang="it-IT" b="1" dirty="0"/>
          </a:p>
          <a:p>
            <a:endParaRPr lang="en-US" dirty="0"/>
          </a:p>
        </p:txBody>
      </p:sp>
    </p:spTree>
    <p:extLst>
      <p:ext uri="{BB962C8B-B14F-4D97-AF65-F5344CB8AC3E}">
        <p14:creationId xmlns:p14="http://schemas.microsoft.com/office/powerpoint/2010/main" val="236529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Grading (Tentative)</a:t>
            </a:r>
          </a:p>
        </p:txBody>
      </p:sp>
      <p:graphicFrame>
        <p:nvGraphicFramePr>
          <p:cNvPr id="8" name="Table 7"/>
          <p:cNvGraphicFramePr>
            <a:graphicFrameLocks noGrp="1"/>
          </p:cNvGraphicFramePr>
          <p:nvPr>
            <p:extLst>
              <p:ext uri="{D42A27DB-BD31-4B8C-83A1-F6EECF244321}">
                <p14:modId xmlns:p14="http://schemas.microsoft.com/office/powerpoint/2010/main" val="2242088831"/>
              </p:ext>
            </p:extLst>
          </p:nvPr>
        </p:nvGraphicFramePr>
        <p:xfrm>
          <a:off x="2637183" y="2061749"/>
          <a:ext cx="6665843" cy="3627120"/>
        </p:xfrm>
        <a:graphic>
          <a:graphicData uri="http://schemas.openxmlformats.org/drawingml/2006/table">
            <a:tbl>
              <a:tblPr firstRow="1" bandRow="1">
                <a:tableStyleId>{5C22544A-7EE6-4342-B048-85BDC9FD1C3A}</a:tableStyleId>
              </a:tblPr>
              <a:tblGrid>
                <a:gridCol w="4218794">
                  <a:extLst>
                    <a:ext uri="{9D8B030D-6E8A-4147-A177-3AD203B41FA5}">
                      <a16:colId xmlns:a16="http://schemas.microsoft.com/office/drawing/2014/main" val="20000"/>
                    </a:ext>
                  </a:extLst>
                </a:gridCol>
                <a:gridCol w="2447049">
                  <a:extLst>
                    <a:ext uri="{9D8B030D-6E8A-4147-A177-3AD203B41FA5}">
                      <a16:colId xmlns:a16="http://schemas.microsoft.com/office/drawing/2014/main" val="20001"/>
                    </a:ext>
                  </a:extLst>
                </a:gridCol>
              </a:tblGrid>
              <a:tr h="0">
                <a:tc>
                  <a:txBody>
                    <a:bodyPr/>
                    <a:lstStyle/>
                    <a:p>
                      <a:pPr algn="ctr"/>
                      <a:r>
                        <a:rPr lang="en-US" sz="2800" dirty="0"/>
                        <a:t>ITEM</a:t>
                      </a:r>
                    </a:p>
                  </a:txBody>
                  <a:tcPr/>
                </a:tc>
                <a:tc>
                  <a:txBody>
                    <a:bodyPr/>
                    <a:lstStyle/>
                    <a:p>
                      <a:pPr algn="ctr"/>
                      <a:r>
                        <a:rPr lang="en-US" sz="2800" dirty="0"/>
                        <a:t>WEIGHTAGE</a:t>
                      </a:r>
                    </a:p>
                  </a:txBody>
                  <a:tcPr/>
                </a:tc>
                <a:extLst>
                  <a:ext uri="{0D108BD9-81ED-4DB2-BD59-A6C34878D82A}">
                    <a16:rowId xmlns:a16="http://schemas.microsoft.com/office/drawing/2014/main" val="10000"/>
                  </a:ext>
                </a:extLst>
              </a:tr>
              <a:tr h="370840">
                <a:tc>
                  <a:txBody>
                    <a:bodyPr/>
                    <a:lstStyle/>
                    <a:p>
                      <a:r>
                        <a:rPr lang="en-US" sz="2800" dirty="0"/>
                        <a:t>Quizzes</a:t>
                      </a:r>
                    </a:p>
                  </a:txBody>
                  <a:tcPr/>
                </a:tc>
                <a:tc>
                  <a:txBody>
                    <a:bodyPr/>
                    <a:lstStyle/>
                    <a:p>
                      <a:pPr algn="ctr"/>
                      <a:r>
                        <a:rPr lang="en-US" sz="2800"/>
                        <a:t>15 </a:t>
                      </a:r>
                      <a:r>
                        <a:rPr lang="en-US" sz="2800" dirty="0"/>
                        <a:t>%</a:t>
                      </a:r>
                    </a:p>
                  </a:txBody>
                  <a:tcPr/>
                </a:tc>
                <a:extLst>
                  <a:ext uri="{0D108BD9-81ED-4DB2-BD59-A6C34878D82A}">
                    <a16:rowId xmlns:a16="http://schemas.microsoft.com/office/drawing/2014/main" val="10001"/>
                  </a:ext>
                </a:extLst>
              </a:tr>
              <a:tr h="370840">
                <a:tc>
                  <a:txBody>
                    <a:bodyPr/>
                    <a:lstStyle/>
                    <a:p>
                      <a:r>
                        <a:rPr lang="en-US" sz="2800" dirty="0"/>
                        <a:t>Assignments</a:t>
                      </a:r>
                    </a:p>
                  </a:txBody>
                  <a:tcPr/>
                </a:tc>
                <a:tc>
                  <a:txBody>
                    <a:bodyPr/>
                    <a:lstStyle/>
                    <a:p>
                      <a:pPr algn="ctr"/>
                      <a:r>
                        <a:rPr lang="en-US" sz="2800" dirty="0"/>
                        <a:t>15 %</a:t>
                      </a:r>
                    </a:p>
                  </a:txBody>
                  <a:tcPr/>
                </a:tc>
                <a:extLst>
                  <a:ext uri="{0D108BD9-81ED-4DB2-BD59-A6C34878D82A}">
                    <a16:rowId xmlns:a16="http://schemas.microsoft.com/office/drawing/2014/main" val="10002"/>
                  </a:ext>
                </a:extLst>
              </a:tr>
              <a:tr h="370840">
                <a:tc>
                  <a:txBody>
                    <a:bodyPr/>
                    <a:lstStyle/>
                    <a:p>
                      <a:r>
                        <a:rPr lang="en-US" sz="2800" dirty="0"/>
                        <a:t>Class Participation</a:t>
                      </a:r>
                    </a:p>
                  </a:txBody>
                  <a:tcPr/>
                </a:tc>
                <a:tc>
                  <a:txBody>
                    <a:bodyPr/>
                    <a:lstStyle/>
                    <a:p>
                      <a:pPr algn="ctr"/>
                      <a:r>
                        <a:rPr lang="en-US" sz="2800" dirty="0"/>
                        <a:t>5%</a:t>
                      </a:r>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Mid Term</a:t>
                      </a:r>
                    </a:p>
                  </a:txBody>
                  <a:tcPr/>
                </a:tc>
                <a:tc>
                  <a:txBody>
                    <a:bodyPr/>
                    <a:lstStyle/>
                    <a:p>
                      <a:pPr algn="ctr"/>
                      <a:r>
                        <a:rPr lang="en-US" sz="2800" dirty="0"/>
                        <a:t>20 %</a:t>
                      </a:r>
                    </a:p>
                  </a:txBody>
                  <a:tcPr/>
                </a:tc>
                <a:extLst>
                  <a:ext uri="{0D108BD9-81ED-4DB2-BD59-A6C34878D82A}">
                    <a16:rowId xmlns:a16="http://schemas.microsoft.com/office/drawing/2014/main" val="10004"/>
                  </a:ext>
                </a:extLst>
              </a:tr>
              <a:tr h="370840">
                <a:tc>
                  <a:txBody>
                    <a:bodyPr/>
                    <a:lstStyle/>
                    <a:p>
                      <a:r>
                        <a:rPr lang="en-US" sz="2800" dirty="0"/>
                        <a:t>Final Term</a:t>
                      </a:r>
                    </a:p>
                  </a:txBody>
                  <a:tcPr>
                    <a:lnB w="12700" cap="flat" cmpd="sng" algn="ctr">
                      <a:solidFill>
                        <a:schemeClr val="tx1"/>
                      </a:solidFill>
                      <a:prstDash val="solid"/>
                      <a:round/>
                      <a:headEnd type="none" w="med" len="med"/>
                      <a:tailEnd type="none" w="med" len="med"/>
                    </a:lnB>
                  </a:tcPr>
                </a:tc>
                <a:tc>
                  <a:txBody>
                    <a:bodyPr/>
                    <a:lstStyle/>
                    <a:p>
                      <a:pPr algn="ctr"/>
                      <a:r>
                        <a:rPr lang="en-US" sz="2800" dirty="0"/>
                        <a:t>45 %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2800" b="1" dirty="0"/>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5648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Logistics</a:t>
            </a:r>
          </a:p>
        </p:txBody>
      </p:sp>
      <p:sp>
        <p:nvSpPr>
          <p:cNvPr id="3" name="Content Placeholder 2"/>
          <p:cNvSpPr>
            <a:spLocks noGrp="1"/>
          </p:cNvSpPr>
          <p:nvPr>
            <p:ph idx="1"/>
          </p:nvPr>
        </p:nvSpPr>
        <p:spPr/>
        <p:txBody>
          <a:bodyPr/>
          <a:lstStyle/>
          <a:p>
            <a:r>
              <a:rPr lang="en-US" dirty="0"/>
              <a:t>Quiz may be un-announced.</a:t>
            </a:r>
          </a:p>
          <a:p>
            <a:r>
              <a:rPr lang="en-US" dirty="0"/>
              <a:t>Read the book </a:t>
            </a:r>
          </a:p>
          <a:p>
            <a:r>
              <a:rPr lang="en-US" dirty="0"/>
              <a:t>Plagiarism – Write your own Solution</a:t>
            </a:r>
          </a:p>
          <a:p>
            <a:r>
              <a:rPr lang="en-US" dirty="0"/>
              <a:t>Deadline of the assignments will not be extended</a:t>
            </a:r>
          </a:p>
          <a:p>
            <a:r>
              <a:rPr lang="en-US" dirty="0"/>
              <a:t>No Late submissions will be accepted.</a:t>
            </a:r>
          </a:p>
        </p:txBody>
      </p:sp>
    </p:spTree>
    <p:extLst>
      <p:ext uri="{BB962C8B-B14F-4D97-AF65-F5344CB8AC3E}">
        <p14:creationId xmlns:p14="http://schemas.microsoft.com/office/powerpoint/2010/main" val="325128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t>Other Announcements</a:t>
            </a:r>
          </a:p>
        </p:txBody>
      </p:sp>
      <p:sp>
        <p:nvSpPr>
          <p:cNvPr id="17412" name="Content Placeholder 3"/>
          <p:cNvSpPr>
            <a:spLocks noGrp="1"/>
          </p:cNvSpPr>
          <p:nvPr>
            <p:ph idx="1"/>
          </p:nvPr>
        </p:nvSpPr>
        <p:spPr/>
        <p:txBody>
          <a:bodyPr/>
          <a:lstStyle/>
          <a:p>
            <a:pPr eaLnBrk="1" hangingPunct="1"/>
            <a:r>
              <a:rPr lang="en-US" dirty="0"/>
              <a:t>Email address:</a:t>
            </a:r>
          </a:p>
          <a:p>
            <a:pPr lvl="1" eaLnBrk="1" hangingPunct="1"/>
            <a:r>
              <a:rPr lang="en-US" dirty="0"/>
              <a:t>maham.armaghan@ucp.edu.pk</a:t>
            </a:r>
          </a:p>
          <a:p>
            <a:pPr eaLnBrk="1" hangingPunct="1"/>
            <a:r>
              <a:rPr lang="en-US" dirty="0"/>
              <a:t>Office:</a:t>
            </a:r>
          </a:p>
          <a:p>
            <a:pPr lvl="1" eaLnBrk="1" hangingPunct="1"/>
            <a:r>
              <a:rPr lang="en-US" dirty="0"/>
              <a:t>D Block 2</a:t>
            </a:r>
            <a:r>
              <a:rPr lang="en-US" baseline="30000" dirty="0"/>
              <a:t>nd</a:t>
            </a:r>
            <a:r>
              <a:rPr lang="en-US" dirty="0"/>
              <a:t> Floor</a:t>
            </a:r>
          </a:p>
          <a:p>
            <a:pPr eaLnBrk="1" hangingPunct="1"/>
            <a:r>
              <a:rPr lang="en-US" dirty="0"/>
              <a:t>Course Coordinator</a:t>
            </a:r>
          </a:p>
          <a:p>
            <a:pPr lvl="1"/>
            <a:r>
              <a:rPr lang="en-US" dirty="0"/>
              <a:t>Dr. Mohsin Ashraf</a:t>
            </a:r>
          </a:p>
          <a:p>
            <a:pPr eaLnBrk="1" hangingPunct="1"/>
            <a:endParaRPr lang="en-US" dirty="0"/>
          </a:p>
        </p:txBody>
      </p:sp>
      <p:sp>
        <p:nvSpPr>
          <p:cNvPr id="17411" name="Slide Number Placeholder 2"/>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57E83CF-10C4-4205-9ED2-9CE3CBAF414F}" type="slidenum">
              <a:rPr lang="en-US" sz="1400">
                <a:solidFill>
                  <a:srgbClr val="FFFFFF"/>
                </a:solidFill>
                <a:latin typeface="Franklin Gothic Book" panose="020B0503020102020204" pitchFamily="34" charset="0"/>
              </a:rPr>
              <a:pPr>
                <a:spcBef>
                  <a:spcPct val="0"/>
                </a:spcBef>
                <a:buClrTx/>
                <a:buSzTx/>
                <a:buFontTx/>
                <a:buNone/>
              </a:pPr>
              <a:t>6</a:t>
            </a:fld>
            <a:endParaRPr lang="en-US" sz="140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117019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5692099" y="1600201"/>
            <a:ext cx="6192600" cy="4648199"/>
          </a:xfrm>
          <a:prstGeom prst="rect">
            <a:avLst/>
          </a:prstGeom>
          <a:noFill/>
        </p:spPr>
      </p:pic>
      <p:sp>
        <p:nvSpPr>
          <p:cNvPr id="25602" name="Rectangle 2"/>
          <p:cNvSpPr>
            <a:spLocks noGrp="1" noChangeArrowheads="1"/>
          </p:cNvSpPr>
          <p:nvPr>
            <p:ph type="title"/>
          </p:nvPr>
        </p:nvSpPr>
        <p:spPr/>
        <p:txBody>
          <a:bodyPr/>
          <a:lstStyle/>
          <a:p>
            <a:pPr eaLnBrk="1" hangingPunct="1"/>
            <a:r>
              <a:rPr lang="en-US">
                <a:solidFill>
                  <a:schemeClr val="tx1"/>
                </a:solidFill>
              </a:rPr>
              <a:t>Course Topics</a:t>
            </a:r>
          </a:p>
        </p:txBody>
      </p:sp>
      <p:sp>
        <p:nvSpPr>
          <p:cNvPr id="25603" name="Rectangle 3"/>
          <p:cNvSpPr>
            <a:spLocks noGrp="1" noChangeArrowheads="1"/>
          </p:cNvSpPr>
          <p:nvPr>
            <p:ph idx="1"/>
          </p:nvPr>
        </p:nvSpPr>
        <p:spPr>
          <a:xfrm>
            <a:off x="838200" y="1600200"/>
            <a:ext cx="10515600" cy="4787347"/>
          </a:xfrm>
        </p:spPr>
        <p:txBody>
          <a:bodyPr>
            <a:normAutofit fontScale="85000" lnSpcReduction="20000"/>
          </a:bodyPr>
          <a:lstStyle/>
          <a:p>
            <a:r>
              <a:rPr lang="en-US" sz="2400" dirty="0"/>
              <a:t>Part I: Solving Problems by Searching</a:t>
            </a:r>
          </a:p>
          <a:p>
            <a:pPr lvl="1" eaLnBrk="1" hangingPunct="1">
              <a:lnSpc>
                <a:spcPct val="90000"/>
              </a:lnSpc>
            </a:pPr>
            <a:r>
              <a:rPr lang="en-US" sz="2000" dirty="0"/>
              <a:t>Fast search / planning</a:t>
            </a:r>
          </a:p>
          <a:p>
            <a:pPr lvl="1" eaLnBrk="1" hangingPunct="1">
              <a:lnSpc>
                <a:spcPct val="90000"/>
              </a:lnSpc>
            </a:pPr>
            <a:r>
              <a:rPr lang="en-US" sz="2000" dirty="0"/>
              <a:t>Constraint satisfaction</a:t>
            </a:r>
          </a:p>
          <a:p>
            <a:pPr lvl="1" eaLnBrk="1" hangingPunct="1">
              <a:lnSpc>
                <a:spcPct val="90000"/>
              </a:lnSpc>
            </a:pPr>
            <a:r>
              <a:rPr lang="en-US" sz="2000" dirty="0"/>
              <a:t>Heuristics</a:t>
            </a:r>
          </a:p>
          <a:p>
            <a:pPr lvl="1" eaLnBrk="1" hangingPunct="1">
              <a:lnSpc>
                <a:spcPct val="90000"/>
              </a:lnSpc>
            </a:pPr>
            <a:r>
              <a:rPr lang="en-US" sz="2000" dirty="0"/>
              <a:t>Adversarial and uncertain search</a:t>
            </a:r>
          </a:p>
          <a:p>
            <a:endParaRPr lang="en-US" sz="2400" dirty="0"/>
          </a:p>
          <a:p>
            <a:r>
              <a:rPr lang="en-US" sz="2400" dirty="0"/>
              <a:t>Part II: Knowledge, reasoning, and Planning</a:t>
            </a:r>
          </a:p>
          <a:p>
            <a:pPr lvl="1"/>
            <a:r>
              <a:rPr lang="en-US" altLang="en-US" sz="2000" dirty="0"/>
              <a:t>Reasoning agents</a:t>
            </a:r>
          </a:p>
          <a:p>
            <a:pPr lvl="1"/>
            <a:r>
              <a:rPr lang="en-US" altLang="en-US" sz="2000" dirty="0"/>
              <a:t>Propositional logic</a:t>
            </a:r>
          </a:p>
          <a:p>
            <a:pPr lvl="1"/>
            <a:r>
              <a:rPr lang="en-US" altLang="en-US" sz="2000" dirty="0"/>
              <a:t>Predicate logic</a:t>
            </a:r>
          </a:p>
          <a:p>
            <a:pPr lvl="1"/>
            <a:r>
              <a:rPr lang="en-US" altLang="en-US" sz="2000" dirty="0"/>
              <a:t>Knowledge-based systems</a:t>
            </a:r>
          </a:p>
          <a:p>
            <a:endParaRPr lang="en-US" altLang="en-US" sz="2400" dirty="0"/>
          </a:p>
          <a:p>
            <a:r>
              <a:rPr lang="en-US" altLang="en-US" sz="2400" dirty="0"/>
              <a:t>Part III: Machine Learning</a:t>
            </a:r>
          </a:p>
          <a:p>
            <a:pPr lvl="1" eaLnBrk="1" hangingPunct="1">
              <a:lnSpc>
                <a:spcPct val="90000"/>
              </a:lnSpc>
            </a:pPr>
            <a:r>
              <a:rPr lang="en-US" sz="2000" dirty="0"/>
              <a:t>Classification</a:t>
            </a:r>
          </a:p>
          <a:p>
            <a:pPr lvl="1" eaLnBrk="1" hangingPunct="1">
              <a:lnSpc>
                <a:spcPct val="90000"/>
              </a:lnSpc>
            </a:pPr>
            <a:r>
              <a:rPr lang="en-US" sz="2000" dirty="0"/>
              <a:t>Clustering</a:t>
            </a:r>
          </a:p>
          <a:p>
            <a:pPr lvl="1" eaLnBrk="1" hangingPunct="1">
              <a:lnSpc>
                <a:spcPct val="90000"/>
              </a:lnSpc>
            </a:pPr>
            <a:r>
              <a:rPr lang="en-US" sz="2000" dirty="0"/>
              <a:t>Neural Networks</a:t>
            </a:r>
          </a:p>
        </p:txBody>
      </p:sp>
    </p:spTree>
    <p:extLst>
      <p:ext uri="{BB962C8B-B14F-4D97-AF65-F5344CB8AC3E}">
        <p14:creationId xmlns:p14="http://schemas.microsoft.com/office/powerpoint/2010/main" val="208870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dirty="0">
                <a:solidFill>
                  <a:schemeClr val="tx1"/>
                </a:solidFill>
              </a:rPr>
              <a:t>Overview</a:t>
            </a:r>
          </a:p>
        </p:txBody>
      </p:sp>
      <p:sp>
        <p:nvSpPr>
          <p:cNvPr id="9219" name="Rectangle 3"/>
          <p:cNvSpPr>
            <a:spLocks noGrp="1" noChangeArrowheads="1"/>
          </p:cNvSpPr>
          <p:nvPr>
            <p:ph idx="1"/>
          </p:nvPr>
        </p:nvSpPr>
        <p:spPr/>
        <p:txBody>
          <a:bodyPr/>
          <a:lstStyle/>
          <a:p>
            <a:pPr eaLnBrk="1" hangingPunct="1"/>
            <a:endParaRPr lang="en-US" sz="800" dirty="0"/>
          </a:p>
          <a:p>
            <a:pPr eaLnBrk="1" hangingPunct="1"/>
            <a:r>
              <a:rPr lang="en-US" dirty="0"/>
              <a:t>What is artificial intelligence?</a:t>
            </a:r>
          </a:p>
          <a:p>
            <a:pPr eaLnBrk="1" hangingPunct="1"/>
            <a:endParaRPr lang="en-US" dirty="0"/>
          </a:p>
          <a:p>
            <a:pPr eaLnBrk="1" hangingPunct="1"/>
            <a:r>
              <a:rPr lang="en-US" dirty="0"/>
              <a:t>What can AI do?</a:t>
            </a:r>
          </a:p>
          <a:p>
            <a:pPr eaLnBrk="1" hangingPunct="1"/>
            <a:endParaRPr lang="en-US" dirty="0"/>
          </a:p>
          <a:p>
            <a:pPr eaLnBrk="1" hangingPunct="1"/>
            <a:r>
              <a:rPr lang="en-US" dirty="0"/>
              <a:t>What is this course?</a:t>
            </a:r>
          </a:p>
        </p:txBody>
      </p:sp>
      <p:pic>
        <p:nvPicPr>
          <p:cNvPr id="22529" name="Picture 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12001" y="1498601"/>
            <a:ext cx="4049852" cy="4533897"/>
          </a:xfrm>
          <a:prstGeom prst="rect">
            <a:avLst/>
          </a:prstGeom>
          <a:noFill/>
        </p:spPr>
      </p:pic>
    </p:spTree>
    <p:extLst>
      <p:ext uri="{BB962C8B-B14F-4D97-AF65-F5344CB8AC3E}">
        <p14:creationId xmlns:p14="http://schemas.microsoft.com/office/powerpoint/2010/main" val="903455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normAutofit fontScale="92500" lnSpcReduction="20000"/>
          </a:bodyPr>
          <a:lstStyle/>
          <a:p>
            <a:pPr marL="342900" lvl="1" indent="-342900"/>
            <a:r>
              <a:rPr lang="en-US" sz="3600" dirty="0"/>
              <a:t>Is this mouse intelligent?</a:t>
            </a:r>
          </a:p>
          <a:p>
            <a:pPr marL="342900" lvl="1" indent="-342900"/>
            <a:endParaRPr lang="en-US" sz="1600" dirty="0"/>
          </a:p>
          <a:p>
            <a:pPr marL="742950" lvl="2" indent="-342900"/>
            <a:r>
              <a:rPr lang="en-US" sz="3200" dirty="0"/>
              <a:t>It depends on context</a:t>
            </a:r>
          </a:p>
          <a:p>
            <a:pPr marL="742950" lvl="2" indent="-342900"/>
            <a:r>
              <a:rPr lang="en-US" sz="3200" dirty="0"/>
              <a:t>Route planning (Yes)</a:t>
            </a:r>
          </a:p>
          <a:p>
            <a:pPr marL="742950" lvl="2" indent="-342900"/>
            <a:r>
              <a:rPr lang="en-US" sz="3200" dirty="0"/>
              <a:t>Mathematical problem solving (No)</a:t>
            </a:r>
          </a:p>
          <a:p>
            <a:endParaRPr lang="en-US" sz="2000" dirty="0"/>
          </a:p>
          <a:p>
            <a:r>
              <a:rPr lang="en-US" sz="3600" dirty="0"/>
              <a:t>Is Google Intelligent?</a:t>
            </a:r>
          </a:p>
          <a:p>
            <a:pPr lvl="1"/>
            <a:r>
              <a:rPr lang="en-US" dirty="0"/>
              <a:t>Can google drive a car?</a:t>
            </a:r>
          </a:p>
          <a:p>
            <a:pPr lvl="1"/>
            <a:r>
              <a:rPr lang="en-US" dirty="0"/>
              <a:t>Task specific intelligence</a:t>
            </a:r>
          </a:p>
          <a:p>
            <a:pPr lvl="1"/>
            <a:endParaRPr lang="en-US" dirty="0"/>
          </a:p>
          <a:p>
            <a:r>
              <a:rPr lang="en-US" dirty="0"/>
              <a:t>Are humans intelligent? </a:t>
            </a:r>
          </a:p>
        </p:txBody>
      </p:sp>
      <p:sp>
        <p:nvSpPr>
          <p:cNvPr id="4" name="Slide Number Placeholder 3"/>
          <p:cNvSpPr>
            <a:spLocks noGrp="1"/>
          </p:cNvSpPr>
          <p:nvPr>
            <p:ph type="sldNum" sz="quarter" idx="12"/>
          </p:nvPr>
        </p:nvSpPr>
        <p:spPr/>
        <p:txBody>
          <a:bodyPr/>
          <a:lstStyle/>
          <a:p>
            <a:fld id="{FDFCE4C1-E6A0-4AA9-9965-F1CD6F0FDCC0}" type="slidenum">
              <a:rPr lang="en-US" smtClean="0"/>
              <a:t>9</a:t>
            </a:fld>
            <a:endParaRPr lang="en-US"/>
          </a:p>
        </p:txBody>
      </p:sp>
      <p:sp>
        <p:nvSpPr>
          <p:cNvPr id="5" name="AutoShape 2" descr="https://encrypted-tbn2.gstatic.com/images?q=tbn:ANd9GcSF8lxLzNmnY6PXD-chT8240AenGnX8Y7DBtzsWZuJBl6sLqN63"/>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792" t="12600" r="6614" b="17125"/>
          <a:stretch/>
        </p:blipFill>
        <p:spPr>
          <a:xfrm>
            <a:off x="7665981" y="1690688"/>
            <a:ext cx="3687819" cy="2166731"/>
          </a:xfrm>
          <a:prstGeom prst="rect">
            <a:avLst/>
          </a:prstGeom>
        </p:spPr>
      </p:pic>
    </p:spTree>
    <p:extLst>
      <p:ext uri="{BB962C8B-B14F-4D97-AF65-F5344CB8AC3E}">
        <p14:creationId xmlns:p14="http://schemas.microsoft.com/office/powerpoint/2010/main" val="90903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460D-19F9-4BF0-964E-C8ED9FAEADA6}"/>
              </a:ext>
            </a:extLst>
          </p:cNvPr>
          <p:cNvSpPr>
            <a:spLocks noGrp="1"/>
          </p:cNvSpPr>
          <p:nvPr>
            <p:ph type="title"/>
          </p:nvPr>
        </p:nvSpPr>
        <p:spPr/>
        <p:txBody>
          <a:bodyPr/>
          <a:lstStyle/>
          <a:p>
            <a:r>
              <a:rPr lang="en-US" dirty="0"/>
              <a:t>WHY AI?</a:t>
            </a:r>
            <a:endParaRPr lang="en-PK" dirty="0"/>
          </a:p>
        </p:txBody>
      </p:sp>
      <p:sp>
        <p:nvSpPr>
          <p:cNvPr id="3" name="Content Placeholder 2">
            <a:extLst>
              <a:ext uri="{FF2B5EF4-FFF2-40B4-BE49-F238E27FC236}">
                <a16:creationId xmlns:a16="http://schemas.microsoft.com/office/drawing/2014/main" id="{A6705974-6595-497C-B7D1-FC743E6E8308}"/>
              </a:ext>
            </a:extLst>
          </p:cNvPr>
          <p:cNvSpPr>
            <a:spLocks noGrp="1"/>
          </p:cNvSpPr>
          <p:nvPr>
            <p:ph idx="1"/>
          </p:nvPr>
        </p:nvSpPr>
        <p:spPr>
          <a:xfrm>
            <a:off x="838200" y="1485900"/>
            <a:ext cx="10515600" cy="5219699"/>
          </a:xfrm>
        </p:spPr>
        <p:txBody>
          <a:bodyPr>
            <a:normAutofit fontScale="77500" lnSpcReduction="20000"/>
          </a:bodyPr>
          <a:lstStyle/>
          <a:p>
            <a:r>
              <a:rPr lang="en-US" dirty="0"/>
              <a:t>Why can't we simply program every possible situation?</a:t>
            </a:r>
          </a:p>
          <a:p>
            <a:r>
              <a:rPr lang="en-US" dirty="0"/>
              <a:t>Imagine making software for</a:t>
            </a:r>
          </a:p>
          <a:p>
            <a:pPr lvl="1"/>
            <a:r>
              <a:rPr lang="en-US" b="1" dirty="0"/>
              <a:t>Self-driving cars</a:t>
            </a:r>
            <a:endParaRPr lang="en-US" dirty="0"/>
          </a:p>
          <a:p>
            <a:pPr lvl="1"/>
            <a:r>
              <a:rPr lang="en-US" dirty="0"/>
              <a:t>You can write</a:t>
            </a:r>
          </a:p>
          <a:p>
            <a:pPr lvl="2"/>
            <a:r>
              <a:rPr lang="en-US" dirty="0"/>
              <a:t>IF person crosses road</a:t>
            </a:r>
          </a:p>
          <a:p>
            <a:pPr lvl="2"/>
            <a:r>
              <a:rPr lang="en-US" dirty="0"/>
              <a:t>THEN stop</a:t>
            </a:r>
          </a:p>
          <a:p>
            <a:pPr lvl="1"/>
            <a:r>
              <a:rPr lang="en-US" dirty="0"/>
              <a:t>But what about</a:t>
            </a:r>
          </a:p>
          <a:p>
            <a:pPr lvl="2"/>
            <a:r>
              <a:rPr lang="en-US" dirty="0"/>
              <a:t>fog </a:t>
            </a:r>
          </a:p>
          <a:p>
            <a:pPr lvl="2"/>
            <a:r>
              <a:rPr lang="en-US" dirty="0"/>
              <a:t>rain </a:t>
            </a:r>
          </a:p>
          <a:p>
            <a:pPr lvl="2"/>
            <a:r>
              <a:rPr lang="en-US" dirty="0"/>
              <a:t>child running </a:t>
            </a:r>
          </a:p>
          <a:p>
            <a:pPr lvl="2"/>
            <a:r>
              <a:rPr lang="en-US" dirty="0"/>
              <a:t>broken traffic light </a:t>
            </a:r>
          </a:p>
          <a:p>
            <a:pPr lvl="2"/>
            <a:r>
              <a:rPr lang="en-US" dirty="0"/>
              <a:t>cyclist </a:t>
            </a:r>
          </a:p>
          <a:p>
            <a:pPr lvl="2"/>
            <a:r>
              <a:rPr lang="en-US" dirty="0"/>
              <a:t>ambulance </a:t>
            </a:r>
          </a:p>
          <a:p>
            <a:pPr lvl="2"/>
            <a:r>
              <a:rPr lang="en-US" dirty="0"/>
              <a:t>dog </a:t>
            </a:r>
          </a:p>
          <a:p>
            <a:pPr lvl="1"/>
            <a:r>
              <a:rPr lang="en-US" dirty="0"/>
              <a:t>Thousands of possibilities. Traditional programming starts failing.</a:t>
            </a:r>
          </a:p>
          <a:p>
            <a:r>
              <a:rPr lang="en-US" dirty="0"/>
              <a:t>AI helps machines</a:t>
            </a:r>
          </a:p>
          <a:p>
            <a:pPr lvl="1"/>
            <a:r>
              <a:rPr lang="en-US" dirty="0"/>
              <a:t>learn </a:t>
            </a:r>
          </a:p>
          <a:p>
            <a:pPr lvl="1"/>
            <a:r>
              <a:rPr lang="en-US" dirty="0"/>
              <a:t>reason </a:t>
            </a:r>
          </a:p>
          <a:p>
            <a:pPr lvl="1"/>
            <a:r>
              <a:rPr lang="en-US" dirty="0"/>
              <a:t>decide </a:t>
            </a:r>
          </a:p>
          <a:p>
            <a:pPr lvl="1"/>
            <a:endParaRPr lang="en-US" dirty="0"/>
          </a:p>
          <a:p>
            <a:endParaRPr lang="en-PK" dirty="0"/>
          </a:p>
        </p:txBody>
      </p:sp>
    </p:spTree>
    <p:extLst>
      <p:ext uri="{BB962C8B-B14F-4D97-AF65-F5344CB8AC3E}">
        <p14:creationId xmlns:p14="http://schemas.microsoft.com/office/powerpoint/2010/main" val="3172391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Why AI?</a:t>
            </a:r>
          </a:p>
        </p:txBody>
      </p:sp>
      <p:sp>
        <p:nvSpPr>
          <p:cNvPr id="3" name="Content Placeholder 2"/>
          <p:cNvSpPr>
            <a:spLocks noGrp="1"/>
          </p:cNvSpPr>
          <p:nvPr>
            <p:ph idx="1"/>
          </p:nvPr>
        </p:nvSpPr>
        <p:spPr/>
        <p:txBody>
          <a:bodyPr>
            <a:normAutofit/>
          </a:bodyPr>
          <a:lstStyle/>
          <a:p>
            <a:r>
              <a:rPr lang="en-GB" b="1" dirty="0"/>
              <a:t>Two main goals of AI:</a:t>
            </a:r>
          </a:p>
          <a:p>
            <a:endParaRPr lang="en-GB" b="1" dirty="0"/>
          </a:p>
          <a:p>
            <a:pPr lvl="1"/>
            <a:r>
              <a:rPr lang="en-GB" dirty="0"/>
              <a:t>To create useful “smart” programs able to do tasks that would normally require a human expert</a:t>
            </a:r>
          </a:p>
          <a:p>
            <a:pPr lvl="1"/>
            <a:endParaRPr lang="en-GB" dirty="0"/>
          </a:p>
          <a:p>
            <a:pPr lvl="1"/>
            <a:r>
              <a:rPr lang="en-GB" dirty="0"/>
              <a:t>To understand human intelligence better as we test theories of human intelligence by writing programs which emulate them</a:t>
            </a:r>
          </a:p>
          <a:p>
            <a:pPr lvl="1">
              <a:buNone/>
            </a:pPr>
            <a:endParaRPr lang="en-GB" dirty="0"/>
          </a:p>
          <a:p>
            <a:endParaRPr lang="en-US" dirty="0"/>
          </a:p>
        </p:txBody>
      </p:sp>
    </p:spTree>
    <p:extLst>
      <p:ext uri="{BB962C8B-B14F-4D97-AF65-F5344CB8AC3E}">
        <p14:creationId xmlns:p14="http://schemas.microsoft.com/office/powerpoint/2010/main" val="123811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Intelligence?</a:t>
            </a:r>
          </a:p>
        </p:txBody>
      </p:sp>
      <p:sp>
        <p:nvSpPr>
          <p:cNvPr id="3" name="Content Placeholder 2"/>
          <p:cNvSpPr>
            <a:spLocks noGrp="1"/>
          </p:cNvSpPr>
          <p:nvPr>
            <p:ph idx="1"/>
          </p:nvPr>
        </p:nvSpPr>
        <p:spPr/>
        <p:txBody>
          <a:bodyPr>
            <a:normAutofit fontScale="92500" lnSpcReduction="10000"/>
          </a:bodyPr>
          <a:lstStyle/>
          <a:p>
            <a:r>
              <a:rPr lang="en-US" dirty="0"/>
              <a:t>Ability of problem solving</a:t>
            </a:r>
          </a:p>
          <a:p>
            <a:pPr lvl="1"/>
            <a:r>
              <a:rPr lang="en-US" dirty="0"/>
              <a:t>Example: Finding the shortest path to university.</a:t>
            </a:r>
          </a:p>
          <a:p>
            <a:r>
              <a:rPr lang="en-US" dirty="0"/>
              <a:t>Ability to think, plan and schedule</a:t>
            </a:r>
          </a:p>
          <a:p>
            <a:pPr lvl="1"/>
            <a:r>
              <a:rPr lang="en-US" dirty="0"/>
              <a:t>Preparing timetable before exams.</a:t>
            </a:r>
          </a:p>
          <a:p>
            <a:r>
              <a:rPr lang="en-US" dirty="0"/>
              <a:t>Efficient memory and information manipulation</a:t>
            </a:r>
          </a:p>
          <a:p>
            <a:pPr lvl="1"/>
            <a:r>
              <a:rPr lang="en-US" dirty="0"/>
              <a:t>Remembering previous mistakes.</a:t>
            </a:r>
          </a:p>
          <a:p>
            <a:r>
              <a:rPr lang="en-US" dirty="0"/>
              <a:t>Ability to tackle ambiguous and fuzzy problems</a:t>
            </a:r>
          </a:p>
          <a:p>
            <a:pPr lvl="1"/>
            <a:r>
              <a:rPr lang="en-US" dirty="0"/>
              <a:t>A fuzzy problem does not have crisp, exact values — it deals with “how much” rather than “yes or no.”</a:t>
            </a:r>
          </a:p>
          <a:p>
            <a:pPr lvl="1"/>
            <a:endParaRPr lang="en-US" dirty="0"/>
          </a:p>
          <a:p>
            <a:r>
              <a:rPr lang="en-US" dirty="0"/>
              <a:t>Ability to understand and perceive</a:t>
            </a:r>
          </a:p>
        </p:txBody>
      </p:sp>
      <p:sp>
        <p:nvSpPr>
          <p:cNvPr id="4" name="Slide Number Placeholder 3"/>
          <p:cNvSpPr>
            <a:spLocks noGrp="1"/>
          </p:cNvSpPr>
          <p:nvPr>
            <p:ph type="sldNum" sz="quarter" idx="12"/>
          </p:nvPr>
        </p:nvSpPr>
        <p:spPr/>
        <p:txBody>
          <a:bodyPr/>
          <a:lstStyle/>
          <a:p>
            <a:fld id="{FDFCE4C1-E6A0-4AA9-9965-F1CD6F0FDCC0}" type="slidenum">
              <a:rPr lang="en-US" smtClean="0"/>
              <a:t>12</a:t>
            </a:fld>
            <a:endParaRPr lang="en-US"/>
          </a:p>
        </p:txBody>
      </p:sp>
    </p:spTree>
    <p:extLst>
      <p:ext uri="{BB962C8B-B14F-4D97-AF65-F5344CB8AC3E}">
        <p14:creationId xmlns:p14="http://schemas.microsoft.com/office/powerpoint/2010/main" val="383817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Artificial Intelligence</a:t>
            </a:r>
          </a:p>
        </p:txBody>
      </p:sp>
      <p:sp>
        <p:nvSpPr>
          <p:cNvPr id="3" name="Content Placeholder 2"/>
          <p:cNvSpPr>
            <a:spLocks noGrp="1"/>
          </p:cNvSpPr>
          <p:nvPr>
            <p:ph idx="1"/>
          </p:nvPr>
        </p:nvSpPr>
        <p:spPr/>
        <p:txBody>
          <a:bodyPr>
            <a:normAutofit/>
          </a:bodyPr>
          <a:lstStyle/>
          <a:p>
            <a:pPr algn="just"/>
            <a:r>
              <a:rPr lang="en-US" dirty="0"/>
              <a:t>“</a:t>
            </a:r>
            <a:r>
              <a:rPr lang="en-US" b="1" i="1" dirty="0"/>
              <a:t>Study of computations that make it possible to perceive, reason and act</a:t>
            </a:r>
            <a:r>
              <a:rPr lang="en-US" dirty="0"/>
              <a:t>.”</a:t>
            </a:r>
            <a:endParaRPr lang="en-US" sz="1400" dirty="0"/>
          </a:p>
          <a:p>
            <a:pPr algn="just"/>
            <a:r>
              <a:rPr lang="en-US" dirty="0"/>
              <a:t>Branch of </a:t>
            </a:r>
            <a:r>
              <a:rPr lang="en-US" i="1" dirty="0"/>
              <a:t>Science</a:t>
            </a:r>
            <a:r>
              <a:rPr lang="en-US" dirty="0"/>
              <a:t> which deals with </a:t>
            </a:r>
            <a:r>
              <a:rPr lang="en-US" b="1" dirty="0"/>
              <a:t>helping machines to find solutions to complex problems in a more human-like fashion</a:t>
            </a:r>
          </a:p>
          <a:p>
            <a:pPr algn="just"/>
            <a:endParaRPr lang="en-US" dirty="0"/>
          </a:p>
          <a:p>
            <a:pPr algn="just"/>
            <a:r>
              <a:rPr lang="en-US" dirty="0"/>
              <a:t>In short, putting human intelligence into machines</a:t>
            </a:r>
          </a:p>
        </p:txBody>
      </p:sp>
    </p:spTree>
    <p:extLst>
      <p:ext uri="{BB962C8B-B14F-4D97-AF65-F5344CB8AC3E}">
        <p14:creationId xmlns:p14="http://schemas.microsoft.com/office/powerpoint/2010/main" val="28719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a:t>
            </a:r>
          </a:p>
        </p:txBody>
      </p:sp>
      <p:sp>
        <p:nvSpPr>
          <p:cNvPr id="4" name="Cloud 3"/>
          <p:cNvSpPr/>
          <p:nvPr/>
        </p:nvSpPr>
        <p:spPr>
          <a:xfrm>
            <a:off x="2107096" y="1772570"/>
            <a:ext cx="3657600" cy="2057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What is Intelligence ??</a:t>
            </a:r>
          </a:p>
          <a:p>
            <a:pPr algn="ct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853898140"/>
              </p:ext>
            </p:extLst>
          </p:nvPr>
        </p:nvGraphicFramePr>
        <p:xfrm>
          <a:off x="1649897" y="3601371"/>
          <a:ext cx="1325563" cy="2001169"/>
        </p:xfrm>
        <a:graphic>
          <a:graphicData uri="http://schemas.openxmlformats.org/presentationml/2006/ole">
            <mc:AlternateContent xmlns:mc="http://schemas.openxmlformats.org/markup-compatibility/2006">
              <mc:Choice xmlns:v="urn:schemas-microsoft-com:vml" Requires="v">
                <p:oleObj spid="_x0000_s1048" name="Clip" r:id="rId4" imgW="1857375" imgH="3995738" progId="">
                  <p:embed/>
                </p:oleObj>
              </mc:Choice>
              <mc:Fallback>
                <p:oleObj name="Clip" r:id="rId4" imgW="1857375" imgH="3995738"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9897" y="3601371"/>
                        <a:ext cx="1325563" cy="2001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Diagram 17"/>
          <p:cNvGraphicFramePr/>
          <p:nvPr>
            <p:extLst>
              <p:ext uri="{D42A27DB-BD31-4B8C-83A1-F6EECF244321}">
                <p14:modId xmlns:p14="http://schemas.microsoft.com/office/powerpoint/2010/main" val="890838413"/>
              </p:ext>
            </p:extLst>
          </p:nvPr>
        </p:nvGraphicFramePr>
        <p:xfrm>
          <a:off x="6096000" y="1772570"/>
          <a:ext cx="5257800" cy="446920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806087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Humans Vs Machines</a:t>
            </a:r>
          </a:p>
        </p:txBody>
      </p:sp>
      <p:graphicFrame>
        <p:nvGraphicFramePr>
          <p:cNvPr id="13" name="Content Placeholder 12"/>
          <p:cNvGraphicFramePr>
            <a:graphicFrameLocks noGrp="1"/>
          </p:cNvGraphicFramePr>
          <p:nvPr>
            <p:ph idx="1"/>
          </p:nvPr>
        </p:nvGraphicFramePr>
        <p:xfrm>
          <a:off x="838200" y="1825625"/>
          <a:ext cx="10515600" cy="3210891"/>
        </p:xfrm>
        <a:graphic>
          <a:graphicData uri="http://schemas.openxmlformats.org/drawingml/2006/table">
            <a:tbl>
              <a:tblPr firstRow="1" bandRow="1">
                <a:tableStyleId>{5C22544A-7EE6-4342-B048-85BDC9FD1C3A}</a:tableStyleId>
              </a:tblPr>
              <a:tblGrid>
                <a:gridCol w="5448993">
                  <a:extLst>
                    <a:ext uri="{9D8B030D-6E8A-4147-A177-3AD203B41FA5}">
                      <a16:colId xmlns:a16="http://schemas.microsoft.com/office/drawing/2014/main" val="20000"/>
                    </a:ext>
                  </a:extLst>
                </a:gridCol>
                <a:gridCol w="5066607">
                  <a:extLst>
                    <a:ext uri="{9D8B030D-6E8A-4147-A177-3AD203B41FA5}">
                      <a16:colId xmlns:a16="http://schemas.microsoft.com/office/drawing/2014/main" val="20001"/>
                    </a:ext>
                  </a:extLst>
                </a:gridCol>
              </a:tblGrid>
              <a:tr h="446709">
                <a:tc>
                  <a:txBody>
                    <a:bodyPr/>
                    <a:lstStyle/>
                    <a:p>
                      <a:pPr algn="ctr"/>
                      <a:r>
                        <a:rPr lang="en-US" sz="2400" dirty="0"/>
                        <a:t>Humans</a:t>
                      </a:r>
                    </a:p>
                  </a:txBody>
                  <a:tcPr marL="127462" marR="127462"/>
                </a:tc>
                <a:tc>
                  <a:txBody>
                    <a:bodyPr/>
                    <a:lstStyle/>
                    <a:p>
                      <a:pPr algn="ctr"/>
                      <a:r>
                        <a:rPr lang="en-US" sz="2400" dirty="0"/>
                        <a:t>Machines</a:t>
                      </a:r>
                    </a:p>
                  </a:txBody>
                  <a:tcPr marL="127462" marR="127462"/>
                </a:tc>
                <a:extLst>
                  <a:ext uri="{0D108BD9-81ED-4DB2-BD59-A6C34878D82A}">
                    <a16:rowId xmlns:a16="http://schemas.microsoft.com/office/drawing/2014/main" val="10000"/>
                  </a:ext>
                </a:extLst>
              </a:tr>
              <a:tr h="2753691">
                <a:tc>
                  <a:txBody>
                    <a:bodyPr/>
                    <a:lstStyle/>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Symbolic calculation</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Natural language understanding</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Not very precise</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Knowledge</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Generalize from examples</a:t>
                      </a:r>
                    </a:p>
                    <a:p>
                      <a:pPr marL="342900" indent="-342900" algn="l" defTabSz="914400" rtl="0" eaLnBrk="1" latinLnBrk="0" hangingPunct="1">
                        <a:spcBef>
                          <a:spcPct val="20000"/>
                        </a:spcBef>
                        <a:buFontTx/>
                        <a:buChar char="•"/>
                      </a:pPr>
                      <a:r>
                        <a:rPr lang="en-US" sz="2000" kern="1200" dirty="0">
                          <a:solidFill>
                            <a:schemeClr val="dk1"/>
                          </a:solidFill>
                          <a:latin typeface="Book Antiqua" pitchFamily="18" charset="0"/>
                          <a:ea typeface="+mn-ea"/>
                          <a:cs typeface="+mn-cs"/>
                        </a:rPr>
                        <a:t>Deal with noisy inputs</a:t>
                      </a:r>
                    </a:p>
                    <a:p>
                      <a:endParaRPr lang="en-US" dirty="0"/>
                    </a:p>
                  </a:txBody>
                  <a:tcPr marL="127462" marR="127462"/>
                </a:tc>
                <a:tc>
                  <a:txBody>
                    <a:bodyPr/>
                    <a:lstStyle/>
                    <a:p>
                      <a:pPr marL="342900" indent="-342900">
                        <a:spcBef>
                          <a:spcPct val="20000"/>
                        </a:spcBef>
                        <a:buFontTx/>
                        <a:buChar char="•"/>
                      </a:pPr>
                      <a:r>
                        <a:rPr lang="en-US" sz="2000" dirty="0">
                          <a:latin typeface="Book Antiqua" pitchFamily="18" charset="0"/>
                        </a:rPr>
                        <a:t>Numeric calculation</a:t>
                      </a:r>
                    </a:p>
                    <a:p>
                      <a:pPr marL="342900" indent="-342900">
                        <a:spcBef>
                          <a:spcPct val="20000"/>
                        </a:spcBef>
                        <a:buFontTx/>
                        <a:buChar char="•"/>
                      </a:pPr>
                      <a:r>
                        <a:rPr lang="en-US" sz="2000" dirty="0">
                          <a:latin typeface="Book Antiqua" pitchFamily="18" charset="0"/>
                        </a:rPr>
                        <a:t>Machine Language</a:t>
                      </a:r>
                    </a:p>
                    <a:p>
                      <a:pPr marL="342900" indent="-342900">
                        <a:spcBef>
                          <a:spcPct val="20000"/>
                        </a:spcBef>
                        <a:buFontTx/>
                        <a:buChar char="•"/>
                      </a:pPr>
                      <a:r>
                        <a:rPr lang="en-US" sz="2000" dirty="0">
                          <a:latin typeface="Book Antiqua" pitchFamily="18" charset="0"/>
                        </a:rPr>
                        <a:t>Precise</a:t>
                      </a:r>
                    </a:p>
                    <a:p>
                      <a:pPr marL="342900" indent="-342900">
                        <a:spcBef>
                          <a:spcPct val="20000"/>
                        </a:spcBef>
                        <a:buFontTx/>
                        <a:buChar char="•"/>
                      </a:pPr>
                      <a:r>
                        <a:rPr lang="en-US" sz="2000" dirty="0">
                          <a:latin typeface="Book Antiqua" pitchFamily="18" charset="0"/>
                        </a:rPr>
                        <a:t>Data</a:t>
                      </a:r>
                    </a:p>
                    <a:p>
                      <a:pPr marL="342900" indent="-342900">
                        <a:spcBef>
                          <a:spcPct val="20000"/>
                        </a:spcBef>
                        <a:buFontTx/>
                        <a:buChar char="•"/>
                      </a:pPr>
                      <a:r>
                        <a:rPr lang="en-US" sz="2000" dirty="0">
                          <a:latin typeface="Book Antiqua" pitchFamily="18" charset="0"/>
                        </a:rPr>
                        <a:t>Cannot generalize</a:t>
                      </a:r>
                    </a:p>
                    <a:p>
                      <a:pPr marL="342900" indent="-342900">
                        <a:spcBef>
                          <a:spcPct val="20000"/>
                        </a:spcBef>
                        <a:buFontTx/>
                        <a:buChar char="•"/>
                      </a:pPr>
                      <a:r>
                        <a:rPr lang="en-US" sz="2000" dirty="0">
                          <a:latin typeface="Book Antiqua" pitchFamily="18" charset="0"/>
                        </a:rPr>
                        <a:t>Cannot deal with noise</a:t>
                      </a:r>
                    </a:p>
                    <a:p>
                      <a:endParaRPr lang="en-US" sz="2000" dirty="0"/>
                    </a:p>
                  </a:txBody>
                  <a:tcPr marL="127462" marR="127462"/>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37562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What is AI?</a:t>
            </a:r>
          </a:p>
        </p:txBody>
      </p:sp>
      <p:sp>
        <p:nvSpPr>
          <p:cNvPr id="11279" name="Text Box 16"/>
          <p:cNvSpPr txBox="1">
            <a:spLocks noChangeArrowheads="1"/>
          </p:cNvSpPr>
          <p:nvPr/>
        </p:nvSpPr>
        <p:spPr bwMode="auto">
          <a:xfrm>
            <a:off x="2870200" y="1397001"/>
            <a:ext cx="7391400" cy="584773"/>
          </a:xfrm>
          <a:prstGeom prst="rect">
            <a:avLst/>
          </a:prstGeom>
          <a:noFill/>
          <a:ln w="9525">
            <a:noFill/>
            <a:miter lim="800000"/>
            <a:headEnd/>
            <a:tailEnd/>
          </a:ln>
        </p:spPr>
        <p:txBody>
          <a:bodyPr lIns="91439" tIns="45719" rIns="91439" bIns="45719">
            <a:spAutoFit/>
          </a:bodyPr>
          <a:lstStyle/>
          <a:p>
            <a:pPr>
              <a:spcBef>
                <a:spcPct val="50000"/>
              </a:spcBef>
            </a:pPr>
            <a:r>
              <a:rPr lang="en-US" sz="3200" dirty="0">
                <a:latin typeface="Calibri" pitchFamily="34" charset="0"/>
              </a:rPr>
              <a:t>The science of making machines that:</a:t>
            </a:r>
          </a:p>
        </p:txBody>
      </p:sp>
      <p:sp>
        <p:nvSpPr>
          <p:cNvPr id="7" name="TextBox 6"/>
          <p:cNvSpPr txBox="1"/>
          <p:nvPr/>
        </p:nvSpPr>
        <p:spPr>
          <a:xfrm>
            <a:off x="406400" y="2819401"/>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Think like people</a:t>
            </a:r>
          </a:p>
        </p:txBody>
      </p:sp>
      <p:sp>
        <p:nvSpPr>
          <p:cNvPr id="8" name="TextBox 7"/>
          <p:cNvSpPr txBox="1"/>
          <p:nvPr/>
        </p:nvSpPr>
        <p:spPr>
          <a:xfrm>
            <a:off x="406400" y="4866958"/>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Act like people</a:t>
            </a:r>
          </a:p>
        </p:txBody>
      </p:sp>
      <p:sp>
        <p:nvSpPr>
          <p:cNvPr id="9" name="TextBox 8"/>
          <p:cNvSpPr txBox="1"/>
          <p:nvPr/>
        </p:nvSpPr>
        <p:spPr>
          <a:xfrm>
            <a:off x="8839200" y="2819401"/>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Think rationally</a:t>
            </a:r>
          </a:p>
        </p:txBody>
      </p:sp>
      <p:sp>
        <p:nvSpPr>
          <p:cNvPr id="10" name="TextBox 9"/>
          <p:cNvSpPr txBox="1"/>
          <p:nvPr/>
        </p:nvSpPr>
        <p:spPr>
          <a:xfrm>
            <a:off x="8839200" y="4866957"/>
            <a:ext cx="2844800" cy="502766"/>
          </a:xfrm>
          <a:prstGeom prst="rect">
            <a:avLst/>
          </a:prstGeom>
          <a:noFill/>
        </p:spPr>
        <p:txBody>
          <a:bodyPr wrap="square" rtlCol="0">
            <a:spAutoFit/>
          </a:bodyPr>
          <a:lstStyle/>
          <a:p>
            <a:pPr algn="ctr"/>
            <a:r>
              <a:rPr lang="en-US" sz="2667" dirty="0">
                <a:solidFill>
                  <a:schemeClr val="accent2"/>
                </a:solidFill>
                <a:latin typeface="Calibri" pitchFamily="34" charset="0"/>
              </a:rPr>
              <a:t>Act rationally</a:t>
            </a:r>
          </a:p>
        </p:txBody>
      </p:sp>
      <p:pic>
        <p:nvPicPr>
          <p:cNvPr id="2" name="Picture 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352800" y="2209800"/>
            <a:ext cx="5418667" cy="4064000"/>
          </a:xfrm>
          <a:prstGeom prst="rect">
            <a:avLst/>
          </a:prstGeom>
          <a:noFill/>
        </p:spPr>
      </p:pic>
      <p:sp>
        <p:nvSpPr>
          <p:cNvPr id="3" name="TextBox 2"/>
          <p:cNvSpPr txBox="1"/>
          <p:nvPr/>
        </p:nvSpPr>
        <p:spPr>
          <a:xfrm>
            <a:off x="596347" y="3331291"/>
            <a:ext cx="2464905" cy="646331"/>
          </a:xfrm>
          <a:prstGeom prst="rect">
            <a:avLst/>
          </a:prstGeom>
          <a:noFill/>
        </p:spPr>
        <p:txBody>
          <a:bodyPr wrap="square" rtlCol="0">
            <a:spAutoFit/>
          </a:bodyPr>
          <a:lstStyle/>
          <a:p>
            <a:pPr algn="ctr"/>
            <a:r>
              <a:rPr lang="en-US" b="1" dirty="0">
                <a:latin typeface="Book Antiqua" pitchFamily="18" charset="0"/>
              </a:rPr>
              <a:t>Cognitive modeling approach</a:t>
            </a:r>
            <a:endParaRPr lang="en-US" dirty="0"/>
          </a:p>
        </p:txBody>
      </p:sp>
      <p:sp>
        <p:nvSpPr>
          <p:cNvPr id="11" name="TextBox 10"/>
          <p:cNvSpPr txBox="1"/>
          <p:nvPr/>
        </p:nvSpPr>
        <p:spPr>
          <a:xfrm>
            <a:off x="596347" y="5369723"/>
            <a:ext cx="2464905" cy="646331"/>
          </a:xfrm>
          <a:prstGeom prst="rect">
            <a:avLst/>
          </a:prstGeom>
          <a:noFill/>
        </p:spPr>
        <p:txBody>
          <a:bodyPr wrap="square" rtlCol="0">
            <a:spAutoFit/>
          </a:bodyPr>
          <a:lstStyle/>
          <a:p>
            <a:pPr algn="ctr"/>
            <a:r>
              <a:rPr lang="en-US" b="1" dirty="0">
                <a:latin typeface="Book Antiqua" pitchFamily="18" charset="0"/>
              </a:rPr>
              <a:t>Turing Test </a:t>
            </a:r>
          </a:p>
          <a:p>
            <a:pPr algn="ctr"/>
            <a:r>
              <a:rPr lang="en-US" b="1" dirty="0">
                <a:latin typeface="Book Antiqua" pitchFamily="18" charset="0"/>
              </a:rPr>
              <a:t>approach</a:t>
            </a:r>
            <a:endParaRPr lang="en-US" dirty="0"/>
          </a:p>
        </p:txBody>
      </p:sp>
      <p:sp>
        <p:nvSpPr>
          <p:cNvPr id="12" name="TextBox 11"/>
          <p:cNvSpPr txBox="1"/>
          <p:nvPr/>
        </p:nvSpPr>
        <p:spPr>
          <a:xfrm>
            <a:off x="9029147" y="3331291"/>
            <a:ext cx="2464905" cy="646331"/>
          </a:xfrm>
          <a:prstGeom prst="rect">
            <a:avLst/>
          </a:prstGeom>
          <a:noFill/>
        </p:spPr>
        <p:txBody>
          <a:bodyPr wrap="square" rtlCol="0">
            <a:spAutoFit/>
          </a:bodyPr>
          <a:lstStyle/>
          <a:p>
            <a:pPr algn="ctr"/>
            <a:r>
              <a:rPr lang="en-US" b="1" dirty="0">
                <a:latin typeface="Book Antiqua" pitchFamily="18" charset="0"/>
              </a:rPr>
              <a:t>Laws of thought approach</a:t>
            </a:r>
          </a:p>
        </p:txBody>
      </p:sp>
      <p:sp>
        <p:nvSpPr>
          <p:cNvPr id="13" name="TextBox 12"/>
          <p:cNvSpPr txBox="1"/>
          <p:nvPr/>
        </p:nvSpPr>
        <p:spPr>
          <a:xfrm>
            <a:off x="9063015" y="5369722"/>
            <a:ext cx="2464905" cy="646331"/>
          </a:xfrm>
          <a:prstGeom prst="rect">
            <a:avLst/>
          </a:prstGeom>
          <a:noFill/>
        </p:spPr>
        <p:txBody>
          <a:bodyPr wrap="square" rtlCol="0">
            <a:spAutoFit/>
          </a:bodyPr>
          <a:lstStyle/>
          <a:p>
            <a:pPr algn="ctr"/>
            <a:r>
              <a:rPr lang="en-US" b="1" dirty="0">
                <a:latin typeface="Book Antiqua" pitchFamily="18" charset="0"/>
              </a:rPr>
              <a:t>Rational agent approach</a:t>
            </a:r>
          </a:p>
        </p:txBody>
      </p:sp>
    </p:spTree>
    <p:extLst>
      <p:ext uri="{BB962C8B-B14F-4D97-AF65-F5344CB8AC3E}">
        <p14:creationId xmlns:p14="http://schemas.microsoft.com/office/powerpoint/2010/main" val="1334846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5F58-264F-4C44-BD09-DE08B7538E32}"/>
              </a:ext>
            </a:extLst>
          </p:cNvPr>
          <p:cNvSpPr>
            <a:spLocks noGrp="1"/>
          </p:cNvSpPr>
          <p:nvPr>
            <p:ph type="title"/>
          </p:nvPr>
        </p:nvSpPr>
        <p:spPr/>
        <p:txBody>
          <a:bodyPr/>
          <a:lstStyle/>
          <a:p>
            <a:r>
              <a:rPr lang="en-US" dirty="0"/>
              <a:t>What is AI?</a:t>
            </a:r>
            <a:endParaRPr lang="en-PK" dirty="0"/>
          </a:p>
        </p:txBody>
      </p:sp>
      <p:sp>
        <p:nvSpPr>
          <p:cNvPr id="3" name="Content Placeholder 2">
            <a:extLst>
              <a:ext uri="{FF2B5EF4-FFF2-40B4-BE49-F238E27FC236}">
                <a16:creationId xmlns:a16="http://schemas.microsoft.com/office/drawing/2014/main" id="{5C8A37C2-EF4B-4860-89D1-FE2AA5925EA5}"/>
              </a:ext>
            </a:extLst>
          </p:cNvPr>
          <p:cNvSpPr>
            <a:spLocks noGrp="1"/>
          </p:cNvSpPr>
          <p:nvPr>
            <p:ph idx="1"/>
          </p:nvPr>
        </p:nvSpPr>
        <p:spPr>
          <a:xfrm>
            <a:off x="838200" y="1835052"/>
            <a:ext cx="10515600" cy="4895686"/>
          </a:xfrm>
        </p:spPr>
        <p:txBody>
          <a:bodyPr>
            <a:normAutofit fontScale="70000" lnSpcReduction="20000"/>
          </a:bodyPr>
          <a:lstStyle/>
          <a:p>
            <a:r>
              <a:rPr lang="en-US" dirty="0"/>
              <a:t>Cognitive Modelling Approach:</a:t>
            </a:r>
          </a:p>
          <a:p>
            <a:pPr lvl="1"/>
            <a:r>
              <a:rPr lang="en-US" dirty="0"/>
              <a:t>This approach tries to answer: “how do humans think?” and then replicate the thinking process. Based on Psychology, neuroscience, and cognitive science. </a:t>
            </a:r>
          </a:p>
          <a:p>
            <a:r>
              <a:rPr lang="en-US" dirty="0"/>
              <a:t>Law of thought Approach:</a:t>
            </a:r>
          </a:p>
          <a:p>
            <a:pPr lvl="1"/>
            <a:r>
              <a:rPr lang="en-US" dirty="0"/>
              <a:t>Use mathematical logic to derive correct conclusions. (Propositional Logic, Predicate Logic, Theorem)</a:t>
            </a:r>
          </a:p>
          <a:p>
            <a:pPr lvl="1"/>
            <a:r>
              <a:rPr lang="en-US" dirty="0"/>
              <a:t>Example:</a:t>
            </a:r>
          </a:p>
          <a:p>
            <a:pPr marL="914400" lvl="2" indent="0">
              <a:buNone/>
            </a:pPr>
            <a:r>
              <a:rPr lang="en-US" dirty="0"/>
              <a:t>All humans are mortal</a:t>
            </a:r>
            <a:br>
              <a:rPr lang="en-US" dirty="0"/>
            </a:br>
            <a:r>
              <a:rPr lang="en-US" dirty="0"/>
              <a:t>Socrates is human</a:t>
            </a:r>
            <a:br>
              <a:rPr lang="en-US" dirty="0"/>
            </a:br>
            <a:r>
              <a:rPr lang="en-US" dirty="0"/>
              <a:t>→ Socrates is mortal</a:t>
            </a:r>
          </a:p>
          <a:p>
            <a:r>
              <a:rPr lang="en-US" dirty="0"/>
              <a:t>Turing Test:</a:t>
            </a:r>
          </a:p>
          <a:p>
            <a:pPr lvl="1"/>
            <a:r>
              <a:rPr lang="en-US" dirty="0"/>
              <a:t>If a machine behaves like a human, it is intelligent.</a:t>
            </a:r>
          </a:p>
          <a:p>
            <a:pPr marL="457200" lvl="1" indent="0">
              <a:buNone/>
            </a:pPr>
            <a:r>
              <a:rPr lang="en-US" b="1" dirty="0"/>
              <a:t>Limitation:</a:t>
            </a:r>
          </a:p>
          <a:p>
            <a:pPr lvl="1"/>
            <a:r>
              <a:rPr lang="en-US" dirty="0"/>
              <a:t>It measures imitation, not true intelligence.</a:t>
            </a:r>
          </a:p>
          <a:p>
            <a:pPr lvl="1"/>
            <a:r>
              <a:rPr lang="en-US" dirty="0"/>
              <a:t>A system can trick humans without real understanding.</a:t>
            </a:r>
          </a:p>
          <a:p>
            <a:r>
              <a:rPr lang="en-US" dirty="0"/>
              <a:t>Rational Agent Approach:</a:t>
            </a:r>
          </a:p>
          <a:p>
            <a:pPr lvl="1"/>
            <a:r>
              <a:rPr lang="en-US" dirty="0"/>
              <a:t>Acts to maximize expected performance given what it knows.</a:t>
            </a:r>
          </a:p>
          <a:p>
            <a:pPr lvl="1"/>
            <a:r>
              <a:rPr lang="en-US" dirty="0"/>
              <a:t>Example:</a:t>
            </a:r>
          </a:p>
          <a:p>
            <a:pPr lvl="2"/>
            <a:r>
              <a:rPr lang="en-US" dirty="0"/>
              <a:t>Self-driving car:</a:t>
            </a:r>
          </a:p>
          <a:p>
            <a:pPr lvl="2"/>
            <a:r>
              <a:rPr lang="en-US" dirty="0"/>
              <a:t>Doesn’t need to drive like a human</a:t>
            </a:r>
          </a:p>
          <a:p>
            <a:pPr lvl="2"/>
            <a:r>
              <a:rPr lang="en-US" dirty="0"/>
              <a:t>It just needs to drive safely and efficiently</a:t>
            </a:r>
          </a:p>
          <a:p>
            <a:pPr lvl="1"/>
            <a:endParaRPr lang="en-US" dirty="0"/>
          </a:p>
        </p:txBody>
      </p:sp>
    </p:spTree>
    <p:extLst>
      <p:ext uri="{BB962C8B-B14F-4D97-AF65-F5344CB8AC3E}">
        <p14:creationId xmlns:p14="http://schemas.microsoft.com/office/powerpoint/2010/main" val="3577600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Artificial Intelligence</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804" y="1979891"/>
            <a:ext cx="6576391" cy="4356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164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Artificial Intelligence?</a:t>
            </a:r>
          </a:p>
        </p:txBody>
      </p:sp>
      <p:sp>
        <p:nvSpPr>
          <p:cNvPr id="2" name="Content Placeholder 1">
            <a:extLst>
              <a:ext uri="{FF2B5EF4-FFF2-40B4-BE49-F238E27FC236}">
                <a16:creationId xmlns:a16="http://schemas.microsoft.com/office/drawing/2014/main" id="{1BD277C5-626F-E817-F2FA-4295D987A57F}"/>
              </a:ext>
            </a:extLst>
          </p:cNvPr>
          <p:cNvSpPr>
            <a:spLocks noGrp="1"/>
          </p:cNvSpPr>
          <p:nvPr>
            <p:ph idx="1"/>
          </p:nvPr>
        </p:nvSpPr>
        <p:spPr/>
        <p:txBody>
          <a:bodyPr/>
          <a:lstStyle/>
          <a:p>
            <a:pPr algn="just"/>
            <a:r>
              <a:rPr lang="en-US" b="0" i="0" dirty="0">
                <a:solidFill>
                  <a:srgbClr val="0D0D0D"/>
                </a:solidFill>
                <a:effectLst/>
              </a:rPr>
              <a:t>Artificial intelligence (AI) refers to the development of computer systems that can perform tasks that typically require human intelligence. These tasks include understanding natural language, recognizing patterns, learning from experience, reasoning, and making decisions</a:t>
            </a:r>
            <a:endParaRPr lang="en-US" dirty="0"/>
          </a:p>
        </p:txBody>
      </p:sp>
    </p:spTree>
    <p:extLst>
      <p:ext uri="{BB962C8B-B14F-4D97-AF65-F5344CB8AC3E}">
        <p14:creationId xmlns:p14="http://schemas.microsoft.com/office/powerpoint/2010/main" val="1651830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defRPr/>
            </a:pPr>
            <a:r>
              <a:rPr lang="en-US" dirty="0"/>
              <a:t>Acting Humanly: </a:t>
            </a:r>
            <a:br>
              <a:rPr lang="en-US" dirty="0"/>
            </a:br>
            <a:r>
              <a:rPr lang="en-US" dirty="0"/>
              <a:t>Turing Test</a:t>
            </a:r>
          </a:p>
        </p:txBody>
      </p:sp>
      <p:sp>
        <p:nvSpPr>
          <p:cNvPr id="11267" name="Rectangle 3"/>
          <p:cNvSpPr>
            <a:spLocks noGrp="1" noChangeArrowheads="1"/>
          </p:cNvSpPr>
          <p:nvPr>
            <p:ph idx="1"/>
          </p:nvPr>
        </p:nvSpPr>
        <p:spPr>
          <a:xfrm>
            <a:off x="838200" y="1825625"/>
            <a:ext cx="9290538" cy="4351338"/>
          </a:xfrm>
        </p:spPr>
        <p:txBody>
          <a:bodyPr>
            <a:normAutofit/>
          </a:bodyPr>
          <a:lstStyle/>
          <a:p>
            <a:pPr>
              <a:lnSpc>
                <a:spcPct val="110000"/>
              </a:lnSpc>
            </a:pPr>
            <a:r>
              <a:rPr lang="en-US" dirty="0"/>
              <a:t>Alan Turing (1950)</a:t>
            </a:r>
            <a:r>
              <a:rPr lang="en-US" dirty="0">
                <a:solidFill>
                  <a:srgbClr val="FF0000"/>
                </a:solidFill>
              </a:rPr>
              <a:t> “Computing machinery and intelligence”.</a:t>
            </a:r>
            <a:endParaRPr lang="en-US" dirty="0"/>
          </a:p>
          <a:p>
            <a:pPr>
              <a:lnSpc>
                <a:spcPct val="80000"/>
              </a:lnSpc>
            </a:pPr>
            <a:endParaRPr lang="en-US" dirty="0"/>
          </a:p>
          <a:p>
            <a:pPr>
              <a:lnSpc>
                <a:spcPct val="80000"/>
              </a:lnSpc>
            </a:pPr>
            <a:endParaRPr lang="en-US" dirty="0"/>
          </a:p>
          <a:p>
            <a:pPr>
              <a:lnSpc>
                <a:spcPct val="80000"/>
              </a:lnSpc>
              <a:buFontTx/>
              <a:buNone/>
            </a:pPr>
            <a:endParaRPr lang="en-US" dirty="0"/>
          </a:p>
          <a:p>
            <a:pPr>
              <a:lnSpc>
                <a:spcPct val="80000"/>
              </a:lnSpc>
            </a:pPr>
            <a:endParaRPr lang="en-US" dirty="0">
              <a:solidFill>
                <a:srgbClr val="FF0000"/>
              </a:solidFill>
            </a:endParaRPr>
          </a:p>
          <a:p>
            <a:pPr>
              <a:lnSpc>
                <a:spcPct val="80000"/>
              </a:lnSpc>
            </a:pPr>
            <a:endParaRPr lang="en-US" dirty="0"/>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2711"/>
          <a:stretch/>
        </p:blipFill>
        <p:spPr bwMode="auto">
          <a:xfrm>
            <a:off x="9988647" y="2493000"/>
            <a:ext cx="1688502" cy="193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483158" y="2611505"/>
            <a:ext cx="7785296"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800" dirty="0"/>
              <a:t>A computer passes the test if a human interrogator, after posing some written questions, cannot tell whether the written responses come from a person or from a computer.</a:t>
            </a:r>
          </a:p>
        </p:txBody>
      </p:sp>
      <p:pic>
        <p:nvPicPr>
          <p:cNvPr id="4" name="Picture 3"/>
          <p:cNvPicPr>
            <a:picLocks noChangeAspect="1"/>
          </p:cNvPicPr>
          <p:nvPr/>
        </p:nvPicPr>
        <p:blipFill>
          <a:blip r:embed="rId3"/>
          <a:stretch>
            <a:fillRect/>
          </a:stretch>
        </p:blipFill>
        <p:spPr>
          <a:xfrm>
            <a:off x="2838657" y="4544046"/>
            <a:ext cx="6143625" cy="2143125"/>
          </a:xfrm>
          <a:prstGeom prst="rect">
            <a:avLst/>
          </a:prstGeom>
        </p:spPr>
      </p:pic>
    </p:spTree>
    <p:extLst>
      <p:ext uri="{BB962C8B-B14F-4D97-AF65-F5344CB8AC3E}">
        <p14:creationId xmlns:p14="http://schemas.microsoft.com/office/powerpoint/2010/main" val="2515027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E42C5C-1F29-40DC-A2A5-F8C36A077F0A}"/>
              </a:ext>
            </a:extLst>
          </p:cNvPr>
          <p:cNvSpPr txBox="1">
            <a:spLocks noChangeArrowheads="1"/>
          </p:cNvSpPr>
          <p:nvPr/>
        </p:nvSpPr>
        <p:spPr>
          <a:xfrm>
            <a:off x="639418" y="0"/>
            <a:ext cx="10515600" cy="36547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br>
              <a:rPr lang="en-US" dirty="0"/>
            </a:br>
            <a:r>
              <a:rPr lang="en-US" dirty="0"/>
              <a:t>Turing Test Capabilities</a:t>
            </a:r>
          </a:p>
        </p:txBody>
      </p:sp>
      <p:pic>
        <p:nvPicPr>
          <p:cNvPr id="5" name="Picture 4">
            <a:extLst>
              <a:ext uri="{FF2B5EF4-FFF2-40B4-BE49-F238E27FC236}">
                <a16:creationId xmlns:a16="http://schemas.microsoft.com/office/drawing/2014/main" id="{191E468A-6BCD-49B2-BC28-C3B78ABC1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589" y="1505144"/>
            <a:ext cx="9426511" cy="5305231"/>
          </a:xfrm>
          <a:prstGeom prst="rect">
            <a:avLst/>
          </a:prstGeom>
        </p:spPr>
      </p:pic>
    </p:spTree>
    <p:extLst>
      <p:ext uri="{BB962C8B-B14F-4D97-AF65-F5344CB8AC3E}">
        <p14:creationId xmlns:p14="http://schemas.microsoft.com/office/powerpoint/2010/main" val="398473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5C3801-12CA-4D0B-8D61-6B0ADFA01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776015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Thinking Humanly: </a:t>
            </a:r>
            <a:br>
              <a:rPr lang="en-US" dirty="0"/>
            </a:br>
            <a:r>
              <a:rPr lang="en-US" dirty="0"/>
              <a:t>The cognitive modeling approach</a:t>
            </a:r>
          </a:p>
        </p:txBody>
      </p:sp>
      <p:sp>
        <p:nvSpPr>
          <p:cNvPr id="3" name="Content Placeholder 2"/>
          <p:cNvSpPr>
            <a:spLocks noGrp="1"/>
          </p:cNvSpPr>
          <p:nvPr>
            <p:ph idx="1"/>
          </p:nvPr>
        </p:nvSpPr>
        <p:spPr>
          <a:xfrm>
            <a:off x="838200" y="1690688"/>
            <a:ext cx="10515600" cy="5167311"/>
          </a:xfrm>
        </p:spPr>
        <p:txBody>
          <a:bodyPr>
            <a:normAutofit fontScale="92500" lnSpcReduction="10000"/>
          </a:bodyPr>
          <a:lstStyle/>
          <a:p>
            <a:pPr>
              <a:lnSpc>
                <a:spcPct val="120000"/>
              </a:lnSpc>
            </a:pPr>
            <a:r>
              <a:rPr lang="en-US" dirty="0"/>
              <a:t>Requires scientific </a:t>
            </a:r>
            <a:r>
              <a:rPr lang="en-US" u="sng" dirty="0"/>
              <a:t>theories of internal activities</a:t>
            </a:r>
            <a:r>
              <a:rPr lang="en-US" dirty="0"/>
              <a:t> of the brain.</a:t>
            </a:r>
          </a:p>
          <a:p>
            <a:pPr lvl="1">
              <a:lnSpc>
                <a:spcPct val="120000"/>
              </a:lnSpc>
            </a:pPr>
            <a:r>
              <a:rPr lang="en-US" dirty="0">
                <a:solidFill>
                  <a:srgbClr val="FF0000"/>
                </a:solidFill>
              </a:rPr>
              <a:t>Cognitive Science: </a:t>
            </a:r>
            <a:r>
              <a:rPr lang="en-US" dirty="0"/>
              <a:t>Predicting and testing behavior of human subjects </a:t>
            </a:r>
            <a:r>
              <a:rPr lang="en-US" dirty="0">
                <a:solidFill>
                  <a:srgbClr val="FF0000"/>
                </a:solidFill>
              </a:rPr>
              <a:t>(Hypothesis based)</a:t>
            </a:r>
          </a:p>
          <a:p>
            <a:pPr lvl="1">
              <a:lnSpc>
                <a:spcPct val="120000"/>
              </a:lnSpc>
            </a:pPr>
            <a:r>
              <a:rPr lang="en-US" dirty="0">
                <a:solidFill>
                  <a:srgbClr val="FF0000"/>
                </a:solidFill>
              </a:rPr>
              <a:t>Cognitive Neuroscience: </a:t>
            </a:r>
            <a:r>
              <a:rPr lang="en-US" dirty="0"/>
              <a:t>Direct identification from neurological data </a:t>
            </a:r>
            <a:r>
              <a:rPr lang="en-US" dirty="0">
                <a:solidFill>
                  <a:srgbClr val="FF0000"/>
                </a:solidFill>
              </a:rPr>
              <a:t>(Data driven)</a:t>
            </a:r>
            <a:endParaRPr lang="en-US" dirty="0"/>
          </a:p>
          <a:p>
            <a:pPr>
              <a:lnSpc>
                <a:spcPct val="120000"/>
              </a:lnSpc>
            </a:pPr>
            <a:r>
              <a:rPr lang="en-US" dirty="0"/>
              <a:t>However:</a:t>
            </a:r>
          </a:p>
          <a:p>
            <a:pPr lvl="1">
              <a:lnSpc>
                <a:spcPct val="120000"/>
              </a:lnSpc>
            </a:pPr>
            <a:r>
              <a:rPr lang="en-US" dirty="0">
                <a:solidFill>
                  <a:srgbClr val="0033CC"/>
                </a:solidFill>
              </a:rPr>
              <a:t>the available theories </a:t>
            </a:r>
            <a:r>
              <a:rPr lang="en-US" dirty="0">
                <a:solidFill>
                  <a:srgbClr val="0033CC"/>
                </a:solidFill>
                <a:effectLst>
                  <a:outerShdw blurRad="38100" dist="38100" dir="2700000" algn="tl">
                    <a:srgbClr val="000000">
                      <a:alpha val="43137"/>
                    </a:srgbClr>
                  </a:outerShdw>
                </a:effectLst>
              </a:rPr>
              <a:t>do not explain anything </a:t>
            </a:r>
            <a:r>
              <a:rPr lang="en-US" dirty="0">
                <a:solidFill>
                  <a:srgbClr val="0033CC"/>
                </a:solidFill>
              </a:rPr>
              <a:t>resembling human-level general intelligence – can not understand full human creativity, general intelligence, flexible reasoning</a:t>
            </a:r>
          </a:p>
          <a:p>
            <a:pPr lvl="1">
              <a:lnSpc>
                <a:spcPct val="120000"/>
              </a:lnSpc>
            </a:pPr>
            <a:r>
              <a:rPr lang="en-US" dirty="0"/>
              <a:t>It may be impossible to identify the detailed structure of human problem solving using only externally-available data. We can not fully know exact mental steps, all neural connections, complete internal representation because thoughts are not directly observable, brain is extremely complex.</a:t>
            </a:r>
            <a:endParaRPr lang="en-US" sz="3200" dirty="0"/>
          </a:p>
          <a:p>
            <a:pPr lvl="1">
              <a:lnSpc>
                <a:spcPct val="120000"/>
              </a:lnSpc>
            </a:pPr>
            <a:endParaRPr lang="en-US" dirty="0">
              <a:solidFill>
                <a:srgbClr val="0033CC"/>
              </a:solidFill>
            </a:endParaRPr>
          </a:p>
        </p:txBody>
      </p:sp>
      <p:sp>
        <p:nvSpPr>
          <p:cNvPr id="4" name="Slide Number Placeholder 3"/>
          <p:cNvSpPr>
            <a:spLocks noGrp="1"/>
          </p:cNvSpPr>
          <p:nvPr>
            <p:ph type="sldNum" sz="quarter" idx="12"/>
          </p:nvPr>
        </p:nvSpPr>
        <p:spPr/>
        <p:txBody>
          <a:bodyPr/>
          <a:lstStyle/>
          <a:p>
            <a:fld id="{FDFCE4C1-E6A0-4AA9-9965-F1CD6F0FDCC0}" type="slidenum">
              <a:rPr lang="en-US" smtClean="0"/>
              <a:t>23</a:t>
            </a:fld>
            <a:endParaRPr lang="en-US"/>
          </a:p>
        </p:txBody>
      </p:sp>
      <p:pic>
        <p:nvPicPr>
          <p:cNvPr id="5122" name="Picture 2" descr="Image result for cognitive neuro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151" y="365125"/>
            <a:ext cx="14478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05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23189" r="26896"/>
          <a:stretch/>
        </p:blipFill>
        <p:spPr bwMode="auto">
          <a:xfrm>
            <a:off x="8449389" y="2671690"/>
            <a:ext cx="3042745" cy="3924301"/>
          </a:xfrm>
          <a:prstGeom prst="rect">
            <a:avLst/>
          </a:prstGeom>
          <a:noFill/>
          <a:extLst>
            <a:ext uri="{909E8E84-426E-40DD-AFC4-6F175D3DCCD1}">
              <a14:hiddenFill xmlns:a14="http://schemas.microsoft.com/office/drawing/2010/main">
                <a:solidFill>
                  <a:srgbClr val="FFFFFF"/>
                </a:solidFill>
              </a14:hiddenFill>
            </a:ext>
          </a:extLst>
        </p:spPr>
      </p:pic>
      <p:sp>
        <p:nvSpPr>
          <p:cNvPr id="9218" name="Rectangle 2"/>
          <p:cNvSpPr>
            <a:spLocks noGrp="1" noChangeArrowheads="1"/>
          </p:cNvSpPr>
          <p:nvPr>
            <p:ph type="title"/>
          </p:nvPr>
        </p:nvSpPr>
        <p:spPr/>
        <p:txBody>
          <a:bodyPr>
            <a:noAutofit/>
          </a:bodyPr>
          <a:lstStyle/>
          <a:p>
            <a:pPr algn="ctr">
              <a:defRPr/>
            </a:pPr>
            <a:r>
              <a:rPr lang="en-US" sz="4000" dirty="0"/>
              <a:t>Thinking Humanly: </a:t>
            </a:r>
            <a:br>
              <a:rPr lang="en-US" sz="4000" dirty="0"/>
            </a:br>
            <a:r>
              <a:rPr lang="en-US" sz="4000" dirty="0"/>
              <a:t>The cognitive modeling approach</a:t>
            </a:r>
          </a:p>
        </p:txBody>
      </p:sp>
      <p:sp>
        <p:nvSpPr>
          <p:cNvPr id="12291" name="Rectangle 3"/>
          <p:cNvSpPr>
            <a:spLocks noGrp="1" noChangeArrowheads="1"/>
          </p:cNvSpPr>
          <p:nvPr>
            <p:ph idx="1"/>
          </p:nvPr>
        </p:nvSpPr>
        <p:spPr>
          <a:xfrm>
            <a:off x="838200" y="1825624"/>
            <a:ext cx="10515600" cy="4594029"/>
          </a:xfrm>
        </p:spPr>
        <p:txBody>
          <a:bodyPr>
            <a:normAutofit/>
          </a:bodyPr>
          <a:lstStyle/>
          <a:p>
            <a:r>
              <a:rPr lang="en-US" dirty="0"/>
              <a:t>For that we must determine </a:t>
            </a:r>
            <a:r>
              <a:rPr lang="en-US" dirty="0">
                <a:solidFill>
                  <a:srgbClr val="FF0000"/>
                </a:solidFill>
              </a:rPr>
              <a:t>how humans think</a:t>
            </a:r>
            <a:r>
              <a:rPr lang="en-US" dirty="0"/>
              <a:t>. </a:t>
            </a:r>
          </a:p>
          <a:p>
            <a:r>
              <a:rPr lang="en-US" dirty="0"/>
              <a:t>Need to get </a:t>
            </a:r>
            <a:r>
              <a:rPr lang="en-US" i="1" dirty="0"/>
              <a:t>inside </a:t>
            </a:r>
            <a:r>
              <a:rPr lang="en-US" dirty="0"/>
              <a:t>the actual workings of human minds.</a:t>
            </a:r>
          </a:p>
          <a:p>
            <a:pPr marL="0" indent="0">
              <a:buNone/>
            </a:pPr>
            <a:r>
              <a:rPr lang="en-US" dirty="0"/>
              <a:t>Three ways to do this: </a:t>
            </a:r>
          </a:p>
          <a:p>
            <a:r>
              <a:rPr lang="en-US" dirty="0">
                <a:solidFill>
                  <a:srgbClr val="0033CC"/>
                </a:solidFill>
              </a:rPr>
              <a:t>Through introspection</a:t>
            </a:r>
          </a:p>
          <a:p>
            <a:pPr lvl="1"/>
            <a:r>
              <a:rPr lang="en-US" dirty="0"/>
              <a:t>trying to catch our own thoughts as they go by</a:t>
            </a:r>
          </a:p>
          <a:p>
            <a:pPr lvl="2"/>
            <a:r>
              <a:rPr lang="en-US" dirty="0"/>
              <a:t>When solving 27 × 14, what happened in your mind?</a:t>
            </a:r>
          </a:p>
          <a:p>
            <a:r>
              <a:rPr lang="en-US" dirty="0">
                <a:solidFill>
                  <a:srgbClr val="FF0000"/>
                </a:solidFill>
              </a:rPr>
              <a:t>Through psychological experiments</a:t>
            </a:r>
          </a:p>
          <a:p>
            <a:pPr lvl="1"/>
            <a:r>
              <a:rPr lang="en-US" dirty="0"/>
              <a:t>observing a person in action (color-word)</a:t>
            </a:r>
          </a:p>
          <a:p>
            <a:r>
              <a:rPr lang="en-US" dirty="0">
                <a:solidFill>
                  <a:srgbClr val="FF0000"/>
                </a:solidFill>
              </a:rPr>
              <a:t>Through brain imaging</a:t>
            </a:r>
          </a:p>
          <a:p>
            <a:pPr lvl="1"/>
            <a:r>
              <a:rPr lang="en-US" dirty="0"/>
              <a:t>observing the brain in action.</a:t>
            </a:r>
          </a:p>
        </p:txBody>
      </p:sp>
    </p:spTree>
    <p:extLst>
      <p:ext uri="{BB962C8B-B14F-4D97-AF65-F5344CB8AC3E}">
        <p14:creationId xmlns:p14="http://schemas.microsoft.com/office/powerpoint/2010/main" val="221994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291">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aristot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6699" y="417810"/>
            <a:ext cx="2307101" cy="2680694"/>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p:txBody>
          <a:bodyPr>
            <a:normAutofit/>
          </a:bodyPr>
          <a:lstStyle/>
          <a:p>
            <a:pPr algn="ctr">
              <a:defRPr/>
            </a:pPr>
            <a:r>
              <a:rPr lang="en-US" sz="4000" dirty="0"/>
              <a:t>Thinking Rationally:  </a:t>
            </a:r>
            <a:br>
              <a:rPr lang="en-US" sz="4000" dirty="0"/>
            </a:br>
            <a:r>
              <a:rPr lang="en-US" sz="4000" dirty="0"/>
              <a:t>Laws of Thought</a:t>
            </a:r>
          </a:p>
        </p:txBody>
      </p:sp>
      <p:sp>
        <p:nvSpPr>
          <p:cNvPr id="13315" name="Rectangle 3"/>
          <p:cNvSpPr>
            <a:spLocks noGrp="1" noChangeArrowheads="1"/>
          </p:cNvSpPr>
          <p:nvPr>
            <p:ph idx="1"/>
          </p:nvPr>
        </p:nvSpPr>
        <p:spPr/>
        <p:txBody>
          <a:bodyPr>
            <a:normAutofit fontScale="92500" lnSpcReduction="20000"/>
          </a:bodyPr>
          <a:lstStyle/>
          <a:p>
            <a:r>
              <a:rPr lang="en-US" dirty="0">
                <a:solidFill>
                  <a:srgbClr val="FF0000"/>
                </a:solidFill>
              </a:rPr>
              <a:t>Aristotle: </a:t>
            </a:r>
            <a:r>
              <a:rPr lang="en-US" dirty="0"/>
              <a:t>First to codify </a:t>
            </a:r>
            <a:r>
              <a:rPr lang="en-US" dirty="0">
                <a:solidFill>
                  <a:srgbClr val="0033CC"/>
                </a:solidFill>
              </a:rPr>
              <a:t>“right thinking”</a:t>
            </a:r>
          </a:p>
          <a:p>
            <a:pPr lvl="1"/>
            <a:r>
              <a:rPr lang="en-US" dirty="0">
                <a:solidFill>
                  <a:srgbClr val="0033CC"/>
                </a:solidFill>
              </a:rPr>
              <a:t>Right thinking: </a:t>
            </a:r>
            <a:r>
              <a:rPr lang="en-US" dirty="0"/>
              <a:t>Thinking according to correct logical rules</a:t>
            </a:r>
          </a:p>
          <a:p>
            <a:pPr lvl="1"/>
            <a:endParaRPr lang="en-US" dirty="0">
              <a:solidFill>
                <a:srgbClr val="0033CC"/>
              </a:solidFill>
            </a:endParaRPr>
          </a:p>
          <a:p>
            <a:r>
              <a:rPr lang="en-US" dirty="0"/>
              <a:t>Several Greek schools developed various forms of logic:</a:t>
            </a:r>
          </a:p>
          <a:p>
            <a:pPr lvl="1"/>
            <a:r>
              <a:rPr lang="en-US" dirty="0"/>
              <a:t>Notation and rules of derivation for thoughts</a:t>
            </a:r>
          </a:p>
          <a:p>
            <a:pPr lvl="1"/>
            <a:r>
              <a:rPr lang="en-US" dirty="0"/>
              <a:t>Propositional logic, Predicate logic, etc.</a:t>
            </a:r>
          </a:p>
          <a:p>
            <a:endParaRPr lang="en-US" dirty="0"/>
          </a:p>
          <a:p>
            <a:r>
              <a:rPr lang="en-US" dirty="0"/>
              <a:t>Always yield correct conclusions when given correct premises, logically wrong premises can lead to wrong results</a:t>
            </a:r>
          </a:p>
          <a:p>
            <a:pPr lvl="1"/>
            <a:r>
              <a:rPr lang="en-US" dirty="0"/>
              <a:t>E.g. “Socrates is a man; all men are mortal; therefore, Socrates is mortal.”</a:t>
            </a:r>
          </a:p>
          <a:p>
            <a:pPr lvl="1"/>
            <a:endParaRPr lang="en-US" dirty="0"/>
          </a:p>
          <a:p>
            <a:r>
              <a:rPr lang="en-US" dirty="0"/>
              <a:t>These laws of thought were supposed to govern the operation of the mind; their study initiated the field called </a:t>
            </a:r>
            <a:r>
              <a:rPr lang="en-US" b="1" dirty="0"/>
              <a:t>logic</a:t>
            </a:r>
            <a:r>
              <a:rPr lang="en-US" dirty="0"/>
              <a:t>.</a:t>
            </a:r>
          </a:p>
          <a:p>
            <a:endParaRPr lang="en-US" dirty="0"/>
          </a:p>
          <a:p>
            <a:endParaRPr lang="en-US" dirty="0"/>
          </a:p>
        </p:txBody>
      </p:sp>
    </p:spTree>
    <p:extLst>
      <p:ext uri="{BB962C8B-B14F-4D97-AF65-F5344CB8AC3E}">
        <p14:creationId xmlns:p14="http://schemas.microsoft.com/office/powerpoint/2010/main" val="54405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dirty="0"/>
              <a:t>Thinking Rationally:  </a:t>
            </a:r>
            <a:br>
              <a:rPr lang="en-US" dirty="0"/>
            </a:br>
            <a:r>
              <a:rPr lang="en-US" dirty="0"/>
              <a:t>Laws of Thought</a:t>
            </a:r>
          </a:p>
        </p:txBody>
      </p:sp>
      <p:sp>
        <p:nvSpPr>
          <p:cNvPr id="3" name="Content Placeholder 2"/>
          <p:cNvSpPr>
            <a:spLocks noGrp="1"/>
          </p:cNvSpPr>
          <p:nvPr>
            <p:ph idx="1"/>
          </p:nvPr>
        </p:nvSpPr>
        <p:spPr>
          <a:xfrm>
            <a:off x="732183" y="1238250"/>
            <a:ext cx="10515600" cy="5483225"/>
          </a:xfrm>
        </p:spPr>
        <p:txBody>
          <a:bodyPr>
            <a:normAutofit fontScale="62500" lnSpcReduction="20000"/>
          </a:bodyPr>
          <a:lstStyle/>
          <a:p>
            <a:r>
              <a:rPr lang="en-US" b="1" dirty="0">
                <a:solidFill>
                  <a:srgbClr val="0033CC"/>
                </a:solidFill>
              </a:rPr>
              <a:t>Problems:</a:t>
            </a:r>
          </a:p>
          <a:p>
            <a:r>
              <a:rPr lang="en-US" dirty="0"/>
              <a:t>Not easy to state informal knowledge in logical notation</a:t>
            </a:r>
          </a:p>
          <a:p>
            <a:pPr lvl="1"/>
            <a:r>
              <a:rPr lang="en-US" dirty="0"/>
              <a:t>How do you translate "The soup is a bit too salty" or "She seems upset" into precise logical notation? How would you write these statements in mathematical logic?</a:t>
            </a:r>
          </a:p>
          <a:p>
            <a:pPr lvl="1"/>
            <a:r>
              <a:rPr lang="en-US" dirty="0"/>
              <a:t>There is no clear answer because words like:</a:t>
            </a:r>
          </a:p>
          <a:p>
            <a:pPr lvl="2"/>
            <a:r>
              <a:rPr lang="en-US" dirty="0"/>
              <a:t>Bit</a:t>
            </a:r>
          </a:p>
          <a:p>
            <a:pPr lvl="2"/>
            <a:r>
              <a:rPr lang="en-US" dirty="0"/>
              <a:t>Seems</a:t>
            </a:r>
          </a:p>
          <a:p>
            <a:pPr lvl="2"/>
            <a:r>
              <a:rPr lang="en-US" dirty="0"/>
              <a:t>Quite</a:t>
            </a:r>
          </a:p>
          <a:p>
            <a:pPr lvl="2"/>
            <a:r>
              <a:rPr lang="en-US" dirty="0"/>
              <a:t>Almost</a:t>
            </a:r>
          </a:p>
          <a:p>
            <a:pPr lvl="2"/>
            <a:r>
              <a:rPr lang="en-US" dirty="0"/>
              <a:t>Probably</a:t>
            </a:r>
          </a:p>
          <a:p>
            <a:pPr marL="457200" lvl="1" indent="0">
              <a:buNone/>
            </a:pPr>
            <a:r>
              <a:rPr lang="en-US" dirty="0"/>
              <a:t>are subjective</a:t>
            </a:r>
          </a:p>
          <a:p>
            <a:r>
              <a:rPr lang="en-US" dirty="0"/>
              <a:t>Classical logic works with statements that are either:</a:t>
            </a:r>
          </a:p>
          <a:p>
            <a:r>
              <a:rPr lang="en-US" dirty="0"/>
              <a:t>True </a:t>
            </a:r>
          </a:p>
          <a:p>
            <a:r>
              <a:rPr lang="en-US" dirty="0"/>
              <a:t>False</a:t>
            </a:r>
          </a:p>
          <a:p>
            <a:r>
              <a:rPr lang="en-US" dirty="0"/>
              <a:t>Is 30°C hot?</a:t>
            </a:r>
          </a:p>
          <a:p>
            <a:pPr lvl="1"/>
            <a:r>
              <a:rPr lang="en-US" dirty="0"/>
              <a:t>Depends on </a:t>
            </a:r>
          </a:p>
          <a:p>
            <a:pPr lvl="2"/>
            <a:r>
              <a:rPr lang="en-US" dirty="0"/>
              <a:t>Weather</a:t>
            </a:r>
          </a:p>
          <a:p>
            <a:pPr lvl="2"/>
            <a:r>
              <a:rPr lang="en-US" dirty="0"/>
              <a:t>Person</a:t>
            </a:r>
          </a:p>
          <a:p>
            <a:pPr lvl="2"/>
            <a:r>
              <a:rPr lang="en-US" dirty="0"/>
              <a:t>Country</a:t>
            </a:r>
          </a:p>
          <a:p>
            <a:r>
              <a:rPr lang="en-US" dirty="0"/>
              <a:t>Humans understand this naturally.</a:t>
            </a:r>
          </a:p>
          <a:p>
            <a:r>
              <a:rPr lang="en-US" dirty="0"/>
              <a:t>Computers struggle.</a:t>
            </a:r>
          </a:p>
          <a:p>
            <a:pPr marL="457200" lvl="1" indent="0">
              <a:buNone/>
            </a:pPr>
            <a:endParaRPr lang="en-US" dirty="0"/>
          </a:p>
        </p:txBody>
      </p:sp>
      <p:sp>
        <p:nvSpPr>
          <p:cNvPr id="4" name="Slide Number Placeholder 3"/>
          <p:cNvSpPr>
            <a:spLocks noGrp="1"/>
          </p:cNvSpPr>
          <p:nvPr>
            <p:ph type="sldNum" sz="quarter" idx="12"/>
          </p:nvPr>
        </p:nvSpPr>
        <p:spPr/>
        <p:txBody>
          <a:bodyPr/>
          <a:lstStyle/>
          <a:p>
            <a:fld id="{FDFCE4C1-E6A0-4AA9-9965-F1CD6F0FDCC0}" type="slidenum">
              <a:rPr lang="en-US" smtClean="0"/>
              <a:t>26</a:t>
            </a:fld>
            <a:endParaRPr lang="en-US"/>
          </a:p>
        </p:txBody>
      </p:sp>
    </p:spTree>
    <p:extLst>
      <p:ext uri="{BB962C8B-B14F-4D97-AF65-F5344CB8AC3E}">
        <p14:creationId xmlns:p14="http://schemas.microsoft.com/office/powerpoint/2010/main" val="2978247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A50C8-5DAC-465E-A5BC-9B3978232317}"/>
              </a:ext>
            </a:extLst>
          </p:cNvPr>
          <p:cNvSpPr>
            <a:spLocks noGrp="1"/>
          </p:cNvSpPr>
          <p:nvPr>
            <p:ph type="title"/>
          </p:nvPr>
        </p:nvSpPr>
        <p:spPr/>
        <p:txBody>
          <a:bodyPr/>
          <a:lstStyle/>
          <a:p>
            <a:pPr algn="ctr"/>
            <a:r>
              <a:rPr lang="en-US" dirty="0"/>
              <a:t>Thinking Rationally:  </a:t>
            </a:r>
            <a:br>
              <a:rPr lang="en-US" dirty="0"/>
            </a:br>
            <a:r>
              <a:rPr lang="en-US" dirty="0"/>
              <a:t>Laws of Thought</a:t>
            </a:r>
            <a:endParaRPr lang="en-PK" dirty="0"/>
          </a:p>
        </p:txBody>
      </p:sp>
      <p:sp>
        <p:nvSpPr>
          <p:cNvPr id="3" name="Content Placeholder 2">
            <a:extLst>
              <a:ext uri="{FF2B5EF4-FFF2-40B4-BE49-F238E27FC236}">
                <a16:creationId xmlns:a16="http://schemas.microsoft.com/office/drawing/2014/main" id="{01780ED3-F11A-471D-8C1F-5328BF94F6D6}"/>
              </a:ext>
            </a:extLst>
          </p:cNvPr>
          <p:cNvSpPr>
            <a:spLocks noGrp="1"/>
          </p:cNvSpPr>
          <p:nvPr>
            <p:ph idx="1"/>
          </p:nvPr>
        </p:nvSpPr>
        <p:spPr/>
        <p:txBody>
          <a:bodyPr>
            <a:normAutofit/>
          </a:bodyPr>
          <a:lstStyle/>
          <a:p>
            <a:r>
              <a:rPr lang="en-US" dirty="0">
                <a:solidFill>
                  <a:srgbClr val="FF0000"/>
                </a:solidFill>
              </a:rPr>
              <a:t>Mostly work for toy examples </a:t>
            </a:r>
          </a:p>
          <a:p>
            <a:pPr lvl="1"/>
            <a:r>
              <a:rPr lang="en-US" dirty="0"/>
              <a:t>A simplified, small, artificial problem created for teaching or testing ideas — not a real-world complex situation.</a:t>
            </a:r>
            <a:endParaRPr lang="en-US" dirty="0">
              <a:solidFill>
                <a:srgbClr val="FF0000"/>
              </a:solidFill>
            </a:endParaRPr>
          </a:p>
          <a:p>
            <a:r>
              <a:rPr lang="en-US" dirty="0"/>
              <a:t>Big difference between solving a problem "in principle" and solving it “in practice”</a:t>
            </a:r>
          </a:p>
          <a:p>
            <a:pPr lvl="1"/>
            <a:r>
              <a:rPr lang="en-US" dirty="0"/>
              <a:t>Problems with just a few hundred facts can exhaust the computational resources of any computer</a:t>
            </a:r>
          </a:p>
          <a:p>
            <a:endParaRPr lang="en-PK" dirty="0"/>
          </a:p>
        </p:txBody>
      </p:sp>
    </p:spTree>
    <p:extLst>
      <p:ext uri="{BB962C8B-B14F-4D97-AF65-F5344CB8AC3E}">
        <p14:creationId xmlns:p14="http://schemas.microsoft.com/office/powerpoint/2010/main" val="364710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A50C8-5DAC-465E-A5BC-9B3978232317}"/>
              </a:ext>
            </a:extLst>
          </p:cNvPr>
          <p:cNvSpPr>
            <a:spLocks noGrp="1"/>
          </p:cNvSpPr>
          <p:nvPr>
            <p:ph type="title"/>
          </p:nvPr>
        </p:nvSpPr>
        <p:spPr/>
        <p:txBody>
          <a:bodyPr/>
          <a:lstStyle/>
          <a:p>
            <a:pPr algn="ctr"/>
            <a:r>
              <a:rPr lang="en-US" dirty="0"/>
              <a:t>Thinking Rationally:  </a:t>
            </a:r>
            <a:br>
              <a:rPr lang="en-US" dirty="0"/>
            </a:br>
            <a:r>
              <a:rPr lang="en-US" dirty="0"/>
              <a:t>Laws of Thought</a:t>
            </a:r>
            <a:endParaRPr lang="en-PK" dirty="0"/>
          </a:p>
        </p:txBody>
      </p:sp>
      <p:sp>
        <p:nvSpPr>
          <p:cNvPr id="3" name="Content Placeholder 2">
            <a:extLst>
              <a:ext uri="{FF2B5EF4-FFF2-40B4-BE49-F238E27FC236}">
                <a16:creationId xmlns:a16="http://schemas.microsoft.com/office/drawing/2014/main" id="{01780ED3-F11A-471D-8C1F-5328BF94F6D6}"/>
              </a:ext>
            </a:extLst>
          </p:cNvPr>
          <p:cNvSpPr>
            <a:spLocks noGrp="1"/>
          </p:cNvSpPr>
          <p:nvPr>
            <p:ph idx="1"/>
          </p:nvPr>
        </p:nvSpPr>
        <p:spPr>
          <a:xfrm>
            <a:off x="838200" y="1825624"/>
            <a:ext cx="10515600" cy="4899025"/>
          </a:xfrm>
        </p:spPr>
        <p:txBody>
          <a:bodyPr>
            <a:normAutofit fontScale="70000" lnSpcReduction="20000"/>
          </a:bodyPr>
          <a:lstStyle/>
          <a:p>
            <a:r>
              <a:rPr lang="en-US" dirty="0"/>
              <a:t>How to measure if a program is thinking rationally</a:t>
            </a:r>
          </a:p>
          <a:p>
            <a:r>
              <a:rPr lang="en-US" dirty="0"/>
              <a:t>Can we see someone's thoughts?</a:t>
            </a:r>
          </a:p>
          <a:p>
            <a:pPr lvl="1"/>
            <a:r>
              <a:rPr lang="en-US" dirty="0"/>
              <a:t>Student A solves a math problem using one method.</a:t>
            </a:r>
          </a:p>
          <a:p>
            <a:pPr lvl="1"/>
            <a:r>
              <a:rPr lang="en-US" dirty="0"/>
              <a:t>Student B solves it using another method.</a:t>
            </a:r>
          </a:p>
          <a:p>
            <a:pPr lvl="1"/>
            <a:r>
              <a:rPr lang="en-US" dirty="0"/>
              <a:t>Both get the correct answer.</a:t>
            </a:r>
          </a:p>
          <a:p>
            <a:pPr lvl="1"/>
            <a:r>
              <a:rPr lang="en-US" dirty="0"/>
              <a:t>Can we say whose thinking was better?</a:t>
            </a:r>
          </a:p>
          <a:p>
            <a:pPr lvl="1"/>
            <a:r>
              <a:rPr lang="en-US" dirty="0"/>
              <a:t>No. We judge them based on the </a:t>
            </a:r>
            <a:r>
              <a:rPr lang="en-US" b="1" dirty="0"/>
              <a:t>result</a:t>
            </a:r>
            <a:r>
              <a:rPr lang="en-US" dirty="0"/>
              <a:t>, not their internal thought process. The same applies to AI.</a:t>
            </a:r>
          </a:p>
          <a:p>
            <a:r>
              <a:rPr lang="en-US" dirty="0"/>
              <a:t>We evaluate:</a:t>
            </a:r>
          </a:p>
          <a:p>
            <a:pPr>
              <a:buFont typeface="Arial" panose="020B0604020202020204" pitchFamily="34" charset="0"/>
              <a:buChar char="•"/>
            </a:pPr>
            <a:r>
              <a:rPr lang="en-US" dirty="0"/>
              <a:t>Did the robot reach the destination? </a:t>
            </a:r>
          </a:p>
          <a:p>
            <a:pPr>
              <a:buFont typeface="Arial" panose="020B0604020202020204" pitchFamily="34" charset="0"/>
              <a:buChar char="•"/>
            </a:pPr>
            <a:r>
              <a:rPr lang="en-US" dirty="0"/>
              <a:t>Did the chess program win? </a:t>
            </a:r>
          </a:p>
          <a:p>
            <a:pPr>
              <a:buFont typeface="Arial" panose="020B0604020202020204" pitchFamily="34" charset="0"/>
              <a:buChar char="•"/>
            </a:pPr>
            <a:r>
              <a:rPr lang="en-US" dirty="0"/>
              <a:t>Did the medical AI diagnose correctly?</a:t>
            </a:r>
            <a:endParaRPr lang="en-US" dirty="0">
              <a:solidFill>
                <a:srgbClr val="FF0000"/>
              </a:solidFill>
            </a:endParaRPr>
          </a:p>
          <a:p>
            <a:pPr marL="0" indent="0">
              <a:buNone/>
            </a:pPr>
            <a:endParaRPr lang="en-US" dirty="0">
              <a:solidFill>
                <a:srgbClr val="FF0000"/>
              </a:solidFill>
            </a:endParaRPr>
          </a:p>
          <a:p>
            <a:pPr marL="0" indent="0">
              <a:buNone/>
            </a:pPr>
            <a:r>
              <a:rPr lang="en-US" dirty="0">
                <a:solidFill>
                  <a:srgbClr val="FF0000"/>
                </a:solidFill>
              </a:rPr>
              <a:t>Conclusion:</a:t>
            </a:r>
            <a:endParaRPr lang="en-US" dirty="0">
              <a:solidFill>
                <a:srgbClr val="002060"/>
              </a:solidFill>
            </a:endParaRPr>
          </a:p>
          <a:p>
            <a:pPr marL="457200" lvl="1" indent="0">
              <a:buNone/>
            </a:pPr>
            <a:r>
              <a:rPr lang="en-US" dirty="0">
                <a:solidFill>
                  <a:srgbClr val="002060"/>
                </a:solidFill>
              </a:rPr>
              <a:t>Right Thinking</a:t>
            </a:r>
          </a:p>
          <a:p>
            <a:pPr marL="457200" lvl="1" indent="0">
              <a:buNone/>
            </a:pPr>
            <a:r>
              <a:rPr lang="en-US" dirty="0">
                <a:solidFill>
                  <a:srgbClr val="002060"/>
                </a:solidFill>
              </a:rPr>
              <a:t>Must have rules and logic</a:t>
            </a:r>
          </a:p>
          <a:p>
            <a:pPr marL="457200" lvl="1" indent="0">
              <a:buNone/>
            </a:pPr>
            <a:r>
              <a:rPr lang="en-US" dirty="0">
                <a:solidFill>
                  <a:srgbClr val="002060"/>
                </a:solidFill>
              </a:rPr>
              <a:t>Complex and Hard</a:t>
            </a:r>
          </a:p>
          <a:p>
            <a:endParaRPr lang="en-PK" dirty="0"/>
          </a:p>
        </p:txBody>
      </p:sp>
    </p:spTree>
    <p:extLst>
      <p:ext uri="{BB962C8B-B14F-4D97-AF65-F5344CB8AC3E}">
        <p14:creationId xmlns:p14="http://schemas.microsoft.com/office/powerpoint/2010/main" val="4082963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Acting rationally: </a:t>
            </a:r>
            <a:br>
              <a:rPr lang="en-US" dirty="0"/>
            </a:br>
            <a:r>
              <a:rPr lang="en-US" dirty="0"/>
              <a:t>Rational agent</a:t>
            </a:r>
          </a:p>
        </p:txBody>
      </p:sp>
      <p:sp>
        <p:nvSpPr>
          <p:cNvPr id="3" name="Content Placeholder 2"/>
          <p:cNvSpPr>
            <a:spLocks noGrp="1"/>
          </p:cNvSpPr>
          <p:nvPr>
            <p:ph idx="1"/>
          </p:nvPr>
        </p:nvSpPr>
        <p:spPr>
          <a:xfrm>
            <a:off x="838199" y="1825625"/>
            <a:ext cx="9795235" cy="4667250"/>
          </a:xfrm>
        </p:spPr>
        <p:txBody>
          <a:bodyPr>
            <a:normAutofit fontScale="70000" lnSpcReduction="20000"/>
          </a:bodyPr>
          <a:lstStyle/>
          <a:p>
            <a:r>
              <a:rPr lang="en-US" dirty="0"/>
              <a:t>An </a:t>
            </a:r>
            <a:r>
              <a:rPr lang="en-US" b="1" dirty="0">
                <a:solidFill>
                  <a:srgbClr val="0033CC"/>
                </a:solidFill>
              </a:rPr>
              <a:t>agent</a:t>
            </a:r>
            <a:r>
              <a:rPr lang="en-US" b="1" dirty="0"/>
              <a:t> </a:t>
            </a:r>
            <a:r>
              <a:rPr lang="en-US" dirty="0"/>
              <a:t>is anything that perceives its environment through sensors and acts upon that environment through actuators.</a:t>
            </a:r>
          </a:p>
          <a:p>
            <a:pPr lvl="1"/>
            <a:r>
              <a:rPr lang="en-US" dirty="0"/>
              <a:t>Actuators: The mechanism through which an agent acts upon its environment.</a:t>
            </a:r>
          </a:p>
          <a:p>
            <a:r>
              <a:rPr lang="en-US" dirty="0"/>
              <a:t>Sensors </a:t>
            </a:r>
            <a:r>
              <a:rPr lang="en-US" dirty="0">
                <a:sym typeface="Wingdings" panose="05000000000000000000" pitchFamily="2" charset="2"/>
              </a:rPr>
              <a:t> Agent  Actuators</a:t>
            </a:r>
          </a:p>
          <a:p>
            <a:pPr lvl="1"/>
            <a:r>
              <a:rPr lang="en-US" dirty="0"/>
              <a:t>Sensors = Perception (input)</a:t>
            </a:r>
          </a:p>
          <a:p>
            <a:pPr lvl="1"/>
            <a:r>
              <a:rPr lang="en-US" dirty="0"/>
              <a:t>Actuators = Action (output)</a:t>
            </a:r>
          </a:p>
          <a:p>
            <a:r>
              <a:rPr lang="en-US" b="1" dirty="0"/>
              <a:t>Self-Driving Car</a:t>
            </a:r>
          </a:p>
          <a:p>
            <a:r>
              <a:rPr lang="en-US" dirty="0"/>
              <a:t>Sensors:</a:t>
            </a:r>
          </a:p>
          <a:p>
            <a:pPr lvl="1"/>
            <a:r>
              <a:rPr lang="en-US" dirty="0"/>
              <a:t>Camera</a:t>
            </a:r>
          </a:p>
          <a:p>
            <a:pPr lvl="1"/>
            <a:r>
              <a:rPr lang="en-US" dirty="0"/>
              <a:t>Radar</a:t>
            </a:r>
          </a:p>
          <a:p>
            <a:pPr lvl="1"/>
            <a:r>
              <a:rPr lang="en-US" dirty="0"/>
              <a:t>Lidar</a:t>
            </a:r>
          </a:p>
          <a:p>
            <a:r>
              <a:rPr lang="en-US" dirty="0"/>
              <a:t>Actuators:</a:t>
            </a:r>
          </a:p>
          <a:p>
            <a:pPr lvl="1"/>
            <a:r>
              <a:rPr lang="en-US" dirty="0"/>
              <a:t>Steering wheel control</a:t>
            </a:r>
          </a:p>
          <a:p>
            <a:pPr lvl="1"/>
            <a:r>
              <a:rPr lang="en-US" dirty="0"/>
              <a:t>Brakes</a:t>
            </a:r>
          </a:p>
          <a:p>
            <a:pPr lvl="1"/>
            <a:r>
              <a:rPr lang="en-US" dirty="0"/>
              <a:t>Accelerator</a:t>
            </a:r>
          </a:p>
          <a:p>
            <a:r>
              <a:rPr lang="en-US" dirty="0"/>
              <a:t>The car </a:t>
            </a:r>
            <a:r>
              <a:rPr lang="en-US" b="1" dirty="0"/>
              <a:t>perceives</a:t>
            </a:r>
            <a:r>
              <a:rPr lang="en-US" dirty="0"/>
              <a:t> the road using sensors</a:t>
            </a:r>
            <a:br>
              <a:rPr lang="en-US" dirty="0"/>
            </a:br>
            <a:r>
              <a:rPr lang="en-US" dirty="0"/>
              <a:t>and </a:t>
            </a:r>
            <a:r>
              <a:rPr lang="en-US" b="1" dirty="0"/>
              <a:t>acts</a:t>
            </a:r>
            <a:r>
              <a:rPr lang="en-US" dirty="0"/>
              <a:t> by moving steering/brakes via actuators.</a:t>
            </a:r>
          </a:p>
          <a:p>
            <a:endParaRPr lang="en-US" b="1" dirty="0"/>
          </a:p>
        </p:txBody>
      </p:sp>
      <p:sp>
        <p:nvSpPr>
          <p:cNvPr id="4" name="Slide Number Placeholder 3"/>
          <p:cNvSpPr>
            <a:spLocks noGrp="1"/>
          </p:cNvSpPr>
          <p:nvPr>
            <p:ph type="sldNum" sz="quarter" idx="12"/>
          </p:nvPr>
        </p:nvSpPr>
        <p:spPr/>
        <p:txBody>
          <a:bodyPr/>
          <a:lstStyle/>
          <a:p>
            <a:fld id="{FDFCE4C1-E6A0-4AA9-9965-F1CD6F0FDCC0}" type="slidenum">
              <a:rPr lang="en-US" smtClean="0"/>
              <a:t>29</a:t>
            </a:fld>
            <a:endParaRPr lang="en-US"/>
          </a:p>
        </p:txBody>
      </p:sp>
    </p:spTree>
    <p:extLst>
      <p:ext uri="{BB962C8B-B14F-4D97-AF65-F5344CB8AC3E}">
        <p14:creationId xmlns:p14="http://schemas.microsoft.com/office/powerpoint/2010/main" val="120627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3481"/>
          </a:xfrm>
        </p:spPr>
        <p:txBody>
          <a:bodyPr/>
          <a:lstStyle/>
          <a:p>
            <a:pPr algn="ctr"/>
            <a:r>
              <a:rPr lang="en-US" dirty="0"/>
              <a:t>Acting rationally: Rational agent</a:t>
            </a:r>
          </a:p>
        </p:txBody>
      </p:sp>
      <p:sp>
        <p:nvSpPr>
          <p:cNvPr id="3" name="Content Placeholder 2"/>
          <p:cNvSpPr>
            <a:spLocks noGrp="1"/>
          </p:cNvSpPr>
          <p:nvPr>
            <p:ph idx="1"/>
          </p:nvPr>
        </p:nvSpPr>
        <p:spPr>
          <a:xfrm>
            <a:off x="838199" y="1234911"/>
            <a:ext cx="10587087" cy="5486564"/>
          </a:xfrm>
        </p:spPr>
        <p:txBody>
          <a:bodyPr>
            <a:normAutofit fontScale="85000" lnSpcReduction="20000"/>
          </a:bodyPr>
          <a:lstStyle/>
          <a:p>
            <a:pPr marL="0" indent="0">
              <a:buNone/>
            </a:pPr>
            <a:r>
              <a:rPr lang="en-US" dirty="0"/>
              <a:t>All computer programs do something, but </a:t>
            </a:r>
            <a:r>
              <a:rPr lang="en-US" dirty="0">
                <a:solidFill>
                  <a:srgbClr val="FF0000"/>
                </a:solidFill>
              </a:rPr>
              <a:t>computer </a:t>
            </a:r>
            <a:r>
              <a:rPr lang="en-US" b="1" dirty="0">
                <a:solidFill>
                  <a:srgbClr val="FF0000"/>
                </a:solidFill>
              </a:rPr>
              <a:t>agents</a:t>
            </a:r>
            <a:r>
              <a:rPr lang="en-US" dirty="0">
                <a:solidFill>
                  <a:srgbClr val="FF0000"/>
                </a:solidFill>
              </a:rPr>
              <a:t> are expected to do more:</a:t>
            </a:r>
            <a:r>
              <a:rPr lang="en-US" dirty="0"/>
              <a:t> </a:t>
            </a:r>
          </a:p>
          <a:p>
            <a:pPr marL="457200" lvl="1" indent="0">
              <a:buNone/>
            </a:pPr>
            <a:r>
              <a:rPr lang="en-US" dirty="0"/>
              <a:t> </a:t>
            </a:r>
            <a:r>
              <a:rPr lang="en-US" dirty="0">
                <a:solidFill>
                  <a:schemeClr val="accent1"/>
                </a:solidFill>
              </a:rPr>
              <a:t>1. Operate autonomously</a:t>
            </a:r>
            <a:r>
              <a:rPr lang="en-US" dirty="0"/>
              <a:t> (No constant human control)</a:t>
            </a:r>
          </a:p>
          <a:p>
            <a:pPr marL="914400" lvl="2" indent="0">
              <a:buNone/>
            </a:pPr>
            <a:r>
              <a:rPr lang="en-US" dirty="0"/>
              <a:t>Example: </a:t>
            </a:r>
          </a:p>
          <a:p>
            <a:pPr marL="914400" lvl="2" indent="0">
              <a:buNone/>
            </a:pPr>
            <a:r>
              <a:rPr lang="en-US" dirty="0"/>
              <a:t>	A calculator waits for input. (Not an agent)</a:t>
            </a:r>
          </a:p>
          <a:p>
            <a:pPr marL="914400" lvl="2" indent="0">
              <a:buNone/>
            </a:pPr>
            <a:r>
              <a:rPr lang="en-US" dirty="0"/>
              <a:t>	A thermostat automatically adjusts temperature.</a:t>
            </a:r>
          </a:p>
          <a:p>
            <a:pPr marL="457200" lvl="1" indent="0">
              <a:buNone/>
            </a:pPr>
            <a:r>
              <a:rPr lang="en-US" dirty="0">
                <a:solidFill>
                  <a:schemeClr val="accent1"/>
                </a:solidFill>
              </a:rPr>
              <a:t>2. Perceive their environment</a:t>
            </a:r>
          </a:p>
          <a:p>
            <a:pPr marL="457200" lvl="1" indent="0">
              <a:buNone/>
            </a:pPr>
            <a:r>
              <a:rPr lang="en-US" dirty="0"/>
              <a:t>	Example: </a:t>
            </a:r>
          </a:p>
          <a:p>
            <a:pPr marL="457200" lvl="1" indent="0">
              <a:buNone/>
            </a:pPr>
            <a:r>
              <a:rPr lang="en-US" dirty="0"/>
              <a:t>		</a:t>
            </a:r>
            <a:r>
              <a:rPr lang="en-US" sz="2000" dirty="0"/>
              <a:t>A robot vacuum:</a:t>
            </a:r>
          </a:p>
          <a:p>
            <a:pPr marL="457200" lvl="1" indent="0">
              <a:buNone/>
            </a:pPr>
            <a:r>
              <a:rPr lang="en-US" sz="2000" dirty="0"/>
              <a:t>		Environment → Floor, walls, furniture</a:t>
            </a:r>
            <a:br>
              <a:rPr lang="en-US" sz="2000" dirty="0"/>
            </a:br>
            <a:r>
              <a:rPr lang="en-US" sz="2000" dirty="0"/>
              <a:t>		Sensors → Infrared sensors, bump sensors</a:t>
            </a:r>
            <a:br>
              <a:rPr lang="en-US" sz="2000" dirty="0"/>
            </a:br>
            <a:r>
              <a:rPr lang="en-US" sz="2000" dirty="0"/>
              <a:t>		Perception → Detects obstacle</a:t>
            </a:r>
            <a:br>
              <a:rPr lang="en-US" sz="2000" dirty="0"/>
            </a:br>
            <a:r>
              <a:rPr lang="en-US" sz="2000" dirty="0"/>
              <a:t>		Action → Changes direction</a:t>
            </a:r>
          </a:p>
          <a:p>
            <a:pPr marL="457200" lvl="1" indent="0">
              <a:buNone/>
            </a:pPr>
            <a:r>
              <a:rPr lang="en-US" dirty="0"/>
              <a:t>	If it cannot sense obstacles, it cannot behave intelligently.</a:t>
            </a:r>
          </a:p>
          <a:p>
            <a:pPr marL="457200" lvl="1" indent="0">
              <a:buNone/>
            </a:pPr>
            <a:r>
              <a:rPr lang="en-US" dirty="0">
                <a:solidFill>
                  <a:schemeClr val="accent1"/>
                </a:solidFill>
              </a:rPr>
              <a:t>3. Persist over a prolonged time period</a:t>
            </a:r>
          </a:p>
          <a:p>
            <a:pPr marL="914400" lvl="2" indent="0">
              <a:buNone/>
            </a:pPr>
            <a:r>
              <a:rPr lang="en-US" dirty="0"/>
              <a:t>Program → Runs → Stops</a:t>
            </a:r>
            <a:br>
              <a:rPr lang="en-US" dirty="0"/>
            </a:br>
            <a:r>
              <a:rPr lang="en-US" dirty="0"/>
              <a:t>Agent → Continuous operation</a:t>
            </a:r>
          </a:p>
          <a:p>
            <a:pPr marL="914400" lvl="2" indent="0">
              <a:buNone/>
            </a:pPr>
            <a:r>
              <a:rPr lang="en-US" dirty="0"/>
              <a:t>Example: </a:t>
            </a:r>
          </a:p>
          <a:p>
            <a:pPr marL="914400" lvl="2" indent="0">
              <a:buNone/>
            </a:pPr>
            <a:r>
              <a:rPr lang="en-US" dirty="0"/>
              <a:t>	A sorting program runs once and finishes. (Not an agent)</a:t>
            </a:r>
          </a:p>
          <a:p>
            <a:pPr marL="914400" lvl="2" indent="0">
              <a:buNone/>
            </a:pPr>
            <a:r>
              <a:rPr lang="en-US" dirty="0"/>
              <a:t>	A spam filter keeps running daily.</a:t>
            </a:r>
          </a:p>
        </p:txBody>
      </p:sp>
      <p:sp>
        <p:nvSpPr>
          <p:cNvPr id="4" name="Slide Number Placeholder 3"/>
          <p:cNvSpPr>
            <a:spLocks noGrp="1"/>
          </p:cNvSpPr>
          <p:nvPr>
            <p:ph type="sldNum" sz="quarter" idx="12"/>
          </p:nvPr>
        </p:nvSpPr>
        <p:spPr/>
        <p:txBody>
          <a:bodyPr/>
          <a:lstStyle/>
          <a:p>
            <a:fld id="{FDFCE4C1-E6A0-4AA9-9965-F1CD6F0FDCC0}" type="slidenum">
              <a:rPr lang="en-US" smtClean="0"/>
              <a:t>30</a:t>
            </a:fld>
            <a:endParaRPr lang="en-US"/>
          </a:p>
        </p:txBody>
      </p:sp>
    </p:spTree>
    <p:extLst>
      <p:ext uri="{BB962C8B-B14F-4D97-AF65-F5344CB8AC3E}">
        <p14:creationId xmlns:p14="http://schemas.microsoft.com/office/powerpoint/2010/main" val="150283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6538F-F027-4E02-B596-F9DB2AE563C9}"/>
              </a:ext>
            </a:extLst>
          </p:cNvPr>
          <p:cNvSpPr>
            <a:spLocks noGrp="1"/>
          </p:cNvSpPr>
          <p:nvPr>
            <p:ph type="title"/>
          </p:nvPr>
        </p:nvSpPr>
        <p:spPr/>
        <p:txBody>
          <a:bodyPr/>
          <a:lstStyle/>
          <a:p>
            <a:pPr algn="ctr"/>
            <a:r>
              <a:rPr lang="en-US" dirty="0"/>
              <a:t>Acting rationally: Rational agent</a:t>
            </a:r>
            <a:endParaRPr lang="en-PK" dirty="0"/>
          </a:p>
        </p:txBody>
      </p:sp>
      <p:sp>
        <p:nvSpPr>
          <p:cNvPr id="3" name="Content Placeholder 2">
            <a:extLst>
              <a:ext uri="{FF2B5EF4-FFF2-40B4-BE49-F238E27FC236}">
                <a16:creationId xmlns:a16="http://schemas.microsoft.com/office/drawing/2014/main" id="{59BC7B5A-7701-4313-855A-9B94168AAB4C}"/>
              </a:ext>
            </a:extLst>
          </p:cNvPr>
          <p:cNvSpPr>
            <a:spLocks noGrp="1"/>
          </p:cNvSpPr>
          <p:nvPr>
            <p:ph idx="1"/>
          </p:nvPr>
        </p:nvSpPr>
        <p:spPr>
          <a:xfrm>
            <a:off x="838200" y="1480008"/>
            <a:ext cx="10515600" cy="5081047"/>
          </a:xfrm>
        </p:spPr>
        <p:txBody>
          <a:bodyPr>
            <a:normAutofit/>
          </a:bodyPr>
          <a:lstStyle/>
          <a:p>
            <a:pPr marL="457200" lvl="1" indent="0">
              <a:buNone/>
            </a:pPr>
            <a:r>
              <a:rPr lang="en-US" dirty="0">
                <a:solidFill>
                  <a:schemeClr val="accent1"/>
                </a:solidFill>
              </a:rPr>
              <a:t>4. Adapt to change, and create and pursue goals.</a:t>
            </a:r>
            <a:r>
              <a:rPr lang="en-US" dirty="0"/>
              <a:t> </a:t>
            </a:r>
          </a:p>
          <a:p>
            <a:pPr lvl="2"/>
            <a:r>
              <a:rPr lang="en-US" dirty="0"/>
              <a:t>Environment changes → Agent updates behavior</a:t>
            </a:r>
          </a:p>
          <a:p>
            <a:pPr lvl="2"/>
            <a:r>
              <a:rPr lang="en-US" dirty="0"/>
              <a:t>Goal → Plan → Action → Evaluate → Adjust</a:t>
            </a:r>
          </a:p>
          <a:p>
            <a:pPr marL="914400" lvl="2" indent="0">
              <a:buNone/>
            </a:pPr>
            <a:r>
              <a:rPr lang="en-US" dirty="0"/>
              <a:t>Example:</a:t>
            </a:r>
          </a:p>
          <a:p>
            <a:pPr marL="914400" lvl="2" indent="0">
              <a:buNone/>
            </a:pPr>
            <a:r>
              <a:rPr lang="en-US" dirty="0"/>
              <a:t>	If traffic increases, navigation app chooses new route.</a:t>
            </a:r>
          </a:p>
          <a:p>
            <a:pPr marL="914400" lvl="2" indent="0">
              <a:buNone/>
            </a:pPr>
            <a:r>
              <a:rPr lang="en-US" dirty="0"/>
              <a:t>	If opponent changes strategy, game AI adapts</a:t>
            </a:r>
          </a:p>
          <a:p>
            <a:pPr marL="914400" lvl="2" indent="0">
              <a:buNone/>
            </a:pPr>
            <a:r>
              <a:rPr lang="en-US" dirty="0"/>
              <a:t>Example:</a:t>
            </a:r>
          </a:p>
          <a:p>
            <a:pPr marL="914400" lvl="2" indent="0">
              <a:buNone/>
            </a:pPr>
            <a:r>
              <a:rPr lang="en-US" dirty="0"/>
              <a:t>	Ordinary Program: Follow fixed instructions</a:t>
            </a:r>
          </a:p>
          <a:p>
            <a:pPr marL="914400" lvl="2" indent="0">
              <a:buNone/>
            </a:pPr>
            <a:r>
              <a:rPr lang="en-US" dirty="0"/>
              <a:t>	Agent: Choose actions to achieve a goal </a:t>
            </a:r>
          </a:p>
          <a:p>
            <a:pPr marL="457200" lvl="1" indent="0">
              <a:buNone/>
            </a:pPr>
            <a:r>
              <a:rPr lang="en-US" dirty="0">
                <a:solidFill>
                  <a:schemeClr val="accent1"/>
                </a:solidFill>
              </a:rPr>
              <a:t>5. Make correct inferences</a:t>
            </a:r>
          </a:p>
          <a:p>
            <a:pPr marL="914400" lvl="2" indent="0">
              <a:buNone/>
            </a:pPr>
            <a:r>
              <a:rPr lang="en-US" dirty="0"/>
              <a:t>Example:</a:t>
            </a:r>
          </a:p>
          <a:p>
            <a:pPr marL="914400" lvl="2" indent="0">
              <a:buNone/>
            </a:pPr>
            <a:r>
              <a:rPr lang="en-US" dirty="0"/>
              <a:t>	If road is wet → infer it might be slippery.</a:t>
            </a:r>
          </a:p>
          <a:p>
            <a:pPr marL="914400" lvl="2" indent="0">
              <a:buNone/>
            </a:pPr>
            <a:r>
              <a:rPr lang="en-US" dirty="0"/>
              <a:t>	If user searches “cold medicine” → infer user may be sick.</a:t>
            </a:r>
          </a:p>
          <a:p>
            <a:endParaRPr lang="en-PK" dirty="0"/>
          </a:p>
        </p:txBody>
      </p:sp>
    </p:spTree>
    <p:extLst>
      <p:ext uri="{BB962C8B-B14F-4D97-AF65-F5344CB8AC3E}">
        <p14:creationId xmlns:p14="http://schemas.microsoft.com/office/powerpoint/2010/main" val="2020537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Acting rationally: </a:t>
            </a:r>
            <a:br>
              <a:rPr lang="en-US" dirty="0"/>
            </a:br>
            <a:r>
              <a:rPr lang="en-US" dirty="0"/>
              <a:t>Rational agent</a:t>
            </a:r>
          </a:p>
        </p:txBody>
      </p:sp>
      <p:sp>
        <p:nvSpPr>
          <p:cNvPr id="3" name="Content Placeholder 2"/>
          <p:cNvSpPr>
            <a:spLocks noGrp="1"/>
          </p:cNvSpPr>
          <p:nvPr>
            <p:ph idx="1"/>
          </p:nvPr>
        </p:nvSpPr>
        <p:spPr/>
        <p:txBody>
          <a:bodyPr>
            <a:normAutofit/>
          </a:bodyPr>
          <a:lstStyle/>
          <a:p>
            <a:r>
              <a:rPr lang="en-US" dirty="0"/>
              <a:t>A </a:t>
            </a:r>
            <a:r>
              <a:rPr lang="en-US" b="1" dirty="0">
                <a:solidFill>
                  <a:srgbClr val="0033CC"/>
                </a:solidFill>
              </a:rPr>
              <a:t>rational agent </a:t>
            </a:r>
            <a:r>
              <a:rPr lang="en-US" dirty="0"/>
              <a:t>is one that acts so as </a:t>
            </a:r>
            <a:r>
              <a:rPr lang="en-US" b="1" dirty="0"/>
              <a:t>to achieve the best outcome</a:t>
            </a:r>
            <a:r>
              <a:rPr lang="en-US" dirty="0"/>
              <a:t> or, when there is uncertainty, the </a:t>
            </a:r>
            <a:r>
              <a:rPr lang="en-US" b="1" dirty="0"/>
              <a:t>best expected outcome</a:t>
            </a:r>
            <a:r>
              <a:rPr lang="en-US" dirty="0"/>
              <a:t>.</a:t>
            </a:r>
          </a:p>
          <a:p>
            <a:r>
              <a:rPr lang="en-US" dirty="0">
                <a:solidFill>
                  <a:srgbClr val="0033CC"/>
                </a:solidFill>
              </a:rPr>
              <a:t>Rational behavior:</a:t>
            </a:r>
            <a:r>
              <a:rPr lang="en-US" dirty="0"/>
              <a:t> </a:t>
            </a:r>
            <a:r>
              <a:rPr lang="en-US" b="1" dirty="0"/>
              <a:t>doing the right thing</a:t>
            </a:r>
          </a:p>
          <a:p>
            <a:r>
              <a:rPr lang="en-US" dirty="0"/>
              <a:t>The right thing: </a:t>
            </a:r>
            <a:r>
              <a:rPr lang="en-US" dirty="0">
                <a:solidFill>
                  <a:srgbClr val="FF0000"/>
                </a:solidFill>
              </a:rPr>
              <a:t>the optimal (best) thing </a:t>
            </a:r>
            <a:r>
              <a:rPr lang="en-US" dirty="0"/>
              <a:t>that is expected</a:t>
            </a:r>
            <a:r>
              <a:rPr lang="en-US" dirty="0">
                <a:solidFill>
                  <a:srgbClr val="FF0000"/>
                </a:solidFill>
              </a:rPr>
              <a:t> </a:t>
            </a:r>
            <a:r>
              <a:rPr lang="en-US" dirty="0"/>
              <a:t>to </a:t>
            </a:r>
            <a:r>
              <a:rPr lang="en-US" dirty="0">
                <a:solidFill>
                  <a:srgbClr val="FF0000"/>
                </a:solidFill>
              </a:rPr>
              <a:t>maximize the chances of achieving a set of goals, in a given situation</a:t>
            </a:r>
          </a:p>
          <a:p>
            <a:r>
              <a:rPr lang="en-US" u="sng" dirty="0">
                <a:solidFill>
                  <a:srgbClr val="0033CC"/>
                </a:solidFill>
              </a:rPr>
              <a:t>Making correct inferences</a:t>
            </a:r>
            <a:r>
              <a:rPr lang="en-US" dirty="0"/>
              <a:t> is part of being a rational agent</a:t>
            </a:r>
            <a:endParaRPr lang="en-US" sz="1800" dirty="0"/>
          </a:p>
          <a:p>
            <a:r>
              <a:rPr lang="en-US" dirty="0"/>
              <a:t>There are also ways of acting rationally that cannot be said to involve inference -- </a:t>
            </a:r>
            <a:r>
              <a:rPr lang="en-US" dirty="0">
                <a:solidFill>
                  <a:srgbClr val="0033CC"/>
                </a:solidFill>
              </a:rPr>
              <a:t>Reflex actions</a:t>
            </a:r>
            <a:r>
              <a:rPr lang="en-US" dirty="0"/>
              <a:t>.</a:t>
            </a:r>
          </a:p>
          <a:p>
            <a:endParaRPr lang="en-US" b="1" dirty="0"/>
          </a:p>
        </p:txBody>
      </p:sp>
      <p:sp>
        <p:nvSpPr>
          <p:cNvPr id="4" name="Slide Number Placeholder 3"/>
          <p:cNvSpPr>
            <a:spLocks noGrp="1"/>
          </p:cNvSpPr>
          <p:nvPr>
            <p:ph type="sldNum" sz="quarter" idx="12"/>
          </p:nvPr>
        </p:nvSpPr>
        <p:spPr/>
        <p:txBody>
          <a:bodyPr/>
          <a:lstStyle/>
          <a:p>
            <a:fld id="{FDFCE4C1-E6A0-4AA9-9965-F1CD6F0FDCC0}" type="slidenum">
              <a:rPr lang="en-US" smtClean="0"/>
              <a:t>32</a:t>
            </a:fld>
            <a:endParaRPr lang="en-US"/>
          </a:p>
        </p:txBody>
      </p:sp>
    </p:spTree>
    <p:extLst>
      <p:ext uri="{BB962C8B-B14F-4D97-AF65-F5344CB8AC3E}">
        <p14:creationId xmlns:p14="http://schemas.microsoft.com/office/powerpoint/2010/main" val="267377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a:t>Acting rationally: </a:t>
            </a:r>
            <a:br>
              <a:rPr lang="en-US" dirty="0"/>
            </a:br>
            <a:r>
              <a:rPr lang="en-US" dirty="0"/>
              <a:t>Rational agent</a:t>
            </a:r>
          </a:p>
        </p:txBody>
      </p:sp>
      <p:sp>
        <p:nvSpPr>
          <p:cNvPr id="3" name="Content Placeholder 2"/>
          <p:cNvSpPr>
            <a:spLocks noGrp="1"/>
          </p:cNvSpPr>
          <p:nvPr>
            <p:ph idx="1"/>
          </p:nvPr>
        </p:nvSpPr>
        <p:spPr>
          <a:xfrm>
            <a:off x="705679" y="1325563"/>
            <a:ext cx="11486321" cy="5306460"/>
          </a:xfrm>
        </p:spPr>
        <p:txBody>
          <a:bodyPr>
            <a:normAutofit fontScale="85000" lnSpcReduction="20000"/>
          </a:bodyPr>
          <a:lstStyle/>
          <a:p>
            <a:r>
              <a:rPr lang="en-US" dirty="0"/>
              <a:t>If you wanted to build an AI doctor, should it think exactly like a human doctor, or should it simply make the best medical decision?</a:t>
            </a:r>
            <a:endParaRPr lang="en-US" b="1" dirty="0">
              <a:solidFill>
                <a:srgbClr val="0033CC"/>
              </a:solidFill>
            </a:endParaRPr>
          </a:p>
          <a:p>
            <a:r>
              <a:rPr lang="en-US" b="1" dirty="0">
                <a:solidFill>
                  <a:srgbClr val="0033CC"/>
                </a:solidFill>
              </a:rPr>
              <a:t>Advantages</a:t>
            </a:r>
            <a:r>
              <a:rPr lang="en-US" dirty="0">
                <a:solidFill>
                  <a:srgbClr val="0033CC"/>
                </a:solidFill>
              </a:rPr>
              <a:t> </a:t>
            </a:r>
            <a:r>
              <a:rPr lang="en-US" dirty="0"/>
              <a:t>over other approaches</a:t>
            </a:r>
          </a:p>
          <a:p>
            <a:pPr lvl="1"/>
            <a:endParaRPr lang="en-US" dirty="0"/>
          </a:p>
          <a:p>
            <a:pPr lvl="1"/>
            <a:r>
              <a:rPr lang="en-US" dirty="0"/>
              <a:t>More </a:t>
            </a:r>
            <a:r>
              <a:rPr lang="en-US" b="1" dirty="0"/>
              <a:t>general</a:t>
            </a:r>
            <a:r>
              <a:rPr lang="en-US" dirty="0"/>
              <a:t> than the "laws of thought" approach. Laws of thought approach assumes that every decision can be made using logical rules. Can a self driving car only work using logic? </a:t>
            </a:r>
          </a:p>
          <a:p>
            <a:pPr lvl="1"/>
            <a:endParaRPr lang="en-US" dirty="0"/>
          </a:p>
          <a:p>
            <a:pPr lvl="1"/>
            <a:r>
              <a:rPr lang="en-US" dirty="0"/>
              <a:t>Google Maps uses traffic prediction, GPS, road conditions, and travel history. Is it only using logic?</a:t>
            </a:r>
          </a:p>
          <a:p>
            <a:pPr lvl="1"/>
            <a:endParaRPr lang="en-US" dirty="0"/>
          </a:p>
          <a:p>
            <a:pPr lvl="1"/>
            <a:r>
              <a:rPr lang="en-US" dirty="0"/>
              <a:t>More </a:t>
            </a:r>
            <a:r>
              <a:rPr lang="en-US" b="1" dirty="0"/>
              <a:t>obedient</a:t>
            </a:r>
            <a:r>
              <a:rPr lang="en-US" dirty="0"/>
              <a:t> to scientific development than approaches based on </a:t>
            </a:r>
            <a:r>
              <a:rPr lang="en-US" u="sng" dirty="0"/>
              <a:t>human behavior</a:t>
            </a:r>
            <a:r>
              <a:rPr lang="en-US" dirty="0"/>
              <a:t> or </a:t>
            </a:r>
            <a:r>
              <a:rPr lang="en-US" u="sng" dirty="0"/>
              <a:t>human thought</a:t>
            </a:r>
          </a:p>
          <a:p>
            <a:pPr lvl="1"/>
            <a:endParaRPr lang="en-US" b="1" dirty="0"/>
          </a:p>
          <a:p>
            <a:pPr lvl="1"/>
            <a:r>
              <a:rPr lang="en-US" b="1" dirty="0"/>
              <a:t>Standard of rationality</a:t>
            </a:r>
            <a:r>
              <a:rPr lang="en-US" b="1" dirty="0">
                <a:solidFill>
                  <a:srgbClr val="FF0000"/>
                </a:solidFill>
              </a:rPr>
              <a:t> (Logic)</a:t>
            </a:r>
            <a:r>
              <a:rPr lang="en-US" b="1" dirty="0"/>
              <a:t> </a:t>
            </a:r>
            <a:r>
              <a:rPr lang="en-US" dirty="0"/>
              <a:t>is mathematically well defined and completely general</a:t>
            </a:r>
          </a:p>
          <a:p>
            <a:pPr lvl="1"/>
            <a:endParaRPr lang="en-US" dirty="0"/>
          </a:p>
          <a:p>
            <a:pPr lvl="1"/>
            <a:r>
              <a:rPr lang="en-US" b="1" dirty="0">
                <a:solidFill>
                  <a:srgbClr val="002060"/>
                </a:solidFill>
              </a:rPr>
              <a:t>Conclusion:</a:t>
            </a:r>
          </a:p>
          <a:p>
            <a:pPr lvl="1"/>
            <a:r>
              <a:rPr lang="en-US" dirty="0"/>
              <a:t>Behave in right manner</a:t>
            </a:r>
          </a:p>
          <a:p>
            <a:pPr lvl="1"/>
            <a:r>
              <a:rPr lang="en-US" dirty="0"/>
              <a:t>Give max. Performance</a:t>
            </a:r>
          </a:p>
          <a:p>
            <a:pPr lvl="1"/>
            <a:r>
              <a:rPr lang="en-US" dirty="0"/>
              <a:t>Give Optimal Solution</a:t>
            </a:r>
          </a:p>
          <a:p>
            <a:pPr lvl="1"/>
            <a:endParaRPr lang="en-US" dirty="0"/>
          </a:p>
        </p:txBody>
      </p:sp>
      <p:sp>
        <p:nvSpPr>
          <p:cNvPr id="4" name="Slide Number Placeholder 3"/>
          <p:cNvSpPr>
            <a:spLocks noGrp="1"/>
          </p:cNvSpPr>
          <p:nvPr>
            <p:ph type="sldNum" sz="quarter" idx="12"/>
          </p:nvPr>
        </p:nvSpPr>
        <p:spPr/>
        <p:txBody>
          <a:bodyPr/>
          <a:lstStyle/>
          <a:p>
            <a:fld id="{FDFCE4C1-E6A0-4AA9-9965-F1CD6F0FDCC0}" type="slidenum">
              <a:rPr lang="en-US" smtClean="0"/>
              <a:t>33</a:t>
            </a:fld>
            <a:endParaRPr lang="en-US"/>
          </a:p>
        </p:txBody>
      </p:sp>
    </p:spTree>
    <p:extLst>
      <p:ext uri="{BB962C8B-B14F-4D97-AF65-F5344CB8AC3E}">
        <p14:creationId xmlns:p14="http://schemas.microsoft.com/office/powerpoint/2010/main" val="799359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p:txBody>
          <a:bodyPr vert="horz" lIns="91440" tIns="45720" rIns="132077" bIns="45720" rtlCol="0" anchor="ctr">
            <a:normAutofit/>
          </a:bodyPr>
          <a:lstStyle/>
          <a:p>
            <a:r>
              <a:rPr lang="en-US" dirty="0"/>
              <a:t>Designing Rational Agents</a:t>
            </a:r>
          </a:p>
        </p:txBody>
      </p:sp>
      <p:sp>
        <p:nvSpPr>
          <p:cNvPr id="27653" name="Rectangle 5"/>
          <p:cNvSpPr>
            <a:spLocks noGrp="1" noChangeArrowheads="1"/>
          </p:cNvSpPr>
          <p:nvPr>
            <p:ph idx="1"/>
          </p:nvPr>
        </p:nvSpPr>
        <p:spPr>
          <a:xfrm>
            <a:off x="838199" y="1825625"/>
            <a:ext cx="10076259" cy="4351338"/>
          </a:xfrm>
        </p:spPr>
        <p:txBody>
          <a:bodyPr vert="horz" lIns="91440" tIns="45720" rIns="132077" bIns="45720" rtlCol="0">
            <a:normAutofit fontScale="85000" lnSpcReduction="20000"/>
          </a:bodyPr>
          <a:lstStyle/>
          <a:p>
            <a:pPr marL="457178" indent="-457178">
              <a:spcBef>
                <a:spcPct val="0"/>
              </a:spcBef>
            </a:pPr>
            <a:r>
              <a:rPr lang="en-US" sz="2400" dirty="0"/>
              <a:t>An </a:t>
            </a:r>
            <a:r>
              <a:rPr lang="en-US" sz="2400" b="1" dirty="0"/>
              <a:t>agent</a:t>
            </a:r>
            <a:r>
              <a:rPr lang="en-US" sz="2400" dirty="0"/>
              <a:t> is an entity that </a:t>
            </a:r>
            <a:r>
              <a:rPr lang="en-US" sz="2400" i="1" dirty="0"/>
              <a:t>perceives</a:t>
            </a:r>
            <a:r>
              <a:rPr lang="en-US" sz="2400" dirty="0"/>
              <a:t> and </a:t>
            </a:r>
            <a:r>
              <a:rPr lang="en-US" sz="2400" i="1" dirty="0"/>
              <a:t>acts</a:t>
            </a:r>
            <a:r>
              <a:rPr lang="en-US" sz="2400" dirty="0"/>
              <a:t>.</a:t>
            </a:r>
          </a:p>
          <a:p>
            <a:pPr marL="457178" indent="-457178">
              <a:spcBef>
                <a:spcPts val="1500"/>
              </a:spcBef>
            </a:pPr>
            <a:r>
              <a:rPr lang="en-US" sz="2400" dirty="0"/>
              <a:t>A </a:t>
            </a:r>
            <a:r>
              <a:rPr lang="en-US" sz="2400" b="1" dirty="0"/>
              <a:t>rational agent</a:t>
            </a:r>
            <a:r>
              <a:rPr lang="en-US" sz="2400" b="1" i="1" dirty="0"/>
              <a:t> </a:t>
            </a:r>
            <a:r>
              <a:rPr lang="en-US" sz="2400" dirty="0"/>
              <a:t>selects actions that maximize its (expected) </a:t>
            </a:r>
            <a:r>
              <a:rPr lang="en-US" sz="2400" b="1" dirty="0"/>
              <a:t>utility</a:t>
            </a:r>
            <a:r>
              <a:rPr lang="en-US" sz="2400" dirty="0"/>
              <a:t>.  </a:t>
            </a:r>
          </a:p>
          <a:p>
            <a:pPr marL="914378" lvl="1" indent="-457178">
              <a:spcBef>
                <a:spcPts val="1500"/>
              </a:spcBef>
            </a:pPr>
            <a:r>
              <a:rPr lang="en-US" sz="2000" dirty="0"/>
              <a:t>Rational: Choosing the best possible action given available information.</a:t>
            </a:r>
          </a:p>
          <a:p>
            <a:pPr marL="914378" lvl="1" indent="-457178">
              <a:spcBef>
                <a:spcPts val="1500"/>
              </a:spcBef>
            </a:pPr>
            <a:r>
              <a:rPr lang="en-US" sz="2000" dirty="0"/>
              <a:t>Utility: A numerical measure of how desirable an outcome is.</a:t>
            </a:r>
          </a:p>
          <a:p>
            <a:pPr marL="457178" indent="-457178">
              <a:spcBef>
                <a:spcPts val="1500"/>
              </a:spcBef>
            </a:pPr>
            <a:r>
              <a:rPr lang="en-US" sz="2400" dirty="0"/>
              <a:t>Characteristics of the </a:t>
            </a:r>
            <a:r>
              <a:rPr lang="en-US" sz="2400" b="1" dirty="0"/>
              <a:t>percepts, environment,</a:t>
            </a:r>
            <a:r>
              <a:rPr lang="en-US" sz="2400" dirty="0"/>
              <a:t> and </a:t>
            </a:r>
            <a:r>
              <a:rPr lang="en-US" sz="2400" b="1" dirty="0"/>
              <a:t>action space </a:t>
            </a:r>
            <a:r>
              <a:rPr lang="en-US" sz="2400" dirty="0"/>
              <a:t>dictate techniques for selecting rational actions</a:t>
            </a:r>
          </a:p>
          <a:p>
            <a:pPr lvl="2"/>
            <a:r>
              <a:rPr lang="en-US" b="1" dirty="0"/>
              <a:t>Self-Driving Car</a:t>
            </a:r>
            <a:endParaRPr lang="en-US" dirty="0"/>
          </a:p>
          <a:p>
            <a:pPr lvl="2"/>
            <a:r>
              <a:rPr lang="en-US" dirty="0"/>
              <a:t>Percept: Camera sees red light</a:t>
            </a:r>
          </a:p>
          <a:p>
            <a:pPr lvl="2"/>
            <a:r>
              <a:rPr lang="en-US" dirty="0"/>
              <a:t>Agent: Decides to stop</a:t>
            </a:r>
          </a:p>
          <a:p>
            <a:pPr lvl="2"/>
            <a:r>
              <a:rPr lang="en-US" dirty="0"/>
              <a:t>Actuator: Apply brakes</a:t>
            </a:r>
            <a:endParaRPr lang="en-US" sz="2000" dirty="0"/>
          </a:p>
          <a:p>
            <a:pPr marL="457178" indent="-457178">
              <a:spcBef>
                <a:spcPts val="1500"/>
              </a:spcBef>
            </a:pPr>
            <a:r>
              <a:rPr lang="en-US" sz="2400" b="1" dirty="0">
                <a:solidFill>
                  <a:srgbClr val="333399"/>
                </a:solidFill>
                <a:cs typeface="Arial" charset="0"/>
              </a:rPr>
              <a:t>This course </a:t>
            </a:r>
            <a:r>
              <a:rPr lang="en-US" sz="2400" dirty="0">
                <a:solidFill>
                  <a:srgbClr val="333399"/>
                </a:solidFill>
                <a:cs typeface="Arial" charset="0"/>
              </a:rPr>
              <a:t>is about:</a:t>
            </a:r>
          </a:p>
          <a:p>
            <a:pPr marL="839746" lvl="1" indent="-342882">
              <a:lnSpc>
                <a:spcPct val="80000"/>
              </a:lnSpc>
              <a:spcBef>
                <a:spcPts val="739"/>
              </a:spcBef>
              <a:buSzPct val="100000"/>
            </a:pPr>
            <a:r>
              <a:rPr lang="en-US" dirty="0">
                <a:cs typeface="Arial" charset="0"/>
              </a:rPr>
              <a:t>General AI techniques for a variety of problem types</a:t>
            </a:r>
          </a:p>
          <a:p>
            <a:pPr marL="839746" lvl="1" indent="-342882">
              <a:lnSpc>
                <a:spcPct val="80000"/>
              </a:lnSpc>
              <a:spcBef>
                <a:spcPts val="739"/>
              </a:spcBef>
              <a:buSzPct val="100000"/>
            </a:pPr>
            <a:r>
              <a:rPr lang="en-US" dirty="0">
                <a:cs typeface="Arial" charset="0"/>
              </a:rPr>
              <a:t>Learning to recognize when and how a new problem can be solved with an existing technique</a:t>
            </a:r>
          </a:p>
          <a:p>
            <a:pPr marL="457178" indent="-457178">
              <a:spcBef>
                <a:spcPts val="1500"/>
              </a:spcBef>
            </a:pPr>
            <a:endParaRPr lang="en-US" sz="2133" dirty="0"/>
          </a:p>
        </p:txBody>
      </p:sp>
      <p:grpSp>
        <p:nvGrpSpPr>
          <p:cNvPr id="34" name="Group 33"/>
          <p:cNvGrpSpPr/>
          <p:nvPr/>
        </p:nvGrpSpPr>
        <p:grpSpPr>
          <a:xfrm>
            <a:off x="7859862" y="329216"/>
            <a:ext cx="3860797" cy="1912937"/>
            <a:chOff x="4616215" y="3194447"/>
            <a:chExt cx="4052397" cy="1434703"/>
          </a:xfrm>
        </p:grpSpPr>
        <p:sp>
          <p:nvSpPr>
            <p:cNvPr id="19" name="AutoShape 7"/>
            <p:cNvSpPr>
              <a:spLocks/>
            </p:cNvSpPr>
            <p:nvPr/>
          </p:nvSpPr>
          <p:spPr bwMode="auto">
            <a:xfrm>
              <a:off x="4616215" y="3200398"/>
              <a:ext cx="1919558" cy="1309688"/>
            </a:xfrm>
            <a:prstGeom prst="roundRect">
              <a:avLst>
                <a:gd name="adj" fmla="val 10912"/>
              </a:avLst>
            </a:prstGeom>
            <a:solidFill>
              <a:srgbClr val="9FB0D1"/>
            </a:solidFill>
            <a:ln w="12700">
              <a:solidFill>
                <a:schemeClr val="tx1"/>
              </a:solidFill>
              <a:round/>
              <a:headEnd/>
              <a:tailEnd/>
            </a:ln>
          </p:spPr>
          <p:txBody>
            <a:bodyPr lIns="0" tIns="0" rIns="0" bIns="0"/>
            <a:lstStyle/>
            <a:p>
              <a:endParaRPr lang="en-US" sz="2133">
                <a:latin typeface="Calibri" pitchFamily="34" charset="0"/>
              </a:endParaRPr>
            </a:p>
          </p:txBody>
        </p:sp>
        <p:sp>
          <p:nvSpPr>
            <p:cNvPr id="20" name="Line 8"/>
            <p:cNvSpPr>
              <a:spLocks noChangeShapeType="1"/>
            </p:cNvSpPr>
            <p:nvPr/>
          </p:nvSpPr>
          <p:spPr bwMode="auto">
            <a:xfrm rot="10800000" flipH="1">
              <a:off x="5611414" y="3672670"/>
              <a:ext cx="0" cy="531019"/>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21" name="Rectangle 9"/>
            <p:cNvSpPr>
              <a:spLocks/>
            </p:cNvSpPr>
            <p:nvPr/>
          </p:nvSpPr>
          <p:spPr bwMode="auto">
            <a:xfrm rot="16200000">
              <a:off x="4687016" y="3598189"/>
              <a:ext cx="564897" cy="493220"/>
            </a:xfrm>
            <a:prstGeom prst="rect">
              <a:avLst/>
            </a:prstGeom>
            <a:noFill/>
            <a:ln w="12700">
              <a:noFill/>
              <a:miter lim="800000"/>
              <a:headEnd/>
              <a:tailEnd/>
            </a:ln>
          </p:spPr>
          <p:txBody>
            <a:bodyPr lIns="0" tIns="0" rIns="40639" bIns="0"/>
            <a:lstStyle/>
            <a:p>
              <a:pPr marL="39686"/>
              <a:r>
                <a:rPr lang="en-US" sz="2133" b="1" dirty="0">
                  <a:latin typeface="Calibri" pitchFamily="34" charset="0"/>
                  <a:cs typeface="Arial" charset="0"/>
                </a:rPr>
                <a:t>Agent</a:t>
              </a:r>
            </a:p>
          </p:txBody>
        </p:sp>
        <p:grpSp>
          <p:nvGrpSpPr>
            <p:cNvPr id="22" name="Group 10"/>
            <p:cNvGrpSpPr>
              <a:grpSpLocks/>
            </p:cNvGrpSpPr>
            <p:nvPr/>
          </p:nvGrpSpPr>
          <p:grpSpPr bwMode="auto">
            <a:xfrm>
              <a:off x="5363764" y="3748869"/>
              <a:ext cx="476250" cy="323850"/>
              <a:chOff x="0" y="0"/>
              <a:chExt cx="400" cy="272"/>
            </a:xfrm>
          </p:grpSpPr>
          <p:sp>
            <p:nvSpPr>
              <p:cNvPr id="23" name="AutoShape 11"/>
              <p:cNvSpPr>
                <a:spLocks/>
              </p:cNvSpPr>
              <p:nvPr/>
            </p:nvSpPr>
            <p:spPr bwMode="auto">
              <a:xfrm>
                <a:off x="0" y="0"/>
                <a:ext cx="400" cy="272"/>
              </a:xfrm>
              <a:prstGeom prst="roundRect">
                <a:avLst>
                  <a:gd name="adj" fmla="val 28120"/>
                </a:avLst>
              </a:prstGeom>
              <a:solidFill>
                <a:srgbClr val="FFFFFF"/>
              </a:solidFill>
              <a:ln w="12700">
                <a:solidFill>
                  <a:schemeClr val="tx1"/>
                </a:solidFill>
                <a:round/>
                <a:headEnd/>
                <a:tailEnd/>
              </a:ln>
            </p:spPr>
            <p:txBody>
              <a:bodyPr lIns="0" tIns="0" rIns="0" bIns="0"/>
              <a:lstStyle/>
              <a:p>
                <a:endParaRPr lang="en-US" sz="2133">
                  <a:latin typeface="Calibri" pitchFamily="34" charset="0"/>
                </a:endParaRPr>
              </a:p>
            </p:txBody>
          </p:sp>
          <p:sp>
            <p:nvSpPr>
              <p:cNvPr id="24" name="Rectangle 12"/>
              <p:cNvSpPr>
                <a:spLocks/>
              </p:cNvSpPr>
              <p:nvPr/>
            </p:nvSpPr>
            <p:spPr bwMode="auto">
              <a:xfrm>
                <a:off x="135" y="32"/>
                <a:ext cx="139" cy="236"/>
              </a:xfrm>
              <a:prstGeom prst="rect">
                <a:avLst/>
              </a:prstGeom>
              <a:noFill/>
              <a:ln w="12700">
                <a:noFill/>
                <a:miter lim="800000"/>
                <a:headEnd/>
                <a:tailEnd/>
              </a:ln>
            </p:spPr>
            <p:txBody>
              <a:bodyPr lIns="0" tIns="0" rIns="54185" bIns="0"/>
              <a:lstStyle/>
              <a:p>
                <a:pPr marL="39686" algn="ctr"/>
                <a:r>
                  <a:rPr lang="en-US" sz="2133" b="1" dirty="0">
                    <a:latin typeface="Calibri" pitchFamily="34" charset="0"/>
                    <a:cs typeface="Arial" charset="0"/>
                  </a:rPr>
                  <a:t>?</a:t>
                </a:r>
              </a:p>
            </p:txBody>
          </p:sp>
        </p:grpSp>
        <p:grpSp>
          <p:nvGrpSpPr>
            <p:cNvPr id="25" name="Group 13"/>
            <p:cNvGrpSpPr>
              <a:grpSpLocks/>
            </p:cNvGrpSpPr>
            <p:nvPr/>
          </p:nvGrpSpPr>
          <p:grpSpPr bwMode="auto">
            <a:xfrm>
              <a:off x="5073252" y="3430191"/>
              <a:ext cx="1104900" cy="1059657"/>
              <a:chOff x="32" y="19"/>
              <a:chExt cx="928" cy="890"/>
            </a:xfrm>
          </p:grpSpPr>
          <p:sp>
            <p:nvSpPr>
              <p:cNvPr id="26" name="Rectangle 14"/>
              <p:cNvSpPr>
                <a:spLocks/>
              </p:cNvSpPr>
              <p:nvPr/>
            </p:nvSpPr>
            <p:spPr bwMode="auto">
              <a:xfrm>
                <a:off x="84" y="19"/>
                <a:ext cx="824" cy="304"/>
              </a:xfrm>
              <a:prstGeom prst="rect">
                <a:avLst/>
              </a:prstGeom>
              <a:noFill/>
              <a:ln w="12700">
                <a:noFill/>
                <a:miter lim="800000"/>
                <a:headEnd/>
                <a:tailEnd/>
              </a:ln>
            </p:spPr>
            <p:txBody>
              <a:bodyPr lIns="0" tIns="0" rIns="54185" bIns="0"/>
              <a:lstStyle/>
              <a:p>
                <a:pPr marL="39686" algn="ctr"/>
                <a:r>
                  <a:rPr lang="en-US" sz="1867" dirty="0">
                    <a:latin typeface="Calibri" pitchFamily="34" charset="0"/>
                    <a:cs typeface="Arial" charset="0"/>
                  </a:rPr>
                  <a:t>Sensors</a:t>
                </a:r>
              </a:p>
            </p:txBody>
          </p:sp>
          <p:sp>
            <p:nvSpPr>
              <p:cNvPr id="27" name="Rectangle 15"/>
              <p:cNvSpPr>
                <a:spLocks/>
              </p:cNvSpPr>
              <p:nvPr/>
            </p:nvSpPr>
            <p:spPr bwMode="auto">
              <a:xfrm>
                <a:off x="32" y="661"/>
                <a:ext cx="928" cy="248"/>
              </a:xfrm>
              <a:prstGeom prst="rect">
                <a:avLst/>
              </a:prstGeom>
              <a:noFill/>
              <a:ln w="12700">
                <a:noFill/>
                <a:miter lim="800000"/>
                <a:headEnd/>
                <a:tailEnd/>
              </a:ln>
            </p:spPr>
            <p:txBody>
              <a:bodyPr lIns="0" tIns="0" rIns="54185" bIns="0"/>
              <a:lstStyle/>
              <a:p>
                <a:pPr marL="39686" algn="ctr"/>
                <a:r>
                  <a:rPr lang="en-US" sz="1867" dirty="0">
                    <a:latin typeface="Calibri" pitchFamily="34" charset="0"/>
                    <a:cs typeface="Arial" charset="0"/>
                  </a:rPr>
                  <a:t>Actuators</a:t>
                </a:r>
              </a:p>
            </p:txBody>
          </p:sp>
        </p:grpSp>
        <p:sp>
          <p:nvSpPr>
            <p:cNvPr id="28" name="AutoShape 16"/>
            <p:cNvSpPr>
              <a:spLocks/>
            </p:cNvSpPr>
            <p:nvPr/>
          </p:nvSpPr>
          <p:spPr bwMode="auto">
            <a:xfrm>
              <a:off x="7815475" y="3194447"/>
              <a:ext cx="853137" cy="1304925"/>
            </a:xfrm>
            <a:prstGeom prst="roundRect">
              <a:avLst>
                <a:gd name="adj" fmla="val 10944"/>
              </a:avLst>
            </a:prstGeom>
            <a:solidFill>
              <a:srgbClr val="9FB0D1"/>
            </a:solidFill>
            <a:ln w="12700">
              <a:solidFill>
                <a:schemeClr val="tx1"/>
              </a:solidFill>
              <a:round/>
              <a:headEnd/>
              <a:tailEnd/>
            </a:ln>
          </p:spPr>
          <p:txBody>
            <a:bodyPr lIns="0" tIns="0" rIns="0" bIns="0"/>
            <a:lstStyle/>
            <a:p>
              <a:endParaRPr lang="en-US" sz="2133">
                <a:latin typeface="Calibri" pitchFamily="34" charset="0"/>
              </a:endParaRPr>
            </a:p>
          </p:txBody>
        </p:sp>
        <p:sp>
          <p:nvSpPr>
            <p:cNvPr id="29" name="Rectangle 17"/>
            <p:cNvSpPr>
              <a:spLocks/>
            </p:cNvSpPr>
            <p:nvPr/>
          </p:nvSpPr>
          <p:spPr bwMode="auto">
            <a:xfrm rot="5400000">
              <a:off x="7696859" y="3589450"/>
              <a:ext cx="1157018" cy="493220"/>
            </a:xfrm>
            <a:prstGeom prst="rect">
              <a:avLst/>
            </a:prstGeom>
            <a:noFill/>
            <a:ln w="12700">
              <a:noFill/>
              <a:miter lim="800000"/>
              <a:headEnd/>
              <a:tailEnd/>
            </a:ln>
          </p:spPr>
          <p:txBody>
            <a:bodyPr lIns="0" tIns="0" rIns="40639" bIns="0"/>
            <a:lstStyle/>
            <a:p>
              <a:pPr marL="39686" algn="ctr"/>
              <a:r>
                <a:rPr lang="en-US" sz="2133" b="1" dirty="0">
                  <a:latin typeface="Calibri" pitchFamily="34" charset="0"/>
                  <a:cs typeface="Arial" charset="0"/>
                </a:rPr>
                <a:t>Environment</a:t>
              </a:r>
            </a:p>
          </p:txBody>
        </p:sp>
        <p:sp>
          <p:nvSpPr>
            <p:cNvPr id="30" name="Line 18"/>
            <p:cNvSpPr>
              <a:spLocks noChangeShapeType="1"/>
            </p:cNvSpPr>
            <p:nvPr/>
          </p:nvSpPr>
          <p:spPr bwMode="auto">
            <a:xfrm rot="10800000" flipH="1">
              <a:off x="6182915" y="3574256"/>
              <a:ext cx="1859756" cy="0"/>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31" name="Line 19"/>
            <p:cNvSpPr>
              <a:spLocks noChangeShapeType="1"/>
            </p:cNvSpPr>
            <p:nvPr/>
          </p:nvSpPr>
          <p:spPr bwMode="auto">
            <a:xfrm flipH="1">
              <a:off x="6275783" y="4324350"/>
              <a:ext cx="1760934" cy="0"/>
            </a:xfrm>
            <a:prstGeom prst="line">
              <a:avLst/>
            </a:prstGeom>
            <a:noFill/>
            <a:ln w="25400">
              <a:solidFill>
                <a:schemeClr val="tx1"/>
              </a:solidFill>
              <a:round/>
              <a:headEnd type="stealth" w="med" len="med"/>
              <a:tailEnd/>
            </a:ln>
          </p:spPr>
          <p:txBody>
            <a:bodyPr lIns="91439" tIns="45719" rIns="91439" bIns="45719"/>
            <a:lstStyle/>
            <a:p>
              <a:endParaRPr lang="en-US" sz="2133">
                <a:latin typeface="Calibri" pitchFamily="34" charset="0"/>
              </a:endParaRPr>
            </a:p>
          </p:txBody>
        </p:sp>
        <p:sp>
          <p:nvSpPr>
            <p:cNvPr id="32" name="Rectangle 20"/>
            <p:cNvSpPr>
              <a:spLocks/>
            </p:cNvSpPr>
            <p:nvPr/>
          </p:nvSpPr>
          <p:spPr bwMode="auto">
            <a:xfrm>
              <a:off x="6682977" y="3584972"/>
              <a:ext cx="942975" cy="266700"/>
            </a:xfrm>
            <a:prstGeom prst="rect">
              <a:avLst/>
            </a:prstGeom>
            <a:noFill/>
            <a:ln w="12700">
              <a:noFill/>
              <a:miter lim="800000"/>
              <a:headEnd/>
              <a:tailEnd/>
            </a:ln>
          </p:spPr>
          <p:txBody>
            <a:bodyPr lIns="0" tIns="0" rIns="40639" bIns="0"/>
            <a:lstStyle/>
            <a:p>
              <a:pPr marL="39686" algn="ctr"/>
              <a:r>
                <a:rPr lang="en-US" sz="1467" dirty="0">
                  <a:latin typeface="Calibri" pitchFamily="34" charset="0"/>
                  <a:cs typeface="Arial" charset="0"/>
                </a:rPr>
                <a:t>Percepts</a:t>
              </a:r>
            </a:p>
          </p:txBody>
        </p:sp>
        <p:sp>
          <p:nvSpPr>
            <p:cNvPr id="33" name="Rectangle 21"/>
            <p:cNvSpPr>
              <a:spLocks/>
            </p:cNvSpPr>
            <p:nvPr/>
          </p:nvSpPr>
          <p:spPr bwMode="auto">
            <a:xfrm>
              <a:off x="6749652" y="4324350"/>
              <a:ext cx="809625" cy="304800"/>
            </a:xfrm>
            <a:prstGeom prst="rect">
              <a:avLst/>
            </a:prstGeom>
            <a:noFill/>
            <a:ln w="12700">
              <a:noFill/>
              <a:miter lim="800000"/>
              <a:headEnd/>
              <a:tailEnd/>
            </a:ln>
          </p:spPr>
          <p:txBody>
            <a:bodyPr lIns="0" tIns="0" rIns="40639" bIns="0"/>
            <a:lstStyle/>
            <a:p>
              <a:pPr marL="39686" algn="ctr"/>
              <a:r>
                <a:rPr lang="en-US" sz="1467" dirty="0">
                  <a:latin typeface="Calibri" pitchFamily="34" charset="0"/>
                  <a:cs typeface="Arial" charset="0"/>
                </a:rPr>
                <a:t>Actions</a:t>
              </a:r>
            </a:p>
          </p:txBody>
        </p:sp>
      </p:grpSp>
    </p:spTree>
    <p:extLst>
      <p:ext uri="{BB962C8B-B14F-4D97-AF65-F5344CB8AC3E}">
        <p14:creationId xmlns:p14="http://schemas.microsoft.com/office/powerpoint/2010/main" val="295861036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title"/>
          </p:nvPr>
        </p:nvSpPr>
        <p:spPr/>
        <p:txBody>
          <a:bodyPr vert="horz" lIns="91440" tIns="45720" rIns="132077" bIns="45720" rtlCol="0" anchor="ctr">
            <a:normAutofit/>
          </a:bodyPr>
          <a:lstStyle/>
          <a:p>
            <a:r>
              <a:rPr lang="en-US" dirty="0"/>
              <a:t>Rational Decisions</a:t>
            </a:r>
          </a:p>
        </p:txBody>
      </p:sp>
      <p:sp>
        <p:nvSpPr>
          <p:cNvPr id="2" name="Content Placeholder 1"/>
          <p:cNvSpPr>
            <a:spLocks noGrp="1"/>
          </p:cNvSpPr>
          <p:nvPr>
            <p:ph idx="1"/>
          </p:nvPr>
        </p:nvSpPr>
        <p:spPr/>
        <p:txBody>
          <a:bodyPr/>
          <a:lstStyle/>
          <a:p>
            <a:r>
              <a:rPr lang="en-US" dirty="0"/>
              <a:t>We’ll use the term rational in a very specific, technical way:</a:t>
            </a:r>
          </a:p>
          <a:p>
            <a:r>
              <a:rPr lang="en-US" dirty="0"/>
              <a:t>Rational: maximally achieving pre-defined goals</a:t>
            </a:r>
          </a:p>
          <a:p>
            <a:r>
              <a:rPr lang="en-US" dirty="0"/>
              <a:t>Rationality only concerns what decisions are made (not the thought process behind them)</a:t>
            </a:r>
          </a:p>
          <a:p>
            <a:r>
              <a:rPr lang="en-US" dirty="0"/>
              <a:t>Goals are expressed in terms of the utility of outcomes</a:t>
            </a:r>
          </a:p>
          <a:p>
            <a:r>
              <a:rPr lang="en-US" dirty="0"/>
              <a:t>Being rational means </a:t>
            </a:r>
            <a:r>
              <a:rPr lang="en-US" b="1" dirty="0"/>
              <a:t>maximizing your expected utility</a:t>
            </a:r>
          </a:p>
          <a:p>
            <a:pPr marL="39686"/>
            <a:endParaRPr lang="en-US" dirty="0"/>
          </a:p>
        </p:txBody>
      </p:sp>
      <p:pic>
        <p:nvPicPr>
          <p:cNvPr id="6" name="Picture 1"/>
          <p:cNvPicPr>
            <a:picLocks noChangeAspect="1" noChangeArrowheads="1"/>
          </p:cNvPicPr>
          <p:nvPr/>
        </p:nvPicPr>
        <p:blipFill>
          <a:blip r:embed="rId3" cstate="print"/>
          <a:srcRect/>
          <a:stretch>
            <a:fillRect/>
          </a:stretch>
        </p:blipFill>
        <p:spPr bwMode="auto">
          <a:xfrm>
            <a:off x="8637922" y="4709078"/>
            <a:ext cx="2715878" cy="1774662"/>
          </a:xfrm>
          <a:prstGeom prst="rect">
            <a:avLst/>
          </a:prstGeom>
          <a:noFill/>
          <a:ln w="9525">
            <a:noFill/>
            <a:miter lim="800000"/>
            <a:headEnd/>
            <a:tailEnd/>
          </a:ln>
          <a:effectLst/>
        </p:spPr>
      </p:pic>
    </p:spTree>
    <p:extLst>
      <p:ext uri="{BB962C8B-B14F-4D97-AF65-F5344CB8AC3E}">
        <p14:creationId xmlns:p14="http://schemas.microsoft.com/office/powerpoint/2010/main" val="38378612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Approaches to AI</a:t>
            </a:r>
          </a:p>
        </p:txBody>
      </p:sp>
      <p:sp>
        <p:nvSpPr>
          <p:cNvPr id="3" name="Content Placeholder 2"/>
          <p:cNvSpPr>
            <a:spLocks noGrp="1"/>
          </p:cNvSpPr>
          <p:nvPr>
            <p:ph idx="1"/>
          </p:nvPr>
        </p:nvSpPr>
        <p:spPr/>
        <p:txBody>
          <a:bodyPr>
            <a:normAutofit lnSpcReduction="10000"/>
          </a:bodyPr>
          <a:lstStyle/>
          <a:p>
            <a:r>
              <a:rPr lang="en-US" b="1" dirty="0"/>
              <a:t>Strong AI</a:t>
            </a:r>
          </a:p>
          <a:p>
            <a:pPr lvl="1"/>
            <a:r>
              <a:rPr lang="en-US" dirty="0"/>
              <a:t>Strong AI aims to build machines that can truly reason and solve problems who is self aware and whose overall intellectual ability is indistinguishable from that of a human being.</a:t>
            </a:r>
          </a:p>
          <a:p>
            <a:pPr lvl="2"/>
            <a:r>
              <a:rPr lang="en-US" dirty="0"/>
              <a:t>Human-Like </a:t>
            </a:r>
          </a:p>
          <a:p>
            <a:r>
              <a:rPr lang="en-US" b="1" dirty="0"/>
              <a:t>Weak AI</a:t>
            </a:r>
          </a:p>
          <a:p>
            <a:pPr lvl="1"/>
            <a:r>
              <a:rPr lang="en-US" dirty="0"/>
              <a:t>Weak artificial intelligence (</a:t>
            </a:r>
            <a:r>
              <a:rPr lang="en-US" b="1" dirty="0"/>
              <a:t>weak AI</a:t>
            </a:r>
            <a:r>
              <a:rPr lang="en-US" dirty="0"/>
              <a:t>), also known as narrow AI, is artificial intelligence that is </a:t>
            </a:r>
            <a:r>
              <a:rPr lang="en-US" b="1" dirty="0"/>
              <a:t>focused on one narrow task</a:t>
            </a:r>
            <a:r>
              <a:rPr lang="en-US" dirty="0"/>
              <a:t>.</a:t>
            </a:r>
          </a:p>
          <a:p>
            <a:pPr lvl="1"/>
            <a:r>
              <a:rPr lang="en-US" dirty="0"/>
              <a:t>Deals with the creation of some form of computer-based artificial intelligence that </a:t>
            </a:r>
            <a:r>
              <a:rPr lang="en-US" b="1" dirty="0"/>
              <a:t>cannot</a:t>
            </a:r>
            <a:r>
              <a:rPr lang="en-US" dirty="0"/>
              <a:t> truly reason and solve problems, but can act as if it were intelligent.</a:t>
            </a:r>
          </a:p>
          <a:p>
            <a:pPr lvl="1"/>
            <a:r>
              <a:rPr lang="en-US" b="1" dirty="0"/>
              <a:t>Siri</a:t>
            </a:r>
            <a:r>
              <a:rPr lang="en-US" dirty="0"/>
              <a:t> is a good example of narrow intelligence. </a:t>
            </a:r>
          </a:p>
        </p:txBody>
      </p:sp>
    </p:spTree>
    <p:extLst>
      <p:ext uri="{BB962C8B-B14F-4D97-AF65-F5344CB8AC3E}">
        <p14:creationId xmlns:p14="http://schemas.microsoft.com/office/powerpoint/2010/main" val="602208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Weak and Strong AI </a:t>
            </a:r>
            <a:endParaRPr lang="en-US" dirty="0"/>
          </a:p>
        </p:txBody>
      </p:sp>
      <p:sp>
        <p:nvSpPr>
          <p:cNvPr id="3" name="Content Placeholder 2"/>
          <p:cNvSpPr>
            <a:spLocks noGrp="1"/>
          </p:cNvSpPr>
          <p:nvPr>
            <p:ph idx="1"/>
          </p:nvPr>
        </p:nvSpPr>
        <p:spPr/>
        <p:txBody>
          <a:bodyPr>
            <a:normAutofit/>
          </a:bodyPr>
          <a:lstStyle/>
          <a:p>
            <a:r>
              <a:rPr lang="en-US" b="1" dirty="0"/>
              <a:t>Weak  AI</a:t>
            </a:r>
            <a:r>
              <a:rPr lang="en-US" dirty="0"/>
              <a:t> is AI that can not 'think', i.e. a computer chess playing AI does not think about its next move, it is based on the programming it was given, and its moves depend on the moves of the human opponent. </a:t>
            </a:r>
          </a:p>
          <a:p>
            <a:r>
              <a:rPr lang="en-US" b="1" dirty="0"/>
              <a:t>Strong  AI </a:t>
            </a:r>
            <a:r>
              <a:rPr lang="en-US" dirty="0"/>
              <a:t>is the idea/concept that we will one day create AI that </a:t>
            </a:r>
            <a:r>
              <a:rPr lang="en-US" i="1" dirty="0"/>
              <a:t>can</a:t>
            </a:r>
            <a:r>
              <a:rPr lang="en-US" dirty="0"/>
              <a:t> 'think' i.e. be able to play a chess game that is not based on the moves of the human opponent or programming, but based on the AI's own 'thoughts' and feelings and such, which are all supposed to be exactly like a real humans thoughts and emotions and stuff. </a:t>
            </a:r>
          </a:p>
        </p:txBody>
      </p:sp>
    </p:spTree>
    <p:extLst>
      <p:ext uri="{BB962C8B-B14F-4D97-AF65-F5344CB8AC3E}">
        <p14:creationId xmlns:p14="http://schemas.microsoft.com/office/powerpoint/2010/main" val="4140184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Quiz</a:t>
            </a:r>
          </a:p>
        </p:txBody>
      </p:sp>
      <p:sp>
        <p:nvSpPr>
          <p:cNvPr id="3" name="Content Placeholder 2"/>
          <p:cNvSpPr>
            <a:spLocks noGrp="1"/>
          </p:cNvSpPr>
          <p:nvPr>
            <p:ph idx="1"/>
          </p:nvPr>
        </p:nvSpPr>
        <p:spPr/>
        <p:txBody>
          <a:bodyPr/>
          <a:lstStyle/>
          <a:p>
            <a:r>
              <a:rPr lang="en-US" dirty="0"/>
              <a:t>To what extent are the following computer systems instances of artificial intelligence:</a:t>
            </a:r>
          </a:p>
          <a:p>
            <a:pPr lvl="1"/>
            <a:r>
              <a:rPr lang="en-US" dirty="0"/>
              <a:t>Supermarket bar code scanners.</a:t>
            </a:r>
          </a:p>
          <a:p>
            <a:pPr lvl="2"/>
            <a:r>
              <a:rPr lang="en-US" sz="1400" b="1" dirty="0"/>
              <a:t>Do they perceive the environment?</a:t>
            </a:r>
            <a:r>
              <a:rPr lang="en-US" sz="1400" dirty="0"/>
              <a:t>  (they “read” the barcode)</a:t>
            </a:r>
          </a:p>
          <a:p>
            <a:pPr lvl="2"/>
            <a:r>
              <a:rPr lang="en-US" sz="1400" b="1" dirty="0"/>
              <a:t>Do they act autonomously?</a:t>
            </a:r>
            <a:r>
              <a:rPr lang="en-US" sz="1400" dirty="0"/>
              <a:t>  (only respond to human scanning)</a:t>
            </a:r>
          </a:p>
          <a:p>
            <a:pPr lvl="2"/>
            <a:r>
              <a:rPr lang="en-US" sz="1400" b="1" dirty="0"/>
              <a:t>Do they adapt or learn?</a:t>
            </a:r>
            <a:r>
              <a:rPr lang="en-US" sz="1400" dirty="0"/>
              <a:t>  (do not change behavior or improve)</a:t>
            </a:r>
          </a:p>
          <a:p>
            <a:pPr lvl="2"/>
            <a:r>
              <a:rPr lang="en-US" sz="1400" b="1" dirty="0"/>
              <a:t>Do they have goals?</a:t>
            </a:r>
            <a:r>
              <a:rPr lang="en-US" sz="1400" dirty="0"/>
              <a:t>  (no independent goal)</a:t>
            </a:r>
          </a:p>
          <a:p>
            <a:pPr lvl="2"/>
            <a:r>
              <a:rPr lang="en-US" sz="1400" dirty="0"/>
              <a:t>Conclusion: Not an AI agent, just a program executing fixed algorithm.</a:t>
            </a:r>
          </a:p>
          <a:p>
            <a:pPr lvl="1"/>
            <a:r>
              <a:rPr lang="en-US" dirty="0"/>
              <a:t>Web search engines.</a:t>
            </a:r>
          </a:p>
          <a:p>
            <a:pPr lvl="1"/>
            <a:r>
              <a:rPr lang="en-US" dirty="0"/>
              <a:t>Voice-activated telephone menus.</a:t>
            </a:r>
          </a:p>
          <a:p>
            <a:endParaRPr lang="en-US" dirty="0"/>
          </a:p>
        </p:txBody>
      </p:sp>
    </p:spTree>
    <p:extLst>
      <p:ext uri="{BB962C8B-B14F-4D97-AF65-F5344CB8AC3E}">
        <p14:creationId xmlns:p14="http://schemas.microsoft.com/office/powerpoint/2010/main" val="272685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Applications of AI</a:t>
            </a:r>
          </a:p>
        </p:txBody>
      </p:sp>
      <p:sp>
        <p:nvSpPr>
          <p:cNvPr id="3" name="Content Placeholder 2"/>
          <p:cNvSpPr>
            <a:spLocks noGrp="1"/>
          </p:cNvSpPr>
          <p:nvPr>
            <p:ph idx="1"/>
          </p:nvPr>
        </p:nvSpPr>
        <p:spPr/>
        <p:txBody>
          <a:bodyPr/>
          <a:lstStyle/>
          <a:p>
            <a:r>
              <a:rPr lang="sv-SE" dirty="0"/>
              <a:t>Game playing</a:t>
            </a:r>
          </a:p>
          <a:p>
            <a:r>
              <a:rPr lang="sv-SE" dirty="0"/>
              <a:t>Computer vision</a:t>
            </a:r>
          </a:p>
          <a:p>
            <a:r>
              <a:rPr lang="sv-SE" dirty="0"/>
              <a:t>Natural language processing</a:t>
            </a:r>
          </a:p>
          <a:p>
            <a:r>
              <a:rPr lang="sv-SE" dirty="0"/>
              <a:t>Diagnosis systems</a:t>
            </a:r>
          </a:p>
          <a:p>
            <a:r>
              <a:rPr lang="sv-SE" dirty="0"/>
              <a:t>Control</a:t>
            </a:r>
          </a:p>
          <a:p>
            <a:r>
              <a:rPr lang="sv-SE" dirty="0"/>
              <a:t>Optimisation</a:t>
            </a:r>
          </a:p>
          <a:p>
            <a:r>
              <a:rPr lang="sv-SE" dirty="0"/>
              <a:t>Robotics</a:t>
            </a:r>
          </a:p>
          <a:p>
            <a:endParaRPr lang="en-US" dirty="0"/>
          </a:p>
        </p:txBody>
      </p:sp>
    </p:spTree>
    <p:extLst>
      <p:ext uri="{BB962C8B-B14F-4D97-AF65-F5344CB8AC3E}">
        <p14:creationId xmlns:p14="http://schemas.microsoft.com/office/powerpoint/2010/main" val="3860971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solidFill>
                  <a:schemeClr val="tx1"/>
                </a:solidFill>
              </a:rPr>
              <a:t>Natural Language</a:t>
            </a:r>
          </a:p>
        </p:txBody>
      </p:sp>
      <p:sp>
        <p:nvSpPr>
          <p:cNvPr id="542723" name="Rectangle 3"/>
          <p:cNvSpPr>
            <a:spLocks noGrp="1" noChangeArrowheads="1"/>
          </p:cNvSpPr>
          <p:nvPr>
            <p:ph idx="1"/>
          </p:nvPr>
        </p:nvSpPr>
        <p:spPr/>
        <p:txBody>
          <a:bodyPr>
            <a:normAutofit fontScale="70000" lnSpcReduction="20000"/>
          </a:bodyPr>
          <a:lstStyle/>
          <a:p>
            <a:pPr eaLnBrk="1" hangingPunct="1">
              <a:lnSpc>
                <a:spcPct val="80000"/>
              </a:lnSpc>
            </a:pPr>
            <a:r>
              <a:rPr lang="en-US" sz="2400" dirty="0"/>
              <a:t>Speech technologies (e.g. </a:t>
            </a:r>
            <a:r>
              <a:rPr lang="en-US" sz="2400" dirty="0" err="1"/>
              <a:t>Siri</a:t>
            </a:r>
            <a:r>
              <a:rPr lang="en-US" sz="2400" dirty="0"/>
              <a:t>)</a:t>
            </a:r>
          </a:p>
          <a:p>
            <a:pPr lvl="1" eaLnBrk="1" hangingPunct="1">
              <a:lnSpc>
                <a:spcPct val="80000"/>
              </a:lnSpc>
            </a:pPr>
            <a:r>
              <a:rPr lang="en-US" sz="2000" dirty="0"/>
              <a:t>Automatic speech recognition (ASR)</a:t>
            </a:r>
          </a:p>
          <a:p>
            <a:pPr lvl="1" eaLnBrk="1" hangingPunct="1">
              <a:lnSpc>
                <a:spcPct val="80000"/>
              </a:lnSpc>
            </a:pPr>
            <a:r>
              <a:rPr lang="en-US" sz="2000" dirty="0"/>
              <a:t>Text-to-speech synthesis (TTS)</a:t>
            </a:r>
          </a:p>
          <a:p>
            <a:pPr lvl="1" eaLnBrk="1" hangingPunct="1">
              <a:lnSpc>
                <a:spcPct val="80000"/>
              </a:lnSpc>
            </a:pPr>
            <a:r>
              <a:rPr lang="en-US" sz="2000" dirty="0"/>
              <a:t>Dialog systems</a:t>
            </a:r>
          </a:p>
          <a:p>
            <a:pPr lvl="1" eaLnBrk="1" hangingPunct="1">
              <a:lnSpc>
                <a:spcPct val="80000"/>
              </a:lnSpc>
            </a:pPr>
            <a:endParaRPr lang="en-US" sz="2000" dirty="0"/>
          </a:p>
          <a:p>
            <a:pPr eaLnBrk="1" hangingPunct="1">
              <a:lnSpc>
                <a:spcPct val="80000"/>
              </a:lnSpc>
            </a:pPr>
            <a:r>
              <a:rPr lang="en-US" sz="2400" dirty="0"/>
              <a:t>Language processing technologies</a:t>
            </a:r>
          </a:p>
          <a:p>
            <a:pPr lvl="1" eaLnBrk="1" hangingPunct="1">
              <a:lnSpc>
                <a:spcPct val="80000"/>
              </a:lnSpc>
            </a:pPr>
            <a:r>
              <a:rPr lang="en-US" sz="2000" dirty="0"/>
              <a:t>Question answering</a:t>
            </a:r>
          </a:p>
          <a:p>
            <a:pPr lvl="1" eaLnBrk="1" hangingPunct="1">
              <a:lnSpc>
                <a:spcPct val="80000"/>
              </a:lnSpc>
            </a:pPr>
            <a:r>
              <a:rPr lang="en-US" sz="2000" dirty="0"/>
              <a:t>Machine translation</a:t>
            </a:r>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pPr>
            <a:endParaRPr lang="en-US" sz="2000" dirty="0"/>
          </a:p>
          <a:p>
            <a:pPr lvl="1" eaLnBrk="1" hangingPunct="1">
              <a:lnSpc>
                <a:spcPct val="80000"/>
              </a:lnSpc>
              <a:buFont typeface="Wingdings" pitchFamily="2" charset="2"/>
              <a:buNone/>
            </a:pPr>
            <a:r>
              <a:rPr lang="en-US" sz="2000" dirty="0"/>
              <a:t>	</a:t>
            </a:r>
          </a:p>
          <a:p>
            <a:pPr lvl="1" eaLnBrk="1" hangingPunct="1">
              <a:lnSpc>
                <a:spcPct val="80000"/>
              </a:lnSpc>
            </a:pPr>
            <a:endParaRPr lang="en-US" sz="2000" dirty="0"/>
          </a:p>
          <a:p>
            <a:pPr lvl="1" eaLnBrk="1" hangingPunct="1">
              <a:lnSpc>
                <a:spcPct val="80000"/>
              </a:lnSpc>
            </a:pPr>
            <a:r>
              <a:rPr lang="en-US" sz="2000" dirty="0"/>
              <a:t>Web search</a:t>
            </a:r>
          </a:p>
          <a:p>
            <a:pPr lvl="1" eaLnBrk="1" hangingPunct="1">
              <a:lnSpc>
                <a:spcPct val="80000"/>
              </a:lnSpc>
            </a:pPr>
            <a:r>
              <a:rPr lang="en-US" sz="2000" dirty="0"/>
              <a:t>Text classification, spam filtering, etc…</a:t>
            </a:r>
          </a:p>
        </p:txBody>
      </p:sp>
      <p:pic>
        <p:nvPicPr>
          <p:cNvPr id="11" name="Picture 3"/>
          <p:cNvPicPr>
            <a:picLocks noChangeAspect="1" noChangeArrowheads="1"/>
          </p:cNvPicPr>
          <p:nvPr/>
        </p:nvPicPr>
        <p:blipFill>
          <a:blip r:embed="rId3" cstate="print"/>
          <a:srcRect l="7121" t="21938" r="10979" b="50627"/>
          <a:stretch>
            <a:fillRect/>
          </a:stretch>
        </p:blipFill>
        <p:spPr bwMode="auto">
          <a:xfrm>
            <a:off x="1171564" y="3646578"/>
            <a:ext cx="3367088" cy="1647825"/>
          </a:xfrm>
          <a:prstGeom prst="rect">
            <a:avLst/>
          </a:prstGeom>
          <a:noFill/>
          <a:ln w="12700">
            <a:solidFill>
              <a:schemeClr val="tx1"/>
            </a:solidFill>
            <a:miter lim="800000"/>
            <a:headEnd/>
            <a:tailEnd/>
          </a:ln>
        </p:spPr>
      </p:pic>
      <p:pic>
        <p:nvPicPr>
          <p:cNvPr id="13" name="Picture 5"/>
          <p:cNvPicPr>
            <a:picLocks noChangeAspect="1" noChangeArrowheads="1"/>
          </p:cNvPicPr>
          <p:nvPr/>
        </p:nvPicPr>
        <p:blipFill>
          <a:blip r:embed="rId4" cstate="print"/>
          <a:srcRect l="4761" t="14677" r="7295" b="52715"/>
          <a:stretch>
            <a:fillRect/>
          </a:stretch>
        </p:blipFill>
        <p:spPr bwMode="auto">
          <a:xfrm>
            <a:off x="4872016" y="3646578"/>
            <a:ext cx="3581400" cy="1652587"/>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249309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2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2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2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42723">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272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4" name="Picture 1"/>
          <p:cNvPicPr>
            <a:picLocks noChangeAspect="1" noChangeArrowheads="1"/>
          </p:cNvPicPr>
          <p:nvPr/>
        </p:nvPicPr>
        <p:blipFill>
          <a:blip r:embed="rId2" cstate="print"/>
          <a:srcRect/>
          <a:stretch>
            <a:fillRect/>
          </a:stretch>
        </p:blipFill>
        <p:spPr bwMode="auto">
          <a:xfrm>
            <a:off x="838200" y="3490845"/>
            <a:ext cx="7366000" cy="3192463"/>
          </a:xfrm>
          <a:prstGeom prst="rect">
            <a:avLst/>
          </a:prstGeom>
          <a:noFill/>
          <a:ln w="12700">
            <a:noFill/>
            <a:miter lim="800000"/>
            <a:headEnd/>
            <a:tailEnd/>
          </a:ln>
        </p:spPr>
      </p:pic>
      <p:sp>
        <p:nvSpPr>
          <p:cNvPr id="18436" name="Rectangle 5"/>
          <p:cNvSpPr>
            <a:spLocks noGrp="1" noChangeArrowheads="1"/>
          </p:cNvSpPr>
          <p:nvPr>
            <p:ph type="title"/>
          </p:nvPr>
        </p:nvSpPr>
        <p:spPr/>
        <p:txBody>
          <a:bodyPr vert="horz" lIns="91440" tIns="45720" rIns="132077" bIns="45720" rtlCol="0" anchor="ctr">
            <a:normAutofit/>
          </a:bodyPr>
          <a:lstStyle/>
          <a:p>
            <a:r>
              <a:rPr lang="en-US" dirty="0"/>
              <a:t>Vision (Perception)</a:t>
            </a:r>
          </a:p>
        </p:txBody>
      </p:sp>
      <p:sp>
        <p:nvSpPr>
          <p:cNvPr id="3" name="Content Placeholder 2"/>
          <p:cNvSpPr>
            <a:spLocks noGrp="1"/>
          </p:cNvSpPr>
          <p:nvPr>
            <p:ph idx="1"/>
          </p:nvPr>
        </p:nvSpPr>
        <p:spPr/>
        <p:txBody>
          <a:bodyPr/>
          <a:lstStyle/>
          <a:p>
            <a:r>
              <a:rPr lang="en-US" dirty="0"/>
              <a:t>Object and face recognition</a:t>
            </a:r>
          </a:p>
          <a:p>
            <a:r>
              <a:rPr lang="en-US" dirty="0"/>
              <a:t>Scene segmentation</a:t>
            </a:r>
          </a:p>
          <a:p>
            <a:r>
              <a:rPr lang="en-US" dirty="0"/>
              <a:t>Image classification (say hand pic as hand)</a:t>
            </a:r>
          </a:p>
          <a:p>
            <a:endParaRPr lang="en-US" dirty="0"/>
          </a:p>
        </p:txBody>
      </p:sp>
      <p:pic>
        <p:nvPicPr>
          <p:cNvPr id="59394" name="Picture 2" descr="File:Kinect2-ir-image.png">
            <a:hlinkClick r:id="rId3"/>
          </p:cNvPr>
          <p:cNvPicPr>
            <a:picLocks noChangeAspect="1" noChangeArrowheads="1"/>
          </p:cNvPicPr>
          <p:nvPr/>
        </p:nvPicPr>
        <p:blipFill>
          <a:blip r:embed="rId4" cstate="print"/>
          <a:srcRect/>
          <a:stretch>
            <a:fillRect/>
          </a:stretch>
        </p:blipFill>
        <p:spPr bwMode="auto">
          <a:xfrm>
            <a:off x="9068905" y="1998231"/>
            <a:ext cx="2445173" cy="1930400"/>
          </a:xfrm>
          <a:prstGeom prst="rect">
            <a:avLst/>
          </a:prstGeom>
          <a:noFill/>
        </p:spPr>
      </p:pic>
      <p:pic>
        <p:nvPicPr>
          <p:cNvPr id="59396" name="Picture 4" descr="File:Kinect2-deepmap.png">
            <a:hlinkClick r:id="rId5"/>
          </p:cNvPr>
          <p:cNvPicPr>
            <a:picLocks noChangeAspect="1" noChangeArrowheads="1"/>
          </p:cNvPicPr>
          <p:nvPr/>
        </p:nvPicPr>
        <p:blipFill>
          <a:blip r:embed="rId6" cstate="print"/>
          <a:srcRect/>
          <a:stretch>
            <a:fillRect/>
          </a:stretch>
        </p:blipFill>
        <p:spPr bwMode="auto">
          <a:xfrm>
            <a:off x="9068905" y="4030232"/>
            <a:ext cx="2438400" cy="1963812"/>
          </a:xfrm>
          <a:prstGeom prst="rect">
            <a:avLst/>
          </a:prstGeom>
          <a:noFill/>
        </p:spPr>
      </p:pic>
      <p:pic>
        <p:nvPicPr>
          <p:cNvPr id="59398" name="Picture 6" descr="File:Xbox-360-Kinect-Standalone.png">
            <a:hlinkClick r:id="rId7"/>
          </p:cNvPr>
          <p:cNvPicPr>
            <a:picLocks noChangeAspect="1" noChangeArrowheads="1"/>
          </p:cNvPicPr>
          <p:nvPr/>
        </p:nvPicPr>
        <p:blipFill>
          <a:blip r:embed="rId8" cstate="print"/>
          <a:srcRect/>
          <a:stretch>
            <a:fillRect/>
          </a:stretch>
        </p:blipFill>
        <p:spPr bwMode="auto">
          <a:xfrm>
            <a:off x="6096000" y="1896630"/>
            <a:ext cx="3048000" cy="1052876"/>
          </a:xfrm>
          <a:prstGeom prst="rect">
            <a:avLst/>
          </a:prstGeom>
          <a:noFill/>
        </p:spPr>
      </p:pic>
    </p:spTree>
    <p:extLst>
      <p:ext uri="{BB962C8B-B14F-4D97-AF65-F5344CB8AC3E}">
        <p14:creationId xmlns:p14="http://schemas.microsoft.com/office/powerpoint/2010/main" val="111192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dirty="0">
                <a:solidFill>
                  <a:schemeClr val="tx1"/>
                </a:solidFill>
              </a:rPr>
              <a:t>Robotics</a:t>
            </a:r>
          </a:p>
        </p:txBody>
      </p:sp>
      <p:sp>
        <p:nvSpPr>
          <p:cNvPr id="2052" name="Rectangle 3"/>
          <p:cNvSpPr>
            <a:spLocks noGrp="1" noChangeArrowheads="1"/>
          </p:cNvSpPr>
          <p:nvPr>
            <p:ph idx="1"/>
          </p:nvPr>
        </p:nvSpPr>
        <p:spPr>
          <a:xfrm>
            <a:off x="838200" y="1825625"/>
            <a:ext cx="3031435" cy="4651376"/>
          </a:xfrm>
        </p:spPr>
        <p:txBody>
          <a:bodyPr>
            <a:normAutofit/>
          </a:bodyPr>
          <a:lstStyle/>
          <a:p>
            <a:pPr eaLnBrk="1" hangingPunct="1">
              <a:lnSpc>
                <a:spcPct val="80000"/>
              </a:lnSpc>
            </a:pPr>
            <a:r>
              <a:rPr lang="en-US" dirty="0"/>
              <a:t>Robotics</a:t>
            </a:r>
          </a:p>
          <a:p>
            <a:pPr lvl="1" eaLnBrk="1" hangingPunct="1">
              <a:lnSpc>
                <a:spcPct val="80000"/>
              </a:lnSpc>
            </a:pPr>
            <a:endParaRPr lang="en-US" sz="2800" dirty="0"/>
          </a:p>
          <a:p>
            <a:pPr eaLnBrk="1" hangingPunct="1">
              <a:lnSpc>
                <a:spcPct val="80000"/>
              </a:lnSpc>
            </a:pPr>
            <a:r>
              <a:rPr lang="en-US" dirty="0"/>
              <a:t>Technologies</a:t>
            </a:r>
          </a:p>
          <a:p>
            <a:pPr lvl="1">
              <a:lnSpc>
                <a:spcPct val="80000"/>
              </a:lnSpc>
            </a:pPr>
            <a:r>
              <a:rPr lang="en-US" dirty="0"/>
              <a:t>Vehicles</a:t>
            </a:r>
          </a:p>
          <a:p>
            <a:pPr lvl="1">
              <a:lnSpc>
                <a:spcPct val="80000"/>
              </a:lnSpc>
            </a:pPr>
            <a:r>
              <a:rPr lang="en-US" dirty="0"/>
              <a:t>Rescue</a:t>
            </a:r>
          </a:p>
          <a:p>
            <a:pPr lvl="1">
              <a:lnSpc>
                <a:spcPct val="80000"/>
              </a:lnSpc>
            </a:pPr>
            <a:r>
              <a:rPr lang="en-US" dirty="0"/>
              <a:t>Soccer!</a:t>
            </a:r>
          </a:p>
          <a:p>
            <a:pPr lvl="1">
              <a:lnSpc>
                <a:spcPct val="80000"/>
              </a:lnSpc>
            </a:pPr>
            <a:r>
              <a:rPr lang="en-US" dirty="0"/>
              <a:t>Lots of automation…</a:t>
            </a:r>
          </a:p>
          <a:p>
            <a:pPr marL="457200" lvl="1" indent="0" eaLnBrk="1" hangingPunct="1">
              <a:lnSpc>
                <a:spcPct val="80000"/>
              </a:lnSpc>
              <a:buNone/>
            </a:pPr>
            <a:endParaRPr lang="en-US" sz="2800" dirty="0"/>
          </a:p>
        </p:txBody>
      </p:sp>
      <p:pic>
        <p:nvPicPr>
          <p:cNvPr id="2" name="Picture 3"/>
          <p:cNvPicPr>
            <a:picLocks noChangeAspect="1" noChangeArrowheads="1"/>
          </p:cNvPicPr>
          <p:nvPr/>
        </p:nvPicPr>
        <p:blipFill>
          <a:blip r:embed="rId2" cstate="print"/>
          <a:srcRect/>
          <a:stretch>
            <a:fillRect/>
          </a:stretch>
        </p:blipFill>
        <p:spPr bwMode="auto">
          <a:xfrm>
            <a:off x="4135717" y="1295400"/>
            <a:ext cx="2468283" cy="2743200"/>
          </a:xfrm>
          <a:prstGeom prst="rect">
            <a:avLst/>
          </a:prstGeom>
          <a:noFill/>
          <a:ln w="9525">
            <a:noFill/>
            <a:miter lim="800000"/>
            <a:headEnd/>
            <a:tailEnd/>
          </a:ln>
        </p:spPr>
      </p:pic>
      <p:pic>
        <p:nvPicPr>
          <p:cNvPr id="3" name="Picture 4"/>
          <p:cNvPicPr>
            <a:picLocks noChangeAspect="1" noChangeArrowheads="1"/>
          </p:cNvPicPr>
          <p:nvPr/>
        </p:nvPicPr>
        <p:blipFill>
          <a:blip r:embed="rId3" cstate="print"/>
          <a:srcRect/>
          <a:stretch>
            <a:fillRect/>
          </a:stretch>
        </p:blipFill>
        <p:spPr bwMode="auto">
          <a:xfrm>
            <a:off x="6870082" y="1295400"/>
            <a:ext cx="4252608" cy="2133600"/>
          </a:xfrm>
          <a:prstGeom prst="rect">
            <a:avLst/>
          </a:prstGeom>
          <a:noFill/>
          <a:ln w="9525">
            <a:noFill/>
            <a:miter lim="800000"/>
            <a:headEnd/>
            <a:tailEnd/>
          </a:ln>
        </p:spPr>
      </p:pic>
      <p:pic>
        <p:nvPicPr>
          <p:cNvPr id="4" name="Picture 6" descr="http://www.bostondynamics.com/img/PETMAN_Mar-2012_crop.jpg"/>
          <p:cNvPicPr>
            <a:picLocks noChangeAspect="1" noChangeArrowheads="1"/>
          </p:cNvPicPr>
          <p:nvPr/>
        </p:nvPicPr>
        <p:blipFill>
          <a:blip r:embed="rId4" cstate="print"/>
          <a:srcRect l="28571" r="25714"/>
          <a:stretch>
            <a:fillRect/>
          </a:stretch>
        </p:blipFill>
        <p:spPr bwMode="auto">
          <a:xfrm>
            <a:off x="8446053" y="3618948"/>
            <a:ext cx="2133600" cy="3015761"/>
          </a:xfrm>
          <a:prstGeom prst="rect">
            <a:avLst/>
          </a:prstGeom>
          <a:noFill/>
        </p:spPr>
      </p:pic>
      <p:pic>
        <p:nvPicPr>
          <p:cNvPr id="1026" name="Picture 2"/>
          <p:cNvPicPr>
            <a:picLocks noChangeAspect="1" noChangeArrowheads="1"/>
          </p:cNvPicPr>
          <p:nvPr/>
        </p:nvPicPr>
        <p:blipFill>
          <a:blip r:embed="rId5" cstate="print"/>
          <a:srcRect/>
          <a:stretch>
            <a:fillRect/>
          </a:stretch>
        </p:blipFill>
        <p:spPr bwMode="auto">
          <a:xfrm>
            <a:off x="4135717" y="4151313"/>
            <a:ext cx="3454400" cy="2168491"/>
          </a:xfrm>
          <a:prstGeom prst="rect">
            <a:avLst/>
          </a:prstGeom>
          <a:noFill/>
          <a:ln w="9525">
            <a:noFill/>
            <a:miter lim="800000"/>
            <a:headEnd/>
            <a:tailEnd/>
          </a:ln>
        </p:spPr>
      </p:pic>
    </p:spTree>
    <p:extLst>
      <p:ext uri="{BB962C8B-B14F-4D97-AF65-F5344CB8AC3E}">
        <p14:creationId xmlns:p14="http://schemas.microsoft.com/office/powerpoint/2010/main" val="29174795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708" y="1587501"/>
            <a:ext cx="2674491" cy="4178296"/>
          </a:xfrm>
          <a:prstGeom prst="rect">
            <a:avLst/>
          </a:prstGeom>
          <a:noFill/>
        </p:spPr>
      </p:pic>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841368" y="1803400"/>
            <a:ext cx="3982331" cy="3555997"/>
          </a:xfrm>
          <a:prstGeom prst="rect">
            <a:avLst/>
          </a:prstGeom>
          <a:noFill/>
        </p:spPr>
      </p:pic>
      <p:sp>
        <p:nvSpPr>
          <p:cNvPr id="21507" name="Rectangle 4"/>
          <p:cNvSpPr>
            <a:spLocks noGrp="1" noChangeArrowheads="1"/>
          </p:cNvSpPr>
          <p:nvPr>
            <p:ph type="title"/>
          </p:nvPr>
        </p:nvSpPr>
        <p:spPr/>
        <p:txBody>
          <a:bodyPr vert="horz" lIns="91440" tIns="45720" rIns="132077" bIns="45720" rtlCol="0" anchor="ctr">
            <a:normAutofit/>
          </a:bodyPr>
          <a:lstStyle/>
          <a:p>
            <a:r>
              <a:rPr lang="en-US" dirty="0"/>
              <a:t>Decision Making</a:t>
            </a:r>
          </a:p>
        </p:txBody>
      </p:sp>
      <p:sp>
        <p:nvSpPr>
          <p:cNvPr id="21508" name="Rectangle 5"/>
          <p:cNvSpPr>
            <a:spLocks noGrp="1" noChangeArrowheads="1"/>
          </p:cNvSpPr>
          <p:nvPr>
            <p:ph idx="1"/>
          </p:nvPr>
        </p:nvSpPr>
        <p:spPr>
          <a:xfrm>
            <a:off x="2085008" y="1927088"/>
            <a:ext cx="8432800" cy="3545021"/>
          </a:xfrm>
        </p:spPr>
        <p:txBody>
          <a:bodyPr vert="horz" lIns="91440" tIns="45720" rIns="132077" bIns="45720" rtlCol="0">
            <a:normAutofit/>
          </a:bodyPr>
          <a:lstStyle/>
          <a:p>
            <a:pPr marL="782599" lvl="1"/>
            <a:r>
              <a:rPr lang="en-US" dirty="0">
                <a:solidFill>
                  <a:schemeClr val="accent6"/>
                </a:solidFill>
              </a:rPr>
              <a:t>Applied AI involves many kinds of automation</a:t>
            </a:r>
          </a:p>
          <a:p>
            <a:pPr marL="1182628" lvl="2"/>
            <a:r>
              <a:rPr lang="en-US" dirty="0"/>
              <a:t>Scheduling, e.g. airline routing, military</a:t>
            </a:r>
          </a:p>
          <a:p>
            <a:pPr marL="1182628" lvl="2"/>
            <a:r>
              <a:rPr lang="en-US" dirty="0"/>
              <a:t>Route planning, e.g. Google maps</a:t>
            </a:r>
          </a:p>
          <a:p>
            <a:pPr marL="1182628" lvl="2"/>
            <a:r>
              <a:rPr lang="en-US" dirty="0"/>
              <a:t>Medical diagnosis</a:t>
            </a:r>
          </a:p>
          <a:p>
            <a:pPr marL="1182628" lvl="2"/>
            <a:r>
              <a:rPr lang="en-US" dirty="0"/>
              <a:t>Web search engines</a:t>
            </a:r>
          </a:p>
          <a:p>
            <a:pPr marL="1182628" lvl="2"/>
            <a:r>
              <a:rPr lang="en-US" dirty="0"/>
              <a:t>Spam classifiers</a:t>
            </a:r>
          </a:p>
          <a:p>
            <a:pPr marL="1182628" lvl="2"/>
            <a:r>
              <a:rPr lang="en-US" dirty="0"/>
              <a:t>Automated help desks</a:t>
            </a:r>
          </a:p>
          <a:p>
            <a:pPr marL="1182628" lvl="2"/>
            <a:r>
              <a:rPr lang="en-US" dirty="0"/>
              <a:t>Fraud detection</a:t>
            </a:r>
          </a:p>
          <a:p>
            <a:pPr marL="1182628" lvl="2"/>
            <a:r>
              <a:rPr lang="en-US" dirty="0"/>
              <a:t>Product recommendations</a:t>
            </a:r>
          </a:p>
          <a:p>
            <a:pPr marL="1182628" lvl="2"/>
            <a:r>
              <a:rPr lang="en-US" dirty="0"/>
              <a:t>… Lots more!</a:t>
            </a:r>
          </a:p>
        </p:txBody>
      </p:sp>
    </p:spTree>
    <p:extLst>
      <p:ext uri="{BB962C8B-B14F-4D97-AF65-F5344CB8AC3E}">
        <p14:creationId xmlns:p14="http://schemas.microsoft.com/office/powerpoint/2010/main" val="147268807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AI Topics: A Quick Introductory Overview</a:t>
            </a:r>
            <a:endParaRPr lang="en-GB" dirty="0"/>
          </a:p>
        </p:txBody>
      </p:sp>
      <p:pic>
        <p:nvPicPr>
          <p:cNvPr id="46084" name="Picture 4" descr="fig03_03"/>
          <p:cNvPicPr>
            <a:picLocks noGrp="1" noChangeAspect="1" noChangeArrowheads="1"/>
          </p:cNvPicPr>
          <p:nvPr>
            <p:ph idx="1"/>
          </p:nvPr>
        </p:nvPicPr>
        <p:blipFill>
          <a:blip r:embed="rId2"/>
          <a:stretch>
            <a:fillRect/>
          </a:stretch>
        </p:blipFill>
        <p:spPr>
          <a:xfrm>
            <a:off x="2655364" y="2506662"/>
            <a:ext cx="7326836" cy="4351338"/>
          </a:xfrm>
          <a:noFill/>
          <a:ln/>
        </p:spPr>
      </p:pic>
      <p:sp>
        <p:nvSpPr>
          <p:cNvPr id="7" name="Slide Number Placeholder 6"/>
          <p:cNvSpPr>
            <a:spLocks noGrp="1"/>
          </p:cNvSpPr>
          <p:nvPr>
            <p:ph type="sldNum" sz="quarter" idx="12"/>
          </p:nvPr>
        </p:nvSpPr>
        <p:spPr/>
        <p:txBody>
          <a:bodyPr/>
          <a:lstStyle/>
          <a:p>
            <a:fld id="{B419ECF2-FB11-4DF6-A0A9-BC3140D2ABBB}" type="slidenum">
              <a:rPr lang="en-GB"/>
              <a:pPr/>
              <a:t>44</a:t>
            </a:fld>
            <a:endParaRPr lang="en-GB"/>
          </a:p>
        </p:txBody>
      </p:sp>
      <p:sp>
        <p:nvSpPr>
          <p:cNvPr id="46083" name="Rectangle 3"/>
          <p:cNvSpPr>
            <a:spLocks noGrp="1" noChangeArrowheads="1"/>
          </p:cNvSpPr>
          <p:nvPr>
            <p:ph type="body" sz="half" idx="4294967295"/>
          </p:nvPr>
        </p:nvSpPr>
        <p:spPr>
          <a:xfrm>
            <a:off x="838200" y="1955800"/>
            <a:ext cx="10515600" cy="1030287"/>
          </a:xfrm>
        </p:spPr>
        <p:txBody>
          <a:bodyPr/>
          <a:lstStyle/>
          <a:p>
            <a:pPr marL="381000" indent="-381000">
              <a:buNone/>
            </a:pPr>
            <a:r>
              <a:rPr lang="en-US" dirty="0"/>
              <a:t>Classic AI search problems: Map searching (navigation)</a:t>
            </a:r>
          </a:p>
        </p:txBody>
      </p:sp>
      <p:sp>
        <p:nvSpPr>
          <p:cNvPr id="46086" name="Oval 6"/>
          <p:cNvSpPr>
            <a:spLocks noChangeArrowheads="1"/>
          </p:cNvSpPr>
          <p:nvPr/>
        </p:nvSpPr>
        <p:spPr bwMode="auto">
          <a:xfrm>
            <a:off x="3071191" y="3436144"/>
            <a:ext cx="3048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6087" name="Oval 7"/>
          <p:cNvSpPr>
            <a:spLocks noChangeArrowheads="1"/>
          </p:cNvSpPr>
          <p:nvPr/>
        </p:nvSpPr>
        <p:spPr bwMode="auto">
          <a:xfrm>
            <a:off x="7298635" y="5695122"/>
            <a:ext cx="304800" cy="457200"/>
          </a:xfrm>
          <a:prstGeom prst="ellipse">
            <a:avLst/>
          </a:prstGeom>
          <a:solidFill>
            <a:schemeClr val="hlink"/>
          </a:solidFill>
          <a:ln w="9525">
            <a:solidFill>
              <a:schemeClr val="tx1"/>
            </a:solidFill>
            <a:round/>
            <a:headEnd/>
            <a:tailEnd/>
          </a:ln>
          <a:effectLst/>
        </p:spPr>
        <p:txBody>
          <a:bodyPr wrap="none" anchor="ctr"/>
          <a:lstStyle/>
          <a:p>
            <a:endParaRPr lang="en-US"/>
          </a:p>
        </p:txBody>
      </p:sp>
    </p:spTree>
    <p:extLst>
      <p:ext uri="{BB962C8B-B14F-4D97-AF65-F5344CB8AC3E}">
        <p14:creationId xmlns:p14="http://schemas.microsoft.com/office/powerpoint/2010/main" val="2603390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Topics: A Quick Introductory Overview</a:t>
            </a:r>
          </a:p>
        </p:txBody>
      </p:sp>
      <p:sp>
        <p:nvSpPr>
          <p:cNvPr id="3" name="Content Placeholder 2"/>
          <p:cNvSpPr>
            <a:spLocks noGrp="1"/>
          </p:cNvSpPr>
          <p:nvPr>
            <p:ph idx="1"/>
          </p:nvPr>
        </p:nvSpPr>
        <p:spPr/>
        <p:txBody>
          <a:bodyPr/>
          <a:lstStyle/>
          <a:p>
            <a:r>
              <a:rPr lang="en-US" dirty="0"/>
              <a:t>Classic AI search problems</a:t>
            </a:r>
          </a:p>
          <a:p>
            <a:pPr lvl="1"/>
            <a:r>
              <a:rPr lang="en-US" dirty="0"/>
              <a:t>3*3*3 Rubik’s Cube</a:t>
            </a:r>
          </a:p>
          <a:p>
            <a:endParaRPr lang="en-US" dirty="0"/>
          </a:p>
        </p:txBody>
      </p:sp>
      <p:pic>
        <p:nvPicPr>
          <p:cNvPr id="4" name="Picture 7"/>
          <p:cNvPicPr>
            <a:picLocks noChangeAspect="1" noChangeArrowheads="1"/>
          </p:cNvPicPr>
          <p:nvPr/>
        </p:nvPicPr>
        <p:blipFill>
          <a:blip r:embed="rId2"/>
          <a:stretch>
            <a:fillRect/>
          </a:stretch>
        </p:blipFill>
        <p:spPr>
          <a:xfrm>
            <a:off x="3670853" y="3062992"/>
            <a:ext cx="5131283" cy="3113971"/>
          </a:xfrm>
          <a:prstGeom prst="rect">
            <a:avLst/>
          </a:prstGeom>
          <a:noFill/>
          <a:ln/>
        </p:spPr>
      </p:pic>
    </p:spTree>
    <p:extLst>
      <p:ext uri="{BB962C8B-B14F-4D97-AF65-F5344CB8AC3E}">
        <p14:creationId xmlns:p14="http://schemas.microsoft.com/office/powerpoint/2010/main" val="25141507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Classical AI Search Problems</a:t>
            </a:r>
          </a:p>
        </p:txBody>
      </p:sp>
      <p:sp>
        <p:nvSpPr>
          <p:cNvPr id="7" name="Content Placeholder 6"/>
          <p:cNvSpPr>
            <a:spLocks noGrp="1"/>
          </p:cNvSpPr>
          <p:nvPr>
            <p:ph idx="1"/>
          </p:nvPr>
        </p:nvSpPr>
        <p:spPr/>
        <p:txBody>
          <a:bodyPr/>
          <a:lstStyle/>
          <a:p>
            <a:r>
              <a:rPr lang="en-US" dirty="0"/>
              <a:t>8-Puzzle</a:t>
            </a:r>
          </a:p>
          <a:p>
            <a:endParaRPr lang="en-US" dirty="0"/>
          </a:p>
        </p:txBody>
      </p:sp>
      <p:grpSp>
        <p:nvGrpSpPr>
          <p:cNvPr id="8" name="Group 5"/>
          <p:cNvGrpSpPr>
            <a:grpSpLocks/>
          </p:cNvGrpSpPr>
          <p:nvPr/>
        </p:nvGrpSpPr>
        <p:grpSpPr bwMode="auto">
          <a:xfrm>
            <a:off x="1189382" y="3343413"/>
            <a:ext cx="1752600" cy="1524000"/>
            <a:chOff x="4312" y="828"/>
            <a:chExt cx="1104" cy="960"/>
          </a:xfrm>
        </p:grpSpPr>
        <p:sp>
          <p:nvSpPr>
            <p:cNvPr id="9" name="Rectangle 6"/>
            <p:cNvSpPr>
              <a:spLocks noChangeArrowheads="1"/>
            </p:cNvSpPr>
            <p:nvPr/>
          </p:nvSpPr>
          <p:spPr bwMode="auto">
            <a:xfrm>
              <a:off x="4312" y="828"/>
              <a:ext cx="1104" cy="96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0" name="Text Box 7"/>
            <p:cNvSpPr txBox="1">
              <a:spLocks noChangeArrowheads="1"/>
            </p:cNvSpPr>
            <p:nvPr/>
          </p:nvSpPr>
          <p:spPr bwMode="auto">
            <a:xfrm>
              <a:off x="4360"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1</a:t>
              </a:r>
            </a:p>
          </p:txBody>
        </p:sp>
        <p:sp>
          <p:nvSpPr>
            <p:cNvPr id="11" name="Text Box 8"/>
            <p:cNvSpPr txBox="1">
              <a:spLocks noChangeArrowheads="1"/>
            </p:cNvSpPr>
            <p:nvPr/>
          </p:nvSpPr>
          <p:spPr bwMode="auto">
            <a:xfrm>
              <a:off x="4696" y="876"/>
              <a:ext cx="336" cy="523"/>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4	</a:t>
              </a:r>
              <a:endParaRPr lang="en-US" sz="2400" dirty="0">
                <a:solidFill>
                  <a:srgbClr val="000000"/>
                </a:solidFill>
                <a:latin typeface="Times New Roman" pitchFamily="18" charset="0"/>
              </a:endParaRPr>
            </a:p>
          </p:txBody>
        </p:sp>
        <p:sp>
          <p:nvSpPr>
            <p:cNvPr id="12" name="Text Box 9"/>
            <p:cNvSpPr txBox="1">
              <a:spLocks noChangeArrowheads="1"/>
            </p:cNvSpPr>
            <p:nvPr/>
          </p:nvSpPr>
          <p:spPr bwMode="auto">
            <a:xfrm>
              <a:off x="5032"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2</a:t>
              </a:r>
              <a:endParaRPr lang="en-US" sz="2400" dirty="0">
                <a:solidFill>
                  <a:srgbClr val="000000"/>
                </a:solidFill>
                <a:latin typeface="Times New Roman" pitchFamily="18" charset="0"/>
              </a:endParaRPr>
            </a:p>
          </p:txBody>
        </p:sp>
        <p:sp>
          <p:nvSpPr>
            <p:cNvPr id="13" name="Text Box 10"/>
            <p:cNvSpPr txBox="1">
              <a:spLocks noChangeArrowheads="1"/>
            </p:cNvSpPr>
            <p:nvPr/>
          </p:nvSpPr>
          <p:spPr bwMode="auto">
            <a:xfrm>
              <a:off x="4360"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6</a:t>
              </a:r>
              <a:endParaRPr lang="en-US" sz="2400" dirty="0">
                <a:solidFill>
                  <a:srgbClr val="000000"/>
                </a:solidFill>
                <a:latin typeface="Times New Roman" pitchFamily="18" charset="0"/>
              </a:endParaRPr>
            </a:p>
          </p:txBody>
        </p:sp>
        <p:sp>
          <p:nvSpPr>
            <p:cNvPr id="14" name="Text Box 11"/>
            <p:cNvSpPr txBox="1">
              <a:spLocks noChangeArrowheads="1"/>
            </p:cNvSpPr>
            <p:nvPr/>
          </p:nvSpPr>
          <p:spPr bwMode="auto">
            <a:xfrm>
              <a:off x="4696"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5</a:t>
              </a:r>
              <a:endParaRPr lang="en-US" sz="2400" dirty="0">
                <a:solidFill>
                  <a:srgbClr val="000000"/>
                </a:solidFill>
                <a:latin typeface="Times New Roman" pitchFamily="18" charset="0"/>
              </a:endParaRPr>
            </a:p>
          </p:txBody>
        </p:sp>
        <p:sp>
          <p:nvSpPr>
            <p:cNvPr id="15" name="Text Box 12"/>
            <p:cNvSpPr txBox="1">
              <a:spLocks noChangeArrowheads="1"/>
            </p:cNvSpPr>
            <p:nvPr/>
          </p:nvSpPr>
          <p:spPr bwMode="auto">
            <a:xfrm>
              <a:off x="5032"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8</a:t>
              </a:r>
              <a:endParaRPr lang="en-US" sz="2400" dirty="0">
                <a:solidFill>
                  <a:srgbClr val="000000"/>
                </a:solidFill>
                <a:latin typeface="Times New Roman" pitchFamily="18" charset="0"/>
              </a:endParaRPr>
            </a:p>
          </p:txBody>
        </p:sp>
        <p:sp>
          <p:nvSpPr>
            <p:cNvPr id="16" name="Text Box 13"/>
            <p:cNvSpPr txBox="1">
              <a:spLocks noChangeArrowheads="1"/>
            </p:cNvSpPr>
            <p:nvPr/>
          </p:nvSpPr>
          <p:spPr bwMode="auto">
            <a:xfrm>
              <a:off x="4360"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7</a:t>
              </a:r>
              <a:endParaRPr lang="en-US" sz="2400" dirty="0">
                <a:solidFill>
                  <a:srgbClr val="000000"/>
                </a:solidFill>
                <a:latin typeface="Times New Roman" pitchFamily="18" charset="0"/>
              </a:endParaRPr>
            </a:p>
          </p:txBody>
        </p:sp>
        <p:sp>
          <p:nvSpPr>
            <p:cNvPr id="17" name="Text Box 14"/>
            <p:cNvSpPr txBox="1">
              <a:spLocks noChangeArrowheads="1"/>
            </p:cNvSpPr>
            <p:nvPr/>
          </p:nvSpPr>
          <p:spPr bwMode="auto">
            <a:xfrm>
              <a:off x="4696"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dirty="0">
                  <a:solidFill>
                    <a:srgbClr val="000000"/>
                  </a:solidFill>
                  <a:latin typeface="Times New Roman" pitchFamily="18" charset="0"/>
                </a:rPr>
                <a:t>3</a:t>
              </a:r>
            </a:p>
          </p:txBody>
        </p:sp>
        <p:sp>
          <p:nvSpPr>
            <p:cNvPr id="18" name="Text Box 15"/>
            <p:cNvSpPr txBox="1">
              <a:spLocks noChangeArrowheads="1"/>
            </p:cNvSpPr>
            <p:nvPr/>
          </p:nvSpPr>
          <p:spPr bwMode="auto">
            <a:xfrm>
              <a:off x="5032" y="1452"/>
              <a:ext cx="336" cy="291"/>
            </a:xfrm>
            <a:prstGeom prst="rect">
              <a:avLst/>
            </a:prstGeom>
            <a:solidFill>
              <a:schemeClr val="bg1"/>
            </a:solidFill>
            <a:ln w="25400">
              <a:solidFill>
                <a:srgbClr val="808080"/>
              </a:solidFill>
              <a:miter lim="800000"/>
              <a:headEnd/>
              <a:tailEnd/>
            </a:ln>
            <a:effectLst/>
          </p:spPr>
          <p:txBody>
            <a:bodyPr>
              <a:spAutoFit/>
            </a:bodyPr>
            <a:lstStyle/>
            <a:p>
              <a:pPr algn="ctr" eaLnBrk="0" hangingPunct="0">
                <a:spcBef>
                  <a:spcPct val="50000"/>
                </a:spcBef>
              </a:pPr>
              <a:endParaRPr lang="en-US" sz="2400">
                <a:solidFill>
                  <a:srgbClr val="000000"/>
                </a:solidFill>
                <a:latin typeface="Times New Roman" pitchFamily="18" charset="0"/>
              </a:endParaRPr>
            </a:p>
          </p:txBody>
        </p:sp>
      </p:grpSp>
      <p:grpSp>
        <p:nvGrpSpPr>
          <p:cNvPr id="19" name="Group 17"/>
          <p:cNvGrpSpPr>
            <a:grpSpLocks/>
          </p:cNvGrpSpPr>
          <p:nvPr/>
        </p:nvGrpSpPr>
        <p:grpSpPr bwMode="auto">
          <a:xfrm>
            <a:off x="4542182" y="3343413"/>
            <a:ext cx="1752600" cy="1524000"/>
            <a:chOff x="4312" y="828"/>
            <a:chExt cx="1104" cy="960"/>
          </a:xfrm>
        </p:grpSpPr>
        <p:sp>
          <p:nvSpPr>
            <p:cNvPr id="20" name="Rectangle 18"/>
            <p:cNvSpPr>
              <a:spLocks noChangeArrowheads="1"/>
            </p:cNvSpPr>
            <p:nvPr/>
          </p:nvSpPr>
          <p:spPr bwMode="auto">
            <a:xfrm>
              <a:off x="4312" y="828"/>
              <a:ext cx="1104" cy="96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21" name="Text Box 19"/>
            <p:cNvSpPr txBox="1">
              <a:spLocks noChangeArrowheads="1"/>
            </p:cNvSpPr>
            <p:nvPr/>
          </p:nvSpPr>
          <p:spPr bwMode="auto">
            <a:xfrm>
              <a:off x="4360"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1</a:t>
              </a:r>
              <a:endParaRPr lang="en-US" sz="2400">
                <a:solidFill>
                  <a:srgbClr val="000000"/>
                </a:solidFill>
                <a:latin typeface="Times New Roman" pitchFamily="18" charset="0"/>
              </a:endParaRPr>
            </a:p>
          </p:txBody>
        </p:sp>
        <p:sp>
          <p:nvSpPr>
            <p:cNvPr id="22" name="Text Box 20"/>
            <p:cNvSpPr txBox="1">
              <a:spLocks noChangeArrowheads="1"/>
            </p:cNvSpPr>
            <p:nvPr/>
          </p:nvSpPr>
          <p:spPr bwMode="auto">
            <a:xfrm>
              <a:off x="4696"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2</a:t>
              </a:r>
              <a:endParaRPr lang="en-US" sz="2400">
                <a:solidFill>
                  <a:srgbClr val="000000"/>
                </a:solidFill>
                <a:latin typeface="Times New Roman" pitchFamily="18" charset="0"/>
              </a:endParaRPr>
            </a:p>
          </p:txBody>
        </p:sp>
        <p:sp>
          <p:nvSpPr>
            <p:cNvPr id="23" name="Text Box 21"/>
            <p:cNvSpPr txBox="1">
              <a:spLocks noChangeArrowheads="1"/>
            </p:cNvSpPr>
            <p:nvPr/>
          </p:nvSpPr>
          <p:spPr bwMode="auto">
            <a:xfrm>
              <a:off x="5032" y="876"/>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3</a:t>
              </a:r>
              <a:endParaRPr lang="en-US" sz="2400">
                <a:solidFill>
                  <a:srgbClr val="000000"/>
                </a:solidFill>
                <a:latin typeface="Times New Roman" pitchFamily="18" charset="0"/>
              </a:endParaRPr>
            </a:p>
          </p:txBody>
        </p:sp>
        <p:sp>
          <p:nvSpPr>
            <p:cNvPr id="24" name="Text Box 22"/>
            <p:cNvSpPr txBox="1">
              <a:spLocks noChangeArrowheads="1"/>
            </p:cNvSpPr>
            <p:nvPr/>
          </p:nvSpPr>
          <p:spPr bwMode="auto">
            <a:xfrm>
              <a:off x="4360"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4</a:t>
              </a:r>
              <a:endParaRPr lang="en-US" sz="2400">
                <a:solidFill>
                  <a:srgbClr val="000000"/>
                </a:solidFill>
                <a:latin typeface="Times New Roman" pitchFamily="18" charset="0"/>
              </a:endParaRPr>
            </a:p>
          </p:txBody>
        </p:sp>
        <p:sp>
          <p:nvSpPr>
            <p:cNvPr id="25" name="Text Box 23"/>
            <p:cNvSpPr txBox="1">
              <a:spLocks noChangeArrowheads="1"/>
            </p:cNvSpPr>
            <p:nvPr/>
          </p:nvSpPr>
          <p:spPr bwMode="auto">
            <a:xfrm>
              <a:off x="4696"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5</a:t>
              </a:r>
              <a:endParaRPr lang="en-US" sz="2400">
                <a:solidFill>
                  <a:srgbClr val="000000"/>
                </a:solidFill>
                <a:latin typeface="Times New Roman" pitchFamily="18" charset="0"/>
              </a:endParaRPr>
            </a:p>
          </p:txBody>
        </p:sp>
        <p:sp>
          <p:nvSpPr>
            <p:cNvPr id="26" name="Text Box 24"/>
            <p:cNvSpPr txBox="1">
              <a:spLocks noChangeArrowheads="1"/>
            </p:cNvSpPr>
            <p:nvPr/>
          </p:nvSpPr>
          <p:spPr bwMode="auto">
            <a:xfrm>
              <a:off x="5032" y="1164"/>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6</a:t>
              </a:r>
              <a:endParaRPr lang="en-US" sz="2400">
                <a:solidFill>
                  <a:srgbClr val="000000"/>
                </a:solidFill>
                <a:latin typeface="Times New Roman" pitchFamily="18" charset="0"/>
              </a:endParaRPr>
            </a:p>
          </p:txBody>
        </p:sp>
        <p:sp>
          <p:nvSpPr>
            <p:cNvPr id="27" name="Text Box 25"/>
            <p:cNvSpPr txBox="1">
              <a:spLocks noChangeArrowheads="1"/>
            </p:cNvSpPr>
            <p:nvPr/>
          </p:nvSpPr>
          <p:spPr bwMode="auto">
            <a:xfrm>
              <a:off x="4360"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7</a:t>
              </a:r>
              <a:endParaRPr lang="en-US" sz="2400">
                <a:solidFill>
                  <a:srgbClr val="000000"/>
                </a:solidFill>
                <a:latin typeface="Times New Roman" pitchFamily="18" charset="0"/>
              </a:endParaRPr>
            </a:p>
          </p:txBody>
        </p:sp>
        <p:sp>
          <p:nvSpPr>
            <p:cNvPr id="28" name="Text Box 26"/>
            <p:cNvSpPr txBox="1">
              <a:spLocks noChangeArrowheads="1"/>
            </p:cNvSpPr>
            <p:nvPr/>
          </p:nvSpPr>
          <p:spPr bwMode="auto">
            <a:xfrm>
              <a:off x="4696" y="1452"/>
              <a:ext cx="336" cy="291"/>
            </a:xfrm>
            <a:prstGeom prst="rect">
              <a:avLst/>
            </a:prstGeom>
            <a:solidFill>
              <a:srgbClr val="EAEAEA"/>
            </a:solidFill>
            <a:ln w="25400">
              <a:solidFill>
                <a:srgbClr val="808080"/>
              </a:solidFill>
              <a:miter lim="800000"/>
              <a:headEnd/>
              <a:tailEnd/>
            </a:ln>
            <a:effectLst/>
          </p:spPr>
          <p:txBody>
            <a:bodyPr>
              <a:spAutoFit/>
            </a:bodyPr>
            <a:lstStyle/>
            <a:p>
              <a:pPr algn="ctr" eaLnBrk="0" hangingPunct="0">
                <a:spcBef>
                  <a:spcPct val="50000"/>
                </a:spcBef>
              </a:pPr>
              <a:r>
                <a:rPr lang="en-US" sz="2400" b="1">
                  <a:solidFill>
                    <a:srgbClr val="000000"/>
                  </a:solidFill>
                  <a:latin typeface="Times New Roman" pitchFamily="18" charset="0"/>
                </a:rPr>
                <a:t>8</a:t>
              </a:r>
            </a:p>
          </p:txBody>
        </p:sp>
        <p:sp>
          <p:nvSpPr>
            <p:cNvPr id="29" name="Text Box 27"/>
            <p:cNvSpPr txBox="1">
              <a:spLocks noChangeArrowheads="1"/>
            </p:cNvSpPr>
            <p:nvPr/>
          </p:nvSpPr>
          <p:spPr bwMode="auto">
            <a:xfrm>
              <a:off x="5032" y="1452"/>
              <a:ext cx="336" cy="291"/>
            </a:xfrm>
            <a:prstGeom prst="rect">
              <a:avLst/>
            </a:prstGeom>
            <a:solidFill>
              <a:schemeClr val="bg1"/>
            </a:solidFill>
            <a:ln w="25400">
              <a:solidFill>
                <a:srgbClr val="808080"/>
              </a:solidFill>
              <a:miter lim="800000"/>
              <a:headEnd/>
              <a:tailEnd/>
            </a:ln>
            <a:effectLst/>
          </p:spPr>
          <p:txBody>
            <a:bodyPr>
              <a:spAutoFit/>
            </a:bodyPr>
            <a:lstStyle/>
            <a:p>
              <a:pPr algn="ctr" eaLnBrk="0" hangingPunct="0">
                <a:spcBef>
                  <a:spcPct val="50000"/>
                </a:spcBef>
              </a:pPr>
              <a:endParaRPr lang="en-US" sz="2400">
                <a:solidFill>
                  <a:srgbClr val="000000"/>
                </a:solidFill>
                <a:latin typeface="Times New Roman" pitchFamily="18" charset="0"/>
              </a:endParaRPr>
            </a:p>
          </p:txBody>
        </p:sp>
      </p:grpSp>
      <p:sp>
        <p:nvSpPr>
          <p:cNvPr id="30" name="Line 28"/>
          <p:cNvSpPr>
            <a:spLocks noChangeShapeType="1"/>
          </p:cNvSpPr>
          <p:nvPr/>
        </p:nvSpPr>
        <p:spPr bwMode="auto">
          <a:xfrm>
            <a:off x="3170582" y="4105413"/>
            <a:ext cx="1066800" cy="0"/>
          </a:xfrm>
          <a:prstGeom prst="line">
            <a:avLst/>
          </a:prstGeom>
          <a:noFill/>
          <a:ln w="57150">
            <a:solidFill>
              <a:schemeClr val="tx1"/>
            </a:solidFill>
            <a:round/>
            <a:headEnd/>
            <a:tailEnd type="triangle" w="med" len="med"/>
          </a:ln>
          <a:effectLst/>
        </p:spPr>
        <p:txBody>
          <a:bodyPr/>
          <a:lstStyle/>
          <a:p>
            <a:endParaRPr lang="en-US"/>
          </a:p>
        </p:txBody>
      </p:sp>
      <p:pic>
        <p:nvPicPr>
          <p:cNvPr id="3076" name="Picture 4" descr="sol"/>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008743" y="1690688"/>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550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Classical AI Search Problems</a:t>
            </a:r>
          </a:p>
        </p:txBody>
      </p:sp>
      <p:pic>
        <p:nvPicPr>
          <p:cNvPr id="2050" name="Picture 2" descr="https://cdn-images-1.medium.com/max/1600/1*hVbUfzgUGmaXfQ69U4t1wg.gif"/>
          <p:cNvPicPr>
            <a:picLocks noGrp="1" noChangeAspect="1" noChangeArrowheads="1" noCro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20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601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AI Search Problem</a:t>
            </a:r>
          </a:p>
        </p:txBody>
      </p:sp>
      <p:sp>
        <p:nvSpPr>
          <p:cNvPr id="3" name="Content Placeholder 2"/>
          <p:cNvSpPr>
            <a:spLocks noGrp="1"/>
          </p:cNvSpPr>
          <p:nvPr>
            <p:ph idx="1"/>
          </p:nvPr>
        </p:nvSpPr>
        <p:spPr/>
        <p:txBody>
          <a:bodyPr/>
          <a:lstStyle/>
          <a:p>
            <a:r>
              <a:rPr lang="en-US" dirty="0"/>
              <a:t>Pac-Man</a:t>
            </a:r>
          </a:p>
        </p:txBody>
      </p:sp>
      <p:pic>
        <p:nvPicPr>
          <p:cNvPr id="4098" name="Picture 2" descr="Pac-Man Gam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062287" y="2807458"/>
            <a:ext cx="6067425"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910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9" name="Text Box 4"/>
          <p:cNvSpPr txBox="1">
            <a:spLocks noChangeArrowheads="1"/>
          </p:cNvSpPr>
          <p:nvPr/>
        </p:nvSpPr>
        <p:spPr bwMode="auto">
          <a:xfrm>
            <a:off x="609600" y="304800"/>
            <a:ext cx="1074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31" charset="0"/>
                <a:ea typeface="ＭＳ Ｐゴシック" pitchFamily="31" charset="-128"/>
              </a:defRPr>
            </a:lvl1pPr>
            <a:lvl2pPr marL="37931725" indent="-37474525" eaLnBrk="0" hangingPunct="0">
              <a:defRPr sz="2400">
                <a:solidFill>
                  <a:schemeClr val="tx1"/>
                </a:solidFill>
                <a:latin typeface="Times New Roman" pitchFamily="31" charset="0"/>
                <a:ea typeface="ＭＳ Ｐゴシック" pitchFamily="31" charset="-128"/>
              </a:defRPr>
            </a:lvl2pPr>
            <a:lvl3pPr eaLnBrk="0" hangingPunct="0">
              <a:defRPr sz="2400">
                <a:solidFill>
                  <a:schemeClr val="tx1"/>
                </a:solidFill>
                <a:latin typeface="Times New Roman" pitchFamily="31" charset="0"/>
                <a:ea typeface="ＭＳ Ｐゴシック" pitchFamily="31" charset="-128"/>
              </a:defRPr>
            </a:lvl3pPr>
            <a:lvl4pPr eaLnBrk="0" hangingPunct="0">
              <a:defRPr sz="2400">
                <a:solidFill>
                  <a:schemeClr val="tx1"/>
                </a:solidFill>
                <a:latin typeface="Times New Roman" pitchFamily="31" charset="0"/>
                <a:ea typeface="ＭＳ Ｐゴシック" pitchFamily="31" charset="-128"/>
              </a:defRPr>
            </a:lvl4pPr>
            <a:lvl5pPr eaLnBrk="0" hangingPunct="0">
              <a:defRPr sz="2400">
                <a:solidFill>
                  <a:schemeClr val="tx1"/>
                </a:solidFill>
                <a:latin typeface="Times New Roman" pitchFamily="31" charset="0"/>
                <a:ea typeface="ＭＳ Ｐゴシック" pitchFamily="31" charset="-128"/>
              </a:defRPr>
            </a:lvl5pPr>
            <a:lvl6pPr marL="457200" eaLnBrk="0" fontAlgn="base" hangingPunct="0">
              <a:spcBef>
                <a:spcPct val="0"/>
              </a:spcBef>
              <a:spcAft>
                <a:spcPct val="0"/>
              </a:spcAft>
              <a:defRPr sz="2400">
                <a:solidFill>
                  <a:schemeClr val="tx1"/>
                </a:solidFill>
                <a:latin typeface="Times New Roman" pitchFamily="31" charset="0"/>
                <a:ea typeface="ＭＳ Ｐゴシック" pitchFamily="31" charset="-128"/>
              </a:defRPr>
            </a:lvl6pPr>
            <a:lvl7pPr marL="914400" eaLnBrk="0" fontAlgn="base" hangingPunct="0">
              <a:spcBef>
                <a:spcPct val="0"/>
              </a:spcBef>
              <a:spcAft>
                <a:spcPct val="0"/>
              </a:spcAft>
              <a:defRPr sz="2400">
                <a:solidFill>
                  <a:schemeClr val="tx1"/>
                </a:solidFill>
                <a:latin typeface="Times New Roman" pitchFamily="31" charset="0"/>
                <a:ea typeface="ＭＳ Ｐゴシック" pitchFamily="31" charset="-128"/>
              </a:defRPr>
            </a:lvl7pPr>
            <a:lvl8pPr marL="1371600" eaLnBrk="0" fontAlgn="base" hangingPunct="0">
              <a:spcBef>
                <a:spcPct val="0"/>
              </a:spcBef>
              <a:spcAft>
                <a:spcPct val="0"/>
              </a:spcAft>
              <a:defRPr sz="2400">
                <a:solidFill>
                  <a:schemeClr val="tx1"/>
                </a:solidFill>
                <a:latin typeface="Times New Roman" pitchFamily="31" charset="0"/>
                <a:ea typeface="ＭＳ Ｐゴシック" pitchFamily="31" charset="-128"/>
              </a:defRPr>
            </a:lvl8pPr>
            <a:lvl9pPr marL="1828800" eaLnBrk="0" fontAlgn="base" hangingPunct="0">
              <a:spcBef>
                <a:spcPct val="0"/>
              </a:spcBef>
              <a:spcAft>
                <a:spcPct val="0"/>
              </a:spcAft>
              <a:defRPr sz="2400">
                <a:solidFill>
                  <a:schemeClr val="tx1"/>
                </a:solidFill>
                <a:latin typeface="Times New Roman" pitchFamily="31" charset="0"/>
                <a:ea typeface="ＭＳ Ｐゴシック" pitchFamily="31" charset="-128"/>
              </a:defRPr>
            </a:lvl9pPr>
          </a:lstStyle>
          <a:p>
            <a:pPr eaLnBrk="1" hangingPunct="1">
              <a:spcBef>
                <a:spcPct val="50000"/>
              </a:spcBef>
            </a:pPr>
            <a:r>
              <a:rPr lang="en-GB" altLang="en-US" b="1" dirty="0">
                <a:latin typeface="+mj-lt"/>
              </a:rPr>
              <a:t>Important Features of Artificial Intelligence</a:t>
            </a:r>
          </a:p>
        </p:txBody>
      </p:sp>
      <p:sp>
        <p:nvSpPr>
          <p:cNvPr id="19460" name="Text Box 10"/>
          <p:cNvSpPr txBox="1">
            <a:spLocks noChangeArrowheads="1"/>
          </p:cNvSpPr>
          <p:nvPr/>
        </p:nvSpPr>
        <p:spPr bwMode="auto">
          <a:xfrm>
            <a:off x="609600" y="989014"/>
            <a:ext cx="10744200"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400">
                <a:solidFill>
                  <a:schemeClr val="tx1"/>
                </a:solidFill>
                <a:latin typeface="Times New Roman" pitchFamily="31" charset="0"/>
                <a:ea typeface="ＭＳ Ｐゴシック" pitchFamily="31" charset="-128"/>
              </a:defRPr>
            </a:lvl1pPr>
            <a:lvl2pPr marL="37931725" indent="-37474525" eaLnBrk="0" hangingPunct="0">
              <a:defRPr sz="2400">
                <a:solidFill>
                  <a:schemeClr val="tx1"/>
                </a:solidFill>
                <a:latin typeface="Times New Roman" pitchFamily="31" charset="0"/>
                <a:ea typeface="ＭＳ Ｐゴシック" pitchFamily="31" charset="-128"/>
              </a:defRPr>
            </a:lvl2pPr>
            <a:lvl3pPr eaLnBrk="0" hangingPunct="0">
              <a:defRPr sz="2400">
                <a:solidFill>
                  <a:schemeClr val="tx1"/>
                </a:solidFill>
                <a:latin typeface="Times New Roman" pitchFamily="31" charset="0"/>
                <a:ea typeface="ＭＳ Ｐゴシック" pitchFamily="31" charset="-128"/>
              </a:defRPr>
            </a:lvl3pPr>
            <a:lvl4pPr eaLnBrk="0" hangingPunct="0">
              <a:defRPr sz="2400">
                <a:solidFill>
                  <a:schemeClr val="tx1"/>
                </a:solidFill>
                <a:latin typeface="Times New Roman" pitchFamily="31" charset="0"/>
                <a:ea typeface="ＭＳ Ｐゴシック" pitchFamily="31" charset="-128"/>
              </a:defRPr>
            </a:lvl4pPr>
            <a:lvl5pPr eaLnBrk="0" hangingPunct="0">
              <a:defRPr sz="2400">
                <a:solidFill>
                  <a:schemeClr val="tx1"/>
                </a:solidFill>
                <a:latin typeface="Times New Roman" pitchFamily="31" charset="0"/>
                <a:ea typeface="ＭＳ Ｐゴシック" pitchFamily="31" charset="-128"/>
              </a:defRPr>
            </a:lvl5pPr>
            <a:lvl6pPr marL="457200" eaLnBrk="0" fontAlgn="base" hangingPunct="0">
              <a:spcBef>
                <a:spcPct val="0"/>
              </a:spcBef>
              <a:spcAft>
                <a:spcPct val="0"/>
              </a:spcAft>
              <a:defRPr sz="2400">
                <a:solidFill>
                  <a:schemeClr val="tx1"/>
                </a:solidFill>
                <a:latin typeface="Times New Roman" pitchFamily="31" charset="0"/>
                <a:ea typeface="ＭＳ Ｐゴシック" pitchFamily="31" charset="-128"/>
              </a:defRPr>
            </a:lvl6pPr>
            <a:lvl7pPr marL="914400" eaLnBrk="0" fontAlgn="base" hangingPunct="0">
              <a:spcBef>
                <a:spcPct val="0"/>
              </a:spcBef>
              <a:spcAft>
                <a:spcPct val="0"/>
              </a:spcAft>
              <a:defRPr sz="2400">
                <a:solidFill>
                  <a:schemeClr val="tx1"/>
                </a:solidFill>
                <a:latin typeface="Times New Roman" pitchFamily="31" charset="0"/>
                <a:ea typeface="ＭＳ Ｐゴシック" pitchFamily="31" charset="-128"/>
              </a:defRPr>
            </a:lvl7pPr>
            <a:lvl8pPr marL="1371600" eaLnBrk="0" fontAlgn="base" hangingPunct="0">
              <a:spcBef>
                <a:spcPct val="0"/>
              </a:spcBef>
              <a:spcAft>
                <a:spcPct val="0"/>
              </a:spcAft>
              <a:defRPr sz="2400">
                <a:solidFill>
                  <a:schemeClr val="tx1"/>
                </a:solidFill>
                <a:latin typeface="Times New Roman" pitchFamily="31" charset="0"/>
                <a:ea typeface="ＭＳ Ｐゴシック" pitchFamily="31" charset="-128"/>
              </a:defRPr>
            </a:lvl8pPr>
            <a:lvl9pPr marL="1828800" eaLnBrk="0" fontAlgn="base" hangingPunct="0">
              <a:spcBef>
                <a:spcPct val="0"/>
              </a:spcBef>
              <a:spcAft>
                <a:spcPct val="0"/>
              </a:spcAft>
              <a:defRPr sz="2400">
                <a:solidFill>
                  <a:schemeClr val="tx1"/>
                </a:solidFill>
                <a:latin typeface="Times New Roman" pitchFamily="31" charset="0"/>
                <a:ea typeface="ＭＳ Ｐゴシック" pitchFamily="31" charset="-128"/>
              </a:defRPr>
            </a:lvl9pPr>
          </a:lstStyle>
          <a:p>
            <a:pPr eaLnBrk="1" hangingPunct="1">
              <a:spcBef>
                <a:spcPct val="50000"/>
              </a:spcBef>
              <a:buFont typeface="Arial" panose="020B0604020202020204" pitchFamily="34" charset="0"/>
              <a:buChar char="•"/>
            </a:pPr>
            <a:r>
              <a:rPr lang="en-GB" altLang="en-US" sz="1800" dirty="0">
                <a:latin typeface="+mn-lt"/>
              </a:rPr>
              <a:t>The use of computers to do reasoning, pattern recognition, learning, or some other form of inference.</a:t>
            </a:r>
          </a:p>
          <a:p>
            <a:pPr marL="0" indent="0" eaLnBrk="1" hangingPunct="1">
              <a:spcBef>
                <a:spcPct val="50000"/>
              </a:spcBef>
            </a:pPr>
            <a:r>
              <a:rPr lang="en-US" sz="1800" b="1" dirty="0">
                <a:solidFill>
                  <a:schemeClr val="accent5">
                    <a:lumMod val="75000"/>
                  </a:schemeClr>
                </a:solidFill>
                <a:latin typeface="+mn-lt"/>
              </a:rPr>
              <a:t>medical research papers</a:t>
            </a:r>
            <a:r>
              <a:rPr lang="en-US" sz="1800" dirty="0">
                <a:solidFill>
                  <a:schemeClr val="accent5">
                    <a:lumMod val="75000"/>
                  </a:schemeClr>
                </a:solidFill>
                <a:latin typeface="+mn-lt"/>
              </a:rPr>
              <a:t> to suggest cancer treatments based on symptoms and past cases.</a:t>
            </a:r>
            <a:endParaRPr lang="en-GB" altLang="en-US" sz="1800" dirty="0">
              <a:solidFill>
                <a:schemeClr val="accent5">
                  <a:lumMod val="75000"/>
                </a:schemeClr>
              </a:solidFill>
              <a:latin typeface="+mn-lt"/>
            </a:endParaRPr>
          </a:p>
          <a:p>
            <a:pPr marL="342900" indent="-342900" eaLnBrk="1" hangingPunct="1">
              <a:spcBef>
                <a:spcPct val="50000"/>
              </a:spcBef>
              <a:buFont typeface="Arial" panose="020B0604020202020204" pitchFamily="34" charset="0"/>
              <a:buChar char="•"/>
            </a:pPr>
            <a:r>
              <a:rPr lang="en-GB" altLang="en-US" sz="1800" dirty="0">
                <a:latin typeface="+mn-lt"/>
              </a:rPr>
              <a:t>A focus on problems that do not respond to algorithmic solutions. This underlies the reliance on heuristic search as an AI problem-solving technique.</a:t>
            </a:r>
          </a:p>
          <a:p>
            <a:pPr marL="0" indent="0" eaLnBrk="1" hangingPunct="1">
              <a:spcBef>
                <a:spcPct val="50000"/>
              </a:spcBef>
            </a:pPr>
            <a:r>
              <a:rPr lang="en-US" sz="1800" dirty="0">
                <a:solidFill>
                  <a:schemeClr val="accent5">
                    <a:lumMod val="75000"/>
                  </a:schemeClr>
                </a:solidFill>
                <a:latin typeface="+mn-lt"/>
              </a:rPr>
              <a:t>Instead of checking every possible move (which is impossible in real time), AI uses </a:t>
            </a:r>
            <a:r>
              <a:rPr lang="en-US" sz="1800" b="1" dirty="0">
                <a:solidFill>
                  <a:schemeClr val="accent5">
                    <a:lumMod val="75000"/>
                  </a:schemeClr>
                </a:solidFill>
                <a:latin typeface="+mn-lt"/>
              </a:rPr>
              <a:t>heuristics</a:t>
            </a:r>
            <a:r>
              <a:rPr lang="en-US" sz="1800" dirty="0">
                <a:solidFill>
                  <a:schemeClr val="accent5">
                    <a:lumMod val="75000"/>
                  </a:schemeClr>
                </a:solidFill>
                <a:latin typeface="+mn-lt"/>
              </a:rPr>
              <a:t> to evaluate the best moves.</a:t>
            </a:r>
            <a:endParaRPr lang="en-GB" altLang="en-US" sz="1800" dirty="0">
              <a:solidFill>
                <a:schemeClr val="accent5">
                  <a:lumMod val="75000"/>
                </a:schemeClr>
              </a:solidFill>
              <a:latin typeface="+mn-lt"/>
            </a:endParaRPr>
          </a:p>
          <a:p>
            <a:pPr eaLnBrk="1" hangingPunct="1">
              <a:spcBef>
                <a:spcPct val="50000"/>
              </a:spcBef>
              <a:buFont typeface="Arial" panose="020B0604020202020204" pitchFamily="34" charset="0"/>
              <a:buChar char="•"/>
            </a:pPr>
            <a:r>
              <a:rPr lang="en-GB" altLang="en-US" sz="1800" dirty="0">
                <a:latin typeface="+mn-lt"/>
              </a:rPr>
              <a:t>A concern with problem-solving using inexact, missing, or poorly defined information and the use of representational formalisms that enable the programmer to compensate for these problems.</a:t>
            </a:r>
          </a:p>
          <a:p>
            <a:pPr marL="0" indent="0" eaLnBrk="1" hangingPunct="1">
              <a:spcBef>
                <a:spcPct val="50000"/>
              </a:spcBef>
            </a:pPr>
            <a:r>
              <a:rPr lang="en-US" sz="1800" b="1" dirty="0">
                <a:solidFill>
                  <a:schemeClr val="accent5">
                    <a:lumMod val="75000"/>
                  </a:schemeClr>
                </a:solidFill>
                <a:latin typeface="+mn-lt"/>
              </a:rPr>
              <a:t>Self-Driving Cars (Tesla, Waymo)</a:t>
            </a:r>
            <a:r>
              <a:rPr lang="en-US" sz="1800" dirty="0">
                <a:solidFill>
                  <a:schemeClr val="accent5">
                    <a:lumMod val="75000"/>
                  </a:schemeClr>
                </a:solidFill>
                <a:latin typeface="+mn-lt"/>
              </a:rPr>
              <a:t> – The AI must </a:t>
            </a:r>
            <a:r>
              <a:rPr lang="en-US" sz="1800" b="1" dirty="0">
                <a:solidFill>
                  <a:schemeClr val="accent5">
                    <a:lumMod val="75000"/>
                  </a:schemeClr>
                </a:solidFill>
                <a:latin typeface="+mn-lt"/>
              </a:rPr>
              <a:t>navigate in foggy conditions, recognize road signs even if they are partially hidden</a:t>
            </a:r>
            <a:r>
              <a:rPr lang="en-US" sz="1800" dirty="0">
                <a:solidFill>
                  <a:schemeClr val="accent5">
                    <a:lumMod val="75000"/>
                  </a:schemeClr>
                </a:solidFill>
                <a:latin typeface="+mn-lt"/>
              </a:rPr>
              <a:t>, and make real-time driving decisions with incomplete data.</a:t>
            </a:r>
            <a:endParaRPr lang="en-GB" altLang="en-US" sz="1800" dirty="0">
              <a:solidFill>
                <a:schemeClr val="accent5">
                  <a:lumMod val="75000"/>
                </a:schemeClr>
              </a:solidFill>
              <a:latin typeface="+mn-lt"/>
            </a:endParaRPr>
          </a:p>
          <a:p>
            <a:pPr eaLnBrk="1" hangingPunct="1">
              <a:spcBef>
                <a:spcPct val="50000"/>
              </a:spcBef>
              <a:buFont typeface="Arial" panose="020B0604020202020204" pitchFamily="34" charset="0"/>
              <a:buChar char="•"/>
            </a:pPr>
            <a:r>
              <a:rPr lang="en-GB" altLang="en-US" sz="1800" dirty="0">
                <a:latin typeface="+mn-lt"/>
              </a:rPr>
              <a:t>Reasoning about the significant qualitative features of a situation.</a:t>
            </a:r>
          </a:p>
          <a:p>
            <a:pPr marL="0" indent="0" eaLnBrk="1" hangingPunct="1">
              <a:spcBef>
                <a:spcPct val="50000"/>
              </a:spcBef>
            </a:pPr>
            <a:r>
              <a:rPr lang="en-US" sz="1800" b="1" dirty="0">
                <a:solidFill>
                  <a:schemeClr val="accent5">
                    <a:lumMod val="75000"/>
                  </a:schemeClr>
                </a:solidFill>
                <a:latin typeface="+mn-lt"/>
              </a:rPr>
              <a:t>Medical Diagnosis AI</a:t>
            </a:r>
            <a:r>
              <a:rPr lang="en-US" sz="1800" dirty="0">
                <a:solidFill>
                  <a:schemeClr val="accent5">
                    <a:lumMod val="75000"/>
                  </a:schemeClr>
                </a:solidFill>
                <a:latin typeface="+mn-lt"/>
              </a:rPr>
              <a:t> – AI </a:t>
            </a:r>
            <a:r>
              <a:rPr lang="en-US" sz="1800" b="1" dirty="0">
                <a:solidFill>
                  <a:schemeClr val="accent5">
                    <a:lumMod val="75000"/>
                  </a:schemeClr>
                </a:solidFill>
                <a:latin typeface="+mn-lt"/>
              </a:rPr>
              <a:t>doesn't just check symptoms but also considers the patient's history, lifestyle, and genetic factors</a:t>
            </a:r>
            <a:r>
              <a:rPr lang="en-US" sz="1800" dirty="0">
                <a:solidFill>
                  <a:schemeClr val="accent5">
                    <a:lumMod val="75000"/>
                  </a:schemeClr>
                </a:solidFill>
                <a:latin typeface="+mn-lt"/>
              </a:rPr>
              <a:t> to recommend treatment.</a:t>
            </a:r>
            <a:endParaRPr lang="en-GB" altLang="en-US" sz="1800" dirty="0">
              <a:solidFill>
                <a:schemeClr val="accent5">
                  <a:lumMod val="75000"/>
                </a:schemeClr>
              </a:solidFill>
              <a:latin typeface="+mn-lt"/>
            </a:endParaRPr>
          </a:p>
          <a:p>
            <a:pPr eaLnBrk="1" hangingPunct="1">
              <a:spcBef>
                <a:spcPct val="50000"/>
              </a:spcBef>
              <a:buFont typeface="Arial" panose="020B0604020202020204" pitchFamily="34" charset="0"/>
              <a:buChar char="•"/>
            </a:pPr>
            <a:r>
              <a:rPr lang="en-GB" altLang="en-US" sz="1800" dirty="0">
                <a:latin typeface="+mn-lt"/>
              </a:rPr>
              <a:t>An attempt to deal with issues of semantic meaning as well as syntactic form.</a:t>
            </a:r>
          </a:p>
          <a:p>
            <a:pPr marL="0" indent="0" eaLnBrk="1" hangingPunct="1">
              <a:spcBef>
                <a:spcPct val="50000"/>
              </a:spcBef>
            </a:pPr>
            <a:r>
              <a:rPr lang="en-US" sz="1800" b="1" dirty="0">
                <a:solidFill>
                  <a:schemeClr val="accent5">
                    <a:lumMod val="75000"/>
                  </a:schemeClr>
                </a:solidFill>
                <a:latin typeface="+mn-lt"/>
              </a:rPr>
              <a:t>Google Search </a:t>
            </a:r>
            <a:r>
              <a:rPr lang="en-US" sz="1800" dirty="0">
                <a:solidFill>
                  <a:schemeClr val="accent5">
                    <a:lumMod val="75000"/>
                  </a:schemeClr>
                </a:solidFill>
                <a:latin typeface="+mn-lt"/>
              </a:rPr>
              <a:t> – AI </a:t>
            </a:r>
            <a:r>
              <a:rPr lang="en-US" sz="1800" b="1" dirty="0">
                <a:solidFill>
                  <a:schemeClr val="accent5">
                    <a:lumMod val="75000"/>
                  </a:schemeClr>
                </a:solidFill>
                <a:latin typeface="+mn-lt"/>
              </a:rPr>
              <a:t>understands the intent behind a user’s search query</a:t>
            </a:r>
            <a:r>
              <a:rPr lang="en-US" sz="1800" dirty="0">
                <a:solidFill>
                  <a:schemeClr val="accent5">
                    <a:lumMod val="75000"/>
                  </a:schemeClr>
                </a:solidFill>
                <a:latin typeface="+mn-lt"/>
              </a:rPr>
              <a:t>, not just the keywords. For example, searching "Apple" could mean </a:t>
            </a:r>
            <a:r>
              <a:rPr lang="en-US" sz="1800" b="1" dirty="0">
                <a:solidFill>
                  <a:schemeClr val="accent5">
                    <a:lumMod val="75000"/>
                  </a:schemeClr>
                </a:solidFill>
                <a:latin typeface="+mn-lt"/>
              </a:rPr>
              <a:t>the fruit or the company</a:t>
            </a:r>
            <a:r>
              <a:rPr lang="en-US" sz="1800" dirty="0">
                <a:solidFill>
                  <a:schemeClr val="accent5">
                    <a:lumMod val="75000"/>
                  </a:schemeClr>
                </a:solidFill>
                <a:latin typeface="+mn-lt"/>
              </a:rPr>
              <a:t>, and AI uses context to decide.</a:t>
            </a:r>
            <a:endParaRPr lang="en-GB" altLang="en-US" sz="1800" dirty="0">
              <a:solidFill>
                <a:schemeClr val="accent5">
                  <a:lumMod val="75000"/>
                </a:schemeClr>
              </a:solidFill>
              <a:latin typeface="+mn-lt"/>
            </a:endParaRPr>
          </a:p>
          <a:p>
            <a:pPr marL="0" indent="0" eaLnBrk="1" hangingPunct="1">
              <a:spcBef>
                <a:spcPct val="50000"/>
              </a:spcBef>
            </a:pPr>
            <a:endParaRPr lang="en-GB" altLang="en-US" sz="1800" dirty="0">
              <a:latin typeface="+mn-lt"/>
            </a:endParaRPr>
          </a:p>
        </p:txBody>
      </p:sp>
    </p:spTree>
    <p:extLst>
      <p:ext uri="{BB962C8B-B14F-4D97-AF65-F5344CB8AC3E}">
        <p14:creationId xmlns:p14="http://schemas.microsoft.com/office/powerpoint/2010/main" val="4113602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1575DB-907E-886B-A9E8-8B169ACCF0CF}"/>
            </a:ext>
          </a:extLst>
        </p:cNvPr>
        <p:cNvGrpSpPr/>
        <p:nvPr/>
      </p:nvGrpSpPr>
      <p:grpSpPr>
        <a:xfrm>
          <a:off x="0" y="0"/>
          <a:ext cx="0" cy="0"/>
          <a:chOff x="0" y="0"/>
          <a:chExt cx="0" cy="0"/>
        </a:xfrm>
      </p:grpSpPr>
      <p:sp>
        <p:nvSpPr>
          <p:cNvPr id="19459" name="Text Box 4">
            <a:extLst>
              <a:ext uri="{FF2B5EF4-FFF2-40B4-BE49-F238E27FC236}">
                <a16:creationId xmlns:a16="http://schemas.microsoft.com/office/drawing/2014/main" id="{A5107EEE-E86C-4906-C556-7340DE23817E}"/>
              </a:ext>
            </a:extLst>
          </p:cNvPr>
          <p:cNvSpPr txBox="1">
            <a:spLocks noChangeArrowheads="1"/>
          </p:cNvSpPr>
          <p:nvPr/>
        </p:nvSpPr>
        <p:spPr bwMode="auto">
          <a:xfrm>
            <a:off x="609600" y="304800"/>
            <a:ext cx="1074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31" charset="0"/>
                <a:ea typeface="ＭＳ Ｐゴシック" pitchFamily="31" charset="-128"/>
              </a:defRPr>
            </a:lvl1pPr>
            <a:lvl2pPr marL="37931725" indent="-37474525" eaLnBrk="0" hangingPunct="0">
              <a:defRPr sz="2400">
                <a:solidFill>
                  <a:schemeClr val="tx1"/>
                </a:solidFill>
                <a:latin typeface="Times New Roman" pitchFamily="31" charset="0"/>
                <a:ea typeface="ＭＳ Ｐゴシック" pitchFamily="31" charset="-128"/>
              </a:defRPr>
            </a:lvl2pPr>
            <a:lvl3pPr eaLnBrk="0" hangingPunct="0">
              <a:defRPr sz="2400">
                <a:solidFill>
                  <a:schemeClr val="tx1"/>
                </a:solidFill>
                <a:latin typeface="Times New Roman" pitchFamily="31" charset="0"/>
                <a:ea typeface="ＭＳ Ｐゴシック" pitchFamily="31" charset="-128"/>
              </a:defRPr>
            </a:lvl3pPr>
            <a:lvl4pPr eaLnBrk="0" hangingPunct="0">
              <a:defRPr sz="2400">
                <a:solidFill>
                  <a:schemeClr val="tx1"/>
                </a:solidFill>
                <a:latin typeface="Times New Roman" pitchFamily="31" charset="0"/>
                <a:ea typeface="ＭＳ Ｐゴシック" pitchFamily="31" charset="-128"/>
              </a:defRPr>
            </a:lvl4pPr>
            <a:lvl5pPr eaLnBrk="0" hangingPunct="0">
              <a:defRPr sz="2400">
                <a:solidFill>
                  <a:schemeClr val="tx1"/>
                </a:solidFill>
                <a:latin typeface="Times New Roman" pitchFamily="31" charset="0"/>
                <a:ea typeface="ＭＳ Ｐゴシック" pitchFamily="31" charset="-128"/>
              </a:defRPr>
            </a:lvl5pPr>
            <a:lvl6pPr marL="457200" eaLnBrk="0" fontAlgn="base" hangingPunct="0">
              <a:spcBef>
                <a:spcPct val="0"/>
              </a:spcBef>
              <a:spcAft>
                <a:spcPct val="0"/>
              </a:spcAft>
              <a:defRPr sz="2400">
                <a:solidFill>
                  <a:schemeClr val="tx1"/>
                </a:solidFill>
                <a:latin typeface="Times New Roman" pitchFamily="31" charset="0"/>
                <a:ea typeface="ＭＳ Ｐゴシック" pitchFamily="31" charset="-128"/>
              </a:defRPr>
            </a:lvl6pPr>
            <a:lvl7pPr marL="914400" eaLnBrk="0" fontAlgn="base" hangingPunct="0">
              <a:spcBef>
                <a:spcPct val="0"/>
              </a:spcBef>
              <a:spcAft>
                <a:spcPct val="0"/>
              </a:spcAft>
              <a:defRPr sz="2400">
                <a:solidFill>
                  <a:schemeClr val="tx1"/>
                </a:solidFill>
                <a:latin typeface="Times New Roman" pitchFamily="31" charset="0"/>
                <a:ea typeface="ＭＳ Ｐゴシック" pitchFamily="31" charset="-128"/>
              </a:defRPr>
            </a:lvl7pPr>
            <a:lvl8pPr marL="1371600" eaLnBrk="0" fontAlgn="base" hangingPunct="0">
              <a:spcBef>
                <a:spcPct val="0"/>
              </a:spcBef>
              <a:spcAft>
                <a:spcPct val="0"/>
              </a:spcAft>
              <a:defRPr sz="2400">
                <a:solidFill>
                  <a:schemeClr val="tx1"/>
                </a:solidFill>
                <a:latin typeface="Times New Roman" pitchFamily="31" charset="0"/>
                <a:ea typeface="ＭＳ Ｐゴシック" pitchFamily="31" charset="-128"/>
              </a:defRPr>
            </a:lvl8pPr>
            <a:lvl9pPr marL="1828800" eaLnBrk="0" fontAlgn="base" hangingPunct="0">
              <a:spcBef>
                <a:spcPct val="0"/>
              </a:spcBef>
              <a:spcAft>
                <a:spcPct val="0"/>
              </a:spcAft>
              <a:defRPr sz="2400">
                <a:solidFill>
                  <a:schemeClr val="tx1"/>
                </a:solidFill>
                <a:latin typeface="Times New Roman" pitchFamily="31" charset="0"/>
                <a:ea typeface="ＭＳ Ｐゴシック" pitchFamily="31" charset="-128"/>
              </a:defRPr>
            </a:lvl9pPr>
          </a:lstStyle>
          <a:p>
            <a:pPr eaLnBrk="1" hangingPunct="1">
              <a:spcBef>
                <a:spcPct val="50000"/>
              </a:spcBef>
            </a:pPr>
            <a:r>
              <a:rPr lang="en-GB" altLang="en-US" b="1" dirty="0">
                <a:latin typeface="+mj-lt"/>
              </a:rPr>
              <a:t>Important Features of Artificial Intelligence</a:t>
            </a:r>
          </a:p>
        </p:txBody>
      </p:sp>
      <p:sp>
        <p:nvSpPr>
          <p:cNvPr id="19460" name="Text Box 10">
            <a:extLst>
              <a:ext uri="{FF2B5EF4-FFF2-40B4-BE49-F238E27FC236}">
                <a16:creationId xmlns:a16="http://schemas.microsoft.com/office/drawing/2014/main" id="{00C88224-B3A4-9C22-737A-1407A497AFF1}"/>
              </a:ext>
            </a:extLst>
          </p:cNvPr>
          <p:cNvSpPr txBox="1">
            <a:spLocks noChangeArrowheads="1"/>
          </p:cNvSpPr>
          <p:nvPr/>
        </p:nvSpPr>
        <p:spPr bwMode="auto">
          <a:xfrm>
            <a:off x="609600" y="989014"/>
            <a:ext cx="10744200"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400">
                <a:solidFill>
                  <a:schemeClr val="tx1"/>
                </a:solidFill>
                <a:latin typeface="Times New Roman" pitchFamily="31" charset="0"/>
                <a:ea typeface="ＭＳ Ｐゴシック" pitchFamily="31" charset="-128"/>
              </a:defRPr>
            </a:lvl1pPr>
            <a:lvl2pPr marL="37931725" indent="-37474525" eaLnBrk="0" hangingPunct="0">
              <a:defRPr sz="2400">
                <a:solidFill>
                  <a:schemeClr val="tx1"/>
                </a:solidFill>
                <a:latin typeface="Times New Roman" pitchFamily="31" charset="0"/>
                <a:ea typeface="ＭＳ Ｐゴシック" pitchFamily="31" charset="-128"/>
              </a:defRPr>
            </a:lvl2pPr>
            <a:lvl3pPr eaLnBrk="0" hangingPunct="0">
              <a:defRPr sz="2400">
                <a:solidFill>
                  <a:schemeClr val="tx1"/>
                </a:solidFill>
                <a:latin typeface="Times New Roman" pitchFamily="31" charset="0"/>
                <a:ea typeface="ＭＳ Ｐゴシック" pitchFamily="31" charset="-128"/>
              </a:defRPr>
            </a:lvl3pPr>
            <a:lvl4pPr eaLnBrk="0" hangingPunct="0">
              <a:defRPr sz="2400">
                <a:solidFill>
                  <a:schemeClr val="tx1"/>
                </a:solidFill>
                <a:latin typeface="Times New Roman" pitchFamily="31" charset="0"/>
                <a:ea typeface="ＭＳ Ｐゴシック" pitchFamily="31" charset="-128"/>
              </a:defRPr>
            </a:lvl4pPr>
            <a:lvl5pPr eaLnBrk="0" hangingPunct="0">
              <a:defRPr sz="2400">
                <a:solidFill>
                  <a:schemeClr val="tx1"/>
                </a:solidFill>
                <a:latin typeface="Times New Roman" pitchFamily="31" charset="0"/>
                <a:ea typeface="ＭＳ Ｐゴシック" pitchFamily="31" charset="-128"/>
              </a:defRPr>
            </a:lvl5pPr>
            <a:lvl6pPr marL="457200" eaLnBrk="0" fontAlgn="base" hangingPunct="0">
              <a:spcBef>
                <a:spcPct val="0"/>
              </a:spcBef>
              <a:spcAft>
                <a:spcPct val="0"/>
              </a:spcAft>
              <a:defRPr sz="2400">
                <a:solidFill>
                  <a:schemeClr val="tx1"/>
                </a:solidFill>
                <a:latin typeface="Times New Roman" pitchFamily="31" charset="0"/>
                <a:ea typeface="ＭＳ Ｐゴシック" pitchFamily="31" charset="-128"/>
              </a:defRPr>
            </a:lvl6pPr>
            <a:lvl7pPr marL="914400" eaLnBrk="0" fontAlgn="base" hangingPunct="0">
              <a:spcBef>
                <a:spcPct val="0"/>
              </a:spcBef>
              <a:spcAft>
                <a:spcPct val="0"/>
              </a:spcAft>
              <a:defRPr sz="2400">
                <a:solidFill>
                  <a:schemeClr val="tx1"/>
                </a:solidFill>
                <a:latin typeface="Times New Roman" pitchFamily="31" charset="0"/>
                <a:ea typeface="ＭＳ Ｐゴシック" pitchFamily="31" charset="-128"/>
              </a:defRPr>
            </a:lvl7pPr>
            <a:lvl8pPr marL="1371600" eaLnBrk="0" fontAlgn="base" hangingPunct="0">
              <a:spcBef>
                <a:spcPct val="0"/>
              </a:spcBef>
              <a:spcAft>
                <a:spcPct val="0"/>
              </a:spcAft>
              <a:defRPr sz="2400">
                <a:solidFill>
                  <a:schemeClr val="tx1"/>
                </a:solidFill>
                <a:latin typeface="Times New Roman" pitchFamily="31" charset="0"/>
                <a:ea typeface="ＭＳ Ｐゴシック" pitchFamily="31" charset="-128"/>
              </a:defRPr>
            </a:lvl8pPr>
            <a:lvl9pPr marL="1828800" eaLnBrk="0" fontAlgn="base" hangingPunct="0">
              <a:spcBef>
                <a:spcPct val="0"/>
              </a:spcBef>
              <a:spcAft>
                <a:spcPct val="0"/>
              </a:spcAft>
              <a:defRPr sz="2400">
                <a:solidFill>
                  <a:schemeClr val="tx1"/>
                </a:solidFill>
                <a:latin typeface="Times New Roman" pitchFamily="31" charset="0"/>
                <a:ea typeface="ＭＳ Ｐゴシック" pitchFamily="31" charset="-128"/>
              </a:defRPr>
            </a:lvl9pPr>
          </a:lstStyle>
          <a:p>
            <a:pPr eaLnBrk="1" hangingPunct="1">
              <a:spcBef>
                <a:spcPct val="50000"/>
              </a:spcBef>
              <a:buFont typeface="Arial" panose="020B0604020202020204" pitchFamily="34" charset="0"/>
              <a:buChar char="•"/>
            </a:pPr>
            <a:r>
              <a:rPr lang="en-GB" altLang="en-US" sz="1800" dirty="0">
                <a:latin typeface="+mn-lt"/>
              </a:rPr>
              <a:t>Answers that are neither exact nor optimal, but are in some sense “sufficient”. This is a result of the essential reliance on heuristic problem-solving methods in situations where optimal or exact results are either too expensive or not possible.</a:t>
            </a:r>
          </a:p>
          <a:p>
            <a:pPr marL="0" indent="0" eaLnBrk="1" hangingPunct="1">
              <a:spcBef>
                <a:spcPct val="50000"/>
              </a:spcBef>
            </a:pPr>
            <a:r>
              <a:rPr lang="en-US" sz="1800" b="1" dirty="0">
                <a:solidFill>
                  <a:schemeClr val="accent5">
                    <a:lumMod val="75000"/>
                  </a:schemeClr>
                </a:solidFill>
                <a:latin typeface="+mn-lt"/>
              </a:rPr>
              <a:t>Spam Filters </a:t>
            </a:r>
            <a:r>
              <a:rPr lang="en-US" sz="1800" dirty="0">
                <a:solidFill>
                  <a:schemeClr val="accent5">
                    <a:lumMod val="75000"/>
                  </a:schemeClr>
                </a:solidFill>
                <a:latin typeface="+mn-lt"/>
              </a:rPr>
              <a:t> – AI </a:t>
            </a:r>
            <a:r>
              <a:rPr lang="en-US" sz="1800" b="1" dirty="0">
                <a:solidFill>
                  <a:schemeClr val="accent5">
                    <a:lumMod val="75000"/>
                  </a:schemeClr>
                </a:solidFill>
                <a:latin typeface="+mn-lt"/>
              </a:rPr>
              <a:t>doesn’t perfectly classify every email</a:t>
            </a:r>
            <a:r>
              <a:rPr lang="en-US" sz="1800" dirty="0">
                <a:solidFill>
                  <a:schemeClr val="accent5">
                    <a:lumMod val="75000"/>
                  </a:schemeClr>
                </a:solidFill>
                <a:latin typeface="+mn-lt"/>
              </a:rPr>
              <a:t>, but it </a:t>
            </a:r>
            <a:r>
              <a:rPr lang="en-US" sz="1800" b="1" dirty="0">
                <a:solidFill>
                  <a:schemeClr val="accent5">
                    <a:lumMod val="75000"/>
                  </a:schemeClr>
                </a:solidFill>
                <a:latin typeface="+mn-lt"/>
              </a:rPr>
              <a:t>filters enough spam to make email useful</a:t>
            </a:r>
            <a:r>
              <a:rPr lang="en-US" sz="1800" dirty="0">
                <a:solidFill>
                  <a:schemeClr val="accent5">
                    <a:lumMod val="75000"/>
                  </a:schemeClr>
                </a:solidFill>
                <a:latin typeface="+mn-lt"/>
              </a:rPr>
              <a:t> without blocking real messages.</a:t>
            </a:r>
            <a:endParaRPr lang="en-GB" altLang="en-US" sz="1800" dirty="0">
              <a:solidFill>
                <a:schemeClr val="accent5">
                  <a:lumMod val="75000"/>
                </a:schemeClr>
              </a:solidFill>
              <a:latin typeface="+mn-lt"/>
            </a:endParaRPr>
          </a:p>
          <a:p>
            <a:pPr eaLnBrk="1" hangingPunct="1">
              <a:spcBef>
                <a:spcPct val="50000"/>
              </a:spcBef>
              <a:buFont typeface="Arial" panose="020B0604020202020204" pitchFamily="34" charset="0"/>
              <a:buChar char="•"/>
            </a:pPr>
            <a:r>
              <a:rPr lang="en-GB" altLang="en-US" sz="1800" dirty="0">
                <a:latin typeface="+mn-lt"/>
              </a:rPr>
              <a:t>The use of large amounts of domain-specific knowledge in solving problems. This is the basis of expert systems.</a:t>
            </a:r>
          </a:p>
          <a:p>
            <a:pPr marL="0" indent="0" eaLnBrk="1" hangingPunct="1">
              <a:spcBef>
                <a:spcPct val="50000"/>
              </a:spcBef>
            </a:pPr>
            <a:r>
              <a:rPr lang="en-US" sz="1800" dirty="0">
                <a:solidFill>
                  <a:schemeClr val="accent5">
                    <a:lumMod val="75000"/>
                  </a:schemeClr>
                </a:solidFill>
                <a:latin typeface="+mn-lt"/>
              </a:rPr>
              <a:t>AI was used in the </a:t>
            </a:r>
            <a:r>
              <a:rPr lang="en-US" sz="1800" b="1" dirty="0">
                <a:solidFill>
                  <a:schemeClr val="accent5">
                    <a:lumMod val="75000"/>
                  </a:schemeClr>
                </a:solidFill>
                <a:latin typeface="+mn-lt"/>
              </a:rPr>
              <a:t>1970s to diagnose blood infections</a:t>
            </a:r>
            <a:r>
              <a:rPr lang="en-US" sz="1800" dirty="0">
                <a:solidFill>
                  <a:schemeClr val="accent5">
                    <a:lumMod val="75000"/>
                  </a:schemeClr>
                </a:solidFill>
                <a:latin typeface="+mn-lt"/>
              </a:rPr>
              <a:t> based on an extensive database of medical knowledge</a:t>
            </a:r>
            <a:r>
              <a:rPr lang="en-US" sz="1800" dirty="0">
                <a:latin typeface="+mn-lt"/>
              </a:rPr>
              <a:t>.</a:t>
            </a:r>
            <a:endParaRPr lang="en-GB" altLang="en-US" sz="1800" dirty="0">
              <a:latin typeface="+mn-lt"/>
            </a:endParaRPr>
          </a:p>
          <a:p>
            <a:pPr eaLnBrk="1" hangingPunct="1">
              <a:spcBef>
                <a:spcPct val="50000"/>
              </a:spcBef>
              <a:buFont typeface="Arial" panose="020B0604020202020204" pitchFamily="34" charset="0"/>
              <a:buChar char="•"/>
            </a:pPr>
            <a:r>
              <a:rPr lang="en-GB" altLang="en-US" sz="1800" dirty="0">
                <a:latin typeface="+mn-lt"/>
              </a:rPr>
              <a:t>The use of meta-level knowledge to effect more sophisticated control of problem-solving strategies. Although this is a very difficult problem, addressed in relatively few current systems, it is emerging as an essential area of research.</a:t>
            </a:r>
          </a:p>
          <a:p>
            <a:pPr marL="0" indent="0" eaLnBrk="1" hangingPunct="1">
              <a:spcBef>
                <a:spcPct val="50000"/>
              </a:spcBef>
            </a:pPr>
            <a:r>
              <a:rPr lang="en-US" sz="1800" b="1" dirty="0">
                <a:solidFill>
                  <a:schemeClr val="accent5">
                    <a:lumMod val="75000"/>
                  </a:schemeClr>
                </a:solidFill>
                <a:latin typeface="+mn-lt"/>
              </a:rPr>
              <a:t>AlphaZero (Game AI by DeepMind)</a:t>
            </a:r>
            <a:r>
              <a:rPr lang="en-US" sz="1800" dirty="0">
                <a:solidFill>
                  <a:schemeClr val="accent5">
                    <a:lumMod val="75000"/>
                  </a:schemeClr>
                </a:solidFill>
                <a:latin typeface="+mn-lt"/>
              </a:rPr>
              <a:t> – It </a:t>
            </a:r>
            <a:r>
              <a:rPr lang="en-US" sz="1800" b="1" dirty="0">
                <a:solidFill>
                  <a:schemeClr val="accent5">
                    <a:lumMod val="75000"/>
                  </a:schemeClr>
                </a:solidFill>
                <a:latin typeface="+mn-lt"/>
              </a:rPr>
              <a:t>learns to play Chess by adjusting its own strategies dynamically</a:t>
            </a:r>
            <a:r>
              <a:rPr lang="en-US" sz="1800" dirty="0">
                <a:solidFill>
                  <a:schemeClr val="accent5">
                    <a:lumMod val="75000"/>
                  </a:schemeClr>
                </a:solidFill>
                <a:latin typeface="+mn-lt"/>
              </a:rPr>
              <a:t>, improving over time </a:t>
            </a:r>
            <a:r>
              <a:rPr lang="en-US" sz="1800" b="1" dirty="0">
                <a:solidFill>
                  <a:schemeClr val="accent5">
                    <a:lumMod val="75000"/>
                  </a:schemeClr>
                </a:solidFill>
                <a:latin typeface="+mn-lt"/>
              </a:rPr>
              <a:t>without human intervention</a:t>
            </a:r>
            <a:r>
              <a:rPr lang="en-US" sz="1800" dirty="0">
                <a:solidFill>
                  <a:schemeClr val="accent5">
                    <a:lumMod val="75000"/>
                  </a:schemeClr>
                </a:solidFill>
                <a:latin typeface="+mn-lt"/>
              </a:rPr>
              <a:t>.</a:t>
            </a:r>
          </a:p>
          <a:p>
            <a:pPr marL="0" indent="0" eaLnBrk="1" hangingPunct="1">
              <a:spcBef>
                <a:spcPct val="50000"/>
              </a:spcBef>
            </a:pPr>
            <a:r>
              <a:rPr lang="en-GB" altLang="en-US" sz="1800" dirty="0">
                <a:solidFill>
                  <a:schemeClr val="accent5">
                    <a:lumMod val="75000"/>
                  </a:schemeClr>
                </a:solidFill>
                <a:latin typeface="+mn-lt"/>
              </a:rPr>
              <a:t>Self learning through trial and error, use reinforcement learning.</a:t>
            </a:r>
          </a:p>
        </p:txBody>
      </p:sp>
    </p:spTree>
    <p:extLst>
      <p:ext uri="{BB962C8B-B14F-4D97-AF65-F5344CB8AC3E}">
        <p14:creationId xmlns:p14="http://schemas.microsoft.com/office/powerpoint/2010/main" val="1017385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5" ma:contentTypeDescription="Create a new document." ma:contentTypeScope="" ma:versionID="5b4f94f29af92c2c38760606e13a76fa">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27929261d078ce812582891b1a16c94f"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6C4528-5205-4C8B-ADD5-A81ADD6590E1}">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customXml/itemProps2.xml><?xml version="1.0" encoding="utf-8"?>
<ds:datastoreItem xmlns:ds="http://schemas.openxmlformats.org/officeDocument/2006/customXml" ds:itemID="{9A497F16-CC02-42CC-A1C8-97B80B2719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A63DB8-E0A2-40ED-85BA-3F84F77689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3563</TotalTime>
  <Words>3338</Words>
  <Application>Microsoft Office PowerPoint</Application>
  <PresentationFormat>Widescreen</PresentationFormat>
  <Paragraphs>499</Paragraphs>
  <Slides>50</Slides>
  <Notes>11</Notes>
  <HiddenSlides>7</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60" baseType="lpstr">
      <vt:lpstr>Arial</vt:lpstr>
      <vt:lpstr>Book Antiqua</vt:lpstr>
      <vt:lpstr>Calibri</vt:lpstr>
      <vt:lpstr>Calibri Light</vt:lpstr>
      <vt:lpstr>Franklin Gothic Book</vt:lpstr>
      <vt:lpstr>Helvetica</vt:lpstr>
      <vt:lpstr>Times New Roman</vt:lpstr>
      <vt:lpstr>Wingdings</vt:lpstr>
      <vt:lpstr>Office Theme</vt:lpstr>
      <vt:lpstr>Clip</vt:lpstr>
      <vt:lpstr>Artificial Intelligence</vt:lpstr>
      <vt:lpstr>Recommended Books</vt:lpstr>
      <vt:lpstr>Recommended Books</vt:lpstr>
      <vt:lpstr>Grading (Tentative)</vt:lpstr>
      <vt:lpstr>Logistics</vt:lpstr>
      <vt:lpstr>Other Announcements</vt:lpstr>
      <vt:lpstr>Course Topics</vt:lpstr>
      <vt:lpstr>Overview</vt:lpstr>
      <vt:lpstr>Question</vt:lpstr>
      <vt:lpstr>WHY AI?</vt:lpstr>
      <vt:lpstr>Why AI?</vt:lpstr>
      <vt:lpstr>What is Intelligence?</vt:lpstr>
      <vt:lpstr>Artificial Intelligence</vt:lpstr>
      <vt:lpstr>Artificial Intelligence</vt:lpstr>
      <vt:lpstr>Humans Vs Machines</vt:lpstr>
      <vt:lpstr>What is AI?</vt:lpstr>
      <vt:lpstr>What is AI?</vt:lpstr>
      <vt:lpstr>What is Artificial Intelligence</vt:lpstr>
      <vt:lpstr>What is Artificial Intelligence?</vt:lpstr>
      <vt:lpstr>Acting Humanly:  Turing Test</vt:lpstr>
      <vt:lpstr>PowerPoint Presentation</vt:lpstr>
      <vt:lpstr>PowerPoint Presentation</vt:lpstr>
      <vt:lpstr>Thinking Humanly:  The cognitive modeling approach</vt:lpstr>
      <vt:lpstr>Thinking Humanly:  The cognitive modeling approach</vt:lpstr>
      <vt:lpstr>Thinking Rationally:   Laws of Thought</vt:lpstr>
      <vt:lpstr>Thinking Rationally:   Laws of Thought</vt:lpstr>
      <vt:lpstr>Thinking Rationally:   Laws of Thought</vt:lpstr>
      <vt:lpstr>Thinking Rationally:   Laws of Thought</vt:lpstr>
      <vt:lpstr>Acting rationally:  Rational agent</vt:lpstr>
      <vt:lpstr>Acting rationally: Rational agent</vt:lpstr>
      <vt:lpstr>Acting rationally: Rational agent</vt:lpstr>
      <vt:lpstr>Acting rationally:  Rational agent</vt:lpstr>
      <vt:lpstr>Acting rationally:  Rational agent</vt:lpstr>
      <vt:lpstr>Designing Rational Agents</vt:lpstr>
      <vt:lpstr>Rational Decisions</vt:lpstr>
      <vt:lpstr>Approaches to AI</vt:lpstr>
      <vt:lpstr>Weak and Strong AI </vt:lpstr>
      <vt:lpstr>Quick Quiz</vt:lpstr>
      <vt:lpstr>Applications of AI</vt:lpstr>
      <vt:lpstr>Natural Language</vt:lpstr>
      <vt:lpstr>Vision (Perception)</vt:lpstr>
      <vt:lpstr>Robotics</vt:lpstr>
      <vt:lpstr>Decision Making</vt:lpstr>
      <vt:lpstr>AI Topics: A Quick Introductory Overview</vt:lpstr>
      <vt:lpstr>AI Topics: A Quick Introductory Overview</vt:lpstr>
      <vt:lpstr>Classical AI Search Problems</vt:lpstr>
      <vt:lpstr>Classical AI Search Problems</vt:lpstr>
      <vt:lpstr>Classical AI Search Problem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Maham Armaghan</dc:creator>
  <cp:lastModifiedBy>Maham Armaghan</cp:lastModifiedBy>
  <cp:revision>183</cp:revision>
  <dcterms:created xsi:type="dcterms:W3CDTF">2019-03-06T07:15:08Z</dcterms:created>
  <dcterms:modified xsi:type="dcterms:W3CDTF">2026-09-29T03:27:37Z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