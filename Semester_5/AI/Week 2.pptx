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6"/>
  </p:notesMasterIdLst>
  <p:sldIdLst>
    <p:sldId id="256" r:id="rId5"/>
    <p:sldId id="384" r:id="rId6"/>
    <p:sldId id="263" r:id="rId7"/>
    <p:sldId id="382" r:id="rId8"/>
    <p:sldId id="385" r:id="rId9"/>
    <p:sldId id="386" r:id="rId10"/>
    <p:sldId id="387" r:id="rId11"/>
    <p:sldId id="381" r:id="rId12"/>
    <p:sldId id="347" r:id="rId13"/>
    <p:sldId id="266" r:id="rId14"/>
    <p:sldId id="357" r:id="rId15"/>
    <p:sldId id="370" r:id="rId16"/>
    <p:sldId id="270" r:id="rId17"/>
    <p:sldId id="343" r:id="rId18"/>
    <p:sldId id="383" r:id="rId19"/>
    <p:sldId id="274" r:id="rId20"/>
    <p:sldId id="276" r:id="rId21"/>
    <p:sldId id="277" r:id="rId22"/>
    <p:sldId id="365" r:id="rId23"/>
    <p:sldId id="278" r:id="rId24"/>
    <p:sldId id="279" r:id="rId25"/>
    <p:sldId id="280" r:id="rId26"/>
    <p:sldId id="281" r:id="rId27"/>
    <p:sldId id="282" r:id="rId28"/>
    <p:sldId id="341" r:id="rId29"/>
    <p:sldId id="362" r:id="rId30"/>
    <p:sldId id="356" r:id="rId31"/>
    <p:sldId id="368" r:id="rId32"/>
    <p:sldId id="350" r:id="rId33"/>
    <p:sldId id="352" r:id="rId34"/>
    <p:sldId id="286" r:id="rId35"/>
    <p:sldId id="389" r:id="rId36"/>
    <p:sldId id="288" r:id="rId37"/>
    <p:sldId id="290" r:id="rId38"/>
    <p:sldId id="388" r:id="rId39"/>
    <p:sldId id="390" r:id="rId40"/>
    <p:sldId id="296" r:id="rId41"/>
    <p:sldId id="391" r:id="rId42"/>
    <p:sldId id="392" r:id="rId43"/>
    <p:sldId id="393" r:id="rId44"/>
    <p:sldId id="30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9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CB656-4651-4938-A53A-9686C9A9B6F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830A46-133B-4B00-8729-9EAD806F5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26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eaLnBrk="1" hangingPunct="1"/>
            <a:fld id="{E79CB8B6-4628-4C17-84DD-0EB4C448D83C}" type="slidenum">
              <a:rPr lang="en-US" altLang="en-US"/>
              <a:pPr eaLnBrk="1" hangingPunct="1"/>
              <a:t>26</a:t>
            </a:fld>
            <a:endParaRPr lang="en-US" alt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288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53711-8A9B-4CD2-8241-66F842545AE0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24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1BE1-5C84-4D51-A59E-0176BA527C56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9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7F023-EC55-42F2-AEB1-FBF25F40B6AB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5C3C3-CC9E-4E75-871B-99187DA02A5D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61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C9FE-100A-476F-BBFD-521AAABADD52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83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BDB4-8DF9-4F37-A657-46DEA70111AF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1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170E-FEF3-49A9-84EC-2F5A5861C824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EB9C3-AD91-4668-9E1B-8B49845474D1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13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C737F-A5E3-45B7-9A8F-21B15DA76AEA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8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92E38-7A7F-46C2-AD94-8945B2B73D3E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45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D4D0-8626-4567-A904-20B70A7E5E7B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29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EB54A-1067-4A0C-839D-32D35893DAFE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B9AD4-84B3-4C8E-B1F8-FB9718B7C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8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7252" y="434264"/>
            <a:ext cx="9144000" cy="1671983"/>
          </a:xfrm>
        </p:spPr>
        <p:txBody>
          <a:bodyPr/>
          <a:lstStyle/>
          <a:p>
            <a:r>
              <a:rPr lang="en-US" dirty="0"/>
              <a:t>Intelligent Agents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40494" y="2213790"/>
            <a:ext cx="4737516" cy="3553138"/>
          </a:xfrm>
          <a:prstGeom prst="rect">
            <a:avLst/>
          </a:prstGeom>
          <a:noFill/>
        </p:spPr>
      </p:pic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0" y="5987008"/>
            <a:ext cx="12192000" cy="379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867" dirty="0"/>
              <a:t>Slide credits: AI BERKELEY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F3BEA-60C2-43D3-AFE6-BFCB2EFB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2C63-424D-4047-804F-0749B0C57F07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2C48C-0917-4FE8-BA09-E3FC1F96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5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44DA-D4A0-4F38-81AB-C56213F7F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CF360-1CFE-4BBF-B75D-C52B931D8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126"/>
            <a:ext cx="10515600" cy="4795838"/>
          </a:xfrm>
        </p:spPr>
        <p:txBody>
          <a:bodyPr>
            <a:normAutofit/>
          </a:bodyPr>
          <a:lstStyle/>
          <a:p>
            <a:r>
              <a:rPr lang="en-US" sz="2400" dirty="0"/>
              <a:t>An </a:t>
            </a:r>
            <a:r>
              <a:rPr lang="en-US" sz="2400" b="1" dirty="0"/>
              <a:t>agent</a:t>
            </a:r>
            <a:r>
              <a:rPr lang="en-US" sz="2400" dirty="0"/>
              <a:t> is </a:t>
            </a:r>
            <a:r>
              <a:rPr lang="en-US" sz="2400" b="1" dirty="0"/>
              <a:t>anything that can observe its environment, make decisions, and perform actions to achieve a goal.</a:t>
            </a:r>
          </a:p>
          <a:p>
            <a:r>
              <a:rPr lang="en-US" sz="2400" dirty="0"/>
              <a:t>In Artificial Intelligence, an agent does not have to be a robot. It can be:</a:t>
            </a:r>
          </a:p>
          <a:p>
            <a:pPr lvl="1"/>
            <a:r>
              <a:rPr lang="en-US" sz="2000" dirty="0"/>
              <a:t>A software program </a:t>
            </a:r>
          </a:p>
          <a:p>
            <a:pPr lvl="1"/>
            <a:r>
              <a:rPr lang="en-US" sz="2000" dirty="0"/>
              <a:t>A chatbot </a:t>
            </a:r>
          </a:p>
          <a:p>
            <a:pPr lvl="1"/>
            <a:r>
              <a:rPr lang="en-US" sz="2000" dirty="0"/>
              <a:t>A self-driving car </a:t>
            </a:r>
          </a:p>
          <a:p>
            <a:pPr lvl="1"/>
            <a:r>
              <a:rPr lang="en-US" sz="2000" dirty="0"/>
              <a:t>A robot </a:t>
            </a:r>
          </a:p>
          <a:p>
            <a:pPr lvl="1"/>
            <a:r>
              <a:rPr lang="en-US" sz="2000" dirty="0"/>
              <a:t>A game-playing AI</a:t>
            </a:r>
          </a:p>
          <a:p>
            <a:endParaRPr lang="en-US" sz="2400" dirty="0"/>
          </a:p>
          <a:p>
            <a:r>
              <a:rPr lang="en-US" sz="2400" dirty="0"/>
              <a:t>The key idea is:</a:t>
            </a:r>
          </a:p>
          <a:p>
            <a:pPr lvl="1"/>
            <a:r>
              <a:rPr lang="en-US" sz="2000" dirty="0"/>
              <a:t>An agent perceives → thinks (reason) → acts.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582C0-9F9F-4656-B845-42C817EB4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1BE1-5C84-4D51-A59E-0176BA527C56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92DCD-27A0-46D0-A592-07BA2221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4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/>
              <a:t>What is an Agent?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it-IT" i="1" dirty="0"/>
              <a:t>Agent:</a:t>
            </a:r>
          </a:p>
          <a:p>
            <a:pPr lvl="1"/>
            <a:r>
              <a:rPr lang="it-IT" dirty="0"/>
              <a:t>Perceives (through sensors)</a:t>
            </a:r>
          </a:p>
          <a:p>
            <a:pPr lvl="1"/>
            <a:r>
              <a:rPr lang="it-IT" dirty="0"/>
              <a:t>Acts (through actuators)</a:t>
            </a:r>
          </a:p>
          <a:p>
            <a:pPr lvl="1"/>
            <a:r>
              <a:rPr lang="it-IT" dirty="0"/>
              <a:t>Reasons (chooses the best action)</a:t>
            </a:r>
          </a:p>
          <a:p>
            <a:endParaRPr lang="it-IT" i="1" dirty="0"/>
          </a:p>
          <a:p>
            <a:r>
              <a:rPr lang="it-IT" i="1" dirty="0"/>
              <a:t>“</a:t>
            </a:r>
            <a:r>
              <a:rPr lang="en-US" i="1" dirty="0"/>
              <a:t>Intelligent agents continuously perform three functions: </a:t>
            </a:r>
            <a:r>
              <a:rPr lang="en-US" b="1" i="1" dirty="0"/>
              <a:t>perception</a:t>
            </a:r>
            <a:r>
              <a:rPr lang="en-US" i="1" dirty="0"/>
              <a:t> of dynamic conditions in the environment; </a:t>
            </a:r>
            <a:r>
              <a:rPr lang="en-US" b="1" i="1" dirty="0"/>
              <a:t>action</a:t>
            </a:r>
            <a:r>
              <a:rPr lang="en-US" i="1" dirty="0"/>
              <a:t> to affect conditions in the environment; and </a:t>
            </a:r>
            <a:r>
              <a:rPr lang="en-US" b="1" i="1" dirty="0"/>
              <a:t>reasoning</a:t>
            </a:r>
            <a:r>
              <a:rPr lang="en-US" i="1" dirty="0"/>
              <a:t> to interpret perceptions, solve problems, draw inferences, and determine actions.</a:t>
            </a:r>
            <a:r>
              <a:rPr lang="it-IT" dirty="0"/>
              <a:t>”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4029808" y="1560513"/>
            <a:ext cx="47859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5" name="Picture 4" descr="https://www.doc.ic.ac.uk/project/examples/2005/163/g0516334/images/sensorseni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672" y="1181099"/>
            <a:ext cx="5229225" cy="22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BD9514-6051-43DC-980B-5F42B6C7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61D07-FEB4-4732-A790-8ADD7867A6A0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E7DA3-0238-4747-BDA1-CAD85F94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30680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3B4FB-55C3-49DF-83C3-F0AA2BC6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Percept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9217B-338F-40C3-B9FF-28D99ED34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557"/>
            <a:ext cx="10582275" cy="323614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Percept</a:t>
            </a:r>
            <a:r>
              <a:rPr lang="en-US" dirty="0"/>
              <a:t> refers to the agent's perceptual inputs at any given instant.</a:t>
            </a:r>
          </a:p>
          <a:p>
            <a:pPr lvl="1"/>
            <a:r>
              <a:rPr lang="en-US" dirty="0"/>
              <a:t>What the agent sees </a:t>
            </a:r>
            <a:r>
              <a:rPr lang="en-US" b="1" i="1" dirty="0"/>
              <a:t>right now.</a:t>
            </a:r>
            <a:endParaRPr lang="en-US" dirty="0"/>
          </a:p>
          <a:p>
            <a:pPr lvl="1"/>
            <a:r>
              <a:rPr lang="en-US" b="1" dirty="0"/>
              <a:t>Human Example</a:t>
            </a:r>
          </a:p>
          <a:p>
            <a:pPr lvl="2"/>
            <a:r>
              <a:rPr lang="en-US" dirty="0"/>
              <a:t>Sensors include:</a:t>
            </a:r>
          </a:p>
          <a:p>
            <a:pPr lvl="2"/>
            <a:r>
              <a:rPr lang="en-US" dirty="0"/>
              <a:t>Eyes </a:t>
            </a:r>
          </a:p>
          <a:p>
            <a:pPr lvl="2"/>
            <a:r>
              <a:rPr lang="en-US" dirty="0"/>
              <a:t>Ears </a:t>
            </a:r>
          </a:p>
          <a:p>
            <a:pPr lvl="2"/>
            <a:r>
              <a:rPr lang="en-US" dirty="0"/>
              <a:t>Nose </a:t>
            </a:r>
          </a:p>
          <a:p>
            <a:pPr lvl="2"/>
            <a:r>
              <a:rPr lang="en-US" dirty="0"/>
              <a:t>Skin </a:t>
            </a:r>
          </a:p>
          <a:p>
            <a:pPr lvl="2"/>
            <a:r>
              <a:rPr lang="en-US" dirty="0"/>
              <a:t>Tongue</a:t>
            </a:r>
            <a:endParaRPr lang="en-US" b="1" dirty="0"/>
          </a:p>
          <a:p>
            <a:r>
              <a:rPr lang="en-US" dirty="0"/>
              <a:t>AI Examples</a:t>
            </a:r>
          </a:p>
          <a:p>
            <a:endParaRPr lang="en-PK" i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9969A-6BDB-49A9-BAF8-40C1553B4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1BE1-5C84-4D51-A59E-0176BA527C56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77D55-901E-4610-9F4A-10147CB2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CA6A24-0EEF-4976-9DDE-836014A8B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304599"/>
              </p:ext>
            </p:extLst>
          </p:nvPr>
        </p:nvGraphicFramePr>
        <p:xfrm>
          <a:off x="1000125" y="4527550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3101108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0943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Sensors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626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Self-driving 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Cameras, LiDAR, Radar, GPS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651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Robot vacuum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Infrared sensors, cameras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1391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Chess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Current board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457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ChatGPT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User's text prompt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349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375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3B4FB-55C3-49DF-83C3-F0AA2BC6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 Sequence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9217B-338F-40C3-B9FF-28D99ED34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557"/>
            <a:ext cx="10515600" cy="4574406"/>
          </a:xfrm>
        </p:spPr>
        <p:txBody>
          <a:bodyPr>
            <a:normAutofit/>
          </a:bodyPr>
          <a:lstStyle/>
          <a:p>
            <a:r>
              <a:rPr lang="en-US" b="1" dirty="0"/>
              <a:t>Percept sequence:</a:t>
            </a:r>
            <a:r>
              <a:rPr lang="en-US" dirty="0"/>
              <a:t> the complete history of everything the agent has ever perceived</a:t>
            </a:r>
          </a:p>
          <a:p>
            <a:pPr lvl="1"/>
            <a:r>
              <a:rPr lang="en-US" dirty="0"/>
              <a:t>Everything it has seen </a:t>
            </a:r>
            <a:r>
              <a:rPr lang="en-US" b="1" i="1" dirty="0"/>
              <a:t>so far</a:t>
            </a:r>
            <a:endParaRPr lang="en-US" dirty="0"/>
          </a:p>
          <a:p>
            <a:r>
              <a:rPr lang="en-US" dirty="0"/>
              <a:t>A self-driving car:</a:t>
            </a:r>
          </a:p>
          <a:p>
            <a:pPr lvl="1"/>
            <a:r>
              <a:rPr lang="en-US" dirty="0"/>
              <a:t>Percept = “Red light”</a:t>
            </a:r>
          </a:p>
          <a:p>
            <a:pPr lvl="1"/>
            <a:r>
              <a:rPr lang="en-US" dirty="0"/>
              <a:t>Percept sequence = “Green → Yellow → Red”</a:t>
            </a:r>
          </a:p>
          <a:p>
            <a:r>
              <a:rPr lang="en-US" dirty="0"/>
              <a:t>The action depends on the whole percept sequence, not just current input.</a:t>
            </a:r>
            <a:endParaRPr lang="en-US" i="1" u="sng" dirty="0"/>
          </a:p>
          <a:p>
            <a:endParaRPr lang="en-PK" i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9969A-6BDB-49A9-BAF8-40C1553B4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1BE1-5C84-4D51-A59E-0176BA527C56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77D55-901E-4610-9F4A-10147CB2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33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F6DEA-7806-43A9-A593-762A9F076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Reasoning (think)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4D3FE-4717-4459-9D51-6B3D1762B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09725"/>
            <a:ext cx="5619750" cy="45672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After collecting information, the agent decides what to do, this is called </a:t>
            </a:r>
            <a:r>
              <a:rPr lang="en-US" b="1" dirty="0"/>
              <a:t>reasoning</a:t>
            </a:r>
            <a:r>
              <a:rPr lang="en-US" dirty="0"/>
              <a:t>.</a:t>
            </a:r>
          </a:p>
          <a:p>
            <a:r>
              <a:rPr lang="en-US" dirty="0"/>
              <a:t>Reasoning may involve:</a:t>
            </a:r>
          </a:p>
          <a:p>
            <a:pPr lvl="1"/>
            <a:r>
              <a:rPr lang="en-US" dirty="0"/>
              <a:t>Applying rules </a:t>
            </a:r>
          </a:p>
          <a:p>
            <a:pPr lvl="1"/>
            <a:r>
              <a:rPr lang="en-US" dirty="0"/>
              <a:t>Searching </a:t>
            </a:r>
          </a:p>
          <a:p>
            <a:pPr lvl="1"/>
            <a:r>
              <a:rPr lang="en-US" dirty="0"/>
              <a:t>Planning </a:t>
            </a:r>
          </a:p>
          <a:p>
            <a:pPr lvl="1"/>
            <a:r>
              <a:rPr lang="en-US" dirty="0"/>
              <a:t>Learning </a:t>
            </a:r>
          </a:p>
          <a:p>
            <a:pPr lvl="1"/>
            <a:r>
              <a:rPr lang="en-US" dirty="0"/>
              <a:t>Comparing alternatives </a:t>
            </a:r>
          </a:p>
          <a:p>
            <a:pPr lvl="1"/>
            <a:r>
              <a:rPr lang="en-US" dirty="0"/>
              <a:t>Predicting outcomes</a:t>
            </a:r>
          </a:p>
          <a:p>
            <a:r>
              <a:rPr lang="en-US" dirty="0"/>
              <a:t>The goal is to choose the </a:t>
            </a:r>
            <a:r>
              <a:rPr lang="en-US" b="1" dirty="0"/>
              <a:t>best possible action</a:t>
            </a:r>
            <a:r>
              <a:rPr lang="en-US" dirty="0"/>
              <a:t>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087C2-B336-4299-BF11-6CE527C27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1BE1-5C84-4D51-A59E-0176BA527C56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B6D2B-7195-439E-8057-9884E982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A291DB-5BE7-4A66-90FD-4628B2194F45}"/>
              </a:ext>
            </a:extLst>
          </p:cNvPr>
          <p:cNvSpPr txBox="1">
            <a:spLocks/>
          </p:cNvSpPr>
          <p:nvPr/>
        </p:nvSpPr>
        <p:spPr>
          <a:xfrm>
            <a:off x="6572250" y="1614488"/>
            <a:ext cx="5619750" cy="4567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Example:</a:t>
            </a:r>
          </a:p>
          <a:p>
            <a:pPr lvl="1"/>
            <a:r>
              <a:rPr lang="en-US" dirty="0"/>
              <a:t>A GPS navigation system considers:</a:t>
            </a:r>
          </a:p>
          <a:p>
            <a:pPr lvl="2"/>
            <a:r>
              <a:rPr lang="en-US" dirty="0"/>
              <a:t>Distance </a:t>
            </a:r>
          </a:p>
          <a:p>
            <a:pPr lvl="2"/>
            <a:r>
              <a:rPr lang="en-US" dirty="0"/>
              <a:t>Traffic </a:t>
            </a:r>
          </a:p>
          <a:p>
            <a:pPr lvl="2"/>
            <a:r>
              <a:rPr lang="en-US" dirty="0"/>
              <a:t>Road closures </a:t>
            </a:r>
          </a:p>
          <a:p>
            <a:pPr lvl="1"/>
            <a:r>
              <a:rPr lang="en-US" dirty="0"/>
              <a:t>Then it selects the fastest route.</a:t>
            </a:r>
          </a:p>
        </p:txBody>
      </p:sp>
    </p:spTree>
    <p:extLst>
      <p:ext uri="{BB962C8B-B14F-4D97-AF65-F5344CB8AC3E}">
        <p14:creationId xmlns:p14="http://schemas.microsoft.com/office/powerpoint/2010/main" val="4135265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377EB-C005-4622-8DE6-68A478B3E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683CC-D99A-41AA-BFE5-6E0A53E2E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437481"/>
            <a:ext cx="5495925" cy="4833938"/>
          </a:xfrm>
        </p:spPr>
        <p:txBody>
          <a:bodyPr>
            <a:normAutofit/>
          </a:bodyPr>
          <a:lstStyle/>
          <a:p>
            <a:r>
              <a:rPr lang="en-US" dirty="0"/>
              <a:t>Finally, the agent performs an action using </a:t>
            </a:r>
            <a:r>
              <a:rPr lang="en-US" b="1" dirty="0"/>
              <a:t>actuators (effectors).</a:t>
            </a:r>
            <a:endParaRPr lang="en-US" dirty="0"/>
          </a:p>
          <a:p>
            <a:pPr lvl="1"/>
            <a:r>
              <a:rPr lang="en-US" b="1" dirty="0"/>
              <a:t>Human Actuators</a:t>
            </a:r>
          </a:p>
          <a:p>
            <a:pPr lvl="2"/>
            <a:r>
              <a:rPr lang="en-US" dirty="0"/>
              <a:t>Hands </a:t>
            </a:r>
          </a:p>
          <a:p>
            <a:pPr lvl="2"/>
            <a:r>
              <a:rPr lang="en-US" dirty="0"/>
              <a:t>Legs </a:t>
            </a:r>
          </a:p>
          <a:p>
            <a:pPr lvl="2"/>
            <a:r>
              <a:rPr lang="en-US" dirty="0"/>
              <a:t>Voice</a:t>
            </a:r>
          </a:p>
          <a:p>
            <a:pPr lvl="1"/>
            <a:r>
              <a:rPr lang="en-US" b="1" dirty="0"/>
              <a:t>Robot Actuators</a:t>
            </a:r>
          </a:p>
          <a:p>
            <a:pPr lvl="2"/>
            <a:r>
              <a:rPr lang="en-US" dirty="0"/>
              <a:t>Wheels </a:t>
            </a:r>
          </a:p>
          <a:p>
            <a:pPr lvl="2"/>
            <a:r>
              <a:rPr lang="en-US" dirty="0"/>
              <a:t>Motors </a:t>
            </a:r>
          </a:p>
          <a:p>
            <a:pPr lvl="2"/>
            <a:r>
              <a:rPr lang="en-US" dirty="0"/>
              <a:t>Robotic arms </a:t>
            </a:r>
          </a:p>
          <a:p>
            <a:pPr lvl="2"/>
            <a:r>
              <a:rPr lang="en-US" dirty="0"/>
              <a:t>Speakers</a:t>
            </a:r>
          </a:p>
          <a:p>
            <a:pPr lvl="2"/>
            <a:endParaRPr lang="en-US" dirty="0"/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21F8D-1605-402C-9117-F7860160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1BE1-5C84-4D51-A59E-0176BA527C56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2E6F6-C7BD-46BD-856B-D6BAEEAD7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B38ECF-EA7F-4307-A491-4AC20FC4C878}"/>
              </a:ext>
            </a:extLst>
          </p:cNvPr>
          <p:cNvSpPr txBox="1">
            <a:spLocks/>
          </p:cNvSpPr>
          <p:nvPr/>
        </p:nvSpPr>
        <p:spPr>
          <a:xfrm>
            <a:off x="6096000" y="1437481"/>
            <a:ext cx="6238875" cy="4833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Examples:</a:t>
            </a:r>
          </a:p>
          <a:p>
            <a:pPr lvl="1"/>
            <a:r>
              <a:rPr lang="en-US" dirty="0"/>
              <a:t>Robot moves forward. </a:t>
            </a:r>
          </a:p>
          <a:p>
            <a:pPr lvl="1"/>
            <a:r>
              <a:rPr lang="en-US" dirty="0" err="1"/>
              <a:t>ChatGPT</a:t>
            </a:r>
            <a:r>
              <a:rPr lang="en-US" dirty="0"/>
              <a:t> generates a response. </a:t>
            </a:r>
          </a:p>
          <a:p>
            <a:pPr lvl="1"/>
            <a:r>
              <a:rPr lang="en-US" dirty="0"/>
              <a:t>Self-driving car turns left. </a:t>
            </a:r>
          </a:p>
          <a:p>
            <a:pPr lvl="1"/>
            <a:r>
              <a:rPr lang="en-US" dirty="0"/>
              <a:t>Vacuum cleaner changes direction.</a:t>
            </a:r>
          </a:p>
        </p:txBody>
      </p:sp>
    </p:spTree>
    <p:extLst>
      <p:ext uri="{BB962C8B-B14F-4D97-AF65-F5344CB8AC3E}">
        <p14:creationId xmlns:p14="http://schemas.microsoft.com/office/powerpoint/2010/main" val="3772765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An </a:t>
            </a:r>
            <a:r>
              <a:rPr lang="en-US" dirty="0"/>
              <a:t>intelligent agent may learn from the environment to achieve their goals. </a:t>
            </a:r>
          </a:p>
          <a:p>
            <a:r>
              <a:rPr lang="en-US" dirty="0"/>
              <a:t>Following are the main four rules for an AI agent:</a:t>
            </a:r>
          </a:p>
          <a:p>
            <a:pPr lvl="1"/>
            <a:r>
              <a:rPr lang="en-US" b="1" dirty="0"/>
              <a:t>Rule 1:</a:t>
            </a:r>
            <a:r>
              <a:rPr lang="en-US" dirty="0"/>
              <a:t> An AI agent must have the ability to perceive the environment.</a:t>
            </a:r>
          </a:p>
          <a:p>
            <a:pPr lvl="1"/>
            <a:r>
              <a:rPr lang="en-US" b="1" dirty="0"/>
              <a:t>Rule 2:</a:t>
            </a:r>
            <a:r>
              <a:rPr lang="en-US" dirty="0"/>
              <a:t> The observation must be used to make decisions.</a:t>
            </a:r>
          </a:p>
          <a:p>
            <a:pPr lvl="1"/>
            <a:r>
              <a:rPr lang="en-US" b="1" dirty="0"/>
              <a:t>Rule 3:</a:t>
            </a:r>
            <a:r>
              <a:rPr lang="en-US" dirty="0"/>
              <a:t> Decision should result in an action.</a:t>
            </a:r>
          </a:p>
          <a:p>
            <a:pPr lvl="1"/>
            <a:r>
              <a:rPr lang="en-US" b="1" dirty="0"/>
              <a:t>Rule 4:</a:t>
            </a:r>
            <a:r>
              <a:rPr lang="en-US" dirty="0"/>
              <a:t> The action taken by an AI agent must be a rational action.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865E8-2B9F-47BC-82D0-49280ADE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AF1E6-6C9A-406B-BD90-2DD04D168602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FDC1A-09DD-4992-9746-F1EA962EC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93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Human Agent</a:t>
            </a:r>
          </a:p>
          <a:p>
            <a:pPr lvl="1"/>
            <a:r>
              <a:rPr lang="en-US" altLang="en-US" sz="2200" dirty="0"/>
              <a:t>eyes, ears, skin, taste buds, etc. for sensors</a:t>
            </a:r>
          </a:p>
          <a:p>
            <a:pPr lvl="1"/>
            <a:r>
              <a:rPr lang="en-US" altLang="en-US" sz="2200" dirty="0"/>
              <a:t>hands, fingers, legs, mouth, etc. for actuators</a:t>
            </a:r>
          </a:p>
          <a:p>
            <a:r>
              <a:rPr lang="en-US" altLang="en-US" dirty="0"/>
              <a:t>Robot</a:t>
            </a:r>
          </a:p>
          <a:p>
            <a:pPr lvl="1"/>
            <a:r>
              <a:rPr lang="en-US" altLang="en-US" sz="2200" dirty="0"/>
              <a:t>camera, infrared, etc. for sensors</a:t>
            </a:r>
          </a:p>
          <a:p>
            <a:pPr lvl="1"/>
            <a:r>
              <a:rPr lang="en-US" altLang="en-US" sz="2200" dirty="0"/>
              <a:t>grippers, wheels, speakers, etc. for actuators</a:t>
            </a:r>
          </a:p>
          <a:p>
            <a:r>
              <a:rPr lang="en-US" altLang="en-US" dirty="0"/>
              <a:t>Software Agent</a:t>
            </a:r>
          </a:p>
          <a:p>
            <a:pPr lvl="1"/>
            <a:r>
              <a:rPr lang="en-US" altLang="en-US" sz="2200" dirty="0"/>
              <a:t>functions as sensors</a:t>
            </a:r>
          </a:p>
          <a:p>
            <a:pPr lvl="2"/>
            <a:r>
              <a:rPr lang="en-US" altLang="en-US" sz="1600" dirty="0"/>
              <a:t>information provided as input to functions in the form of encoded bit strings or symbols</a:t>
            </a:r>
          </a:p>
          <a:p>
            <a:pPr lvl="1"/>
            <a:r>
              <a:rPr lang="en-US" altLang="en-US" sz="2200" dirty="0"/>
              <a:t>functions as actuators</a:t>
            </a:r>
          </a:p>
          <a:p>
            <a:pPr lvl="2"/>
            <a:r>
              <a:rPr lang="en-US" altLang="en-US" sz="1600" dirty="0"/>
              <a:t>results deliver the output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0C0E8-FE76-4DE7-A7D9-9F993983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D91D-76F3-419C-88AA-720DA59A317F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FF3D7-A67C-4FF6-BBF3-054E7D17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95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dirty="0"/>
              <a:t>Rational Agent</a:t>
            </a:r>
            <a:r>
              <a:rPr lang="en-US" altLang="en-US" dirty="0"/>
              <a:t>: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 </a:t>
            </a:r>
            <a:r>
              <a:rPr lang="en-US" b="1" dirty="0"/>
              <a:t>rational agent</a:t>
            </a:r>
            <a:r>
              <a:rPr lang="en-US" dirty="0"/>
              <a:t> is an agent that </a:t>
            </a:r>
            <a:r>
              <a:rPr lang="en-US" b="1" dirty="0"/>
              <a:t>chooses the action </a:t>
            </a:r>
            <a:r>
              <a:rPr lang="en-US" b="1" u="sng" dirty="0"/>
              <a:t>expected</a:t>
            </a:r>
            <a:r>
              <a:rPr lang="en-US" b="1" dirty="0"/>
              <a:t> to produce the best outcome</a:t>
            </a:r>
            <a:r>
              <a:rPr lang="en-US" dirty="0"/>
              <a:t> based on:</a:t>
            </a:r>
          </a:p>
          <a:p>
            <a:pPr lvl="2"/>
            <a:r>
              <a:rPr lang="en-US" dirty="0"/>
              <a:t>What it has perceived so far (percept sequence). </a:t>
            </a:r>
          </a:p>
          <a:p>
            <a:pPr lvl="2"/>
            <a:r>
              <a:rPr lang="en-US" dirty="0"/>
              <a:t>What it already knows. </a:t>
            </a:r>
          </a:p>
          <a:p>
            <a:pPr lvl="2"/>
            <a:r>
              <a:rPr lang="en-US" dirty="0"/>
              <a:t>The actions available to it.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 rational agent simply makes the </a:t>
            </a:r>
            <a:r>
              <a:rPr lang="en-US" b="1" dirty="0"/>
              <a:t>best possible decision with the information currently available</a:t>
            </a:r>
            <a:r>
              <a:rPr lang="en-US" dirty="0"/>
              <a:t>.</a:t>
            </a:r>
            <a:endParaRPr lang="en-US" b="1" dirty="0"/>
          </a:p>
          <a:p>
            <a:r>
              <a:rPr lang="en-US" b="1" dirty="0"/>
              <a:t>Rationality</a:t>
            </a:r>
            <a:r>
              <a:rPr lang="en-US" dirty="0"/>
              <a:t> is distinct from </a:t>
            </a:r>
            <a:r>
              <a:rPr lang="en-US" b="1" dirty="0"/>
              <a:t>omniscience</a:t>
            </a:r>
            <a:r>
              <a:rPr lang="en-US" dirty="0"/>
              <a:t> (all-knowing with infinite knowledge) </a:t>
            </a:r>
          </a:p>
          <a:p>
            <a:pPr lvl="1"/>
            <a:r>
              <a:rPr lang="en-US" b="1" dirty="0"/>
              <a:t>Actual (perfection) vs. Expected</a:t>
            </a:r>
          </a:p>
          <a:p>
            <a:pPr lvl="1"/>
            <a:r>
              <a:rPr lang="en-US" b="1" dirty="0"/>
              <a:t>Best vs. Optimal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B37AB-5EBC-470C-A76B-63DFA402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14E7F-28B3-4490-9B7C-84CC197D25E7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A9CC6-CE81-454E-B657-E100A031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60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Function and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696200" cy="4773138"/>
          </a:xfrm>
        </p:spPr>
        <p:txBody>
          <a:bodyPr>
            <a:normAutofit/>
          </a:bodyPr>
          <a:lstStyle/>
          <a:p>
            <a:r>
              <a:rPr lang="en-US" b="1" dirty="0"/>
              <a:t>Behavior of Agent </a:t>
            </a:r>
            <a:r>
              <a:rPr lang="en-US" dirty="0"/>
              <a:t>− It is the action that agent performs after any given sequence of percepts</a:t>
            </a:r>
          </a:p>
          <a:p>
            <a:r>
              <a:rPr lang="en-US" dirty="0"/>
              <a:t>Agent’s behavior is </a:t>
            </a:r>
            <a:r>
              <a:rPr lang="en-US" i="1" u="sng" dirty="0"/>
              <a:t>mathematically</a:t>
            </a:r>
            <a:r>
              <a:rPr lang="en-US" i="1" dirty="0"/>
              <a:t> </a:t>
            </a:r>
            <a:r>
              <a:rPr lang="en-US" dirty="0"/>
              <a:t>described by </a:t>
            </a:r>
            <a:r>
              <a:rPr lang="en-US" b="1" dirty="0"/>
              <a:t>Agent function</a:t>
            </a:r>
          </a:p>
          <a:p>
            <a:pPr lvl="1"/>
            <a:r>
              <a:rPr lang="en-US" dirty="0"/>
              <a:t>A function mapping any given percept sequence to an action</a:t>
            </a:r>
          </a:p>
          <a:p>
            <a:r>
              <a:rPr lang="en-US" i="1" u="sng" dirty="0"/>
              <a:t>Practically</a:t>
            </a:r>
            <a:r>
              <a:rPr lang="en-US" i="1" dirty="0"/>
              <a:t> </a:t>
            </a:r>
            <a:r>
              <a:rPr lang="en-US" dirty="0"/>
              <a:t>it is described by </a:t>
            </a:r>
            <a:r>
              <a:rPr lang="en-US" b="1" dirty="0"/>
              <a:t>agent program</a:t>
            </a:r>
          </a:p>
          <a:p>
            <a:pPr lvl="1"/>
            <a:r>
              <a:rPr lang="en-US" dirty="0"/>
              <a:t>The code that implements the agent function mapping</a:t>
            </a:r>
          </a:p>
          <a:p>
            <a:r>
              <a:rPr lang="en-US" altLang="en-US" dirty="0"/>
              <a:t>Problems:</a:t>
            </a:r>
          </a:p>
          <a:p>
            <a:pPr lvl="1"/>
            <a:r>
              <a:rPr lang="en-US" altLang="en-US" dirty="0"/>
              <a:t>what is “the right thing”</a:t>
            </a:r>
          </a:p>
          <a:p>
            <a:pPr lvl="1"/>
            <a:r>
              <a:rPr lang="en-US" altLang="en-US" dirty="0"/>
              <a:t>how do you measure the “best outcome”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721" y="1825625"/>
            <a:ext cx="3154823" cy="392033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5C5A5-F576-49B9-AA24-2200EF6C0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0CA2A-EE96-43DE-A0BC-B01796EC7D29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681C9-7658-48A1-99C9-DBCC01952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98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the Task Environment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 of Agents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F00345-D05A-4BA1-A6AE-74379301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2860-4DAB-43D3-974E-ADA8893A574D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3A305E-99E3-4675-8EF1-71840531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31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of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Before designing an AI system, we must define the task environment using PEAS.</a:t>
            </a:r>
          </a:p>
          <a:p>
            <a:endParaRPr lang="en-US" b="1" dirty="0"/>
          </a:p>
          <a:p>
            <a:r>
              <a:rPr lang="en-US" b="1" dirty="0"/>
              <a:t>PEAS: </a:t>
            </a:r>
          </a:p>
          <a:p>
            <a:pPr lvl="1"/>
            <a:r>
              <a:rPr lang="en-US" b="1" dirty="0"/>
              <a:t>Performance measure</a:t>
            </a:r>
          </a:p>
          <a:p>
            <a:pPr lvl="2"/>
            <a:r>
              <a:rPr lang="en-US" dirty="0"/>
              <a:t>Defines how success of the agent is evaluated.</a:t>
            </a:r>
            <a:endParaRPr lang="en-US" b="1" dirty="0"/>
          </a:p>
          <a:p>
            <a:pPr lvl="1"/>
            <a:r>
              <a:rPr lang="en-US" b="1" dirty="0"/>
              <a:t>Environment</a:t>
            </a:r>
          </a:p>
          <a:p>
            <a:pPr lvl="2"/>
            <a:r>
              <a:rPr lang="en-US" dirty="0"/>
              <a:t>The external world in which the agent operates.</a:t>
            </a:r>
            <a:endParaRPr lang="en-US" b="1" dirty="0"/>
          </a:p>
          <a:p>
            <a:pPr lvl="1"/>
            <a:r>
              <a:rPr lang="en-US" b="1" dirty="0"/>
              <a:t>Actuators</a:t>
            </a:r>
          </a:p>
          <a:p>
            <a:pPr lvl="2"/>
            <a:r>
              <a:rPr lang="en-US" dirty="0"/>
              <a:t>The mechanisms through which the agent takes actions.</a:t>
            </a:r>
            <a:endParaRPr lang="en-US" b="1" dirty="0"/>
          </a:p>
          <a:p>
            <a:pPr lvl="1"/>
            <a:r>
              <a:rPr lang="en-US" b="1" dirty="0"/>
              <a:t>Sensors</a:t>
            </a:r>
          </a:p>
          <a:p>
            <a:pPr lvl="2"/>
            <a:r>
              <a:rPr lang="en-US" dirty="0"/>
              <a:t>The devices or inputs through which the agent perceives the environment.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EF41-0A5E-4FF8-915D-50911A53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899B7-B0D5-4076-A79A-102EDEF31E67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7993A-ABFF-400F-BAB8-F95B5C04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38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PEAS: Automated Taxi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measure</a:t>
            </a:r>
          </a:p>
          <a:p>
            <a:pPr lvl="1"/>
            <a:r>
              <a:rPr lang="en-US" dirty="0"/>
              <a:t>Correct Destination, Fuel, time, cost, violations, safety, comfort, profit</a:t>
            </a:r>
          </a:p>
          <a:p>
            <a:r>
              <a:rPr lang="en-US" dirty="0"/>
              <a:t>Environment</a:t>
            </a:r>
          </a:p>
          <a:p>
            <a:pPr lvl="1"/>
            <a:r>
              <a:rPr lang="en-US" dirty="0"/>
              <a:t>Roads, traffic</a:t>
            </a:r>
          </a:p>
          <a:p>
            <a:r>
              <a:rPr lang="en-US" dirty="0"/>
              <a:t>Actuators</a:t>
            </a:r>
          </a:p>
          <a:p>
            <a:pPr lvl="1"/>
            <a:r>
              <a:rPr lang="en-US" dirty="0"/>
              <a:t>Steering, brake</a:t>
            </a:r>
          </a:p>
          <a:p>
            <a:r>
              <a:rPr lang="en-US" dirty="0"/>
              <a:t>Sensors</a:t>
            </a:r>
          </a:p>
          <a:p>
            <a:pPr lvl="1"/>
            <a:r>
              <a:rPr lang="en-US" dirty="0"/>
              <a:t>Camera, radar, engine sensors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52184" y="1825625"/>
            <a:ext cx="3137790" cy="43513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CF8EF4-7CDE-4C17-B73C-DB9C4E34C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C73FD-71B6-4E5D-96E8-EBE62C608797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795E4-D8BC-48C5-B2A3-A9834ED4B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D63FB-0985-45BC-B9CE-20CF76F23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PEAS: Food Delivery Robot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20E0F-E59C-44DF-BF25-698DB4FC6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313709" cy="4351338"/>
          </a:xfrm>
        </p:spPr>
        <p:txBody>
          <a:bodyPr>
            <a:normAutofit/>
          </a:bodyPr>
          <a:lstStyle/>
          <a:p>
            <a:r>
              <a:rPr lang="en-US" dirty="0"/>
              <a:t>What would be the PEAS for a Food Delivery Robot?</a:t>
            </a:r>
          </a:p>
          <a:p>
            <a:r>
              <a:rPr lang="en-US" b="1" dirty="0"/>
              <a:t>Performance Measure: </a:t>
            </a:r>
            <a:r>
              <a:rPr lang="en-US" dirty="0"/>
              <a:t>Deliver correct food to the correct customer quickly, safely, and with minimal cost.</a:t>
            </a:r>
          </a:p>
          <a:p>
            <a:r>
              <a:rPr lang="en-US" b="1" dirty="0"/>
              <a:t>Environment: </a:t>
            </a:r>
            <a:r>
              <a:rPr lang="en-US" dirty="0"/>
              <a:t>Streets, sidewalks, traffic, pedestrians, weather conditions, restaurants, and customers.</a:t>
            </a:r>
          </a:p>
          <a:p>
            <a:r>
              <a:rPr lang="en-US" b="1" dirty="0"/>
              <a:t>Actuators: </a:t>
            </a:r>
            <a:r>
              <a:rPr lang="en-US" dirty="0"/>
              <a:t>Wheels/motors, robotic arm (if any), display/speaker for communication.</a:t>
            </a:r>
          </a:p>
          <a:p>
            <a:r>
              <a:rPr lang="en-US" b="1" dirty="0"/>
              <a:t>Sensors: </a:t>
            </a:r>
            <a:r>
              <a:rPr lang="en-US" dirty="0"/>
              <a:t>Camera, GPS, proximity sensors, obstacle detectors, microphone (optional).</a:t>
            </a:r>
          </a:p>
          <a:p>
            <a:pPr lvl="1"/>
            <a:endParaRPr lang="en-P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F86BE-DBF8-4487-AF2B-05F16C05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5C3C3-CC9E-4E75-871B-99187DA02A5D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D987A-6F56-4B65-8401-F5FECAED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3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PEAS: Medical diagnosis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622774" cy="4351338"/>
          </a:xfrm>
        </p:spPr>
        <p:txBody>
          <a:bodyPr>
            <a:normAutofit/>
          </a:bodyPr>
          <a:lstStyle/>
          <a:p>
            <a:r>
              <a:rPr lang="en-US" dirty="0"/>
              <a:t>Performance measure: </a:t>
            </a:r>
          </a:p>
          <a:p>
            <a:pPr lvl="1"/>
            <a:r>
              <a:rPr lang="en-US" dirty="0"/>
              <a:t>Healthy patient, minimize costs, lawsuits</a:t>
            </a:r>
          </a:p>
          <a:p>
            <a:r>
              <a:rPr lang="en-US" dirty="0"/>
              <a:t>Environment: </a:t>
            </a:r>
          </a:p>
          <a:p>
            <a:pPr lvl="1"/>
            <a:r>
              <a:rPr lang="en-US" dirty="0"/>
              <a:t>Patient, hospital, staff</a:t>
            </a:r>
          </a:p>
          <a:p>
            <a:r>
              <a:rPr lang="en-US" dirty="0"/>
              <a:t>Actuators: </a:t>
            </a:r>
          </a:p>
          <a:p>
            <a:pPr lvl="1"/>
            <a:r>
              <a:rPr lang="en-US" dirty="0"/>
              <a:t>Screen display (questions, tests, diagnoses, treatments, referrals)</a:t>
            </a:r>
          </a:p>
          <a:p>
            <a:r>
              <a:rPr lang="en-US" dirty="0"/>
              <a:t>Sensors: </a:t>
            </a:r>
          </a:p>
          <a:p>
            <a:pPr lvl="1"/>
            <a:r>
              <a:rPr lang="en-US" dirty="0"/>
              <a:t>Keyboard (entry of symptoms, findings, patient's answers)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771" y="1320006"/>
            <a:ext cx="4514850" cy="536257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59450-F3FA-4339-9A8B-3DD9692F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6193-BFA4-4200-8FE3-355A66B22E1D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4C356-1D44-4EDE-BD69-122F7CA9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52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PEAS: Part-picking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measure: </a:t>
            </a:r>
          </a:p>
          <a:p>
            <a:pPr lvl="1"/>
            <a:r>
              <a:rPr lang="en-US" dirty="0"/>
              <a:t>Percentage of parts in correct bins</a:t>
            </a:r>
          </a:p>
          <a:p>
            <a:r>
              <a:rPr lang="en-US" dirty="0"/>
              <a:t>Environment: </a:t>
            </a:r>
          </a:p>
          <a:p>
            <a:pPr lvl="1"/>
            <a:r>
              <a:rPr lang="en-US" dirty="0"/>
              <a:t>Conveyor belt with parts, bins</a:t>
            </a:r>
          </a:p>
          <a:p>
            <a:r>
              <a:rPr lang="en-US" dirty="0"/>
              <a:t>Actuators: </a:t>
            </a:r>
          </a:p>
          <a:p>
            <a:pPr lvl="1"/>
            <a:r>
              <a:rPr lang="en-US" dirty="0"/>
              <a:t>Jointed arm and hand</a:t>
            </a:r>
          </a:p>
          <a:p>
            <a:r>
              <a:rPr lang="en-US" dirty="0"/>
              <a:t>Sensors: </a:t>
            </a:r>
          </a:p>
          <a:p>
            <a:pPr lvl="1"/>
            <a:r>
              <a:rPr lang="en-US" dirty="0"/>
              <a:t>Camera, joint angle sensors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1" y="4572000"/>
            <a:ext cx="1427163" cy="172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863" y="1704976"/>
            <a:ext cx="3481180" cy="232078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6FF06-9336-4A49-858F-E88D5C8E9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20C2-BB01-41E2-90A9-355358E6A899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8DE79-4EAB-41EC-A4D2-73EBDE1B5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79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PEAS: Interactive English tutor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measure: </a:t>
            </a:r>
          </a:p>
          <a:p>
            <a:pPr lvl="1"/>
            <a:r>
              <a:rPr lang="en-US" dirty="0"/>
              <a:t>Maximize student's score on test</a:t>
            </a:r>
          </a:p>
          <a:p>
            <a:r>
              <a:rPr lang="en-US" dirty="0"/>
              <a:t>Environment: </a:t>
            </a:r>
          </a:p>
          <a:p>
            <a:pPr lvl="1"/>
            <a:r>
              <a:rPr lang="en-US" dirty="0"/>
              <a:t>Set of students</a:t>
            </a:r>
          </a:p>
          <a:p>
            <a:r>
              <a:rPr lang="en-US" dirty="0"/>
              <a:t>Actuators: </a:t>
            </a:r>
          </a:p>
          <a:p>
            <a:pPr lvl="1"/>
            <a:r>
              <a:rPr lang="en-US" dirty="0"/>
              <a:t>Screen display (exercises, suggestions, corrections)</a:t>
            </a:r>
          </a:p>
          <a:p>
            <a:r>
              <a:rPr lang="en-US" dirty="0"/>
              <a:t>Sensors: </a:t>
            </a:r>
          </a:p>
          <a:p>
            <a:pPr lvl="1"/>
            <a:r>
              <a:rPr lang="en-US" dirty="0"/>
              <a:t>Keyboard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1C3345-3E97-4D1A-96CA-76D802B20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3B85-E3D9-48A4-9C89-FBDC4BD1B0C5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D240BD-4083-46B7-89C4-92B90C7D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09D12-22F9-1EBA-7F7D-68B23C1BD6AA}"/>
              </a:ext>
            </a:extLst>
          </p:cNvPr>
          <p:cNvSpPr txBox="1"/>
          <p:nvPr/>
        </p:nvSpPr>
        <p:spPr>
          <a:xfrm flipH="1">
            <a:off x="8972903" y="518474"/>
            <a:ext cx="1377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Activity</a:t>
            </a:r>
            <a:endParaRPr lang="en-PK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20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Types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A3F2F-1F36-43EB-B300-14194B82B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D8977-8E93-40A5-9E52-89A0F0AAEF79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AFC4C7-1A6C-44C6-8DA1-F4A368F6B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81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Properties of environments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b="1" dirty="0"/>
              <a:t>Fully observable (Accessible) </a:t>
            </a:r>
            <a:r>
              <a:rPr lang="en-US" dirty="0"/>
              <a:t>vs.</a:t>
            </a:r>
            <a:r>
              <a:rPr lang="en-US" b="1" dirty="0"/>
              <a:t> partially observable (Inaccessible)  </a:t>
            </a:r>
            <a:endParaRPr 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00000"/>
              </a:lnSpc>
            </a:pPr>
            <a:r>
              <a:rPr lang="en-US" b="1" dirty="0"/>
              <a:t>Fully Observable (Accessible):</a:t>
            </a:r>
            <a:r>
              <a:rPr lang="en-US" dirty="0"/>
              <a:t> 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The agent can perceive the complete state of the environment at each time step.</a:t>
            </a:r>
          </a:p>
          <a:p>
            <a:pPr lvl="1" eaLnBrk="1" hangingPunct="1">
              <a:lnSpc>
                <a:spcPct val="100000"/>
              </a:lnSpc>
            </a:pPr>
            <a:r>
              <a:rPr lang="en-US" b="1" dirty="0"/>
              <a:t>Partially Observable (Inaccessible):</a:t>
            </a:r>
            <a:r>
              <a:rPr lang="en-US" dirty="0"/>
              <a:t> 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The agent cannot perceive the complete state of the environment.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Example: </a:t>
            </a:r>
          </a:p>
          <a:p>
            <a:pPr lvl="2">
              <a:lnSpc>
                <a:spcPct val="100000"/>
              </a:lnSpc>
            </a:pPr>
            <a:r>
              <a:rPr lang="en-US" b="1" dirty="0"/>
              <a:t>Chess</a:t>
            </a:r>
            <a:r>
              <a:rPr lang="en-US" dirty="0"/>
              <a:t> → Fully observable (you see entire board)</a:t>
            </a:r>
          </a:p>
          <a:p>
            <a:pPr lvl="2">
              <a:lnSpc>
                <a:spcPct val="100000"/>
              </a:lnSpc>
            </a:pPr>
            <a:r>
              <a:rPr lang="en-US" b="1" dirty="0"/>
              <a:t>Poker</a:t>
            </a:r>
            <a:r>
              <a:rPr lang="en-US" dirty="0"/>
              <a:t> → Partially observable (you don’t see opponent’s cards)</a:t>
            </a:r>
          </a:p>
          <a:p>
            <a:pPr lvl="1">
              <a:lnSpc>
                <a:spcPct val="100000"/>
              </a:lnSpc>
            </a:pPr>
            <a:r>
              <a:rPr lang="en-US" b="1" i="1" dirty="0"/>
              <a:t>Is the current state of the world fully known at each step?</a:t>
            </a:r>
          </a:p>
          <a:p>
            <a:pPr lvl="1" eaLnBrk="1" hangingPunct="1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DD1717-E81F-401A-8FEA-9DB92D6C7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2D72-DEB2-489D-8233-FE23E4F6CBB9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0381C6-9F81-4AC0-9849-7CA47DAAC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42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Properties of environments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Deterministic </a:t>
            </a:r>
            <a:r>
              <a:rPr lang="en-US" dirty="0"/>
              <a:t>vs. </a:t>
            </a:r>
            <a:r>
              <a:rPr lang="en-US" b="1" dirty="0"/>
              <a:t>nondeterministic (Stochastic).</a:t>
            </a:r>
          </a:p>
          <a:p>
            <a:pPr lvl="1"/>
            <a:r>
              <a:rPr lang="en-US" dirty="0"/>
              <a:t>Deterministic → next state can be determined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Stochastic → Randomness involved</a:t>
            </a:r>
            <a:endParaRPr lang="en-US" dirty="0">
              <a:solidFill>
                <a:srgbClr val="FF0000"/>
              </a:solidFill>
            </a:endParaRPr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If the next state of the environment is completely determined by the current state and the actions selected by the agents, then we say the environment is deterministic.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If the environment is inaccessible, then it may </a:t>
            </a:r>
            <a:r>
              <a:rPr lang="en-US" i="1" dirty="0"/>
              <a:t>appear</a:t>
            </a:r>
            <a:r>
              <a:rPr lang="en-US" dirty="0"/>
              <a:t> to be nondeterministic (bunch of uncertainties).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Example:</a:t>
            </a:r>
          </a:p>
          <a:p>
            <a:pPr marL="457200" lvl="1" indent="0">
              <a:buNone/>
            </a:pPr>
            <a:r>
              <a:rPr lang="en-US" dirty="0"/>
              <a:t>	Chess → deterministic</a:t>
            </a:r>
          </a:p>
          <a:p>
            <a:pPr marL="457200" lvl="1" indent="0">
              <a:buNone/>
            </a:pPr>
            <a:r>
              <a:rPr lang="en-US" dirty="0"/>
              <a:t>	Taxi driving → stochastic</a:t>
            </a:r>
            <a:br>
              <a:rPr lang="en-US" dirty="0"/>
            </a:br>
            <a:endParaRPr lang="en-US" b="1" i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DDA4BA-6980-4A5A-A3B6-A855B7D70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D643-E644-4E07-9012-9FC1742BBEBC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DD6962-FAF4-4E7D-A530-7307C581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68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8289"/>
            <a:ext cx="10515600" cy="4678101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Episodic </a:t>
            </a:r>
            <a:r>
              <a:rPr lang="en-US" dirty="0"/>
              <a:t>vs.</a:t>
            </a:r>
            <a:r>
              <a:rPr lang="en-US" b="1" dirty="0"/>
              <a:t> Sequential</a:t>
            </a:r>
            <a:r>
              <a:rPr lang="en-US" dirty="0"/>
              <a:t>: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Episodic: </a:t>
            </a:r>
            <a:r>
              <a:rPr lang="en-US" dirty="0"/>
              <a:t>If each decision is independent and does not influence future decisions, the environment is episodic.   </a:t>
            </a:r>
          </a:p>
          <a:p>
            <a:pPr lvl="1"/>
            <a:r>
              <a:rPr lang="en-US" dirty="0"/>
              <a:t>The choice of action in each episode depends only on the episode itself.</a:t>
            </a:r>
          </a:p>
          <a:p>
            <a:pPr lvl="1"/>
            <a:r>
              <a:rPr lang="en-US" dirty="0"/>
              <a:t>Sequential: Current action affects future (Chess)</a:t>
            </a:r>
          </a:p>
          <a:p>
            <a:pPr lvl="1"/>
            <a:endParaRPr lang="en-US" dirty="0"/>
          </a:p>
          <a:p>
            <a:r>
              <a:rPr lang="en-US" b="1" dirty="0"/>
              <a:t>Example (Episodic): Email Spam Filter</a:t>
            </a:r>
          </a:p>
          <a:p>
            <a:pPr lvl="1"/>
            <a:r>
              <a:rPr lang="en-US" dirty="0"/>
              <a:t>Each email is handled </a:t>
            </a:r>
            <a:r>
              <a:rPr lang="en-US" b="1" dirty="0"/>
              <a:t>independently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agent reads one email (percept).</a:t>
            </a:r>
          </a:p>
          <a:p>
            <a:pPr lvl="1"/>
            <a:r>
              <a:rPr lang="en-US" dirty="0"/>
              <a:t>Classifies it as spam or not spam (action).	</a:t>
            </a:r>
          </a:p>
          <a:p>
            <a:pPr lvl="1"/>
            <a:r>
              <a:rPr lang="en-US" dirty="0"/>
              <a:t>Moves to the next email.</a:t>
            </a:r>
          </a:p>
          <a:p>
            <a:pPr lvl="1"/>
            <a:r>
              <a:rPr lang="en-US" dirty="0"/>
              <a:t>The decision for one email </a:t>
            </a:r>
            <a:r>
              <a:rPr lang="en-US" b="1" dirty="0"/>
              <a:t>does not affect</a:t>
            </a:r>
            <a:r>
              <a:rPr lang="en-US" dirty="0"/>
              <a:t> the next one</a:t>
            </a:r>
          </a:p>
          <a:p>
            <a:r>
              <a:rPr lang="en-US" b="1" dirty="0"/>
              <a:t>Example (Sequential): Self-Driving Car</a:t>
            </a:r>
          </a:p>
          <a:p>
            <a:pPr lvl="1"/>
            <a:r>
              <a:rPr lang="en-US" dirty="0"/>
              <a:t>If the car takes wrong turn now:</a:t>
            </a:r>
            <a:br>
              <a:rPr lang="en-US" dirty="0"/>
            </a:br>
            <a:r>
              <a:rPr lang="en-US" dirty="0"/>
              <a:t>	→ It affects arrival time</a:t>
            </a:r>
            <a:br>
              <a:rPr lang="en-US" dirty="0"/>
            </a:br>
            <a:r>
              <a:rPr lang="en-US" dirty="0"/>
              <a:t>	→ It affects fuel usage</a:t>
            </a:r>
            <a:br>
              <a:rPr lang="en-US" dirty="0"/>
            </a:br>
            <a:r>
              <a:rPr lang="en-US" dirty="0"/>
              <a:t>	→ It affects future route options</a:t>
            </a:r>
          </a:p>
          <a:p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90800-4222-49CA-A325-2CC080CAC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4E50-C493-4282-9BFF-E69F4864B11E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373C4-8B72-4ADA-A7AC-8A15E987C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86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3711"/>
          </a:xfrm>
        </p:spPr>
        <p:txBody>
          <a:bodyPr>
            <a:normAutofit/>
          </a:bodyPr>
          <a:lstStyle/>
          <a:p>
            <a:r>
              <a:rPr lang="en-US" b="1" dirty="0"/>
              <a:t>Static </a:t>
            </a:r>
            <a:r>
              <a:rPr lang="en-US" dirty="0"/>
              <a:t>vs.</a:t>
            </a:r>
            <a:r>
              <a:rPr lang="en-US" b="1" dirty="0"/>
              <a:t> Dynamic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If the environment can change while an agent is performing action, then</a:t>
            </a:r>
            <a:r>
              <a:rPr lang="en-US" sz="800" dirty="0"/>
              <a:t> </a:t>
            </a:r>
            <a:r>
              <a:rPr lang="en-US" dirty="0"/>
              <a:t>we say the environment is dynamic for that agent; otherwise, it is static.</a:t>
            </a:r>
          </a:p>
          <a:p>
            <a:pPr lvl="1"/>
            <a:r>
              <a:rPr lang="en-US" dirty="0"/>
              <a:t>Dynamic environments are continuously asking the agent what it wants to do </a:t>
            </a:r>
          </a:p>
          <a:p>
            <a:pPr lvl="1"/>
            <a:r>
              <a:rPr lang="en-US" dirty="0"/>
              <a:t>Static environments are easy to deal with, because the agent does not keep on looking at the environment while it is deciding on an action.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Taxi → Dynamic</a:t>
            </a:r>
          </a:p>
          <a:p>
            <a:pPr lvl="2"/>
            <a:r>
              <a:rPr lang="en-US" dirty="0"/>
              <a:t>Crossword → Static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AB554-0045-4900-B237-0A538E501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06925-A419-4059-A92E-C06FC635F34C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577CD-453B-43AD-AC04-B3CFEE22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18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Discrete</a:t>
            </a:r>
            <a:r>
              <a:rPr lang="en-US" dirty="0"/>
              <a:t> vs.</a:t>
            </a:r>
            <a:r>
              <a:rPr lang="en-US" b="1" dirty="0"/>
              <a:t> continuous</a:t>
            </a:r>
            <a:r>
              <a:rPr lang="en-US" dirty="0"/>
              <a:t>: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Is there a finite (or countable) number of possible environment states?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The environment  is discrete if the number of actions and possible states of the environment is finite otherwise it is continuous.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If there are a limited number of distinct, clearly defined percepts and actions, we say that the environment is discrete.</a:t>
            </a:r>
          </a:p>
          <a:p>
            <a:pPr lvl="2"/>
            <a:r>
              <a:rPr lang="en-US" dirty="0"/>
              <a:t>Chess, since there are a fixed number of possible moves on each turn.</a:t>
            </a:r>
          </a:p>
          <a:p>
            <a:pPr lvl="2"/>
            <a:r>
              <a:rPr lang="en-US" dirty="0"/>
              <a:t>Taxi driving is continuous.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7B3F2-4D78-4F29-9746-5410E285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1FF2-A4B1-453D-B95F-4CFD30B57D17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D192D-D9AA-45AC-83C2-9FB50079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2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 Agent </a:t>
            </a:r>
            <a:r>
              <a:rPr lang="en-US" dirty="0"/>
              <a:t>vs. </a:t>
            </a:r>
            <a:r>
              <a:rPr lang="en-US" b="1" dirty="0"/>
              <a:t>Multi Agent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Is the agent the only thing acting in the world? </a:t>
            </a:r>
          </a:p>
          <a:p>
            <a:pPr lvl="1"/>
            <a:r>
              <a:rPr lang="en-US" dirty="0"/>
              <a:t>In the single agent environment, there is only one agent</a:t>
            </a:r>
          </a:p>
          <a:p>
            <a:pPr lvl="2"/>
            <a:r>
              <a:rPr lang="en-US" dirty="0"/>
              <a:t>A computer software playing crossword puzzle</a:t>
            </a:r>
          </a:p>
          <a:p>
            <a:pPr lvl="1"/>
            <a:r>
              <a:rPr lang="en-US" dirty="0"/>
              <a:t>In multi-agent systems, there are more than one active agents</a:t>
            </a:r>
          </a:p>
          <a:p>
            <a:pPr lvl="2"/>
            <a:r>
              <a:rPr lang="en-US" dirty="0"/>
              <a:t>Video games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06894-D5E6-46A6-827F-ECC84418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C58E8-00A9-4E03-802C-311AC6E5C867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4CCBA-28EB-42F4-A882-3EB2E2FF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848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Environment Types Example</a:t>
            </a:r>
          </a:p>
        </p:txBody>
      </p:sp>
      <p:sp>
        <p:nvSpPr>
          <p:cNvPr id="151647" name="Rectangle 95"/>
          <p:cNvSpPr>
            <a:spLocks noChangeArrowheads="1"/>
          </p:cNvSpPr>
          <p:nvPr/>
        </p:nvSpPr>
        <p:spPr bwMode="auto">
          <a:xfrm>
            <a:off x="9120809" y="5871059"/>
            <a:ext cx="1066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Multi</a:t>
            </a:r>
          </a:p>
        </p:txBody>
      </p:sp>
      <p:sp>
        <p:nvSpPr>
          <p:cNvPr id="151645" name="Rectangle 93"/>
          <p:cNvSpPr>
            <a:spLocks noChangeArrowheads="1"/>
          </p:cNvSpPr>
          <p:nvPr/>
        </p:nvSpPr>
        <p:spPr bwMode="auto">
          <a:xfrm>
            <a:off x="7520609" y="5871059"/>
            <a:ext cx="1600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Single</a:t>
            </a:r>
          </a:p>
        </p:txBody>
      </p:sp>
      <p:sp>
        <p:nvSpPr>
          <p:cNvPr id="151643" name="Rectangle 91"/>
          <p:cNvSpPr>
            <a:spLocks noChangeArrowheads="1"/>
          </p:cNvSpPr>
          <p:nvPr/>
        </p:nvSpPr>
        <p:spPr bwMode="auto">
          <a:xfrm>
            <a:off x="6530009" y="5871059"/>
            <a:ext cx="990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Multi</a:t>
            </a:r>
          </a:p>
        </p:txBody>
      </p:sp>
      <p:sp>
        <p:nvSpPr>
          <p:cNvPr id="151641" name="Rectangle 89"/>
          <p:cNvSpPr>
            <a:spLocks noChangeArrowheads="1"/>
          </p:cNvSpPr>
          <p:nvPr/>
        </p:nvSpPr>
        <p:spPr bwMode="auto">
          <a:xfrm>
            <a:off x="5082209" y="5871059"/>
            <a:ext cx="1447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Multi</a:t>
            </a:r>
          </a:p>
        </p:txBody>
      </p:sp>
      <p:sp>
        <p:nvSpPr>
          <p:cNvPr id="151639" name="Rectangle 87"/>
          <p:cNvSpPr>
            <a:spLocks noChangeArrowheads="1"/>
          </p:cNvSpPr>
          <p:nvPr/>
        </p:nvSpPr>
        <p:spPr bwMode="auto">
          <a:xfrm>
            <a:off x="3634409" y="5871059"/>
            <a:ext cx="1447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Single</a:t>
            </a:r>
          </a:p>
        </p:txBody>
      </p:sp>
      <p:sp>
        <p:nvSpPr>
          <p:cNvPr id="151634" name="Rectangle 82"/>
          <p:cNvSpPr>
            <a:spLocks noChangeArrowheads="1"/>
          </p:cNvSpPr>
          <p:nvPr/>
        </p:nvSpPr>
        <p:spPr bwMode="auto">
          <a:xfrm>
            <a:off x="9120809" y="5413859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632" name="Rectangle 80"/>
          <p:cNvSpPr>
            <a:spLocks noChangeArrowheads="1"/>
          </p:cNvSpPr>
          <p:nvPr/>
        </p:nvSpPr>
        <p:spPr bwMode="auto">
          <a:xfrm>
            <a:off x="7520609" y="5413859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30" name="Rectangle 78"/>
          <p:cNvSpPr>
            <a:spLocks noChangeArrowheads="1"/>
          </p:cNvSpPr>
          <p:nvPr/>
        </p:nvSpPr>
        <p:spPr bwMode="auto">
          <a:xfrm>
            <a:off x="6530009" y="5413859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28" name="Rectangle 76"/>
          <p:cNvSpPr>
            <a:spLocks noChangeArrowheads="1"/>
          </p:cNvSpPr>
          <p:nvPr/>
        </p:nvSpPr>
        <p:spPr bwMode="auto">
          <a:xfrm>
            <a:off x="5082209" y="5413859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626" name="Rectangle 74"/>
          <p:cNvSpPr>
            <a:spLocks noChangeArrowheads="1"/>
          </p:cNvSpPr>
          <p:nvPr/>
        </p:nvSpPr>
        <p:spPr bwMode="auto">
          <a:xfrm>
            <a:off x="3634409" y="5413859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621" name="Rectangle 69"/>
          <p:cNvSpPr>
            <a:spLocks noChangeArrowheads="1"/>
          </p:cNvSpPr>
          <p:nvPr/>
        </p:nvSpPr>
        <p:spPr bwMode="auto">
          <a:xfrm>
            <a:off x="9120809" y="4956659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19" name="Rectangle 67"/>
          <p:cNvSpPr>
            <a:spLocks noChangeArrowheads="1"/>
          </p:cNvSpPr>
          <p:nvPr/>
        </p:nvSpPr>
        <p:spPr bwMode="auto">
          <a:xfrm>
            <a:off x="7520609" y="4956659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17" name="Rectangle 65"/>
          <p:cNvSpPr>
            <a:spLocks noChangeArrowheads="1"/>
          </p:cNvSpPr>
          <p:nvPr/>
        </p:nvSpPr>
        <p:spPr bwMode="auto">
          <a:xfrm>
            <a:off x="6530009" y="4956659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15" name="Rectangle 63"/>
          <p:cNvSpPr>
            <a:spLocks noChangeArrowheads="1"/>
          </p:cNvSpPr>
          <p:nvPr/>
        </p:nvSpPr>
        <p:spPr bwMode="auto">
          <a:xfrm>
            <a:off x="5082209" y="4956659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613" name="Rectangle 61"/>
          <p:cNvSpPr>
            <a:spLocks noChangeArrowheads="1"/>
          </p:cNvSpPr>
          <p:nvPr/>
        </p:nvSpPr>
        <p:spPr bwMode="auto">
          <a:xfrm>
            <a:off x="3634409" y="4956659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608" name="Rectangle 56"/>
          <p:cNvSpPr>
            <a:spLocks noChangeArrowheads="1"/>
          </p:cNvSpPr>
          <p:nvPr/>
        </p:nvSpPr>
        <p:spPr bwMode="auto">
          <a:xfrm>
            <a:off x="9120809" y="4499459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06" name="Rectangle 54"/>
          <p:cNvSpPr>
            <a:spLocks noChangeArrowheads="1"/>
          </p:cNvSpPr>
          <p:nvPr/>
        </p:nvSpPr>
        <p:spPr bwMode="auto">
          <a:xfrm>
            <a:off x="7520609" y="4499459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604" name="Rectangle 52"/>
          <p:cNvSpPr>
            <a:spLocks noChangeArrowheads="1"/>
          </p:cNvSpPr>
          <p:nvPr/>
        </p:nvSpPr>
        <p:spPr bwMode="auto">
          <a:xfrm>
            <a:off x="6530009" y="4499459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02" name="Rectangle 50"/>
          <p:cNvSpPr>
            <a:spLocks noChangeArrowheads="1"/>
          </p:cNvSpPr>
          <p:nvPr/>
        </p:nvSpPr>
        <p:spPr bwMode="auto">
          <a:xfrm>
            <a:off x="5082209" y="4499459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600" name="Rectangle 48"/>
          <p:cNvSpPr>
            <a:spLocks noChangeArrowheads="1"/>
          </p:cNvSpPr>
          <p:nvPr/>
        </p:nvSpPr>
        <p:spPr bwMode="auto">
          <a:xfrm>
            <a:off x="3634409" y="4499459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92" name="Rectangle 40"/>
          <p:cNvSpPr>
            <a:spLocks noChangeArrowheads="1"/>
          </p:cNvSpPr>
          <p:nvPr/>
        </p:nvSpPr>
        <p:spPr bwMode="auto">
          <a:xfrm>
            <a:off x="9120809" y="4045435"/>
            <a:ext cx="1066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90" name="Rectangle 38"/>
          <p:cNvSpPr>
            <a:spLocks noChangeArrowheads="1"/>
          </p:cNvSpPr>
          <p:nvPr/>
        </p:nvSpPr>
        <p:spPr bwMode="auto">
          <a:xfrm>
            <a:off x="7520609" y="4045435"/>
            <a:ext cx="16002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88" name="Rectangle 36"/>
          <p:cNvSpPr>
            <a:spLocks noChangeArrowheads="1"/>
          </p:cNvSpPr>
          <p:nvPr/>
        </p:nvSpPr>
        <p:spPr bwMode="auto">
          <a:xfrm>
            <a:off x="6530009" y="4045435"/>
            <a:ext cx="9906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86" name="Rectangle 34"/>
          <p:cNvSpPr>
            <a:spLocks noChangeArrowheads="1"/>
          </p:cNvSpPr>
          <p:nvPr/>
        </p:nvSpPr>
        <p:spPr bwMode="auto">
          <a:xfrm>
            <a:off x="5082209" y="4045435"/>
            <a:ext cx="1447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584" name="Rectangle 32"/>
          <p:cNvSpPr>
            <a:spLocks noChangeArrowheads="1"/>
          </p:cNvSpPr>
          <p:nvPr/>
        </p:nvSpPr>
        <p:spPr bwMode="auto">
          <a:xfrm>
            <a:off x="3634409" y="4045435"/>
            <a:ext cx="1447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568" name="Rectangle 16"/>
          <p:cNvSpPr>
            <a:spLocks noChangeArrowheads="1"/>
          </p:cNvSpPr>
          <p:nvPr/>
        </p:nvSpPr>
        <p:spPr bwMode="auto">
          <a:xfrm>
            <a:off x="9120809" y="3585060"/>
            <a:ext cx="1066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67" name="Rectangle 15"/>
          <p:cNvSpPr>
            <a:spLocks noChangeArrowheads="1"/>
          </p:cNvSpPr>
          <p:nvPr/>
        </p:nvSpPr>
        <p:spPr bwMode="auto">
          <a:xfrm>
            <a:off x="7520609" y="3585060"/>
            <a:ext cx="16002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66" name="Rectangle 14"/>
          <p:cNvSpPr>
            <a:spLocks noChangeArrowheads="1"/>
          </p:cNvSpPr>
          <p:nvPr/>
        </p:nvSpPr>
        <p:spPr bwMode="auto">
          <a:xfrm>
            <a:off x="6530009" y="3585060"/>
            <a:ext cx="990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No</a:t>
            </a:r>
          </a:p>
        </p:txBody>
      </p:sp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5082209" y="3585060"/>
            <a:ext cx="1447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sp>
        <p:nvSpPr>
          <p:cNvPr id="151564" name="Rectangle 12"/>
          <p:cNvSpPr>
            <a:spLocks noChangeArrowheads="1"/>
          </p:cNvSpPr>
          <p:nvPr/>
        </p:nvSpPr>
        <p:spPr bwMode="auto">
          <a:xfrm>
            <a:off x="3634409" y="3585060"/>
            <a:ext cx="1447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</a:rPr>
              <a:t>Yes</a:t>
            </a:r>
          </a:p>
        </p:txBody>
      </p:sp>
      <p:grpSp>
        <p:nvGrpSpPr>
          <p:cNvPr id="22561" name="Group 247"/>
          <p:cNvGrpSpPr>
            <a:grpSpLocks/>
          </p:cNvGrpSpPr>
          <p:nvPr/>
        </p:nvGrpSpPr>
        <p:grpSpPr bwMode="auto">
          <a:xfrm>
            <a:off x="1958009" y="2945297"/>
            <a:ext cx="8229600" cy="3306763"/>
            <a:chOff x="432" y="1296"/>
            <a:chExt cx="5184" cy="2083"/>
          </a:xfrm>
        </p:grpSpPr>
        <p:sp>
          <p:nvSpPr>
            <p:cNvPr id="22583" name="Rectangle 85"/>
            <p:cNvSpPr>
              <a:spLocks noChangeArrowheads="1"/>
            </p:cNvSpPr>
            <p:nvPr/>
          </p:nvSpPr>
          <p:spPr bwMode="auto">
            <a:xfrm>
              <a:off x="432" y="3139"/>
              <a:ext cx="105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Agents</a:t>
              </a:r>
            </a:p>
          </p:txBody>
        </p:sp>
        <p:sp>
          <p:nvSpPr>
            <p:cNvPr id="22584" name="Rectangle 72"/>
            <p:cNvSpPr>
              <a:spLocks noChangeArrowheads="1"/>
            </p:cNvSpPr>
            <p:nvPr/>
          </p:nvSpPr>
          <p:spPr bwMode="auto">
            <a:xfrm>
              <a:off x="432" y="2851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Discrete</a:t>
              </a:r>
            </a:p>
          </p:txBody>
        </p:sp>
        <p:sp>
          <p:nvSpPr>
            <p:cNvPr id="22585" name="Rectangle 59"/>
            <p:cNvSpPr>
              <a:spLocks noChangeArrowheads="1"/>
            </p:cNvSpPr>
            <p:nvPr/>
          </p:nvSpPr>
          <p:spPr bwMode="auto">
            <a:xfrm>
              <a:off x="432" y="2563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Static</a:t>
              </a:r>
            </a:p>
          </p:txBody>
        </p:sp>
        <p:sp>
          <p:nvSpPr>
            <p:cNvPr id="22586" name="Rectangle 46"/>
            <p:cNvSpPr>
              <a:spLocks noChangeArrowheads="1"/>
            </p:cNvSpPr>
            <p:nvPr/>
          </p:nvSpPr>
          <p:spPr bwMode="auto">
            <a:xfrm>
              <a:off x="432" y="2275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Episodic</a:t>
              </a:r>
            </a:p>
          </p:txBody>
        </p:sp>
        <p:sp>
          <p:nvSpPr>
            <p:cNvPr id="22587" name="Rectangle 30"/>
            <p:cNvSpPr>
              <a:spLocks noChangeArrowheads="1"/>
            </p:cNvSpPr>
            <p:nvPr/>
          </p:nvSpPr>
          <p:spPr bwMode="auto">
            <a:xfrm>
              <a:off x="432" y="1989"/>
              <a:ext cx="1056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 dirty="0">
                  <a:solidFill>
                    <a:srgbClr val="7030A0"/>
                  </a:solidFill>
                  <a:latin typeface="Arial" panose="020B0604020202020204" pitchFamily="34" charset="0"/>
                </a:rPr>
                <a:t>Deterministic</a:t>
              </a:r>
            </a:p>
          </p:txBody>
        </p:sp>
        <p:sp>
          <p:nvSpPr>
            <p:cNvPr id="22588" name="Rectangle 11"/>
            <p:cNvSpPr>
              <a:spLocks noChangeArrowheads="1"/>
            </p:cNvSpPr>
            <p:nvPr/>
          </p:nvSpPr>
          <p:spPr bwMode="auto">
            <a:xfrm>
              <a:off x="432" y="1699"/>
              <a:ext cx="1056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 dirty="0">
                  <a:solidFill>
                    <a:srgbClr val="7030A0"/>
                  </a:solidFill>
                  <a:latin typeface="Arial" panose="020B0604020202020204" pitchFamily="34" charset="0"/>
                </a:rPr>
                <a:t>Observable</a:t>
              </a:r>
            </a:p>
          </p:txBody>
        </p:sp>
        <p:sp>
          <p:nvSpPr>
            <p:cNvPr id="22589" name="Rectangle 10"/>
            <p:cNvSpPr>
              <a:spLocks noChangeArrowheads="1"/>
            </p:cNvSpPr>
            <p:nvPr/>
          </p:nvSpPr>
          <p:spPr bwMode="auto">
            <a:xfrm>
              <a:off x="4944" y="1296"/>
              <a:ext cx="672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English tutor</a:t>
              </a:r>
            </a:p>
          </p:txBody>
        </p:sp>
        <p:sp>
          <p:nvSpPr>
            <p:cNvPr id="22590" name="Rectangle 9"/>
            <p:cNvSpPr>
              <a:spLocks noChangeArrowheads="1"/>
            </p:cNvSpPr>
            <p:nvPr/>
          </p:nvSpPr>
          <p:spPr bwMode="auto">
            <a:xfrm>
              <a:off x="3936" y="1296"/>
              <a:ext cx="100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Part-picking robot</a:t>
              </a:r>
            </a:p>
          </p:txBody>
        </p:sp>
        <p:sp>
          <p:nvSpPr>
            <p:cNvPr id="22591" name="Rectangle 8"/>
            <p:cNvSpPr>
              <a:spLocks noChangeArrowheads="1"/>
            </p:cNvSpPr>
            <p:nvPr/>
          </p:nvSpPr>
          <p:spPr bwMode="auto">
            <a:xfrm>
              <a:off x="3312" y="1296"/>
              <a:ext cx="624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>
                  <a:solidFill>
                    <a:srgbClr val="7030A0"/>
                  </a:solidFill>
                  <a:latin typeface="Arial" panose="020B0604020202020204" pitchFamily="34" charset="0"/>
                </a:rPr>
                <a:t>Taxi driving</a:t>
              </a:r>
            </a:p>
          </p:txBody>
        </p:sp>
        <p:sp>
          <p:nvSpPr>
            <p:cNvPr id="22592" name="Rectangle 7"/>
            <p:cNvSpPr>
              <a:spLocks noChangeArrowheads="1"/>
            </p:cNvSpPr>
            <p:nvPr/>
          </p:nvSpPr>
          <p:spPr bwMode="auto">
            <a:xfrm>
              <a:off x="2400" y="1296"/>
              <a:ext cx="912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 dirty="0">
                  <a:solidFill>
                    <a:srgbClr val="7030A0"/>
                  </a:solidFill>
                  <a:latin typeface="Arial" panose="020B0604020202020204" pitchFamily="34" charset="0"/>
                </a:rPr>
                <a:t>Chess</a:t>
              </a:r>
            </a:p>
          </p:txBody>
        </p:sp>
        <p:sp>
          <p:nvSpPr>
            <p:cNvPr id="22593" name="Rectangle 6"/>
            <p:cNvSpPr>
              <a:spLocks noChangeArrowheads="1"/>
            </p:cNvSpPr>
            <p:nvPr/>
          </p:nvSpPr>
          <p:spPr bwMode="auto">
            <a:xfrm>
              <a:off x="1488" y="1296"/>
              <a:ext cx="912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r>
                <a:rPr lang="en-US" altLang="en-US" sz="1800" b="1" dirty="0">
                  <a:solidFill>
                    <a:srgbClr val="7030A0"/>
                  </a:solidFill>
                  <a:latin typeface="Arial" panose="020B0604020202020204" pitchFamily="34" charset="0"/>
                </a:rPr>
                <a:t>Crossword puzzle</a:t>
              </a:r>
            </a:p>
          </p:txBody>
        </p:sp>
        <p:sp>
          <p:nvSpPr>
            <p:cNvPr id="22594" name="Rectangle 5"/>
            <p:cNvSpPr>
              <a:spLocks noChangeArrowheads="1"/>
            </p:cNvSpPr>
            <p:nvPr/>
          </p:nvSpPr>
          <p:spPr bwMode="auto">
            <a:xfrm>
              <a:off x="432" y="1296"/>
              <a:ext cx="1056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CFEB9"/>
                  </a:solidFill>
                  <a:latin typeface="Times" panose="02020603050405020304" pitchFamily="18" charset="0"/>
                  <a:ea typeface="ヒラギノ明朝 ProN W3" charset="0"/>
                  <a:cs typeface="ヒラギノ明朝 ProN W3" charset="0"/>
                  <a:sym typeface="Times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None/>
              </a:pPr>
              <a:endParaRPr lang="en-GB" altLang="en-US" sz="1800" b="1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2562" name="Line 20"/>
          <p:cNvSpPr>
            <a:spLocks noChangeShapeType="1"/>
          </p:cNvSpPr>
          <p:nvPr/>
        </p:nvSpPr>
        <p:spPr bwMode="auto">
          <a:xfrm>
            <a:off x="1958009" y="2945297"/>
            <a:ext cx="0" cy="6397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3" name="Line 26"/>
          <p:cNvSpPr>
            <a:spLocks noChangeShapeType="1"/>
          </p:cNvSpPr>
          <p:nvPr/>
        </p:nvSpPr>
        <p:spPr bwMode="auto">
          <a:xfrm>
            <a:off x="10187609" y="2945297"/>
            <a:ext cx="0" cy="6397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4" name="Line 128"/>
          <p:cNvSpPr>
            <a:spLocks noChangeShapeType="1"/>
          </p:cNvSpPr>
          <p:nvPr/>
        </p:nvSpPr>
        <p:spPr bwMode="auto">
          <a:xfrm>
            <a:off x="3634409" y="2945296"/>
            <a:ext cx="1447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5" name="Line 129"/>
          <p:cNvSpPr>
            <a:spLocks noChangeShapeType="1"/>
          </p:cNvSpPr>
          <p:nvPr/>
        </p:nvSpPr>
        <p:spPr bwMode="auto">
          <a:xfrm>
            <a:off x="1958009" y="3585060"/>
            <a:ext cx="0" cy="46037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6" name="Line 132"/>
          <p:cNvSpPr>
            <a:spLocks noChangeShapeType="1"/>
          </p:cNvSpPr>
          <p:nvPr/>
        </p:nvSpPr>
        <p:spPr bwMode="auto">
          <a:xfrm>
            <a:off x="1958009" y="4045435"/>
            <a:ext cx="0" cy="4540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7" name="Line 136"/>
          <p:cNvSpPr>
            <a:spLocks noChangeShapeType="1"/>
          </p:cNvSpPr>
          <p:nvPr/>
        </p:nvSpPr>
        <p:spPr bwMode="auto">
          <a:xfrm>
            <a:off x="1958009" y="4499459"/>
            <a:ext cx="0" cy="4572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8" name="Line 140"/>
          <p:cNvSpPr>
            <a:spLocks noChangeShapeType="1"/>
          </p:cNvSpPr>
          <p:nvPr/>
        </p:nvSpPr>
        <p:spPr bwMode="auto">
          <a:xfrm>
            <a:off x="1958009" y="4956659"/>
            <a:ext cx="0" cy="4572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69" name="Line 144"/>
          <p:cNvSpPr>
            <a:spLocks noChangeShapeType="1"/>
          </p:cNvSpPr>
          <p:nvPr/>
        </p:nvSpPr>
        <p:spPr bwMode="auto">
          <a:xfrm>
            <a:off x="1958009" y="5413859"/>
            <a:ext cx="0" cy="4572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0" name="Line 148"/>
          <p:cNvSpPr>
            <a:spLocks noChangeShapeType="1"/>
          </p:cNvSpPr>
          <p:nvPr/>
        </p:nvSpPr>
        <p:spPr bwMode="auto">
          <a:xfrm>
            <a:off x="1958009" y="5871059"/>
            <a:ext cx="0" cy="381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1" name="Line 152"/>
          <p:cNvSpPr>
            <a:spLocks noChangeShapeType="1"/>
          </p:cNvSpPr>
          <p:nvPr/>
        </p:nvSpPr>
        <p:spPr bwMode="auto">
          <a:xfrm>
            <a:off x="3634409" y="6252059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2572" name="Line 17"/>
          <p:cNvSpPr>
            <a:spLocks noChangeShapeType="1"/>
          </p:cNvSpPr>
          <p:nvPr/>
        </p:nvSpPr>
        <p:spPr bwMode="auto">
          <a:xfrm>
            <a:off x="1958009" y="2945296"/>
            <a:ext cx="1676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3" name="Line 174"/>
          <p:cNvSpPr>
            <a:spLocks noChangeShapeType="1"/>
          </p:cNvSpPr>
          <p:nvPr/>
        </p:nvSpPr>
        <p:spPr bwMode="auto">
          <a:xfrm>
            <a:off x="5082209" y="2945296"/>
            <a:ext cx="1447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4" name="Line 19"/>
          <p:cNvSpPr>
            <a:spLocks noChangeShapeType="1"/>
          </p:cNvSpPr>
          <p:nvPr/>
        </p:nvSpPr>
        <p:spPr bwMode="auto">
          <a:xfrm>
            <a:off x="1958009" y="6252059"/>
            <a:ext cx="1676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5" name="Line 203"/>
          <p:cNvSpPr>
            <a:spLocks noChangeShapeType="1"/>
          </p:cNvSpPr>
          <p:nvPr/>
        </p:nvSpPr>
        <p:spPr bwMode="auto">
          <a:xfrm>
            <a:off x="5082209" y="6252059"/>
            <a:ext cx="5105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2576" name="Line 233"/>
          <p:cNvSpPr>
            <a:spLocks noChangeShapeType="1"/>
          </p:cNvSpPr>
          <p:nvPr/>
        </p:nvSpPr>
        <p:spPr bwMode="auto">
          <a:xfrm>
            <a:off x="6530009" y="2945296"/>
            <a:ext cx="990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7" name="Line 235"/>
          <p:cNvSpPr>
            <a:spLocks noChangeShapeType="1"/>
          </p:cNvSpPr>
          <p:nvPr/>
        </p:nvSpPr>
        <p:spPr bwMode="auto">
          <a:xfrm>
            <a:off x="7520609" y="2945296"/>
            <a:ext cx="16002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78" name="Line 237"/>
          <p:cNvSpPr>
            <a:spLocks noChangeShapeType="1"/>
          </p:cNvSpPr>
          <p:nvPr/>
        </p:nvSpPr>
        <p:spPr bwMode="auto">
          <a:xfrm>
            <a:off x="9120809" y="2945296"/>
            <a:ext cx="1066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22579" name="Group 246"/>
          <p:cNvGrpSpPr>
            <a:grpSpLocks/>
          </p:cNvGrpSpPr>
          <p:nvPr/>
        </p:nvGrpSpPr>
        <p:grpSpPr bwMode="auto">
          <a:xfrm>
            <a:off x="3634409" y="3585059"/>
            <a:ext cx="6553200" cy="2667000"/>
            <a:chOff x="1488" y="1699"/>
            <a:chExt cx="4128" cy="1680"/>
          </a:xfrm>
        </p:grpSpPr>
        <p:sp>
          <p:nvSpPr>
            <p:cNvPr id="22580" name="Line 156"/>
            <p:cNvSpPr>
              <a:spLocks noChangeShapeType="1"/>
            </p:cNvSpPr>
            <p:nvPr/>
          </p:nvSpPr>
          <p:spPr bwMode="auto">
            <a:xfrm>
              <a:off x="1488" y="1699"/>
              <a:ext cx="41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2581" name="Line 232"/>
            <p:cNvSpPr>
              <a:spLocks noChangeShapeType="1"/>
            </p:cNvSpPr>
            <p:nvPr/>
          </p:nvSpPr>
          <p:spPr bwMode="auto">
            <a:xfrm>
              <a:off x="1488" y="1699"/>
              <a:ext cx="0" cy="1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2582" name="Line 240"/>
            <p:cNvSpPr>
              <a:spLocks noChangeShapeType="1"/>
            </p:cNvSpPr>
            <p:nvPr/>
          </p:nvSpPr>
          <p:spPr bwMode="auto">
            <a:xfrm>
              <a:off x="5616" y="1699"/>
              <a:ext cx="0" cy="168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</p:grpSp>
      <p:pic>
        <p:nvPicPr>
          <p:cNvPr id="6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94851" y="1641614"/>
            <a:ext cx="1335157" cy="111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9" name="Content Placeholder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796" y="1639959"/>
            <a:ext cx="874813" cy="1114837"/>
          </a:xfrm>
          <a:prstGeom prst="rect">
            <a:avLst/>
          </a:prstGeom>
        </p:spPr>
      </p:pic>
      <p:pic>
        <p:nvPicPr>
          <p:cNvPr id="7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62019" y="1654246"/>
            <a:ext cx="917379" cy="1114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076313" y="1706081"/>
            <a:ext cx="1155792" cy="107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 descr="Image result for crossword puzzle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153" y="1601915"/>
            <a:ext cx="1130311" cy="129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AFEF0-0D4A-4FF3-9C12-FE6931643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B31B-7359-4ACF-AE4C-77BB91A970B5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9A5DCA-8011-4AD5-BDA1-EAA2959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6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51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5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5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5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5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5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5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5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5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5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5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5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5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647" grpId="0" autoUpdateAnimBg="0"/>
      <p:bldP spid="151645" grpId="0" autoUpdateAnimBg="0"/>
      <p:bldP spid="151643" grpId="0" autoUpdateAnimBg="0"/>
      <p:bldP spid="151641" grpId="0" autoUpdateAnimBg="0"/>
      <p:bldP spid="151639" grpId="0" autoUpdateAnimBg="0"/>
      <p:bldP spid="151634" grpId="0" autoUpdateAnimBg="0"/>
      <p:bldP spid="151632" grpId="0" autoUpdateAnimBg="0"/>
      <p:bldP spid="151630" grpId="0" autoUpdateAnimBg="0"/>
      <p:bldP spid="151628" grpId="0" autoUpdateAnimBg="0"/>
      <p:bldP spid="151626" grpId="0" autoUpdateAnimBg="0"/>
      <p:bldP spid="151621" grpId="0" autoUpdateAnimBg="0"/>
      <p:bldP spid="151619" grpId="0" autoUpdateAnimBg="0"/>
      <p:bldP spid="151617" grpId="0" autoUpdateAnimBg="0"/>
      <p:bldP spid="151615" grpId="0" autoUpdateAnimBg="0"/>
      <p:bldP spid="151613" grpId="0" autoUpdateAnimBg="0"/>
      <p:bldP spid="151608" grpId="0" autoUpdateAnimBg="0"/>
      <p:bldP spid="151606" grpId="0" autoUpdateAnimBg="0"/>
      <p:bldP spid="151604" grpId="0" autoUpdateAnimBg="0"/>
      <p:bldP spid="151602" grpId="0" autoUpdateAnimBg="0"/>
      <p:bldP spid="151600" grpId="0" autoUpdateAnimBg="0"/>
      <p:bldP spid="151592" grpId="0" autoUpdateAnimBg="0"/>
      <p:bldP spid="151590" grpId="0" autoUpdateAnimBg="0"/>
      <p:bldP spid="151588" grpId="0" autoUpdateAnimBg="0"/>
      <p:bldP spid="151586" grpId="0" autoUpdateAnimBg="0"/>
      <p:bldP spid="151584" grpId="0" autoUpdateAnimBg="0"/>
      <p:bldP spid="151568" grpId="0" autoUpdateAnimBg="0"/>
      <p:bldP spid="151567" grpId="0" autoUpdateAnimBg="0"/>
      <p:bldP spid="151566" grpId="0" autoUpdateAnimBg="0"/>
      <p:bldP spid="151565" grpId="0" autoUpdateAnimBg="0"/>
      <p:bldP spid="15156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299A-60EE-4992-BB00-6C11887E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02D79-F0DC-46A5-BA02-B52C992874C5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0FA40-6CD6-4456-8E6D-486D6CC9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25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The environment type largely determines the agent design</a:t>
            </a:r>
          </a:p>
          <a:p>
            <a:pPr lvl="1">
              <a:lnSpc>
                <a:spcPct val="150000"/>
              </a:lnSpc>
            </a:pPr>
            <a:r>
              <a:rPr lang="en-US" b="1" i="1" dirty="0">
                <a:solidFill>
                  <a:srgbClr val="0000FF"/>
                </a:solidFill>
              </a:rPr>
              <a:t>Fully/partially observable </a:t>
            </a:r>
            <a:r>
              <a:rPr lang="en-US" dirty="0"/>
              <a:t>=&gt; agent requires </a:t>
            </a:r>
            <a:r>
              <a:rPr lang="en-US" b="1" i="1" dirty="0">
                <a:solidFill>
                  <a:srgbClr val="FF0000"/>
                </a:solidFill>
              </a:rPr>
              <a:t>memory</a:t>
            </a:r>
            <a:r>
              <a:rPr lang="en-US" dirty="0"/>
              <a:t> (internal state)</a:t>
            </a:r>
          </a:p>
          <a:p>
            <a:pPr lvl="1">
              <a:lnSpc>
                <a:spcPct val="150000"/>
              </a:lnSpc>
            </a:pPr>
            <a:r>
              <a:rPr lang="en-US" b="1" i="1" dirty="0">
                <a:solidFill>
                  <a:srgbClr val="0000FF"/>
                </a:solidFill>
              </a:rPr>
              <a:t>Discrete/continuous </a:t>
            </a:r>
            <a:r>
              <a:rPr lang="en-US" dirty="0"/>
              <a:t>=&gt; agent may not be able to enumerate </a:t>
            </a:r>
            <a:r>
              <a:rPr lang="en-US" b="1" i="1" dirty="0">
                <a:solidFill>
                  <a:srgbClr val="FF0000"/>
                </a:solidFill>
              </a:rPr>
              <a:t>all states</a:t>
            </a:r>
            <a:endParaRPr lang="en-US" b="1" i="1" dirty="0">
              <a:solidFill>
                <a:srgbClr val="0000FF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b="1" i="1" dirty="0">
                <a:solidFill>
                  <a:srgbClr val="0000FF"/>
                </a:solidFill>
              </a:rPr>
              <a:t>Stochastic/deterministic</a:t>
            </a:r>
            <a:r>
              <a:rPr lang="en-US" dirty="0"/>
              <a:t> =&gt; agent may have to prepare for </a:t>
            </a:r>
            <a:r>
              <a:rPr lang="en-US" b="1" i="1" dirty="0">
                <a:solidFill>
                  <a:srgbClr val="FF0000"/>
                </a:solidFill>
              </a:rPr>
              <a:t>contingencies</a:t>
            </a:r>
          </a:p>
          <a:p>
            <a:pPr lvl="1">
              <a:lnSpc>
                <a:spcPct val="150000"/>
              </a:lnSpc>
            </a:pPr>
            <a:r>
              <a:rPr lang="en-US" b="1" i="1" dirty="0">
                <a:solidFill>
                  <a:srgbClr val="0000FF"/>
                </a:solidFill>
              </a:rPr>
              <a:t>Single-agent/multi-agent </a:t>
            </a:r>
            <a:r>
              <a:rPr lang="en-US" dirty="0"/>
              <a:t>=&gt; agent may need to behave </a:t>
            </a:r>
            <a:r>
              <a:rPr lang="en-US" b="1" i="1" dirty="0">
                <a:solidFill>
                  <a:srgbClr val="FF0000"/>
                </a:solidFill>
              </a:rPr>
              <a:t>randomly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CDCD9-0F17-4B72-BCDE-84F4C8EC1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28297-D31F-426D-976C-B50151DD865F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D431C-60E1-4991-84AC-A2DC131C5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07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/>
          </p:cNvSpPr>
          <p:nvPr/>
        </p:nvSpPr>
        <p:spPr bwMode="auto">
          <a:xfrm>
            <a:off x="7545388" y="6553201"/>
            <a:ext cx="29845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686" bIns="0"/>
          <a:lstStyle>
            <a:lvl1pPr marL="381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r" eaLnBrk="1" hangingPunct="1"/>
            <a:r>
              <a:rPr lang="en-US" altLang="en-US" sz="1400">
                <a:solidFill>
                  <a:schemeClr val="tx1"/>
                </a:solidFill>
                <a:latin typeface="Arial Bold" panose="020B0704020202020204" pitchFamily="34" charset="0"/>
                <a:cs typeface="Arial Bold" panose="020B0704020202020204" pitchFamily="34" charset="0"/>
                <a:sym typeface="Arial Bold" panose="020B0704020202020204" pitchFamily="34" charset="0"/>
              </a:rPr>
              <a:t>Agents  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130174" bIns="45720" rtlCol="0" anchor="ctr">
            <a:normAutofit/>
          </a:bodyPr>
          <a:lstStyle/>
          <a:p>
            <a:pPr eaLnBrk="1" hangingPunct="1"/>
            <a:r>
              <a:rPr lang="en-US" altLang="en-US"/>
              <a:t>Skeleton Agent Program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idx="1"/>
          </p:nvPr>
        </p:nvSpPr>
        <p:spPr>
          <a:xfrm>
            <a:off x="838200" y="1480008"/>
            <a:ext cx="10794476" cy="5073193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130174" bIns="45720" rtlCol="0"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Basic framework for an agent program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 Bold" panose="02070609020205020404" pitchFamily="49" charset="0"/>
                <a:cs typeface="Courier New Bold" panose="02070609020205020404" pitchFamily="49" charset="0"/>
                <a:sym typeface="Courier New Bold" panose="02070609020205020404" pitchFamily="49" charset="0"/>
              </a:rPr>
              <a:t>function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SKELETON-AGENT(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percept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) </a:t>
            </a:r>
            <a:r>
              <a:rPr lang="en-US" altLang="en-US" sz="2400" dirty="0">
                <a:latin typeface="Courier New Bold" panose="02070609020205020404" pitchFamily="49" charset="0"/>
                <a:cs typeface="Courier New Bold" panose="02070609020205020404" pitchFamily="49" charset="0"/>
                <a:sym typeface="Courier New Bold" panose="02070609020205020404" pitchFamily="49" charset="0"/>
              </a:rPr>
              <a:t>returns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action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		</a:t>
            </a:r>
            <a:r>
              <a:rPr lang="en-US" altLang="en-US" sz="17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//The agent receives one percept from the environment and must return one action</a:t>
            </a:r>
            <a:endParaRPr lang="en-US" altLang="en-US" sz="1700" dirty="0">
              <a:latin typeface="Courier New Italic" panose="02070409020205090404" pitchFamily="49" charset="0"/>
              <a:sym typeface="Courier New Italic" panose="0207040902020509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sym typeface="Courier New" panose="02070309020205020404" pitchFamily="49" charset="0"/>
              </a:rPr>
              <a:t>	</a:t>
            </a:r>
            <a:r>
              <a:rPr lang="en-US" altLang="en-US" sz="2400" dirty="0">
                <a:latin typeface="Courier New Bold" panose="02070609020205020404" pitchFamily="49" charset="0"/>
                <a:cs typeface="Courier New Bold" panose="02070609020205020404" pitchFamily="49" charset="0"/>
                <a:sym typeface="Courier New Bold" panose="02070609020205020404" pitchFamily="49" charset="0"/>
              </a:rPr>
              <a:t>static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: 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memory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700" dirty="0">
                <a:latin typeface="Courier New Italic" panose="02070409020205090404" pitchFamily="49" charset="0"/>
                <a:sym typeface="Courier New Italic" panose="02070409020205090404" pitchFamily="49" charset="0"/>
              </a:rPr>
              <a:t>		//memory is not reset every time, keeps past information, remembers history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 Italic" panose="02070409020205090404" pitchFamily="49" charset="0"/>
                <a:sym typeface="Courier New Italic" panose="02070409020205090404" pitchFamily="49" charset="0"/>
              </a:rPr>
              <a:t>	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memory</a:t>
            </a:r>
            <a:r>
              <a:rPr lang="en-US" altLang="en-US" sz="2400" dirty="0">
                <a:latin typeface="Courier New Italic" panose="02070409020205090404" pitchFamily="49" charset="0"/>
                <a:sym typeface="Courier New Italic" panose="02070409020205090404" pitchFamily="49" charset="0"/>
              </a:rPr>
              <a:t>	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:=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UPDATE-MEMORY(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memory, percept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sym typeface="Courier New" panose="02070309020205020404" pitchFamily="49" charset="0"/>
              </a:rPr>
              <a:t>		</a:t>
            </a:r>
            <a:r>
              <a:rPr lang="en-US" altLang="en-US" sz="1700" dirty="0">
                <a:latin typeface="Courier New" panose="02070309020205020404" pitchFamily="49" charset="0"/>
                <a:sym typeface="Courier New" panose="02070309020205020404" pitchFamily="49" charset="0"/>
              </a:rPr>
              <a:t>//the agent updates its internal state using old memory and new percept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sym typeface="Courier New" panose="02070309020205020404" pitchFamily="49" charset="0"/>
              </a:rPr>
              <a:t>	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action</a:t>
            </a:r>
            <a:r>
              <a:rPr lang="en-US" altLang="en-US" sz="2400" dirty="0">
                <a:latin typeface="Courier New" panose="02070309020205020404" pitchFamily="49" charset="0"/>
                <a:sym typeface="Courier New" panose="02070309020205020404" pitchFamily="49" charset="0"/>
              </a:rPr>
              <a:t>	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:= CHOOSE-BEST-ACTION(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memory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sym typeface="Courier New" panose="02070309020205020404" pitchFamily="49" charset="0"/>
              </a:rPr>
              <a:t>		</a:t>
            </a:r>
            <a:r>
              <a:rPr lang="en-US" altLang="en-US" sz="1700" dirty="0">
                <a:latin typeface="Courier New" panose="02070309020205020404" pitchFamily="49" charset="0"/>
                <a:sym typeface="Courier New" panose="02070309020205020404" pitchFamily="49" charset="0"/>
              </a:rPr>
              <a:t>// the agent decides what to do, using its internal memory. This is where rationality happens.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sym typeface="Courier New" panose="02070309020205020404" pitchFamily="49" charset="0"/>
              </a:rPr>
              <a:t>	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memory</a:t>
            </a:r>
            <a:r>
              <a:rPr lang="en-US" altLang="en-US" sz="2400" dirty="0">
                <a:latin typeface="Courier New Italic" panose="02070409020205090404" pitchFamily="49" charset="0"/>
                <a:sym typeface="Courier New Italic" panose="02070409020205090404" pitchFamily="49" charset="0"/>
              </a:rPr>
              <a:t>	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:=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UPDATE-MEMORY(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memory, action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  <a:sym typeface="Courier New" panose="02070309020205020404" pitchFamily="49" charset="0"/>
              </a:rPr>
              <a:t>		</a:t>
            </a:r>
            <a:r>
              <a:rPr lang="en-US" altLang="en-US" sz="1700" dirty="0">
                <a:latin typeface="Courier New" panose="02070309020205020404" pitchFamily="49" charset="0"/>
                <a:sym typeface="Courier New" panose="02070309020205020404" pitchFamily="49" charset="0"/>
              </a:rPr>
              <a:t>//after choosing action the agent updates its memory again with the latest action.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dirty="0">
              <a:latin typeface="Courier New" panose="02070309020205020404" pitchFamily="49" charset="0"/>
              <a:sym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 Bold" panose="02070609020205020404" pitchFamily="49" charset="0"/>
                <a:cs typeface="Courier New Bold" panose="02070609020205020404" pitchFamily="49" charset="0"/>
                <a:sym typeface="Courier New Bold" panose="02070609020205020404" pitchFamily="49" charset="0"/>
              </a:rPr>
              <a:t>return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</a:t>
            </a: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action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		</a:t>
            </a:r>
            <a:r>
              <a:rPr lang="en-US" altLang="en-US" sz="1700" dirty="0">
                <a:latin typeface="Courier New Italic" panose="02070409020205090404" pitchFamily="49" charset="0"/>
                <a:cs typeface="Courier New Italic" panose="02070409020205090404" pitchFamily="49" charset="0"/>
                <a:sym typeface="Courier New Italic" panose="02070409020205090404" pitchFamily="49" charset="0"/>
              </a:rPr>
              <a:t>//Finally the agent performs the action in the environment</a:t>
            </a:r>
            <a:endParaRPr lang="en-US" altLang="en-US" sz="1700" dirty="0">
              <a:latin typeface="Courier New Italic" panose="02070409020205090404" pitchFamily="49" charset="0"/>
              <a:sym typeface="Courier New Italic" panose="02070409020205090404" pitchFamily="49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5D2A3-39D2-4634-8425-83F9A5D50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529B-1632-4632-90CE-EF7DF6FACFB2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42533B-84AE-4894-86DA-B9C790EA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38704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/>
          </p:cNvSpPr>
          <p:nvPr/>
        </p:nvSpPr>
        <p:spPr bwMode="auto">
          <a:xfrm>
            <a:off x="7545388" y="6553201"/>
            <a:ext cx="29845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686" bIns="0"/>
          <a:lstStyle>
            <a:lvl1pPr marL="381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panose="02020603050405020304" pitchFamily="18" charset="0"/>
                <a:ea typeface="ヒラギノ明朝 ProN W3" charset="0"/>
                <a:cs typeface="ヒラギノ明朝 ProN W3" charset="0"/>
                <a:sym typeface="Times" panose="02020603050405020304" pitchFamily="18" charset="0"/>
              </a:defRPr>
            </a:lvl9pPr>
          </a:lstStyle>
          <a:p>
            <a:pPr algn="r" eaLnBrk="1" hangingPunct="1"/>
            <a:r>
              <a:rPr lang="en-US" altLang="en-US" sz="1400">
                <a:solidFill>
                  <a:schemeClr val="tx1"/>
                </a:solidFill>
                <a:latin typeface="Arial Bold" panose="020B0704020202020204" pitchFamily="34" charset="0"/>
                <a:cs typeface="Arial Bold" panose="020B0704020202020204" pitchFamily="34" charset="0"/>
                <a:sym typeface="Arial Bold" panose="020B0704020202020204" pitchFamily="34" charset="0"/>
              </a:rPr>
              <a:t>Agents  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130174" bIns="45720" rtlCol="0" anchor="ctr">
            <a:normAutofit/>
          </a:bodyPr>
          <a:lstStyle/>
          <a:p>
            <a:pPr eaLnBrk="1" hangingPunct="1"/>
            <a:r>
              <a:rPr lang="en-US" altLang="en-US"/>
              <a:t>Table Agent Program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idx="1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130174" bIns="45720" rtlCol="0"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agent program based on table lookup</a:t>
            </a:r>
          </a:p>
          <a:p>
            <a:pPr>
              <a:buNone/>
              <a:defRPr/>
            </a:pPr>
            <a:endParaRPr lang="en-US" dirty="0"/>
          </a:p>
          <a:p>
            <a:pPr>
              <a:buNone/>
              <a:defRPr/>
            </a:pP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function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 TABLE-DRIVEN-AGENT(</a:t>
            </a:r>
            <a:r>
              <a:rPr lang="en-US" sz="2000" dirty="0">
                <a:latin typeface="Courier New Italic" charset="0"/>
                <a:cs typeface="Courier New Italic" charset="0"/>
                <a:sym typeface="Courier New Italic" charset="0"/>
              </a:rPr>
              <a:t>percept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) </a:t>
            </a: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returns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 sz="2000" dirty="0">
                <a:latin typeface="Courier New Italic" charset="0"/>
                <a:cs typeface="Courier New Italic" charset="0"/>
                <a:sym typeface="Courier New Italic" charset="0"/>
              </a:rPr>
              <a:t>action</a:t>
            </a:r>
            <a:endParaRPr lang="en-US" sz="2000" dirty="0">
              <a:latin typeface="Courier New Italic" charset="0"/>
              <a:sym typeface="Courier New Italic" charset="0"/>
            </a:endParaRPr>
          </a:p>
          <a:p>
            <a:pPr>
              <a:buNone/>
              <a:defRPr/>
            </a:pPr>
            <a:r>
              <a:rPr lang="en-US" sz="2000" dirty="0">
                <a:latin typeface="Courier New" charset="0"/>
                <a:sym typeface="Courier New" charset="0"/>
              </a:rPr>
              <a:t>	</a:t>
            </a: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static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: </a:t>
            </a:r>
            <a:r>
              <a:rPr lang="en-US" sz="2000" dirty="0">
                <a:solidFill>
                  <a:srgbClr val="FF0000"/>
                </a:solidFill>
                <a:latin typeface="Courier New Italic" charset="0"/>
                <a:cs typeface="Courier New Italic" charset="0"/>
                <a:sym typeface="Courier New Italic" charset="0"/>
              </a:rPr>
              <a:t>percepts</a:t>
            </a:r>
            <a:r>
              <a:rPr lang="en-US" sz="2000" dirty="0">
                <a:solidFill>
                  <a:srgbClr val="FF0000"/>
                </a:solidFill>
                <a:latin typeface="Courier New Italic" charset="0"/>
                <a:sym typeface="Courier New Italic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ourier New" charset="0"/>
                <a:cs typeface="Courier New" charset="0"/>
                <a:sym typeface="Courier New" charset="0"/>
              </a:rPr>
              <a:t>// initially empty sequence*</a:t>
            </a:r>
            <a:endParaRPr lang="en-US" sz="2000" dirty="0">
              <a:solidFill>
                <a:srgbClr val="FF0000"/>
              </a:solidFill>
              <a:latin typeface="Courier New" charset="0"/>
              <a:sym typeface="Courier New" charset="0"/>
            </a:endParaRPr>
          </a:p>
          <a:p>
            <a:pPr marL="1409700" lvl="3">
              <a:buNone/>
              <a:defRPr/>
            </a:pPr>
            <a:r>
              <a:rPr lang="en-US" dirty="0">
                <a:latin typeface="Courier New Italic" charset="0"/>
                <a:cs typeface="Courier New Italic" charset="0"/>
                <a:sym typeface="Courier New Italic" charset="0"/>
              </a:rPr>
              <a:t> table</a:t>
            </a:r>
            <a:r>
              <a:rPr lang="en-US" dirty="0">
                <a:latin typeface="Courier New Italic" charset="0"/>
                <a:sym typeface="Courier New Italic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urier New" charset="0"/>
                <a:cs typeface="Courier New" charset="0"/>
                <a:sym typeface="Courier New" charset="0"/>
              </a:rPr>
              <a:t>// indexed by percept sequences</a:t>
            </a:r>
            <a:endParaRPr lang="en-US" dirty="0">
              <a:solidFill>
                <a:srgbClr val="FF0000"/>
              </a:solidFill>
              <a:latin typeface="Courier New" charset="0"/>
              <a:sym typeface="Courier New" charset="0"/>
            </a:endParaRPr>
          </a:p>
          <a:p>
            <a:pPr marL="1409700" lvl="3">
              <a:buNone/>
              <a:defRPr/>
            </a:pPr>
            <a:r>
              <a:rPr lang="en-US" dirty="0">
                <a:latin typeface="Courier New" charset="0"/>
                <a:sym typeface="Courier New" charset="0"/>
              </a:rPr>
              <a:t>			</a:t>
            </a:r>
            <a:r>
              <a:rPr lang="en-US" dirty="0">
                <a:solidFill>
                  <a:srgbClr val="FF0000"/>
                </a:solidFill>
                <a:latin typeface="Courier New" charset="0"/>
                <a:cs typeface="Courier New" charset="0"/>
                <a:sym typeface="Courier New" charset="0"/>
              </a:rPr>
              <a:t>// initially fully specified</a:t>
            </a:r>
            <a:endParaRPr lang="en-US" dirty="0">
              <a:solidFill>
                <a:srgbClr val="FF0000"/>
              </a:solidFill>
              <a:latin typeface="Courier New" charset="0"/>
              <a:sym typeface="Courier New" charset="0"/>
            </a:endParaRPr>
          </a:p>
          <a:p>
            <a:pPr>
              <a:buNone/>
              <a:defRPr/>
            </a:pPr>
            <a:r>
              <a:rPr lang="en-US" sz="2000" dirty="0">
                <a:latin typeface="Courier New Italic" charset="0"/>
                <a:sym typeface="Courier New Italic" charset="0"/>
              </a:rPr>
              <a:t>	</a:t>
            </a:r>
          </a:p>
          <a:p>
            <a:pPr>
              <a:buNone/>
              <a:defRPr/>
            </a:pPr>
            <a:r>
              <a:rPr lang="en-US" sz="2000" dirty="0">
                <a:latin typeface="Courier New Italic" charset="0"/>
                <a:sym typeface="Courier New Italic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ourier New" charset="0"/>
                <a:cs typeface="Courier New" charset="0"/>
                <a:sym typeface="Courier New" charset="0"/>
              </a:rPr>
              <a:t>append</a:t>
            </a:r>
            <a:r>
              <a:rPr lang="en-US" sz="2000" dirty="0">
                <a:solidFill>
                  <a:srgbClr val="FF0000"/>
                </a:solidFill>
                <a:latin typeface="Courier New Italic" charset="0"/>
                <a:cs typeface="Courier New Italic" charset="0"/>
                <a:sym typeface="Courier New Italic" charset="0"/>
              </a:rPr>
              <a:t> percept</a:t>
            </a:r>
            <a:r>
              <a:rPr lang="en-US" sz="2000" dirty="0">
                <a:solidFill>
                  <a:srgbClr val="FF0000"/>
                </a:solidFill>
                <a:latin typeface="Courier New" charset="0"/>
                <a:cs typeface="Courier New" charset="0"/>
                <a:sym typeface="Courier New" charset="0"/>
              </a:rPr>
              <a:t> to the end of </a:t>
            </a:r>
            <a:r>
              <a:rPr lang="en-US" sz="2000" dirty="0">
                <a:solidFill>
                  <a:srgbClr val="FF0000"/>
                </a:solidFill>
                <a:latin typeface="Courier New Italic" charset="0"/>
                <a:cs typeface="Courier New Italic" charset="0"/>
                <a:sym typeface="Courier New Italic" charset="0"/>
              </a:rPr>
              <a:t>percepts</a:t>
            </a:r>
            <a:endParaRPr lang="en-US" sz="2000" dirty="0">
              <a:solidFill>
                <a:srgbClr val="FF0000"/>
              </a:solidFill>
              <a:latin typeface="Courier New Italic" charset="0"/>
              <a:sym typeface="Courier New Italic" charset="0"/>
            </a:endParaRPr>
          </a:p>
          <a:p>
            <a:pPr>
              <a:buNone/>
              <a:defRPr/>
            </a:pPr>
            <a:r>
              <a:rPr lang="en-US" sz="2000" dirty="0">
                <a:latin typeface="Courier New" charset="0"/>
                <a:sym typeface="Courier New" charset="0"/>
              </a:rPr>
              <a:t>	</a:t>
            </a:r>
            <a:r>
              <a:rPr lang="en-US" sz="2000" dirty="0">
                <a:latin typeface="Courier New Italic" charset="0"/>
                <a:cs typeface="Courier New Italic" charset="0"/>
                <a:sym typeface="Courier New Italic" charset="0"/>
              </a:rPr>
              <a:t>action</a:t>
            </a:r>
            <a:r>
              <a:rPr lang="en-US" sz="2000" dirty="0">
                <a:latin typeface="Courier New" charset="0"/>
                <a:sym typeface="Courier New" charset="0"/>
              </a:rPr>
              <a:t>	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:= LOOKUP(</a:t>
            </a:r>
            <a:r>
              <a:rPr lang="en-US" sz="2000" dirty="0">
                <a:latin typeface="Courier New Italic" charset="0"/>
                <a:cs typeface="Courier New Italic" charset="0"/>
                <a:sym typeface="Courier New Italic" charset="0"/>
              </a:rPr>
              <a:t>percepts,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 sz="2000" dirty="0">
                <a:latin typeface="Courier New Italic" charset="0"/>
                <a:cs typeface="Courier New Italic" charset="0"/>
                <a:sym typeface="Courier New Italic" charset="0"/>
              </a:rPr>
              <a:t>table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)</a:t>
            </a:r>
            <a:endParaRPr lang="en-US" sz="2000" dirty="0">
              <a:latin typeface="Courier New" charset="0"/>
              <a:sym typeface="Courier New" charset="0"/>
            </a:endParaRPr>
          </a:p>
          <a:p>
            <a:pPr>
              <a:buNone/>
              <a:defRPr/>
            </a:pPr>
            <a:r>
              <a:rPr lang="en-US" sz="2000" dirty="0">
                <a:latin typeface="Courier New" charset="0"/>
                <a:sym typeface="Courier New" charset="0"/>
              </a:rPr>
              <a:t>	</a:t>
            </a:r>
          </a:p>
          <a:p>
            <a:pPr>
              <a:buNone/>
              <a:defRPr/>
            </a:pP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return</a:t>
            </a:r>
            <a:r>
              <a:rPr lang="en-US" sz="2000" dirty="0"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 sz="2000" dirty="0">
                <a:latin typeface="Courier New Italic" charset="0"/>
                <a:cs typeface="Courier New Italic" charset="0"/>
                <a:sym typeface="Courier New Italic" charset="0"/>
              </a:rPr>
              <a:t>action</a:t>
            </a:r>
            <a:endParaRPr lang="en-US" sz="2000" dirty="0">
              <a:latin typeface="Courier New Italic" charset="0"/>
              <a:sym typeface="Courier New Italic" charset="0"/>
            </a:endParaRPr>
          </a:p>
          <a:p>
            <a:pPr>
              <a:buNone/>
              <a:defRPr/>
            </a:pPr>
            <a:endParaRPr lang="en-US" sz="1800" dirty="0"/>
          </a:p>
          <a:p>
            <a:pPr>
              <a:buNone/>
              <a:defRPr/>
            </a:pPr>
            <a:r>
              <a:rPr lang="en-US" sz="1800" dirty="0"/>
              <a:t> * Note: the storage of percepts requires writeable memory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1F3C71-2A85-4A07-9BC3-BD9CEAC5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10B9-805B-4482-87D0-C36C578FB077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B616A5-F090-48BC-8979-B5AF83DD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10963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agents map percepts to actions, but they differ in intelligence level.</a:t>
            </a:r>
            <a:endParaRPr lang="en-US" altLang="en-US" dirty="0"/>
          </a:p>
          <a:p>
            <a:r>
              <a:rPr lang="en-US" altLang="en-US" dirty="0"/>
              <a:t>Types of agents (increasing in generality and ability to handle complex environments)</a:t>
            </a:r>
          </a:p>
          <a:p>
            <a:pPr lvl="1"/>
            <a:r>
              <a:rPr lang="en-US" altLang="en-US" dirty="0"/>
              <a:t>Simple reflex agents</a:t>
            </a:r>
          </a:p>
          <a:p>
            <a:pPr lvl="1"/>
            <a:r>
              <a:rPr lang="en-US" altLang="en-US" dirty="0"/>
              <a:t>Model-based reflex agents</a:t>
            </a:r>
          </a:p>
          <a:p>
            <a:pPr lvl="2"/>
            <a:r>
              <a:rPr lang="en-US" dirty="0"/>
              <a:t>keep track of the world</a:t>
            </a:r>
            <a:endParaRPr lang="en-US" altLang="en-US" dirty="0"/>
          </a:p>
          <a:p>
            <a:pPr lvl="1"/>
            <a:r>
              <a:rPr lang="en-US" altLang="en-US" dirty="0"/>
              <a:t>Goal-based agents</a:t>
            </a:r>
          </a:p>
          <a:p>
            <a:pPr lvl="2"/>
            <a:r>
              <a:rPr lang="en-US" dirty="0"/>
              <a:t>work towards a goal</a:t>
            </a:r>
            <a:endParaRPr lang="en-US" altLang="en-US" dirty="0"/>
          </a:p>
          <a:p>
            <a:pPr lvl="1"/>
            <a:r>
              <a:rPr lang="en-US" altLang="en-US" dirty="0"/>
              <a:t>Utility-based agents</a:t>
            </a:r>
          </a:p>
          <a:p>
            <a:pPr lvl="1"/>
            <a:r>
              <a:rPr lang="en-US" altLang="en-US" dirty="0"/>
              <a:t>Learning agent</a:t>
            </a:r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01A38-FB35-4F62-B025-BC534046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E69DB-71B0-4105-AC2D-74605F7D65C0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0EA26-8DC2-422F-9A78-1CC881ED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0031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179ABC-44EC-437E-8575-24C11C51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170E-FEF3-49A9-84EC-2F5A5861C824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D8C0F3-BD5B-4AB6-A9CF-7C6F2A03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A80AF6-6FAF-42C8-A6C2-691242276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31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Vacuum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45696" cy="4628184"/>
          </a:xfrm>
        </p:spPr>
        <p:txBody>
          <a:bodyPr>
            <a:normAutofit/>
          </a:bodyPr>
          <a:lstStyle/>
          <a:p>
            <a:r>
              <a:rPr lang="en-US" b="1" dirty="0"/>
              <a:t>Performance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1 point for each square cleaned in time T?</a:t>
            </a:r>
          </a:p>
          <a:p>
            <a:pPr lvl="1"/>
            <a:r>
              <a:rPr lang="en-US" dirty="0"/>
              <a:t>#clean squares per time step - #moves per time step?</a:t>
            </a:r>
          </a:p>
          <a:p>
            <a:r>
              <a:rPr lang="en-US" b="1" dirty="0"/>
              <a:t>Environment</a:t>
            </a:r>
            <a:r>
              <a:rPr lang="en-US" dirty="0"/>
              <a:t>:  vacuum, dirt, multiple areas defined by square regions</a:t>
            </a:r>
          </a:p>
          <a:p>
            <a:r>
              <a:rPr lang="en-US" b="1" dirty="0"/>
              <a:t>Actions</a:t>
            </a:r>
            <a:r>
              <a:rPr lang="en-US" dirty="0"/>
              <a:t>: left, right, clean, idle</a:t>
            </a:r>
          </a:p>
          <a:p>
            <a:r>
              <a:rPr lang="en-US" b="1" dirty="0"/>
              <a:t>Sensors</a:t>
            </a:r>
            <a:r>
              <a:rPr lang="en-US" dirty="0"/>
              <a:t>:  location and contents</a:t>
            </a:r>
          </a:p>
          <a:p>
            <a:pPr lvl="1"/>
            <a:r>
              <a:rPr lang="en-US" dirty="0"/>
              <a:t>[A, dirty]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15225" y="2168042"/>
            <a:ext cx="3838575" cy="19716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34651" y="4425074"/>
            <a:ext cx="43997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status=Dirty then return clean</a:t>
            </a:r>
          </a:p>
          <a:p>
            <a:pPr>
              <a:buNone/>
            </a:pPr>
            <a:r>
              <a:rPr lang="en-US" dirty="0"/>
              <a:t>	else if location=A then return Right</a:t>
            </a:r>
          </a:p>
          <a:p>
            <a:pPr>
              <a:buNone/>
            </a:pPr>
            <a:r>
              <a:rPr lang="en-US" dirty="0"/>
              <a:t>	else if location=B then return Left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35774-ECD9-4DC5-A1B9-8D584963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48A96-98D9-485E-8571-581DF68D5B3E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AFC77-6F7F-4B0C-995F-3CF06169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85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Reflex Agent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995" y="1690688"/>
            <a:ext cx="8452009" cy="2915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995" y="4810157"/>
            <a:ext cx="8452009" cy="189544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04898E-7018-4D56-8322-B85EBBDE2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D627-5931-4F4D-88F0-234CE1CB61C0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0A6A1-7A7D-48A9-A331-D93CE925D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368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Simple Reflex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514475"/>
            <a:ext cx="10353675" cy="4939334"/>
          </a:xfrm>
        </p:spPr>
        <p:txBody>
          <a:bodyPr>
            <a:normAutofit/>
          </a:bodyPr>
          <a:lstStyle/>
          <a:p>
            <a:r>
              <a:rPr lang="en-US" dirty="0"/>
              <a:t>Many real-world environments are </a:t>
            </a:r>
            <a:r>
              <a:rPr lang="en-US" b="1" dirty="0"/>
              <a:t>partially observable</a:t>
            </a:r>
            <a:r>
              <a:rPr lang="en-US" dirty="0"/>
              <a:t>.</a:t>
            </a:r>
          </a:p>
          <a:p>
            <a:r>
              <a:rPr lang="en-US" dirty="0"/>
              <a:t>This means the agent </a:t>
            </a:r>
            <a:r>
              <a:rPr lang="en-US" b="1" dirty="0"/>
              <a:t>cannot see the entire environment at all times</a:t>
            </a:r>
            <a:r>
              <a:rPr lang="en-US" dirty="0"/>
              <a:t>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A self-driving car cannot see vehicles hidden behind a truck. </a:t>
            </a:r>
          </a:p>
          <a:p>
            <a:pPr lvl="1"/>
            <a:r>
              <a:rPr lang="en-US" dirty="0"/>
              <a:t>A robot cannot see what is behind a wall. </a:t>
            </a:r>
          </a:p>
          <a:p>
            <a:pPr lvl="1"/>
            <a:r>
              <a:rPr lang="en-US" dirty="0"/>
              <a:t>A vacuum cleaner cannot see dirt in another room. </a:t>
            </a:r>
          </a:p>
          <a:p>
            <a:pPr lvl="1"/>
            <a:r>
              <a:rPr lang="en-US" dirty="0"/>
              <a:t>A doctor cannot directly observe everything happening inside a patient's body.</a:t>
            </a:r>
          </a:p>
          <a:p>
            <a:r>
              <a:rPr lang="en-US" dirty="0"/>
              <a:t>The agent therefore has </a:t>
            </a:r>
            <a:r>
              <a:rPr lang="en-US" b="1" dirty="0"/>
              <a:t>incomplete information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35774-ECD9-4DC5-A1B9-8D584963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48A96-98D9-485E-8571-581DF68D5B3E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AFC77-6F7F-4B0C-995F-3CF06169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518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43C552-8488-481D-A7D1-941B389AAE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" y="66676"/>
            <a:ext cx="12240118" cy="6654800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18957-8C4F-4AA0-BEB7-BF9A41FC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5C3C3-CC9E-4E75-871B-99187DA02A5D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009C7-E9F5-4DB9-B22C-58CC25B3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693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824" y="1671834"/>
            <a:ext cx="6367463" cy="273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Model-Based Agent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653" y="4717774"/>
            <a:ext cx="7923057" cy="175694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6925FB-4DDD-4E2E-B24B-87F8114A7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7E496-409C-4E35-BCA8-5802B02517EC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6CECAF-C8C6-4FB0-A900-7A05E1A1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512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1F4A-C4D0-44AE-A15F-921BFC97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A9055D-C012-46C2-A98A-6D501A82D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3"/>
            <a:ext cx="12191999" cy="686164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66A2-002A-430F-BA96-CC8C100C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1BE1-5C84-4D51-A59E-0176BA527C56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37AF7-251F-414A-8EC3-E260AA30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229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E3B7-8E71-4B51-AE7B-FF86A9D9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14AAA-BE3F-4CB8-9EB4-8533D28F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5C3C3-CC9E-4E75-871B-99187DA02A5D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409F3-37C0-4889-BDD6-BC9BA066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39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822363-5320-4521-9A5C-BC12E21F5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282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AB4D-BBA5-4341-B6A4-24FB4D98A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184CE-F848-4B30-9365-45D95D6F0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5C3C3-CC9E-4E75-871B-99187DA02A5D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82688-A5F4-420A-AD9E-BF97B548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40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3DA048-6E28-4A08-81A6-7F12787A9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4449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Simple reflex agents </a:t>
            </a:r>
            <a:r>
              <a:rPr lang="en-US" dirty="0"/>
              <a:t>respond directly to percepts</a:t>
            </a:r>
          </a:p>
          <a:p>
            <a:r>
              <a:rPr lang="en-US" b="1" dirty="0"/>
              <a:t>model-based reflex agents </a:t>
            </a:r>
            <a:r>
              <a:rPr lang="en-US" dirty="0"/>
              <a:t>maintain internal state to track aspects of the world that are not evident in the current percept. </a:t>
            </a:r>
          </a:p>
          <a:p>
            <a:r>
              <a:rPr lang="en-US" b="1" dirty="0"/>
              <a:t>Goal-based agents </a:t>
            </a:r>
            <a:r>
              <a:rPr lang="en-US" dirty="0"/>
              <a:t>act to achieve their goals, </a:t>
            </a:r>
          </a:p>
          <a:p>
            <a:r>
              <a:rPr lang="en-US" b="1" dirty="0"/>
              <a:t>utility-based agents </a:t>
            </a:r>
            <a:r>
              <a:rPr lang="en-US" dirty="0"/>
              <a:t>try to maximize their own expected “happiness.”</a:t>
            </a:r>
          </a:p>
          <a:p>
            <a:r>
              <a:rPr lang="en-US" b="1" dirty="0"/>
              <a:t>Learning Agents </a:t>
            </a:r>
            <a:r>
              <a:rPr lang="en-US" dirty="0"/>
              <a:t>designed to act in uncertain environment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3041A-9430-40F0-BD7F-F9B396ACD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B142-5989-4AEC-AE5B-FD7EE38D2012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05657-51A8-4003-97C9-E35EAD1F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B9AD4-84B3-4C8E-B1F8-FB9718B7CB5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31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e93d4a-e23b-42c8-8ff1-78131b2d8e46">
      <Terms xmlns="http://schemas.microsoft.com/office/infopath/2007/PartnerControls"/>
    </lcf76f155ced4ddcb4097134ff3c332f>
    <TaxCatchAll xmlns="4365d7e7-07f8-46ee-9253-0d9db5cf024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C947163D0D9438ADFAABD5D135A8E" ma:contentTypeVersion="14" ma:contentTypeDescription="Create a new document." ma:contentTypeScope="" ma:versionID="4e1af9cc4a66754e05256819fc0cf4eb">
  <xsd:schema xmlns:xsd="http://www.w3.org/2001/XMLSchema" xmlns:xs="http://www.w3.org/2001/XMLSchema" xmlns:p="http://schemas.microsoft.com/office/2006/metadata/properties" xmlns:ns2="4365d7e7-07f8-46ee-9253-0d9db5cf0247" xmlns:ns3="c5e93d4a-e23b-42c8-8ff1-78131b2d8e46" targetNamespace="http://schemas.microsoft.com/office/2006/metadata/properties" ma:root="true" ma:fieldsID="3c80ef98cdf9bd0c93d5f9836eb0b425" ns2:_="" ns3:_="">
    <xsd:import namespace="4365d7e7-07f8-46ee-9253-0d9db5cf0247"/>
    <xsd:import namespace="c5e93d4a-e23b-42c8-8ff1-78131b2d8e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5d7e7-07f8-46ee-9253-0d9db5cf02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b5eb382-fb55-4e68-ad83-511be951eceb}" ma:internalName="TaxCatchAll" ma:showField="CatchAllData" ma:web="4365d7e7-07f8-46ee-9253-0d9db5cf0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93d4a-e23b-42c8-8ff1-78131b2d8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b19d95c-03cc-479b-95fc-186cd9d351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3589FF-C793-4B32-84EE-4123F31CF3D2}">
  <ds:schemaRefs>
    <ds:schemaRef ds:uri="http://schemas.microsoft.com/office/2006/metadata/properties"/>
    <ds:schemaRef ds:uri="http://schemas.microsoft.com/office/infopath/2007/PartnerControls"/>
    <ds:schemaRef ds:uri="c5e93d4a-e23b-42c8-8ff1-78131b2d8e46"/>
    <ds:schemaRef ds:uri="4365d7e7-07f8-46ee-9253-0d9db5cf0247"/>
  </ds:schemaRefs>
</ds:datastoreItem>
</file>

<file path=customXml/itemProps2.xml><?xml version="1.0" encoding="utf-8"?>
<ds:datastoreItem xmlns:ds="http://schemas.openxmlformats.org/officeDocument/2006/customXml" ds:itemID="{EF3DAEC7-8897-4033-A28A-F0BA690298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D9BD00-D3C4-4C03-9A7F-AED3C48442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5d7e7-07f8-46ee-9253-0d9db5cf0247"/>
    <ds:schemaRef ds:uri="c5e93d4a-e23b-42c8-8ff1-78131b2d8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3868</TotalTime>
  <Words>2203</Words>
  <Application>Microsoft Office PowerPoint</Application>
  <PresentationFormat>Widescreen</PresentationFormat>
  <Paragraphs>445</Paragraphs>
  <Slides>41</Slides>
  <Notes>1</Notes>
  <HiddenSlides>9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Arial Bold</vt:lpstr>
      <vt:lpstr>Calibri</vt:lpstr>
      <vt:lpstr>Calibri Light</vt:lpstr>
      <vt:lpstr>Courier New</vt:lpstr>
      <vt:lpstr>Courier New Bold</vt:lpstr>
      <vt:lpstr>Courier New Italic</vt:lpstr>
      <vt:lpstr>Times</vt:lpstr>
      <vt:lpstr>Wingdings</vt:lpstr>
      <vt:lpstr>Office Theme</vt:lpstr>
      <vt:lpstr>Intelligent Agents</vt:lpstr>
      <vt:lpstr>Agent</vt:lpstr>
      <vt:lpstr>What is an Agent?</vt:lpstr>
      <vt:lpstr>1. Percept</vt:lpstr>
      <vt:lpstr>Percept Sequence</vt:lpstr>
      <vt:lpstr>2. Reasoning (think)</vt:lpstr>
      <vt:lpstr>3. Action</vt:lpstr>
      <vt:lpstr>Intelligent Agents</vt:lpstr>
      <vt:lpstr>Example of Agents</vt:lpstr>
      <vt:lpstr>Rational Agent</vt:lpstr>
      <vt:lpstr>Agent Function and Program</vt:lpstr>
      <vt:lpstr>Specifying the Task Environment</vt:lpstr>
      <vt:lpstr>Performance of Agents</vt:lpstr>
      <vt:lpstr>PEAS: Automated Taxi </vt:lpstr>
      <vt:lpstr>PEAS: Food Delivery Robot</vt:lpstr>
      <vt:lpstr>PEAS: Medical diagnosis system</vt:lpstr>
      <vt:lpstr>PEAS: Part-picking robot</vt:lpstr>
      <vt:lpstr>PEAS: Interactive English tutor</vt:lpstr>
      <vt:lpstr>Environment Types</vt:lpstr>
      <vt:lpstr>Properties of environments</vt:lpstr>
      <vt:lpstr>Properties of environments</vt:lpstr>
      <vt:lpstr>Environment Types</vt:lpstr>
      <vt:lpstr>Environment Types</vt:lpstr>
      <vt:lpstr>Environment Types</vt:lpstr>
      <vt:lpstr>Types of Environment</vt:lpstr>
      <vt:lpstr>Environment Types Example</vt:lpstr>
      <vt:lpstr>Structure of Agents</vt:lpstr>
      <vt:lpstr>Agent design</vt:lpstr>
      <vt:lpstr>Skeleton Agent Program</vt:lpstr>
      <vt:lpstr>Table Agent Program</vt:lpstr>
      <vt:lpstr>Structure of Agent</vt:lpstr>
      <vt:lpstr>PowerPoint Presentation</vt:lpstr>
      <vt:lpstr>Example: Vacuum Agent</vt:lpstr>
      <vt:lpstr>Simple Reflex Agent</vt:lpstr>
      <vt:lpstr>Problem with Simple Reflex Agent</vt:lpstr>
      <vt:lpstr>PowerPoint Presentation</vt:lpstr>
      <vt:lpstr>Model-Based Agent</vt:lpstr>
      <vt:lpstr>PowerPoint Presentation</vt:lpstr>
      <vt:lpstr>PowerPoint Presentation</vt:lpstr>
      <vt:lpstr>PowerPoint Presentation</vt:lpstr>
      <vt:lpstr>Intelligent Agents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Agents</dc:title>
  <dc:creator>FARHAN DAWOOD</dc:creator>
  <cp:lastModifiedBy>Maham Armaghan</cp:lastModifiedBy>
  <cp:revision>212</cp:revision>
  <dcterms:created xsi:type="dcterms:W3CDTF">2019-03-07T05:56:32Z</dcterms:created>
  <dcterms:modified xsi:type="dcterms:W3CDTF">2026-10-01T08:14:33Z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0x010100C59C947163D0D9438ADFAABD5D135A8E</vt:lpwstr>
  </property>
</Properties>
</file>