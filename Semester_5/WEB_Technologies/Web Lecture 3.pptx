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  <p:sldMasterId id="2147483696" r:id="rId2"/>
  </p:sldMasterIdLst>
  <p:notesMasterIdLst>
    <p:notesMasterId r:id="rId37"/>
  </p:notesMasterIdLst>
  <p:sldIdLst>
    <p:sldId id="541" r:id="rId3"/>
    <p:sldId id="464" r:id="rId4"/>
    <p:sldId id="492" r:id="rId5"/>
    <p:sldId id="508" r:id="rId6"/>
    <p:sldId id="509" r:id="rId7"/>
    <p:sldId id="494" r:id="rId8"/>
    <p:sldId id="495" r:id="rId9"/>
    <p:sldId id="511" r:id="rId10"/>
    <p:sldId id="540" r:id="rId11"/>
    <p:sldId id="515" r:id="rId12"/>
    <p:sldId id="513" r:id="rId13"/>
    <p:sldId id="514" r:id="rId14"/>
    <p:sldId id="518" r:id="rId15"/>
    <p:sldId id="533" r:id="rId16"/>
    <p:sldId id="516" r:id="rId17"/>
    <p:sldId id="517" r:id="rId18"/>
    <p:sldId id="519" r:id="rId19"/>
    <p:sldId id="520" r:id="rId20"/>
    <p:sldId id="522" r:id="rId21"/>
    <p:sldId id="521" r:id="rId22"/>
    <p:sldId id="523" r:id="rId23"/>
    <p:sldId id="524" r:id="rId24"/>
    <p:sldId id="525" r:id="rId25"/>
    <p:sldId id="526" r:id="rId26"/>
    <p:sldId id="527" r:id="rId27"/>
    <p:sldId id="528" r:id="rId28"/>
    <p:sldId id="539" r:id="rId29"/>
    <p:sldId id="529" r:id="rId30"/>
    <p:sldId id="534" r:id="rId31"/>
    <p:sldId id="535" r:id="rId32"/>
    <p:sldId id="536" r:id="rId33"/>
    <p:sldId id="537" r:id="rId34"/>
    <p:sldId id="538" r:id="rId35"/>
    <p:sldId id="532" r:id="rId3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3300"/>
    <a:srgbClr val="007434"/>
    <a:srgbClr val="2E27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94" autoAdjust="0"/>
    <p:restoredTop sz="91577" autoAdjust="0"/>
  </p:normalViewPr>
  <p:slideViewPr>
    <p:cSldViewPr>
      <p:cViewPr varScale="1">
        <p:scale>
          <a:sx n="80" d="100"/>
          <a:sy n="80" d="100"/>
        </p:scale>
        <p:origin x="153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viewProps" Target="view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2F17C7-A735-43BD-ADEF-6FCA554CCDEC}" type="datetimeFigureOut">
              <a:rPr lang="en-US" smtClean="0"/>
              <a:pPr/>
              <a:t>10/28/2021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9A9F98-9234-4645-8DB0-2AF13C38CA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6542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9A9F98-9234-4645-8DB0-2AF13C38CAC6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9A9F98-9234-4645-8DB0-2AF13C38CAC6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9A9F98-9234-4645-8DB0-2AF13C38CAC6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9A9F98-9234-4645-8DB0-2AF13C38CAC6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0B9C8-1DA6-4025-B72F-C4350C10D530}" type="datetimeFigureOut">
              <a:rPr lang="en-US" smtClean="0"/>
              <a:pPr/>
              <a:t>10/28/2021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CB4C4-87A2-49E5-8A95-74038C5F2E5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0B9C8-1DA6-4025-B72F-C4350C10D530}" type="datetimeFigureOut">
              <a:rPr lang="en-US" smtClean="0"/>
              <a:pPr/>
              <a:t>10/28/2021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CB4C4-87A2-49E5-8A95-74038C5F2E5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0B9C8-1DA6-4025-B72F-C4350C10D530}" type="datetimeFigureOut">
              <a:rPr lang="en-US" smtClean="0"/>
              <a:pPr/>
              <a:t>10/28/2021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CB4C4-87A2-49E5-8A95-74038C5F2E5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0B9C8-1DA6-4025-B72F-C4350C10D530}" type="datetimeFigureOut">
              <a:rPr lang="en-US" smtClean="0"/>
              <a:pPr/>
              <a:t>10/28/2021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CB4C4-87A2-49E5-8A95-74038C5F2E5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0B9C8-1DA6-4025-B72F-C4350C10D530}" type="datetimeFigureOut">
              <a:rPr lang="en-US" smtClean="0"/>
              <a:pPr/>
              <a:t>10/28/2021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CB4C4-87A2-49E5-8A95-74038C5F2E5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0B9C8-1DA6-4025-B72F-C4350C10D530}" type="datetimeFigureOut">
              <a:rPr lang="en-US" smtClean="0"/>
              <a:pPr/>
              <a:t>10/28/2021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CB4C4-87A2-49E5-8A95-74038C5F2E5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0B9C8-1DA6-4025-B72F-C4350C10D530}" type="datetimeFigureOut">
              <a:rPr lang="en-US" smtClean="0"/>
              <a:pPr/>
              <a:t>10/28/2021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CB4C4-87A2-49E5-8A95-74038C5F2E5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0B9C8-1DA6-4025-B72F-C4350C10D530}" type="datetimeFigureOut">
              <a:rPr lang="en-US" smtClean="0"/>
              <a:pPr/>
              <a:t>10/28/2021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CB4C4-87A2-49E5-8A95-74038C5F2E5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0B9C8-1DA6-4025-B72F-C4350C10D530}" type="datetimeFigureOut">
              <a:rPr lang="en-US" smtClean="0"/>
              <a:pPr/>
              <a:t>10/28/2021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CB4C4-87A2-49E5-8A95-74038C5F2E5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0B9C8-1DA6-4025-B72F-C4350C10D530}" type="datetimeFigureOut">
              <a:rPr lang="en-US" smtClean="0"/>
              <a:pPr/>
              <a:t>10/28/2021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CB4C4-87A2-49E5-8A95-74038C5F2E5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0B9C8-1DA6-4025-B72F-C4350C10D530}" type="datetimeFigureOut">
              <a:rPr lang="en-US" smtClean="0"/>
              <a:pPr/>
              <a:t>10/28/2021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CB4C4-87A2-49E5-8A95-74038C5F2E5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B5E3A-D677-418C-B51E-FFC1BBAF321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randomBar dir="vert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9254C-1AF3-4BE3-B637-7F43D75199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randomBar dir="vert"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C530E-4D2C-4518-8AC6-0B732653A02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randomBar dir="vert"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55282-2781-4AB3-A4D6-AB48B1CFEAD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randomBar dir="vert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48A59-A60B-4037-A488-24A4253E27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randomBar dir="vert"/>
  </p:transition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242E2-3ED4-4E9D-9C45-2B18FB11B6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randomBar dir="vert"/>
  </p:transition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E1958-F268-42F3-B104-B67866A382B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randomBar dir="vert"/>
  </p:transition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EC086-E162-4ED8-B25F-4DEF8B2559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randomBar dir="vert"/>
  </p:transition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39711-F82D-4368-9028-621D151E100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randomBar dir="vert"/>
  </p:transition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5D586-FDE9-4CC3-A843-843ABD12BF2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randomBar dir="vert"/>
  </p:transition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50270-A383-41C4-87B9-08528259506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randomBar dir="vert"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40B9C8-1DA6-4025-B72F-C4350C10D530}" type="datetimeFigureOut">
              <a:rPr lang="en-US" smtClean="0"/>
              <a:pPr/>
              <a:t>10/28/2021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CCB4C4-87A2-49E5-8A95-74038C5F2E5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ransition spd="med">
    <p:wipe dir="r"/>
  </p:transition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D2FB84-1ED0-4479-A7A4-8568615FB86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ransition>
    <p:randomBar dir="vert"/>
  </p:transition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2A5F6-02DC-4725-9A6E-E1F16B14CA51}" type="slidenum">
              <a:rPr lang="en-US"/>
              <a:pPr/>
              <a:t>1</a:t>
            </a:fld>
            <a:endParaRPr lang="en-US" dirty="0"/>
          </a:p>
        </p:txBody>
      </p:sp>
      <p:sp>
        <p:nvSpPr>
          <p:cNvPr id="23347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667000"/>
            <a:ext cx="9144000" cy="1143000"/>
          </a:xfrm>
        </p:spPr>
        <p:txBody>
          <a:bodyPr>
            <a:normAutofit fontScale="90000"/>
          </a:bodyPr>
          <a:lstStyle/>
          <a:p>
            <a:r>
              <a:rPr lang="en-US" sz="4900" dirty="0" smtClean="0">
                <a:solidFill>
                  <a:srgbClr val="009900"/>
                </a:solidFill>
                <a:latin typeface="Arial" pitchFamily="34" charset="0"/>
                <a:cs typeface="Arial" pitchFamily="34" charset="0"/>
              </a:rPr>
              <a:t>Web Engineering</a:t>
            </a:r>
            <a:r>
              <a:rPr lang="en-US" sz="4200" dirty="0">
                <a:solidFill>
                  <a:schemeClr val="tx1"/>
                </a:solidFill>
              </a:rPr>
              <a:t/>
            </a:r>
            <a:br>
              <a:rPr lang="en-US" sz="4200" dirty="0">
                <a:solidFill>
                  <a:schemeClr val="tx1"/>
                </a:solidFill>
              </a:rPr>
            </a:br>
            <a:r>
              <a:rPr lang="en-US" sz="5300" dirty="0" smtClean="0">
                <a:solidFill>
                  <a:prstClr val="black"/>
                </a:solidFill>
              </a:rPr>
              <a:t> Forms</a:t>
            </a:r>
            <a:r>
              <a:rPr lang="en-US" sz="4200" dirty="0" smtClean="0">
                <a:solidFill>
                  <a:schemeClr val="tx1"/>
                </a:solidFill>
              </a:rPr>
              <a:t/>
            </a:r>
            <a:br>
              <a:rPr lang="en-US" sz="4200" dirty="0" smtClean="0">
                <a:solidFill>
                  <a:schemeClr val="tx1"/>
                </a:solidFill>
              </a:rPr>
            </a:br>
            <a:r>
              <a:rPr lang="en-US" sz="470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Lecture 04</a:t>
            </a:r>
            <a:endParaRPr lang="en-US" sz="4700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/>
          <p:cNvSpPr/>
          <p:nvPr/>
        </p:nvSpPr>
        <p:spPr bwMode="auto">
          <a:xfrm>
            <a:off x="8001000" y="6172200"/>
            <a:ext cx="1143000" cy="6096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8889290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9890"/>
            <a:ext cx="8229600" cy="639762"/>
          </a:xfrm>
        </p:spPr>
        <p:txBody>
          <a:bodyPr>
            <a:noAutofit/>
          </a:bodyPr>
          <a:lstStyle/>
          <a:p>
            <a:pPr eaLnBrk="1" hangingPunct="1"/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FORMS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914400"/>
            <a:ext cx="8458200" cy="5638800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dirty="0" smtClean="0"/>
              <a:t>Its how HTML does </a:t>
            </a:r>
            <a:r>
              <a:rPr lang="en-US" dirty="0" smtClean="0">
                <a:solidFill>
                  <a:srgbClr val="FF0000"/>
                </a:solidFill>
              </a:rPr>
              <a:t>interactivity</a:t>
            </a:r>
            <a:r>
              <a:rPr lang="en-US" dirty="0" smtClean="0"/>
              <a:t>. There are quite new feature in HTML5. But the fundamental idea does not change since the first web browser.</a:t>
            </a:r>
          </a:p>
          <a:p>
            <a:pPr>
              <a:lnSpc>
                <a:spcPct val="80000"/>
              </a:lnSpc>
            </a:pPr>
            <a:endParaRPr lang="en-US" dirty="0" smtClean="0"/>
          </a:p>
          <a:p>
            <a:pPr>
              <a:lnSpc>
                <a:spcPct val="80000"/>
              </a:lnSpc>
            </a:pPr>
            <a:r>
              <a:rPr lang="en-US" dirty="0" smtClean="0"/>
              <a:t>There basically </a:t>
            </a:r>
            <a:r>
              <a:rPr lang="en-US" dirty="0" smtClean="0">
                <a:solidFill>
                  <a:srgbClr val="0000FF"/>
                </a:solidFill>
              </a:rPr>
              <a:t>two ways to use forms</a:t>
            </a:r>
            <a:r>
              <a:rPr lang="en-US" dirty="0" smtClean="0"/>
              <a:t> in HTML.</a:t>
            </a:r>
          </a:p>
          <a:p>
            <a:pPr>
              <a:lnSpc>
                <a:spcPct val="80000"/>
              </a:lnSpc>
            </a:pPr>
            <a:endParaRPr lang="en-US" dirty="0" smtClean="0"/>
          </a:p>
          <a:p>
            <a:pPr lvl="1">
              <a:lnSpc>
                <a:spcPct val="80000"/>
              </a:lnSpc>
              <a:buFont typeface="Wingdings" pitchFamily="2" charset="2"/>
              <a:buChar char="§"/>
            </a:pPr>
            <a:r>
              <a:rPr lang="en-US" dirty="0" smtClean="0"/>
              <a:t>Traditionally they are </a:t>
            </a:r>
            <a:r>
              <a:rPr lang="en-US" dirty="0" smtClean="0">
                <a:solidFill>
                  <a:srgbClr val="00B050"/>
                </a:solidFill>
              </a:rPr>
              <a:t>mostly use to interface</a:t>
            </a:r>
            <a:r>
              <a:rPr lang="en-US" dirty="0" smtClean="0"/>
              <a:t> with the </a:t>
            </a:r>
            <a:r>
              <a:rPr lang="en-US" dirty="0" smtClean="0">
                <a:solidFill>
                  <a:srgbClr val="00B0F0"/>
                </a:solidFill>
              </a:rPr>
              <a:t>process on server</a:t>
            </a:r>
            <a:r>
              <a:rPr lang="en-US" dirty="0" smtClean="0"/>
              <a:t> </a:t>
            </a:r>
            <a:r>
              <a:rPr lang="en-US" smtClean="0"/>
              <a:t>using PHP/ASP.</a:t>
            </a:r>
            <a:endParaRPr lang="en-US" dirty="0" smtClean="0"/>
          </a:p>
          <a:p>
            <a:pPr lvl="1">
              <a:lnSpc>
                <a:spcPct val="80000"/>
              </a:lnSpc>
              <a:buFont typeface="Wingdings" pitchFamily="2" charset="2"/>
              <a:buChar char="§"/>
            </a:pPr>
            <a:endParaRPr lang="en-US" dirty="0" smtClean="0"/>
          </a:p>
          <a:p>
            <a:pPr lvl="1">
              <a:lnSpc>
                <a:spcPct val="80000"/>
              </a:lnSpc>
              <a:buFont typeface="Wingdings" pitchFamily="2" charset="2"/>
              <a:buChar char="§"/>
            </a:pPr>
            <a:r>
              <a:rPr lang="en-US" dirty="0" smtClean="0"/>
              <a:t>Today they are often use to </a:t>
            </a:r>
            <a:r>
              <a:rPr lang="en-US" dirty="0" smtClean="0">
                <a:solidFill>
                  <a:srgbClr val="00B050"/>
                </a:solidFill>
              </a:rPr>
              <a:t>interface with JavaScript</a:t>
            </a:r>
            <a:r>
              <a:rPr lang="en-US" dirty="0" smtClean="0"/>
              <a:t> running on </a:t>
            </a:r>
            <a:r>
              <a:rPr lang="en-US" dirty="0" smtClean="0">
                <a:solidFill>
                  <a:srgbClr val="00B0F0"/>
                </a:solidFill>
              </a:rPr>
              <a:t>client machine</a:t>
            </a:r>
            <a:r>
              <a:rPr lang="en-US" dirty="0" smtClean="0"/>
              <a:t>.</a:t>
            </a:r>
          </a:p>
        </p:txBody>
      </p:sp>
    </p:spTree>
  </p:cSld>
  <p:clrMapOvr>
    <a:masterClrMapping/>
  </p:clrMapOvr>
  <p:transition>
    <p:randomBar dir="vert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9890"/>
            <a:ext cx="8229600" cy="639762"/>
          </a:xfrm>
        </p:spPr>
        <p:txBody>
          <a:bodyPr>
            <a:noAutofit/>
          </a:bodyPr>
          <a:lstStyle/>
          <a:p>
            <a:pPr eaLnBrk="1" hangingPunct="1"/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Interactive Forms (1)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914400"/>
            <a:ext cx="8458200" cy="5638800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dirty="0" smtClean="0"/>
              <a:t>Without forms, a Web site is “</a:t>
            </a:r>
            <a:r>
              <a:rPr lang="en-US" dirty="0" smtClean="0">
                <a:solidFill>
                  <a:srgbClr val="00FF00"/>
                </a:solidFill>
              </a:rPr>
              <a:t>read-only</a:t>
            </a:r>
            <a:r>
              <a:rPr lang="en-US" dirty="0" smtClean="0"/>
              <a:t>” – it just provides information to the user.</a:t>
            </a:r>
          </a:p>
          <a:p>
            <a:pPr>
              <a:lnSpc>
                <a:spcPct val="80000"/>
              </a:lnSpc>
            </a:pPr>
            <a:endParaRPr lang="en-US" dirty="0" smtClean="0"/>
          </a:p>
          <a:p>
            <a:r>
              <a:rPr lang="en-US" dirty="0" smtClean="0"/>
              <a:t>Forms enable the </a:t>
            </a:r>
            <a:r>
              <a:rPr lang="en-US" dirty="0" smtClean="0">
                <a:solidFill>
                  <a:srgbClr val="00FF00"/>
                </a:solidFill>
              </a:rPr>
              <a:t>user to provide information to the Web site</a:t>
            </a:r>
            <a:r>
              <a:rPr lang="en-US" dirty="0" smtClean="0"/>
              <a:t>.  For example, the user can:</a:t>
            </a:r>
          </a:p>
          <a:p>
            <a:pPr lvl="1"/>
            <a:r>
              <a:rPr lang="en-US" dirty="0" smtClean="0"/>
              <a:t>Perform </a:t>
            </a:r>
            <a:r>
              <a:rPr lang="en-US" dirty="0" smtClean="0">
                <a:solidFill>
                  <a:srgbClr val="FF0000"/>
                </a:solidFill>
              </a:rPr>
              <a:t>searches</a:t>
            </a:r>
            <a:r>
              <a:rPr lang="en-US" dirty="0" smtClean="0"/>
              <a:t> on Web site</a:t>
            </a:r>
          </a:p>
          <a:p>
            <a:pPr lvl="1"/>
            <a:r>
              <a:rPr lang="en-US" dirty="0" smtClean="0"/>
              <a:t>Give </a:t>
            </a:r>
            <a:r>
              <a:rPr lang="en-US" dirty="0" smtClean="0">
                <a:solidFill>
                  <a:srgbClr val="FF0000"/>
                </a:solidFill>
              </a:rPr>
              <a:t>comments</a:t>
            </a:r>
          </a:p>
          <a:p>
            <a:pPr lvl="1"/>
            <a:r>
              <a:rPr lang="en-US" dirty="0" smtClean="0">
                <a:solidFill>
                  <a:srgbClr val="0000FF"/>
                </a:solidFill>
              </a:rPr>
              <a:t>Ask for info</a:t>
            </a:r>
            <a:r>
              <a:rPr lang="en-US" dirty="0" smtClean="0"/>
              <a:t> that is not available on the Website</a:t>
            </a:r>
          </a:p>
          <a:p>
            <a:pPr lvl="1"/>
            <a:r>
              <a:rPr lang="en-US" dirty="0" smtClean="0"/>
              <a:t>Place </a:t>
            </a:r>
            <a:r>
              <a:rPr lang="en-US" dirty="0" smtClean="0">
                <a:solidFill>
                  <a:srgbClr val="0000FF"/>
                </a:solidFill>
              </a:rPr>
              <a:t>order</a:t>
            </a:r>
            <a:r>
              <a:rPr lang="en-US" dirty="0" smtClean="0">
                <a:solidFill>
                  <a:schemeClr val="tx2"/>
                </a:solidFill>
              </a:rPr>
              <a:t> </a:t>
            </a:r>
            <a:r>
              <a:rPr lang="en-US" dirty="0" smtClean="0"/>
              <a:t>for goods and services</a:t>
            </a:r>
          </a:p>
          <a:p>
            <a:pPr>
              <a:lnSpc>
                <a:spcPct val="80000"/>
              </a:lnSpc>
            </a:pPr>
            <a:endParaRPr lang="en-US" dirty="0" smtClean="0"/>
          </a:p>
        </p:txBody>
      </p:sp>
    </p:spTree>
  </p:cSld>
  <p:clrMapOvr>
    <a:masterClrMapping/>
  </p:clrMapOvr>
  <p:transition>
    <p:randomBar dir="vert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B781C-964A-4A79-8A80-917816585508}" type="slidenum">
              <a:rPr lang="en-US"/>
              <a:pPr/>
              <a:t>4</a:t>
            </a:fld>
            <a:endParaRPr lang="en-US"/>
          </a:p>
        </p:txBody>
      </p:sp>
      <p:sp>
        <p:nvSpPr>
          <p:cNvPr id="23757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-228600"/>
            <a:ext cx="7772400" cy="11430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Interactive Forms (2)</a:t>
            </a:r>
          </a:p>
        </p:txBody>
      </p:sp>
      <p:sp>
        <p:nvSpPr>
          <p:cNvPr id="237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838200"/>
            <a:ext cx="8382000" cy="5181600"/>
          </a:xfrm>
        </p:spPr>
        <p:txBody>
          <a:bodyPr/>
          <a:lstStyle/>
          <a:p>
            <a:pPr>
              <a:spcAft>
                <a:spcPct val="80000"/>
              </a:spcAft>
            </a:pPr>
            <a:r>
              <a:rPr lang="en-US" dirty="0"/>
              <a:t>Can be </a:t>
            </a:r>
            <a:r>
              <a:rPr lang="en-US" dirty="0">
                <a:solidFill>
                  <a:srgbClr val="0000FF"/>
                </a:solidFill>
              </a:rPr>
              <a:t>simple</a:t>
            </a:r>
            <a:r>
              <a:rPr lang="en-US" dirty="0"/>
              <a:t> or very complex</a:t>
            </a:r>
          </a:p>
          <a:p>
            <a:pPr>
              <a:spcAft>
                <a:spcPct val="80000"/>
              </a:spcAft>
            </a:pPr>
            <a:r>
              <a:rPr lang="en-US" dirty="0"/>
              <a:t>Can fill a </a:t>
            </a:r>
            <a:r>
              <a:rPr lang="en-US" dirty="0">
                <a:solidFill>
                  <a:srgbClr val="FF0000"/>
                </a:solidFill>
              </a:rPr>
              <a:t>whole page</a:t>
            </a:r>
            <a:r>
              <a:rPr lang="en-US" dirty="0"/>
              <a:t> or just a single line</a:t>
            </a:r>
          </a:p>
          <a:p>
            <a:pPr>
              <a:spcAft>
                <a:spcPct val="80000"/>
              </a:spcAft>
            </a:pPr>
            <a:r>
              <a:rPr lang="en-US" dirty="0"/>
              <a:t>Can contain a </a:t>
            </a:r>
            <a:r>
              <a:rPr lang="en-US" dirty="0">
                <a:solidFill>
                  <a:srgbClr val="0000FF"/>
                </a:solidFill>
              </a:rPr>
              <a:t>single element</a:t>
            </a:r>
            <a:r>
              <a:rPr lang="en-US" dirty="0"/>
              <a:t> or many</a:t>
            </a:r>
          </a:p>
          <a:p>
            <a:pPr>
              <a:spcAft>
                <a:spcPct val="80000"/>
              </a:spcAft>
            </a:pPr>
            <a:r>
              <a:rPr lang="en-US" dirty="0"/>
              <a:t>Are always </a:t>
            </a:r>
            <a:r>
              <a:rPr lang="en-US" dirty="0">
                <a:solidFill>
                  <a:srgbClr val="FF0000"/>
                </a:solidFill>
              </a:rPr>
              <a:t>placed between</a:t>
            </a:r>
            <a:r>
              <a:rPr lang="en-US" dirty="0"/>
              <a:t> the &lt;BODY&gt; and &lt;/BODY&gt; tags of a Web page</a:t>
            </a:r>
          </a:p>
        </p:txBody>
      </p:sp>
    </p:spTree>
  </p:cSld>
  <p:clrMapOvr>
    <a:masterClrMapping/>
  </p:clrMapOvr>
  <p:transition>
    <p:randomBar dir="vert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E48FE-4D55-48A6-AD62-0D61A0DE57F1}" type="slidenum">
              <a:rPr lang="en-US"/>
              <a:pPr/>
              <a:t>5</a:t>
            </a:fld>
            <a:endParaRPr lang="en-US"/>
          </a:p>
        </p:txBody>
      </p:sp>
      <p:sp>
        <p:nvSpPr>
          <p:cNvPr id="24064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-76200"/>
            <a:ext cx="7772400" cy="11430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Interactive Forms (3)</a:t>
            </a:r>
          </a:p>
        </p:txBody>
      </p:sp>
      <p:sp>
        <p:nvSpPr>
          <p:cNvPr id="2406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4600" y="1295400"/>
            <a:ext cx="4191000" cy="5562600"/>
          </a:xfrm>
        </p:spPr>
        <p:txBody>
          <a:bodyPr/>
          <a:lstStyle/>
          <a:p>
            <a:r>
              <a:rPr lang="en-US" dirty="0"/>
              <a:t>Are GUI-based</a:t>
            </a:r>
          </a:p>
          <a:p>
            <a:endParaRPr lang="en-US" dirty="0"/>
          </a:p>
          <a:p>
            <a:r>
              <a:rPr lang="en-US" dirty="0"/>
              <a:t>May contain: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Text</a:t>
            </a:r>
            <a:r>
              <a:rPr lang="en-US" dirty="0"/>
              <a:t> fields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Check boxes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Buttons</a:t>
            </a:r>
          </a:p>
          <a:p>
            <a:pPr lvl="1"/>
            <a:r>
              <a:rPr lang="en-US" dirty="0"/>
              <a:t>Scrollable </a:t>
            </a:r>
            <a:r>
              <a:rPr lang="en-US" dirty="0">
                <a:solidFill>
                  <a:srgbClr val="0000FF"/>
                </a:solidFill>
              </a:rPr>
              <a:t>lists</a:t>
            </a:r>
          </a:p>
        </p:txBody>
      </p:sp>
    </p:spTree>
  </p:cSld>
  <p:clrMapOvr>
    <a:masterClrMapping/>
  </p:clrMapOvr>
  <p:transition>
    <p:randomBar dir="vert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9890"/>
            <a:ext cx="8229600" cy="639762"/>
          </a:xfrm>
        </p:spPr>
        <p:txBody>
          <a:bodyPr>
            <a:noAutofit/>
          </a:bodyPr>
          <a:lstStyle/>
          <a:p>
            <a:pPr eaLnBrk="1" hangingPunct="1"/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FORM Tag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914400"/>
            <a:ext cx="8458200" cy="5638800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dirty="0" smtClean="0"/>
              <a:t>All of the component of a form appear in the content of a </a:t>
            </a:r>
            <a:r>
              <a:rPr lang="en-US" dirty="0" smtClean="0">
                <a:solidFill>
                  <a:srgbClr val="00B050"/>
                </a:solidFill>
              </a:rPr>
              <a:t>&lt;form&gt; tag</a:t>
            </a:r>
            <a:r>
              <a:rPr lang="en-US" dirty="0" smtClean="0"/>
              <a:t>.</a:t>
            </a:r>
          </a:p>
          <a:p>
            <a:pPr>
              <a:lnSpc>
                <a:spcPct val="80000"/>
              </a:lnSpc>
            </a:pPr>
            <a:r>
              <a:rPr lang="en-US" dirty="0" smtClean="0">
                <a:solidFill>
                  <a:srgbClr val="00B0F0"/>
                </a:solidFill>
              </a:rPr>
              <a:t>Example:</a:t>
            </a:r>
          </a:p>
          <a:p>
            <a:pPr>
              <a:lnSpc>
                <a:spcPct val="80000"/>
              </a:lnSpc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FF0000"/>
                </a:solidFill>
              </a:rPr>
              <a:t>&lt;form </a:t>
            </a:r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name</a:t>
            </a:r>
            <a:r>
              <a:rPr lang="en-US" dirty="0" smtClean="0"/>
              <a:t>=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“</a:t>
            </a:r>
            <a:r>
              <a:rPr lang="en-US" dirty="0" err="1" smtClean="0"/>
              <a:t>sendEmail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”</a:t>
            </a:r>
            <a:r>
              <a:rPr lang="en-US" dirty="0" smtClean="0"/>
              <a:t> </a:t>
            </a:r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method</a:t>
            </a:r>
            <a:r>
              <a:rPr lang="en-US" dirty="0" smtClean="0"/>
              <a:t>=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“</a:t>
            </a:r>
            <a:r>
              <a:rPr lang="en-US" dirty="0" smtClean="0"/>
              <a:t>post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”</a:t>
            </a:r>
            <a:r>
              <a:rPr lang="en-US" dirty="0" smtClean="0"/>
              <a:t> </a:t>
            </a:r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action</a:t>
            </a:r>
            <a:r>
              <a:rPr lang="en-US" dirty="0" smtClean="0"/>
              <a:t>=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“</a:t>
            </a:r>
            <a:r>
              <a:rPr lang="en-US" dirty="0" err="1" smtClean="0"/>
              <a:t>sendMailServerScriptURL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” </a:t>
            </a:r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autocomplete=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“</a:t>
            </a:r>
            <a:r>
              <a:rPr lang="en-US" dirty="0" smtClean="0"/>
              <a:t>off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” </a:t>
            </a:r>
            <a:r>
              <a:rPr lang="en-US" dirty="0" smtClean="0">
                <a:solidFill>
                  <a:srgbClr val="FF0000"/>
                </a:solidFill>
              </a:rPr>
              <a:t>&gt;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&lt;/form&gt;</a:t>
            </a:r>
            <a:endParaRPr lang="en-US" dirty="0" smtClean="0"/>
          </a:p>
          <a:p>
            <a:pPr>
              <a:lnSpc>
                <a:spcPct val="80000"/>
              </a:lnSpc>
            </a:pPr>
            <a:r>
              <a:rPr lang="en-US" dirty="0" smtClean="0"/>
              <a:t>The action attribute specifies the </a:t>
            </a:r>
            <a:r>
              <a:rPr lang="en-US" dirty="0" smtClean="0">
                <a:solidFill>
                  <a:srgbClr val="00B050"/>
                </a:solidFill>
              </a:rPr>
              <a:t>URL of the application on the web server</a:t>
            </a:r>
            <a:r>
              <a:rPr lang="en-US" dirty="0" smtClean="0"/>
              <a:t> that is to be called when the user clicks the </a:t>
            </a:r>
            <a:r>
              <a:rPr lang="en-US" dirty="0" smtClean="0">
                <a:solidFill>
                  <a:srgbClr val="0000FF"/>
                </a:solidFill>
              </a:rPr>
              <a:t>SUBMIT button</a:t>
            </a:r>
            <a:r>
              <a:rPr lang="en-US" dirty="0" smtClean="0"/>
              <a:t>.</a:t>
            </a:r>
          </a:p>
          <a:p>
            <a:pPr>
              <a:lnSpc>
                <a:spcPct val="80000"/>
              </a:lnSpc>
            </a:pPr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method attribute</a:t>
            </a:r>
            <a:r>
              <a:rPr lang="en-US" dirty="0"/>
              <a:t> specifies one of the two techniques, </a:t>
            </a:r>
            <a:r>
              <a:rPr lang="en-US" dirty="0">
                <a:solidFill>
                  <a:srgbClr val="0000FF"/>
                </a:solidFill>
              </a:rPr>
              <a:t>get</a:t>
            </a:r>
            <a:r>
              <a:rPr lang="en-US" dirty="0"/>
              <a:t> or </a:t>
            </a:r>
            <a:r>
              <a:rPr lang="en-US" dirty="0">
                <a:solidFill>
                  <a:srgbClr val="0000FF"/>
                </a:solidFill>
              </a:rPr>
              <a:t>post</a:t>
            </a:r>
            <a:r>
              <a:rPr lang="en-US" dirty="0"/>
              <a:t>. Used to pass the form data to the server.</a:t>
            </a:r>
          </a:p>
          <a:p>
            <a:pPr>
              <a:lnSpc>
                <a:spcPct val="80000"/>
              </a:lnSpc>
            </a:pPr>
            <a:endParaRPr lang="en-US" dirty="0" smtClean="0"/>
          </a:p>
        </p:txBody>
      </p:sp>
    </p:spTree>
  </p:cSld>
  <p:clrMapOvr>
    <a:masterClrMapping/>
  </p:clrMapOvr>
  <p:transition>
    <p:randomBar dir="vert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9890"/>
            <a:ext cx="8229600" cy="639762"/>
          </a:xfrm>
        </p:spPr>
        <p:txBody>
          <a:bodyPr>
            <a:noAutofit/>
          </a:bodyPr>
          <a:lstStyle/>
          <a:p>
            <a:pPr eaLnBrk="1" hangingPunct="1"/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INPUT Tag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914400"/>
            <a:ext cx="8458200" cy="5638800"/>
          </a:xfrm>
        </p:spPr>
        <p:txBody>
          <a:bodyPr>
            <a:normAutofit lnSpcReduction="10000"/>
          </a:bodyPr>
          <a:lstStyle/>
          <a:p>
            <a:pPr>
              <a:lnSpc>
                <a:spcPct val="80000"/>
              </a:lnSpc>
            </a:pPr>
            <a:r>
              <a:rPr lang="en-US" dirty="0" smtClean="0">
                <a:solidFill>
                  <a:srgbClr val="0000FF"/>
                </a:solidFill>
              </a:rPr>
              <a:t>&lt;input&gt; tag</a:t>
            </a:r>
            <a:r>
              <a:rPr lang="en-US" dirty="0" smtClean="0"/>
              <a:t> is used for text, passwords, checkboxes, radio buttons, action button reset and submit.</a:t>
            </a:r>
          </a:p>
          <a:p>
            <a:pPr>
              <a:lnSpc>
                <a:spcPct val="80000"/>
              </a:lnSpc>
            </a:pPr>
            <a:endParaRPr lang="en-US" dirty="0" smtClean="0"/>
          </a:p>
          <a:p>
            <a:pPr>
              <a:lnSpc>
                <a:spcPct val="80000"/>
              </a:lnSpc>
            </a:pPr>
            <a:r>
              <a:rPr lang="en-US" dirty="0" smtClean="0"/>
              <a:t>One </a:t>
            </a:r>
            <a:r>
              <a:rPr lang="en-US" dirty="0" smtClean="0">
                <a:solidFill>
                  <a:srgbClr val="FF0000"/>
                </a:solidFill>
              </a:rPr>
              <a:t>attribute</a:t>
            </a:r>
            <a:r>
              <a:rPr lang="en-US" dirty="0" smtClean="0"/>
              <a:t> of &lt;input&gt; tag is </a:t>
            </a:r>
            <a:r>
              <a:rPr lang="en-US" dirty="0" smtClean="0">
                <a:solidFill>
                  <a:srgbClr val="FF0000"/>
                </a:solidFill>
              </a:rPr>
              <a:t>type</a:t>
            </a:r>
            <a:r>
              <a:rPr lang="en-US" dirty="0" smtClean="0"/>
              <a:t>, which specifies particular kind of controls</a:t>
            </a:r>
          </a:p>
          <a:p>
            <a:pPr>
              <a:lnSpc>
                <a:spcPct val="80000"/>
              </a:lnSpc>
            </a:pPr>
            <a:endParaRPr lang="en-US" dirty="0" smtClean="0"/>
          </a:p>
          <a:p>
            <a:pPr>
              <a:lnSpc>
                <a:spcPct val="80000"/>
              </a:lnSpc>
            </a:pPr>
            <a:r>
              <a:rPr lang="en-US" dirty="0" smtClean="0">
                <a:solidFill>
                  <a:srgbClr val="0000FF"/>
                </a:solidFill>
              </a:rPr>
              <a:t>Example</a:t>
            </a:r>
          </a:p>
          <a:p>
            <a:pPr>
              <a:lnSpc>
                <a:spcPct val="80000"/>
              </a:lnSpc>
              <a:buNone/>
            </a:pPr>
            <a:r>
              <a:rPr lang="en-US" dirty="0" smtClean="0"/>
              <a:t>	&lt;form name=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“</a:t>
            </a:r>
            <a:r>
              <a:rPr lang="en-US" dirty="0" err="1" smtClean="0"/>
              <a:t>sendEmail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”</a:t>
            </a:r>
            <a:r>
              <a:rPr lang="en-US" dirty="0" smtClean="0"/>
              <a:t> method=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“</a:t>
            </a:r>
            <a:r>
              <a:rPr lang="en-US" dirty="0" smtClean="0"/>
              <a:t>get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”</a:t>
            </a:r>
            <a:r>
              <a:rPr lang="en-US" dirty="0" smtClean="0"/>
              <a:t> action=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“”</a:t>
            </a:r>
            <a:r>
              <a:rPr lang="en-US" dirty="0" smtClean="0"/>
              <a:t>&gt;</a:t>
            </a:r>
          </a:p>
          <a:p>
            <a:pPr>
              <a:lnSpc>
                <a:spcPct val="80000"/>
              </a:lnSpc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00B050"/>
                </a:solidFill>
              </a:rPr>
              <a:t>&lt;input</a:t>
            </a:r>
            <a:r>
              <a:rPr lang="en-US" dirty="0" smtClean="0"/>
              <a:t> </a:t>
            </a:r>
            <a:r>
              <a:rPr lang="en-US" dirty="0" smtClean="0">
                <a:solidFill>
                  <a:schemeClr val="tx2">
                    <a:lumMod val="40000"/>
                    <a:lumOff val="60000"/>
                  </a:schemeClr>
                </a:solidFill>
              </a:rPr>
              <a:t>type</a:t>
            </a:r>
            <a:r>
              <a:rPr lang="en-US" dirty="0" smtClean="0"/>
              <a:t>=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“</a:t>
            </a:r>
            <a:r>
              <a:rPr lang="en-US" dirty="0" smtClean="0"/>
              <a:t>text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”</a:t>
            </a:r>
            <a:r>
              <a:rPr lang="en-US" dirty="0" smtClean="0"/>
              <a:t> </a:t>
            </a:r>
            <a:r>
              <a:rPr lang="en-US" dirty="0" smtClean="0">
                <a:solidFill>
                  <a:schemeClr val="tx2">
                    <a:lumMod val="40000"/>
                    <a:lumOff val="60000"/>
                  </a:schemeClr>
                </a:solidFill>
              </a:rPr>
              <a:t>name</a:t>
            </a:r>
            <a:r>
              <a:rPr lang="en-US" dirty="0" smtClean="0"/>
              <a:t>=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“</a:t>
            </a:r>
            <a:r>
              <a:rPr lang="en-US" dirty="0" smtClean="0"/>
              <a:t>name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”</a:t>
            </a:r>
            <a:r>
              <a:rPr lang="en-US" dirty="0" smtClean="0"/>
              <a:t> </a:t>
            </a:r>
            <a:r>
              <a:rPr lang="en-US" dirty="0" smtClean="0">
                <a:solidFill>
                  <a:schemeClr val="tx2">
                    <a:lumMod val="40000"/>
                    <a:lumOff val="60000"/>
                  </a:schemeClr>
                </a:solidFill>
              </a:rPr>
              <a:t>size</a:t>
            </a:r>
            <a:r>
              <a:rPr lang="en-US" dirty="0" smtClean="0"/>
              <a:t>=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“</a:t>
            </a:r>
            <a:r>
              <a:rPr lang="en-US" dirty="0" smtClean="0"/>
              <a:t>25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” </a:t>
            </a:r>
            <a:r>
              <a:rPr lang="en-US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maxlength</a:t>
            </a:r>
            <a:r>
              <a:rPr lang="en-US" dirty="0"/>
              <a:t>=</a:t>
            </a:r>
            <a:r>
              <a:rPr lang="en-US" dirty="0">
                <a:latin typeface="Arial" pitchFamily="34" charset="0"/>
                <a:cs typeface="Arial" pitchFamily="34" charset="0"/>
              </a:rPr>
              <a:t>“</a:t>
            </a:r>
            <a:r>
              <a:rPr lang="en-US" dirty="0"/>
              <a:t>25</a:t>
            </a:r>
            <a:r>
              <a:rPr lang="en-US" dirty="0">
                <a:latin typeface="Arial" pitchFamily="34" charset="0"/>
                <a:cs typeface="Arial" pitchFamily="34" charset="0"/>
              </a:rPr>
              <a:t>”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00B050"/>
                </a:solidFill>
              </a:rPr>
              <a:t>/&gt;</a:t>
            </a:r>
          </a:p>
          <a:p>
            <a:pPr>
              <a:lnSpc>
                <a:spcPct val="80000"/>
              </a:lnSpc>
              <a:buNone/>
            </a:pPr>
            <a:r>
              <a:rPr lang="en-US" dirty="0" smtClean="0"/>
              <a:t>	&lt;/form&gt;</a:t>
            </a:r>
          </a:p>
          <a:p>
            <a:pPr>
              <a:lnSpc>
                <a:spcPct val="80000"/>
              </a:lnSpc>
            </a:pPr>
            <a:endParaRPr lang="en-US" dirty="0" smtClean="0"/>
          </a:p>
        </p:txBody>
      </p:sp>
    </p:spTree>
  </p:cSld>
  <p:clrMapOvr>
    <a:masterClrMapping/>
  </p:clrMapOvr>
  <p:transition>
    <p:randomBar dir="vert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229C-BD42-4A07-BFD8-AE80206C5851}" type="slidenum">
              <a:rPr lang="en-US"/>
              <a:pPr/>
              <a:t>8</a:t>
            </a:fld>
            <a:endParaRPr lang="en-US"/>
          </a:p>
        </p:txBody>
      </p:sp>
      <p:sp>
        <p:nvSpPr>
          <p:cNvPr id="27750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-152400"/>
            <a:ext cx="7772400" cy="11430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Single-Line Text Input Field</a:t>
            </a:r>
          </a:p>
        </p:txBody>
      </p:sp>
      <p:sp>
        <p:nvSpPr>
          <p:cNvPr id="277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66800"/>
            <a:ext cx="8229600" cy="5059363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90000"/>
              </a:lnSpc>
              <a:buFontTx/>
              <a:buNone/>
            </a:pPr>
            <a:r>
              <a:rPr lang="en-US" sz="3600" dirty="0">
                <a:solidFill>
                  <a:srgbClr val="FF3300"/>
                </a:solidFill>
              </a:rPr>
              <a:t>&lt;INPUT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en-US" sz="3600" dirty="0"/>
              <a:t>	</a:t>
            </a:r>
            <a:r>
              <a:rPr lang="en-US" sz="3600" dirty="0">
                <a:solidFill>
                  <a:srgbClr val="0000FF"/>
                </a:solidFill>
              </a:rPr>
              <a:t>type=</a:t>
            </a:r>
            <a:r>
              <a:rPr lang="en-US" sz="36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“</a:t>
            </a:r>
            <a:r>
              <a:rPr lang="en-US" sz="3600" dirty="0"/>
              <a:t>text</a:t>
            </a:r>
            <a:r>
              <a:rPr lang="en-US" sz="3600" dirty="0">
                <a:latin typeface="Arial" pitchFamily="34" charset="0"/>
                <a:cs typeface="Arial" pitchFamily="34" charset="0"/>
              </a:rPr>
              <a:t>”</a:t>
            </a:r>
            <a:endParaRPr lang="en-US" sz="3600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0" indent="0">
              <a:lnSpc>
                <a:spcPct val="90000"/>
              </a:lnSpc>
              <a:buFontTx/>
              <a:buNone/>
            </a:pPr>
            <a:r>
              <a:rPr lang="en-US" sz="3600" dirty="0">
                <a:solidFill>
                  <a:schemeClr val="tx2"/>
                </a:solidFill>
              </a:rPr>
              <a:t>	</a:t>
            </a:r>
            <a:r>
              <a:rPr lang="en-US" sz="3600" dirty="0">
                <a:solidFill>
                  <a:srgbClr val="0000FF"/>
                </a:solidFill>
              </a:rPr>
              <a:t>name=</a:t>
            </a:r>
            <a:r>
              <a:rPr lang="en-US" sz="36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“</a:t>
            </a:r>
            <a:r>
              <a:rPr lang="en-US" sz="3600" dirty="0" err="1"/>
              <a:t>fieldName</a:t>
            </a:r>
            <a:r>
              <a:rPr lang="en-US" sz="36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”</a:t>
            </a:r>
          </a:p>
          <a:p>
            <a:pPr marL="0" indent="0">
              <a:lnSpc>
                <a:spcPct val="90000"/>
              </a:lnSpc>
              <a:buFontTx/>
              <a:buNone/>
            </a:pPr>
            <a:r>
              <a:rPr lang="en-US" sz="3600" dirty="0">
                <a:solidFill>
                  <a:schemeClr val="tx2"/>
                </a:solidFill>
              </a:rPr>
              <a:t>	</a:t>
            </a:r>
            <a:r>
              <a:rPr lang="en-US" sz="3600" dirty="0">
                <a:solidFill>
                  <a:srgbClr val="0000FF"/>
                </a:solidFill>
              </a:rPr>
              <a:t>size=</a:t>
            </a:r>
            <a:r>
              <a:rPr lang="en-US" sz="36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“</a:t>
            </a:r>
            <a:r>
              <a:rPr lang="en-US" sz="3600" dirty="0" err="1"/>
              <a:t>widthInCharacters</a:t>
            </a:r>
            <a:r>
              <a:rPr lang="en-US" sz="36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”</a:t>
            </a:r>
            <a:endParaRPr lang="en-US" sz="3600" dirty="0">
              <a:latin typeface="Arial" pitchFamily="34" charset="0"/>
              <a:cs typeface="Arial" pitchFamily="34" charset="0"/>
            </a:endParaRPr>
          </a:p>
          <a:p>
            <a:pPr marL="0" indent="0">
              <a:lnSpc>
                <a:spcPct val="90000"/>
              </a:lnSpc>
              <a:buFontTx/>
              <a:buNone/>
            </a:pPr>
            <a:r>
              <a:rPr lang="en-US" sz="3600" dirty="0">
                <a:solidFill>
                  <a:schemeClr val="tx2"/>
                </a:solidFill>
              </a:rPr>
              <a:t>	</a:t>
            </a:r>
            <a:r>
              <a:rPr lang="en-US" sz="3600" dirty="0" err="1">
                <a:solidFill>
                  <a:srgbClr val="0000FF"/>
                </a:solidFill>
              </a:rPr>
              <a:t>maxlength</a:t>
            </a:r>
            <a:r>
              <a:rPr lang="en-US" sz="3600" dirty="0">
                <a:solidFill>
                  <a:srgbClr val="0000FF"/>
                </a:solidFill>
              </a:rPr>
              <a:t>=</a:t>
            </a:r>
            <a:r>
              <a:rPr lang="en-US" sz="36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“</a:t>
            </a:r>
            <a:r>
              <a:rPr lang="en-US" sz="3600" dirty="0" err="1"/>
              <a:t>limitInCharacters</a:t>
            </a:r>
            <a:r>
              <a:rPr lang="en-US" sz="36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”</a:t>
            </a:r>
            <a:endParaRPr lang="en-US" sz="3600" dirty="0">
              <a:latin typeface="Arial" pitchFamily="34" charset="0"/>
              <a:cs typeface="Arial" pitchFamily="34" charset="0"/>
            </a:endParaRPr>
          </a:p>
          <a:p>
            <a:pPr marL="0" indent="0">
              <a:lnSpc>
                <a:spcPct val="90000"/>
              </a:lnSpc>
              <a:buFontTx/>
              <a:buNone/>
            </a:pPr>
            <a:r>
              <a:rPr lang="en-US" sz="3600" dirty="0"/>
              <a:t>	</a:t>
            </a:r>
            <a:r>
              <a:rPr lang="en-US" sz="3600" dirty="0">
                <a:solidFill>
                  <a:schemeClr val="bg1">
                    <a:lumMod val="50000"/>
                  </a:schemeClr>
                </a:solidFill>
              </a:rPr>
              <a:t>value=</a:t>
            </a:r>
            <a:r>
              <a:rPr lang="en-US" sz="36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“</a:t>
            </a:r>
            <a:r>
              <a:rPr lang="en-US" sz="3600" dirty="0" err="1" smtClean="0"/>
              <a:t>initialDefaultValue</a:t>
            </a:r>
            <a:r>
              <a:rPr lang="en-US" sz="3600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”</a:t>
            </a:r>
          </a:p>
          <a:p>
            <a:pPr marL="0" indent="0">
              <a:lnSpc>
                <a:spcPct val="90000"/>
              </a:lnSpc>
              <a:buFontTx/>
              <a:buNone/>
            </a:pPr>
            <a:r>
              <a:rPr lang="en-US" sz="3600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en-US" sz="3600" dirty="0" smtClean="0">
                <a:solidFill>
                  <a:schemeClr val="bg1">
                    <a:lumMod val="50000"/>
                  </a:schemeClr>
                </a:solidFill>
              </a:rPr>
              <a:t>placeholder=</a:t>
            </a:r>
            <a:r>
              <a:rPr lang="en-US" sz="36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“</a:t>
            </a:r>
            <a:r>
              <a:rPr lang="en-US" sz="3600" dirty="0" err="1" smtClean="0"/>
              <a:t>initialDefaultValue</a:t>
            </a:r>
            <a:r>
              <a:rPr lang="en-US" sz="36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”</a:t>
            </a:r>
          </a:p>
          <a:p>
            <a:pPr marL="0" indent="0">
              <a:lnSpc>
                <a:spcPct val="90000"/>
              </a:lnSpc>
              <a:buFontTx/>
              <a:buNone/>
            </a:pPr>
            <a:r>
              <a:rPr lang="en-US" sz="3600" dirty="0" smtClean="0">
                <a:solidFill>
                  <a:schemeClr val="tx2"/>
                </a:solidFill>
              </a:rPr>
              <a:t>	</a:t>
            </a:r>
            <a:r>
              <a:rPr lang="en-US" sz="3600" dirty="0" smtClean="0">
                <a:solidFill>
                  <a:srgbClr val="00B050"/>
                </a:solidFill>
              </a:rPr>
              <a:t>autofocus</a:t>
            </a:r>
          </a:p>
          <a:p>
            <a:pPr marL="0" indent="0">
              <a:lnSpc>
                <a:spcPct val="90000"/>
              </a:lnSpc>
              <a:buFontTx/>
              <a:buNone/>
            </a:pPr>
            <a:r>
              <a:rPr lang="en-US" sz="3600" dirty="0" smtClean="0">
                <a:solidFill>
                  <a:schemeClr val="tx2"/>
                </a:solidFill>
              </a:rPr>
              <a:t>	</a:t>
            </a:r>
            <a:r>
              <a:rPr lang="en-US" sz="3600" dirty="0" smtClean="0">
                <a:solidFill>
                  <a:srgbClr val="00B050"/>
                </a:solidFill>
              </a:rPr>
              <a:t>required</a:t>
            </a:r>
          </a:p>
          <a:p>
            <a:pPr marL="0" indent="0">
              <a:lnSpc>
                <a:spcPct val="90000"/>
              </a:lnSpc>
              <a:buFontTx/>
              <a:buNone/>
            </a:pPr>
            <a:r>
              <a:rPr lang="en-US" sz="3600" dirty="0" smtClean="0">
                <a:solidFill>
                  <a:srgbClr val="00B050"/>
                </a:solidFill>
              </a:rPr>
              <a:t>	</a:t>
            </a:r>
            <a:r>
              <a:rPr lang="en-US" sz="3600" dirty="0" err="1" smtClean="0">
                <a:solidFill>
                  <a:srgbClr val="00B050"/>
                </a:solidFill>
              </a:rPr>
              <a:t>readonly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en-US" sz="3600" dirty="0" smtClean="0">
                <a:solidFill>
                  <a:srgbClr val="FF3300"/>
                </a:solidFill>
              </a:rPr>
              <a:t>/&gt;</a:t>
            </a:r>
            <a:endParaRPr lang="en-US" sz="3600" dirty="0">
              <a:solidFill>
                <a:srgbClr val="FF3300"/>
              </a:solidFill>
            </a:endParaRPr>
          </a:p>
        </p:txBody>
      </p:sp>
    </p:spTree>
  </p:cSld>
  <p:clrMapOvr>
    <a:masterClrMapping/>
  </p:clrMapOvr>
  <p:transition>
    <p:randomBar dir="vert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9254C-1AF3-4BE3-B637-7F43D751999D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57400" y="71440"/>
            <a:ext cx="5181600" cy="2266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90725" y="2400300"/>
            <a:ext cx="5248275" cy="209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057400" y="4572000"/>
            <a:ext cx="52578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randomBar dir="vert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6DD39-8241-4FD7-8ECD-1557FC3D7474}" type="slidenum">
              <a:rPr lang="en-US"/>
              <a:pPr/>
              <a:t>10</a:t>
            </a:fld>
            <a:endParaRPr lang="en-US"/>
          </a:p>
        </p:txBody>
      </p:sp>
      <p:sp>
        <p:nvSpPr>
          <p:cNvPr id="27238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-152400"/>
            <a:ext cx="7772400" cy="11430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Password Input Field</a:t>
            </a:r>
          </a:p>
        </p:txBody>
      </p:sp>
      <p:sp>
        <p:nvSpPr>
          <p:cNvPr id="272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66800"/>
            <a:ext cx="8229600" cy="5059363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3600" dirty="0" smtClean="0">
                <a:solidFill>
                  <a:srgbClr val="00FF00"/>
                </a:solidFill>
              </a:rPr>
              <a:t> </a:t>
            </a:r>
            <a:r>
              <a:rPr lang="en-US" sz="3600" dirty="0" smtClean="0">
                <a:solidFill>
                  <a:srgbClr val="FF0000"/>
                </a:solidFill>
              </a:rPr>
              <a:t>&lt;</a:t>
            </a:r>
            <a:r>
              <a:rPr lang="en-US" sz="3600" dirty="0">
                <a:solidFill>
                  <a:srgbClr val="FF0000"/>
                </a:solidFill>
              </a:rPr>
              <a:t>INPUT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en-US" sz="3600" dirty="0"/>
              <a:t>	</a:t>
            </a:r>
            <a:r>
              <a:rPr lang="en-US" sz="3600" dirty="0">
                <a:solidFill>
                  <a:srgbClr val="0000FF"/>
                </a:solidFill>
              </a:rPr>
              <a:t>type=</a:t>
            </a:r>
            <a:r>
              <a:rPr lang="en-US" sz="3600" dirty="0">
                <a:solidFill>
                  <a:schemeClr val="tx2"/>
                </a:solidFill>
              </a:rPr>
              <a:t>“</a:t>
            </a:r>
            <a:r>
              <a:rPr lang="en-US" sz="3600" dirty="0"/>
              <a:t>password</a:t>
            </a:r>
            <a:r>
              <a:rPr lang="en-US" sz="3600" dirty="0">
                <a:solidFill>
                  <a:schemeClr val="tx2"/>
                </a:solidFill>
              </a:rPr>
              <a:t>”</a:t>
            </a:r>
          </a:p>
          <a:p>
            <a:pPr marL="0" indent="0">
              <a:lnSpc>
                <a:spcPct val="90000"/>
              </a:lnSpc>
              <a:buFontTx/>
              <a:buNone/>
            </a:pPr>
            <a:r>
              <a:rPr lang="en-US" sz="3600" dirty="0">
                <a:solidFill>
                  <a:schemeClr val="tx2"/>
                </a:solidFill>
              </a:rPr>
              <a:t>	</a:t>
            </a:r>
            <a:r>
              <a:rPr lang="en-US" sz="3600" dirty="0">
                <a:solidFill>
                  <a:srgbClr val="0000FF"/>
                </a:solidFill>
              </a:rPr>
              <a:t>name=</a:t>
            </a:r>
            <a:r>
              <a:rPr lang="en-US" sz="3600" dirty="0">
                <a:solidFill>
                  <a:schemeClr val="tx2"/>
                </a:solidFill>
              </a:rPr>
              <a:t>“</a:t>
            </a:r>
            <a:r>
              <a:rPr lang="en-US" sz="3600" dirty="0" err="1"/>
              <a:t>fieldName</a:t>
            </a:r>
            <a:r>
              <a:rPr lang="en-US" sz="3600" dirty="0">
                <a:solidFill>
                  <a:schemeClr val="tx2"/>
                </a:solidFill>
              </a:rPr>
              <a:t>”</a:t>
            </a:r>
          </a:p>
          <a:p>
            <a:pPr marL="0" indent="0">
              <a:lnSpc>
                <a:spcPct val="90000"/>
              </a:lnSpc>
              <a:buFontTx/>
              <a:buNone/>
            </a:pPr>
            <a:r>
              <a:rPr lang="en-US" sz="3600" dirty="0">
                <a:solidFill>
                  <a:schemeClr val="tx2"/>
                </a:solidFill>
              </a:rPr>
              <a:t>	</a:t>
            </a:r>
            <a:r>
              <a:rPr lang="en-US" sz="3600" dirty="0">
                <a:solidFill>
                  <a:srgbClr val="0000FF"/>
                </a:solidFill>
              </a:rPr>
              <a:t>size=</a:t>
            </a:r>
            <a:r>
              <a:rPr lang="en-US" sz="3600" dirty="0">
                <a:solidFill>
                  <a:schemeClr val="tx2"/>
                </a:solidFill>
              </a:rPr>
              <a:t>“</a:t>
            </a:r>
            <a:r>
              <a:rPr lang="en-US" sz="3600" dirty="0" err="1"/>
              <a:t>widthInCharacters</a:t>
            </a:r>
            <a:r>
              <a:rPr lang="en-US" sz="3600" dirty="0">
                <a:solidFill>
                  <a:schemeClr val="tx2"/>
                </a:solidFill>
              </a:rPr>
              <a:t>”</a:t>
            </a:r>
            <a:endParaRPr lang="en-US" sz="3600" dirty="0"/>
          </a:p>
          <a:p>
            <a:pPr marL="0" indent="0">
              <a:lnSpc>
                <a:spcPct val="90000"/>
              </a:lnSpc>
              <a:buFontTx/>
              <a:buNone/>
            </a:pPr>
            <a:r>
              <a:rPr lang="en-US" sz="3600" dirty="0">
                <a:solidFill>
                  <a:schemeClr val="tx2"/>
                </a:solidFill>
              </a:rPr>
              <a:t>	</a:t>
            </a:r>
            <a:r>
              <a:rPr lang="en-US" sz="3600" dirty="0" err="1">
                <a:solidFill>
                  <a:srgbClr val="0000FF"/>
                </a:solidFill>
              </a:rPr>
              <a:t>maxlength</a:t>
            </a:r>
            <a:r>
              <a:rPr lang="en-US" sz="3600" dirty="0">
                <a:solidFill>
                  <a:schemeClr val="tx2"/>
                </a:solidFill>
              </a:rPr>
              <a:t>=“</a:t>
            </a:r>
            <a:r>
              <a:rPr lang="en-US" sz="3600" dirty="0" err="1"/>
              <a:t>limitInCharacters</a:t>
            </a:r>
            <a:r>
              <a:rPr lang="en-US" sz="3600" dirty="0">
                <a:solidFill>
                  <a:schemeClr val="tx2"/>
                </a:solidFill>
              </a:rPr>
              <a:t>”</a:t>
            </a:r>
            <a:endParaRPr lang="en-US" sz="3600" dirty="0"/>
          </a:p>
          <a:p>
            <a:pPr marL="0" indent="0">
              <a:lnSpc>
                <a:spcPct val="90000"/>
              </a:lnSpc>
              <a:buFontTx/>
              <a:buNone/>
            </a:pPr>
            <a:r>
              <a:rPr lang="en-US" sz="3600" dirty="0"/>
              <a:t>	</a:t>
            </a:r>
            <a:r>
              <a:rPr lang="en-US" sz="3600" dirty="0">
                <a:solidFill>
                  <a:schemeClr val="bg1">
                    <a:lumMod val="50000"/>
                  </a:schemeClr>
                </a:solidFill>
              </a:rPr>
              <a:t>value=</a:t>
            </a:r>
            <a:r>
              <a:rPr lang="en-US" sz="3600" dirty="0">
                <a:solidFill>
                  <a:schemeClr val="tx2"/>
                </a:solidFill>
              </a:rPr>
              <a:t>“</a:t>
            </a:r>
            <a:r>
              <a:rPr lang="en-US" sz="3600" dirty="0" err="1"/>
              <a:t>initialDefaultValue</a:t>
            </a:r>
            <a:r>
              <a:rPr lang="en-US" sz="3600" dirty="0" smtClean="0">
                <a:solidFill>
                  <a:schemeClr val="tx2"/>
                </a:solidFill>
              </a:rPr>
              <a:t>”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3600" dirty="0" smtClean="0">
                <a:solidFill>
                  <a:schemeClr val="tx2"/>
                </a:solidFill>
              </a:rPr>
              <a:t>	</a:t>
            </a:r>
            <a:r>
              <a:rPr lang="en-US" sz="3600" dirty="0" smtClean="0">
                <a:solidFill>
                  <a:schemeClr val="bg1">
                    <a:lumMod val="50000"/>
                  </a:schemeClr>
                </a:solidFill>
              </a:rPr>
              <a:t>placeholder=</a:t>
            </a:r>
            <a:r>
              <a:rPr lang="en-US" sz="36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“</a:t>
            </a:r>
            <a:r>
              <a:rPr lang="en-US" sz="3600" dirty="0" err="1" smtClean="0"/>
              <a:t>initialDefaultValue</a:t>
            </a:r>
            <a:r>
              <a:rPr lang="en-US" sz="36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”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en-US" sz="3600" dirty="0" smtClean="0">
                <a:solidFill>
                  <a:srgbClr val="FF0000"/>
                </a:solidFill>
              </a:rPr>
              <a:t>/&gt;</a:t>
            </a:r>
            <a:endParaRPr lang="en-US" sz="36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>
    <p:randomBar dir="vert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8582E-2069-476E-8F5E-ED624529ED3C}" type="slidenum">
              <a:rPr lang="en-US"/>
              <a:pPr/>
              <a:t>11</a:t>
            </a:fld>
            <a:endParaRPr lang="en-US"/>
          </a:p>
        </p:txBody>
      </p:sp>
      <p:sp>
        <p:nvSpPr>
          <p:cNvPr id="27545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-152400"/>
            <a:ext cx="7772400" cy="11430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Multi-Line Text Input Area</a:t>
            </a:r>
          </a:p>
        </p:txBody>
      </p:sp>
      <p:sp>
        <p:nvSpPr>
          <p:cNvPr id="275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47800" y="1219200"/>
            <a:ext cx="6477000" cy="4724400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sz="3600" dirty="0">
                <a:solidFill>
                  <a:srgbClr val="FF3300"/>
                </a:solidFill>
              </a:rPr>
              <a:t>&lt;TEXTAREA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en-US" sz="3600" dirty="0"/>
              <a:t>	</a:t>
            </a:r>
            <a:r>
              <a:rPr lang="en-US" sz="3600" dirty="0">
                <a:solidFill>
                  <a:srgbClr val="0000FF"/>
                </a:solidFill>
              </a:rPr>
              <a:t>name=</a:t>
            </a:r>
            <a:r>
              <a:rPr lang="en-US" sz="36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“</a:t>
            </a:r>
            <a:r>
              <a:rPr lang="en-US" sz="3600" dirty="0" err="1"/>
              <a:t>areaName</a:t>
            </a:r>
            <a:r>
              <a:rPr lang="en-US" sz="36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”</a:t>
            </a:r>
            <a:r>
              <a:rPr lang="en-US" sz="3600" dirty="0">
                <a:solidFill>
                  <a:schemeClr val="tx2"/>
                </a:solidFill>
              </a:rPr>
              <a:t/>
            </a:r>
            <a:br>
              <a:rPr lang="en-US" sz="3600" dirty="0">
                <a:solidFill>
                  <a:schemeClr val="tx2"/>
                </a:solidFill>
              </a:rPr>
            </a:br>
            <a:r>
              <a:rPr lang="en-US" sz="3600" dirty="0"/>
              <a:t>	</a:t>
            </a:r>
            <a:r>
              <a:rPr lang="en-US" sz="3600" dirty="0">
                <a:solidFill>
                  <a:srgbClr val="0000FF"/>
                </a:solidFill>
              </a:rPr>
              <a:t>cols=</a:t>
            </a:r>
            <a:r>
              <a:rPr lang="en-US" sz="36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“</a:t>
            </a:r>
            <a:r>
              <a:rPr lang="en-US" sz="3600" dirty="0" err="1"/>
              <a:t>widthInCharacters</a:t>
            </a:r>
            <a:r>
              <a:rPr lang="en-US" sz="36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”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en-US" sz="3600" dirty="0"/>
              <a:t>	</a:t>
            </a:r>
            <a:r>
              <a:rPr lang="en-US" sz="3600" dirty="0">
                <a:solidFill>
                  <a:srgbClr val="0000FF"/>
                </a:solidFill>
              </a:rPr>
              <a:t>rows=</a:t>
            </a:r>
            <a:r>
              <a:rPr lang="en-US" sz="36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“</a:t>
            </a:r>
            <a:r>
              <a:rPr lang="en-US" sz="3600" dirty="0" err="1"/>
              <a:t>numberOfLines</a:t>
            </a:r>
            <a:r>
              <a:rPr lang="en-US" sz="3600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”</a:t>
            </a:r>
          </a:p>
          <a:p>
            <a:pPr marL="0" indent="0">
              <a:buFontTx/>
              <a:buNone/>
            </a:pPr>
            <a:r>
              <a:rPr lang="en-US" sz="3600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en-US" sz="3600" dirty="0" err="1" smtClean="0">
                <a:solidFill>
                  <a:srgbClr val="0000FF"/>
                </a:solidFill>
              </a:rPr>
              <a:t>spellcheck</a:t>
            </a:r>
            <a:r>
              <a:rPr lang="en-US" sz="3600" dirty="0" smtClean="0">
                <a:solidFill>
                  <a:srgbClr val="0000FF"/>
                </a:solidFill>
              </a:rPr>
              <a:t>=</a:t>
            </a:r>
            <a:r>
              <a:rPr lang="en-US" sz="3600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“</a:t>
            </a:r>
            <a:r>
              <a:rPr lang="en-US" sz="3600" dirty="0" smtClean="0"/>
              <a:t>true/false</a:t>
            </a:r>
            <a:r>
              <a:rPr lang="en-US" sz="3600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”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en-US" sz="3600" dirty="0" smtClean="0">
                <a:solidFill>
                  <a:srgbClr val="FF3300"/>
                </a:solidFill>
              </a:rPr>
              <a:t>&gt;</a:t>
            </a:r>
            <a:endParaRPr lang="en-US" sz="3600" i="1" dirty="0"/>
          </a:p>
          <a:p>
            <a:pPr marL="0" indent="0">
              <a:buFontTx/>
              <a:buNone/>
            </a:pPr>
            <a:r>
              <a:rPr lang="en-US" sz="3600" dirty="0" smtClean="0">
                <a:solidFill>
                  <a:srgbClr val="FF3300"/>
                </a:solidFill>
              </a:rPr>
              <a:t>&lt;/</a:t>
            </a:r>
            <a:r>
              <a:rPr lang="en-US" sz="3600" dirty="0">
                <a:solidFill>
                  <a:srgbClr val="FF3300"/>
                </a:solidFill>
              </a:rPr>
              <a:t>TEXTAREA&gt;</a:t>
            </a:r>
          </a:p>
        </p:txBody>
      </p:sp>
    </p:spTree>
  </p:cSld>
  <p:clrMapOvr>
    <a:masterClrMapping/>
  </p:clrMapOvr>
  <p:transition>
    <p:randomBar dir="vert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6030"/>
            <a:ext cx="8229600" cy="792162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EXAMPLE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410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 smtClean="0">
                <a:solidFill>
                  <a:srgbClr val="00FF00"/>
                </a:solidFill>
              </a:rPr>
              <a:t>	</a:t>
            </a:r>
            <a:r>
              <a:rPr lang="en-US" sz="3600" dirty="0" smtClean="0">
                <a:solidFill>
                  <a:srgbClr val="FF0000"/>
                </a:solidFill>
              </a:rPr>
              <a:t>&lt;TEXTAREA</a:t>
            </a:r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3600" dirty="0" smtClean="0"/>
              <a:t>	</a:t>
            </a:r>
            <a:r>
              <a:rPr lang="en-US" sz="3600" dirty="0" smtClean="0">
                <a:solidFill>
                  <a:srgbClr val="0000FF"/>
                </a:solidFill>
              </a:rPr>
              <a:t>name=</a:t>
            </a:r>
            <a:r>
              <a:rPr lang="en-US" sz="3600" dirty="0" smtClean="0">
                <a:latin typeface="Arial" pitchFamily="34" charset="0"/>
                <a:cs typeface="Arial" pitchFamily="34" charset="0"/>
              </a:rPr>
              <a:t>“</a:t>
            </a:r>
            <a:r>
              <a:rPr lang="en-US" sz="3600" dirty="0" smtClean="0"/>
              <a:t>message</a:t>
            </a:r>
            <a:r>
              <a:rPr lang="en-US" sz="3600" dirty="0" smtClean="0">
                <a:latin typeface="Arial" pitchFamily="34" charset="0"/>
                <a:cs typeface="Arial" pitchFamily="34" charset="0"/>
              </a:rPr>
              <a:t>”</a:t>
            </a:r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3600" dirty="0" smtClean="0"/>
              <a:t>	</a:t>
            </a:r>
            <a:r>
              <a:rPr lang="en-US" sz="3600" dirty="0" smtClean="0">
                <a:solidFill>
                  <a:srgbClr val="0000FF"/>
                </a:solidFill>
              </a:rPr>
              <a:t>cols=</a:t>
            </a:r>
            <a:r>
              <a:rPr lang="en-US" sz="3600" dirty="0" smtClean="0">
                <a:latin typeface="Arial" pitchFamily="34" charset="0"/>
                <a:cs typeface="Arial" pitchFamily="34" charset="0"/>
              </a:rPr>
              <a:t>“</a:t>
            </a:r>
            <a:r>
              <a:rPr lang="en-US" sz="3600" dirty="0" smtClean="0"/>
              <a:t>38</a:t>
            </a:r>
            <a:r>
              <a:rPr lang="en-US" sz="3600" dirty="0" smtClean="0">
                <a:latin typeface="Arial" pitchFamily="34" charset="0"/>
                <a:cs typeface="Arial" pitchFamily="34" charset="0"/>
              </a:rPr>
              <a:t>”</a:t>
            </a:r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3600" dirty="0" smtClean="0"/>
              <a:t>	</a:t>
            </a:r>
            <a:r>
              <a:rPr lang="en-US" sz="3600" dirty="0" smtClean="0">
                <a:solidFill>
                  <a:srgbClr val="0000FF"/>
                </a:solidFill>
              </a:rPr>
              <a:t>rows=</a:t>
            </a:r>
            <a:r>
              <a:rPr lang="en-US" sz="3600" dirty="0" smtClean="0">
                <a:latin typeface="Arial" pitchFamily="34" charset="0"/>
                <a:cs typeface="Arial" pitchFamily="34" charset="0"/>
              </a:rPr>
              <a:t>“</a:t>
            </a:r>
            <a:r>
              <a:rPr lang="en-US" sz="3600" dirty="0" smtClean="0"/>
              <a:t>6</a:t>
            </a:r>
            <a:r>
              <a:rPr lang="en-US" sz="3600" dirty="0" smtClean="0">
                <a:latin typeface="Arial" pitchFamily="34" charset="0"/>
                <a:cs typeface="Arial" pitchFamily="34" charset="0"/>
              </a:rPr>
              <a:t>”</a:t>
            </a:r>
          </a:p>
          <a:p>
            <a:pPr>
              <a:buNone/>
            </a:pPr>
            <a:r>
              <a:rPr lang="en-US" sz="3600" dirty="0" smtClean="0">
                <a:latin typeface="Arial" pitchFamily="34" charset="0"/>
                <a:cs typeface="Arial" pitchFamily="34" charset="0"/>
              </a:rPr>
              <a:t>		</a:t>
            </a:r>
            <a:r>
              <a:rPr lang="en-US" sz="3600" dirty="0" smtClean="0">
                <a:solidFill>
                  <a:srgbClr val="0000FF"/>
                </a:solidFill>
              </a:rPr>
              <a:t>wrap=</a:t>
            </a:r>
            <a:r>
              <a:rPr lang="en-US" sz="3600" dirty="0" smtClean="0">
                <a:latin typeface="Arial" pitchFamily="34" charset="0"/>
                <a:cs typeface="Arial" pitchFamily="34" charset="0"/>
              </a:rPr>
              <a:t>“</a:t>
            </a:r>
            <a:r>
              <a:rPr lang="en-US" sz="3600" dirty="0" smtClean="0"/>
              <a:t>soft/hard</a:t>
            </a:r>
            <a:r>
              <a:rPr lang="en-US" sz="3600" dirty="0" smtClean="0">
                <a:latin typeface="Arial" pitchFamily="34" charset="0"/>
                <a:cs typeface="Arial" pitchFamily="34" charset="0"/>
              </a:rPr>
              <a:t>”</a:t>
            </a:r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3600" dirty="0" smtClean="0">
                <a:solidFill>
                  <a:srgbClr val="FF0000"/>
                </a:solidFill>
              </a:rPr>
              <a:t>&gt;</a:t>
            </a:r>
            <a:br>
              <a:rPr lang="en-US" sz="3600" dirty="0" smtClean="0">
                <a:solidFill>
                  <a:srgbClr val="FF0000"/>
                </a:solidFill>
              </a:rPr>
            </a:br>
            <a:r>
              <a:rPr lang="en-US" sz="3600" dirty="0" smtClean="0">
                <a:solidFill>
                  <a:srgbClr val="FF0000"/>
                </a:solidFill>
              </a:rPr>
              <a:t>&lt;/TEXTAREA&gt;</a:t>
            </a:r>
            <a:endParaRPr lang="en-US" sz="3600" dirty="0" smtClean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9254C-1AF3-4BE3-B637-7F43D751999D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  <p:transition>
    <p:randomBar dir="vert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42E5E-D7B3-448B-A7F8-70BDE4B6B306}" type="slidenum">
              <a:rPr lang="en-US"/>
              <a:pPr/>
              <a:t>13</a:t>
            </a:fld>
            <a:endParaRPr lang="en-US"/>
          </a:p>
        </p:txBody>
      </p:sp>
      <p:sp>
        <p:nvSpPr>
          <p:cNvPr id="27443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-152400"/>
            <a:ext cx="7772400" cy="11430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Submit Button Input</a:t>
            </a:r>
          </a:p>
        </p:txBody>
      </p:sp>
      <p:sp>
        <p:nvSpPr>
          <p:cNvPr id="274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0" y="1524000"/>
            <a:ext cx="6477000" cy="4114800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sz="3600" dirty="0">
                <a:solidFill>
                  <a:srgbClr val="FF0000"/>
                </a:solidFill>
              </a:rPr>
              <a:t>&lt;INPUT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en-US" sz="3600" dirty="0"/>
              <a:t>	</a:t>
            </a:r>
            <a:r>
              <a:rPr lang="en-US" sz="3600" dirty="0">
                <a:solidFill>
                  <a:srgbClr val="0000FF"/>
                </a:solidFill>
              </a:rPr>
              <a:t>type=</a:t>
            </a:r>
            <a:r>
              <a:rPr lang="en-US" sz="36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“</a:t>
            </a:r>
            <a:r>
              <a:rPr lang="en-US" sz="3600" dirty="0"/>
              <a:t>submit</a:t>
            </a:r>
            <a:r>
              <a:rPr lang="en-US" sz="36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”</a:t>
            </a:r>
            <a:r>
              <a:rPr lang="en-US" sz="3600" dirty="0">
                <a:solidFill>
                  <a:schemeClr val="tx2"/>
                </a:solidFill>
              </a:rPr>
              <a:t> 			</a:t>
            </a:r>
            <a:r>
              <a:rPr lang="en-US" sz="3600" dirty="0">
                <a:solidFill>
                  <a:srgbClr val="0000FF"/>
                </a:solidFill>
              </a:rPr>
              <a:t>name=</a:t>
            </a:r>
            <a:r>
              <a:rPr lang="en-US" sz="36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“</a:t>
            </a:r>
            <a:r>
              <a:rPr lang="en-US" sz="3600" dirty="0" err="1"/>
              <a:t>buttonName</a:t>
            </a:r>
            <a:r>
              <a:rPr lang="en-US" sz="36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”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en-US" sz="3600" dirty="0"/>
              <a:t>	</a:t>
            </a:r>
            <a:r>
              <a:rPr lang="en-US" sz="3600" dirty="0">
                <a:solidFill>
                  <a:srgbClr val="0000FF"/>
                </a:solidFill>
              </a:rPr>
              <a:t>value=</a:t>
            </a:r>
            <a:r>
              <a:rPr lang="en-US" sz="36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“</a:t>
            </a:r>
            <a:r>
              <a:rPr lang="en-US" sz="3600" dirty="0" err="1"/>
              <a:t>displayedText</a:t>
            </a:r>
            <a:r>
              <a:rPr lang="en-US" sz="36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”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en-US" sz="3600" dirty="0" smtClean="0">
                <a:solidFill>
                  <a:srgbClr val="FF0000"/>
                </a:solidFill>
              </a:rPr>
              <a:t>/&gt;</a:t>
            </a:r>
            <a:endParaRPr lang="en-US" sz="36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>
    <p:randomBar dir="vert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56BA9-95D6-4863-80D6-68D07CA4130A}" type="slidenum">
              <a:rPr lang="en-US"/>
              <a:pPr/>
              <a:t>14</a:t>
            </a:fld>
            <a:endParaRPr lang="en-US"/>
          </a:p>
        </p:txBody>
      </p:sp>
      <p:sp>
        <p:nvSpPr>
          <p:cNvPr id="28467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1143000"/>
          </a:xfrm>
        </p:spPr>
        <p:txBody>
          <a:bodyPr>
            <a:normAutofit fontScale="90000"/>
          </a:bodyPr>
          <a:lstStyle/>
          <a:p>
            <a:r>
              <a:rPr lang="en-US" sz="4900" b="1" dirty="0">
                <a:solidFill>
                  <a:schemeClr val="accent6">
                    <a:lumMod val="75000"/>
                  </a:schemeClr>
                </a:solidFill>
              </a:rPr>
              <a:t>Reset Button Input Element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B050"/>
                </a:solidFill>
              </a:rPr>
              <a:t>(</a:t>
            </a:r>
            <a:r>
              <a:rPr lang="en-US" sz="3200" dirty="0">
                <a:solidFill>
                  <a:srgbClr val="00B050"/>
                </a:solidFill>
              </a:rPr>
              <a:t>Resets the contents of a form to default values</a:t>
            </a:r>
            <a:r>
              <a:rPr lang="en-US" dirty="0">
                <a:solidFill>
                  <a:srgbClr val="00B050"/>
                </a:solidFill>
              </a:rPr>
              <a:t>)</a:t>
            </a:r>
          </a:p>
        </p:txBody>
      </p:sp>
      <p:sp>
        <p:nvSpPr>
          <p:cNvPr id="284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sz="3600" dirty="0">
                <a:solidFill>
                  <a:srgbClr val="FF3300"/>
                </a:solidFill>
              </a:rPr>
              <a:t>&lt;INPUT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en-US" sz="3600" dirty="0"/>
              <a:t>	</a:t>
            </a:r>
            <a:r>
              <a:rPr lang="en-US" sz="3600" dirty="0">
                <a:solidFill>
                  <a:srgbClr val="0000FF"/>
                </a:solidFill>
              </a:rPr>
              <a:t>type=</a:t>
            </a:r>
            <a:r>
              <a:rPr lang="en-US" sz="36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“</a:t>
            </a:r>
            <a:r>
              <a:rPr lang="en-US" sz="3600" dirty="0"/>
              <a:t>reset</a:t>
            </a:r>
            <a:r>
              <a:rPr lang="en-US" sz="36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”</a:t>
            </a:r>
            <a:r>
              <a:rPr lang="en-US" sz="3600" dirty="0"/>
              <a:t> 	</a:t>
            </a:r>
          </a:p>
          <a:p>
            <a:pPr marL="0" indent="0">
              <a:buFontTx/>
              <a:buNone/>
            </a:pPr>
            <a:r>
              <a:rPr lang="en-US" sz="3600" dirty="0"/>
              <a:t>	</a:t>
            </a:r>
            <a:r>
              <a:rPr lang="en-US" sz="3600" dirty="0">
                <a:solidFill>
                  <a:srgbClr val="0000FF"/>
                </a:solidFill>
              </a:rPr>
              <a:t>value=</a:t>
            </a:r>
            <a:r>
              <a:rPr lang="en-US" sz="36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“</a:t>
            </a:r>
            <a:r>
              <a:rPr lang="en-US" sz="3600" dirty="0" err="1"/>
              <a:t>dispalyedText</a:t>
            </a:r>
            <a:r>
              <a:rPr lang="en-US" sz="36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”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en-US" sz="3600" dirty="0">
                <a:solidFill>
                  <a:srgbClr val="FF3300"/>
                </a:solidFill>
              </a:rPr>
              <a:t>&gt;</a:t>
            </a:r>
          </a:p>
        </p:txBody>
      </p:sp>
    </p:spTree>
  </p:cSld>
  <p:clrMapOvr>
    <a:masterClrMapping/>
  </p:clrMapOvr>
  <p:transition>
    <p:randomBar dir="vert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9A7DA-25FF-4A88-9C32-0C8EFC779FD4}" type="slidenum">
              <a:rPr lang="en-US"/>
              <a:pPr/>
              <a:t>15</a:t>
            </a:fld>
            <a:endParaRPr lang="en-US"/>
          </a:p>
        </p:txBody>
      </p:sp>
      <p:pic>
        <p:nvPicPr>
          <p:cNvPr id="4" name="Picture 3" descr="form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457200"/>
            <a:ext cx="6959227" cy="6035040"/>
          </a:xfrm>
          <a:prstGeom prst="rect">
            <a:avLst/>
          </a:prstGeom>
        </p:spPr>
      </p:pic>
    </p:spTree>
  </p:cSld>
  <p:clrMapOvr>
    <a:masterClrMapping/>
  </p:clrMapOvr>
  <p:transition>
    <p:randomBar dir="vert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136F6-3526-49A6-ABE1-A9490C6EE537}" type="slidenum">
              <a:rPr lang="en-US"/>
              <a:pPr/>
              <a:t>16</a:t>
            </a:fld>
            <a:endParaRPr lang="en-US"/>
          </a:p>
        </p:txBody>
      </p:sp>
      <p:sp>
        <p:nvSpPr>
          <p:cNvPr id="267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" y="0"/>
            <a:ext cx="9144000" cy="6858000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90000"/>
              </a:lnSpc>
              <a:buFontTx/>
              <a:buNone/>
            </a:pPr>
            <a:endParaRPr lang="en-US" sz="2100" dirty="0" smtClean="0"/>
          </a:p>
          <a:p>
            <a:pPr marL="0" indent="0">
              <a:lnSpc>
                <a:spcPct val="90000"/>
              </a:lnSpc>
              <a:buFontTx/>
              <a:buNone/>
            </a:pPr>
            <a:r>
              <a:rPr lang="en-US" sz="2400" dirty="0" smtClean="0">
                <a:solidFill>
                  <a:srgbClr val="FF0000"/>
                </a:solidFill>
              </a:rPr>
              <a:t>&lt;</a:t>
            </a:r>
            <a:r>
              <a:rPr lang="en-US" sz="2400" dirty="0">
                <a:solidFill>
                  <a:srgbClr val="FF0000"/>
                </a:solidFill>
              </a:rPr>
              <a:t>FORM</a:t>
            </a:r>
            <a:r>
              <a:rPr lang="en-US" sz="2400" dirty="0"/>
              <a:t> name="</a:t>
            </a:r>
            <a:r>
              <a:rPr lang="en-US" sz="2400" dirty="0" err="1"/>
              <a:t>sendEmail</a:t>
            </a:r>
            <a:r>
              <a:rPr lang="en-US" sz="2400" dirty="0"/>
              <a:t>" method="post" action=“</a:t>
            </a:r>
            <a:r>
              <a:rPr lang="en-US" sz="2400" dirty="0" err="1"/>
              <a:t>sendMailScriptURL</a:t>
            </a:r>
            <a:r>
              <a:rPr lang="en-US" sz="2400" dirty="0"/>
              <a:t>"&gt;</a:t>
            </a:r>
          </a:p>
          <a:p>
            <a:pPr marL="0" indent="0">
              <a:lnSpc>
                <a:spcPct val="90000"/>
              </a:lnSpc>
              <a:buFontTx/>
              <a:buNone/>
            </a:pPr>
            <a:r>
              <a:rPr lang="en-US" sz="2400" dirty="0"/>
              <a:t>  </a:t>
            </a:r>
            <a:r>
              <a:rPr lang="en-US" sz="2400" dirty="0">
                <a:solidFill>
                  <a:srgbClr val="0000FF"/>
                </a:solidFill>
              </a:rPr>
              <a:t>&lt;table&gt;</a:t>
            </a:r>
            <a:r>
              <a:rPr lang="en-US" sz="2400" dirty="0"/>
              <a:t>&lt;</a:t>
            </a:r>
            <a:r>
              <a:rPr lang="en-US" sz="2400" dirty="0" err="1"/>
              <a:t>tr</a:t>
            </a:r>
            <a:r>
              <a:rPr lang="en-US" sz="2400" dirty="0"/>
              <a:t>&gt;</a:t>
            </a:r>
          </a:p>
          <a:p>
            <a:pPr marL="0" indent="0">
              <a:lnSpc>
                <a:spcPct val="90000"/>
              </a:lnSpc>
              <a:buFontTx/>
              <a:buNone/>
            </a:pPr>
            <a:r>
              <a:rPr lang="en-US" sz="2400" dirty="0"/>
              <a:t>      &lt;td&gt;From: &lt;/td&gt;</a:t>
            </a:r>
          </a:p>
          <a:p>
            <a:pPr marL="0" indent="0">
              <a:lnSpc>
                <a:spcPct val="90000"/>
              </a:lnSpc>
              <a:buFontTx/>
              <a:buNone/>
            </a:pPr>
            <a:r>
              <a:rPr lang="en-US" sz="2400" dirty="0"/>
              <a:t>      &lt;td&gt;</a:t>
            </a:r>
            <a:r>
              <a:rPr lang="en-US" sz="2400" dirty="0">
                <a:solidFill>
                  <a:srgbClr val="00B050"/>
                </a:solidFill>
              </a:rPr>
              <a:t>&lt;INPUT</a:t>
            </a:r>
            <a:r>
              <a:rPr lang="en-US" sz="2400" dirty="0"/>
              <a:t> type=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"text"</a:t>
            </a:r>
            <a:r>
              <a:rPr lang="en-US" sz="2400" dirty="0"/>
              <a:t> name="sender" size="</a:t>
            </a:r>
            <a:r>
              <a:rPr lang="en-US" sz="2400" dirty="0" smtClean="0"/>
              <a:t>50“ </a:t>
            </a:r>
            <a:r>
              <a:rPr lang="en-US" sz="2400" dirty="0" smtClean="0">
                <a:solidFill>
                  <a:srgbClr val="00B050"/>
                </a:solidFill>
              </a:rPr>
              <a:t>/&gt;</a:t>
            </a:r>
            <a:r>
              <a:rPr lang="en-US" sz="2400" dirty="0" smtClean="0"/>
              <a:t>&lt;/</a:t>
            </a:r>
            <a:r>
              <a:rPr lang="en-US" sz="2400" dirty="0"/>
              <a:t>td&gt;</a:t>
            </a:r>
          </a:p>
          <a:p>
            <a:pPr marL="0" indent="0">
              <a:lnSpc>
                <a:spcPct val="90000"/>
              </a:lnSpc>
              <a:buFontTx/>
              <a:buNone/>
            </a:pPr>
            <a:r>
              <a:rPr lang="en-US" sz="2400" dirty="0"/>
              <a:t>    &lt;/</a:t>
            </a:r>
            <a:r>
              <a:rPr lang="en-US" sz="2400" dirty="0" err="1"/>
              <a:t>tr</a:t>
            </a:r>
            <a:r>
              <a:rPr lang="en-US" sz="2400" dirty="0"/>
              <a:t>&gt;&lt;</a:t>
            </a:r>
            <a:r>
              <a:rPr lang="en-US" sz="2400" dirty="0" err="1"/>
              <a:t>tr</a:t>
            </a:r>
            <a:r>
              <a:rPr lang="en-US" sz="2400" dirty="0"/>
              <a:t>&gt;</a:t>
            </a:r>
          </a:p>
          <a:p>
            <a:pPr marL="0" indent="0">
              <a:lnSpc>
                <a:spcPct val="90000"/>
              </a:lnSpc>
              <a:buFontTx/>
              <a:buNone/>
            </a:pPr>
            <a:r>
              <a:rPr lang="en-US" sz="2400" dirty="0"/>
              <a:t>      &lt;td&gt;To: &lt;/td&gt;</a:t>
            </a:r>
          </a:p>
          <a:p>
            <a:pPr marL="0" indent="0">
              <a:lnSpc>
                <a:spcPct val="90000"/>
              </a:lnSpc>
              <a:buFontTx/>
              <a:buNone/>
            </a:pPr>
            <a:r>
              <a:rPr lang="en-US" sz="2400" dirty="0"/>
              <a:t>      &lt;td&gt;</a:t>
            </a:r>
            <a:r>
              <a:rPr lang="en-US" sz="2400" dirty="0">
                <a:solidFill>
                  <a:srgbClr val="00B050"/>
                </a:solidFill>
              </a:rPr>
              <a:t>&lt;INPUT</a:t>
            </a:r>
            <a:r>
              <a:rPr lang="en-US" sz="2400" dirty="0"/>
              <a:t> type</a:t>
            </a:r>
            <a:r>
              <a:rPr lang="en-US" sz="2400" dirty="0" smtClean="0"/>
              <a:t>=</a:t>
            </a:r>
            <a:r>
              <a:rPr lang="en-US" sz="2400" dirty="0" smtClean="0">
                <a:solidFill>
                  <a:schemeClr val="accent6">
                    <a:lumMod val="75000"/>
                  </a:schemeClr>
                </a:solidFill>
              </a:rPr>
              <a:t>“email"</a:t>
            </a:r>
            <a:r>
              <a:rPr lang="en-US" sz="2400" dirty="0" smtClean="0"/>
              <a:t> </a:t>
            </a:r>
            <a:r>
              <a:rPr lang="en-US" sz="2400" dirty="0"/>
              <a:t>name="receiver" size="</a:t>
            </a:r>
            <a:r>
              <a:rPr lang="en-US" sz="2400" dirty="0" smtClean="0"/>
              <a:t>50“ </a:t>
            </a:r>
            <a:r>
              <a:rPr lang="en-US" sz="2400" dirty="0" smtClean="0">
                <a:solidFill>
                  <a:srgbClr val="00B050"/>
                </a:solidFill>
              </a:rPr>
              <a:t>/&gt;</a:t>
            </a:r>
            <a:r>
              <a:rPr lang="en-US" sz="2400" dirty="0" smtClean="0"/>
              <a:t>&lt;/</a:t>
            </a:r>
            <a:r>
              <a:rPr lang="en-US" sz="2400" dirty="0"/>
              <a:t>td&gt;</a:t>
            </a:r>
          </a:p>
          <a:p>
            <a:pPr marL="0" indent="0">
              <a:lnSpc>
                <a:spcPct val="90000"/>
              </a:lnSpc>
              <a:buFontTx/>
              <a:buNone/>
            </a:pPr>
            <a:r>
              <a:rPr lang="en-US" sz="2400" dirty="0"/>
              <a:t>    &lt;/</a:t>
            </a:r>
            <a:r>
              <a:rPr lang="en-US" sz="2400" dirty="0" err="1"/>
              <a:t>tr</a:t>
            </a:r>
            <a:r>
              <a:rPr lang="en-US" sz="2400" dirty="0"/>
              <a:t>&gt;&lt;</a:t>
            </a:r>
            <a:r>
              <a:rPr lang="en-US" sz="2400" dirty="0" err="1"/>
              <a:t>tr</a:t>
            </a:r>
            <a:r>
              <a:rPr lang="en-US" sz="2400" dirty="0"/>
              <a:t>&gt;</a:t>
            </a:r>
          </a:p>
          <a:p>
            <a:pPr marL="0" indent="0">
              <a:lnSpc>
                <a:spcPct val="90000"/>
              </a:lnSpc>
              <a:buFontTx/>
              <a:buNone/>
            </a:pPr>
            <a:r>
              <a:rPr lang="en-US" sz="2400" dirty="0"/>
              <a:t>      &lt;td&gt;Subject: &lt;/td&gt;</a:t>
            </a:r>
          </a:p>
          <a:p>
            <a:pPr marL="0" indent="0">
              <a:lnSpc>
                <a:spcPct val="90000"/>
              </a:lnSpc>
              <a:buFontTx/>
              <a:buNone/>
            </a:pPr>
            <a:r>
              <a:rPr lang="en-US" sz="2400" dirty="0"/>
              <a:t>      &lt;td&gt;</a:t>
            </a:r>
            <a:r>
              <a:rPr lang="en-US" sz="2400" dirty="0">
                <a:solidFill>
                  <a:srgbClr val="00B050"/>
                </a:solidFill>
              </a:rPr>
              <a:t>&lt;INPUT </a:t>
            </a:r>
            <a:r>
              <a:rPr lang="en-US" sz="2400" dirty="0"/>
              <a:t>type=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"text" </a:t>
            </a:r>
            <a:r>
              <a:rPr lang="en-US" sz="2400" dirty="0"/>
              <a:t>name="subject" size="</a:t>
            </a:r>
            <a:r>
              <a:rPr lang="en-US" sz="2400" dirty="0" smtClean="0"/>
              <a:t>50“ </a:t>
            </a:r>
            <a:r>
              <a:rPr lang="en-US" sz="2400" dirty="0" smtClean="0">
                <a:solidFill>
                  <a:srgbClr val="00B050"/>
                </a:solidFill>
              </a:rPr>
              <a:t>/&gt;</a:t>
            </a:r>
            <a:r>
              <a:rPr lang="en-US" sz="2400" dirty="0" smtClean="0"/>
              <a:t>&lt;/</a:t>
            </a:r>
            <a:r>
              <a:rPr lang="en-US" sz="2400" dirty="0"/>
              <a:t>td&gt;</a:t>
            </a:r>
          </a:p>
          <a:p>
            <a:pPr marL="0" indent="0">
              <a:lnSpc>
                <a:spcPct val="90000"/>
              </a:lnSpc>
              <a:buFontTx/>
              <a:buNone/>
            </a:pPr>
            <a:r>
              <a:rPr lang="en-US" sz="2400" dirty="0"/>
              <a:t>    &lt;/</a:t>
            </a:r>
            <a:r>
              <a:rPr lang="en-US" sz="2400" dirty="0" err="1"/>
              <a:t>tr</a:t>
            </a:r>
            <a:r>
              <a:rPr lang="en-US" sz="2400" dirty="0"/>
              <a:t>&gt;&lt;</a:t>
            </a:r>
            <a:r>
              <a:rPr lang="en-US" sz="2400" dirty="0" err="1"/>
              <a:t>tr</a:t>
            </a:r>
            <a:r>
              <a:rPr lang="en-US" sz="2400" dirty="0"/>
              <a:t>&gt;</a:t>
            </a:r>
          </a:p>
          <a:p>
            <a:pPr marL="0" indent="0">
              <a:lnSpc>
                <a:spcPct val="90000"/>
              </a:lnSpc>
              <a:buFontTx/>
              <a:buNone/>
            </a:pPr>
            <a:r>
              <a:rPr lang="en-US" sz="2400" dirty="0"/>
              <a:t>      &lt;td </a:t>
            </a:r>
            <a:r>
              <a:rPr lang="en-US" sz="2400" dirty="0" err="1"/>
              <a:t>valign</a:t>
            </a:r>
            <a:r>
              <a:rPr lang="en-US" sz="2400" dirty="0"/>
              <a:t>="top"&gt;Message: &lt;/td&gt;</a:t>
            </a:r>
          </a:p>
          <a:p>
            <a:pPr marL="0" indent="0">
              <a:lnSpc>
                <a:spcPct val="90000"/>
              </a:lnSpc>
              <a:buFontTx/>
              <a:buNone/>
            </a:pPr>
            <a:r>
              <a:rPr lang="en-US" sz="2400" dirty="0"/>
              <a:t>      &lt;td&gt;</a:t>
            </a:r>
            <a:r>
              <a:rPr lang="en-US" sz="2400" dirty="0">
                <a:solidFill>
                  <a:srgbClr val="00B050"/>
                </a:solidFill>
              </a:rPr>
              <a:t>&lt;TEXTAREA</a:t>
            </a:r>
            <a:r>
              <a:rPr lang="en-US" sz="2400" dirty="0"/>
              <a:t> name="message" cols="38"rows="6"</a:t>
            </a:r>
            <a:r>
              <a:rPr lang="en-US" sz="2400" dirty="0">
                <a:solidFill>
                  <a:srgbClr val="00B050"/>
                </a:solidFill>
              </a:rPr>
              <a:t>&gt;</a:t>
            </a:r>
            <a:r>
              <a:rPr lang="en-US" sz="2400" dirty="0"/>
              <a:t> </a:t>
            </a:r>
            <a:r>
              <a:rPr lang="en-US" sz="2400" dirty="0" smtClean="0">
                <a:solidFill>
                  <a:srgbClr val="00B050"/>
                </a:solidFill>
              </a:rPr>
              <a:t>&lt;/</a:t>
            </a:r>
            <a:r>
              <a:rPr lang="en-US" sz="2400" dirty="0">
                <a:solidFill>
                  <a:srgbClr val="00B050"/>
                </a:solidFill>
              </a:rPr>
              <a:t>TEXTAREA&gt;</a:t>
            </a:r>
            <a:r>
              <a:rPr lang="en-US" sz="2400" dirty="0"/>
              <a:t>&lt;/td&gt;</a:t>
            </a:r>
          </a:p>
          <a:p>
            <a:pPr marL="0" indent="0">
              <a:lnSpc>
                <a:spcPct val="90000"/>
              </a:lnSpc>
              <a:buFontTx/>
              <a:buNone/>
            </a:pPr>
            <a:r>
              <a:rPr lang="en-US" sz="2400" dirty="0"/>
              <a:t>    &lt;/</a:t>
            </a:r>
            <a:r>
              <a:rPr lang="en-US" sz="2400" dirty="0" err="1"/>
              <a:t>tr</a:t>
            </a:r>
            <a:r>
              <a:rPr lang="en-US" sz="2400" dirty="0"/>
              <a:t>&gt;&lt;</a:t>
            </a:r>
            <a:r>
              <a:rPr lang="en-US" sz="2400" dirty="0" err="1"/>
              <a:t>tr</a:t>
            </a:r>
            <a:r>
              <a:rPr lang="en-US" sz="2400" dirty="0"/>
              <a:t>&gt;</a:t>
            </a:r>
          </a:p>
          <a:p>
            <a:pPr marL="0" indent="0">
              <a:lnSpc>
                <a:spcPct val="90000"/>
              </a:lnSpc>
              <a:buFontTx/>
              <a:buNone/>
            </a:pPr>
            <a:r>
              <a:rPr lang="en-US" sz="2400" dirty="0"/>
              <a:t>      &lt;td </a:t>
            </a:r>
            <a:r>
              <a:rPr lang="en-US" sz="2400" dirty="0" err="1"/>
              <a:t>colspan</a:t>
            </a:r>
            <a:r>
              <a:rPr lang="en-US" sz="2400" dirty="0"/>
              <a:t>="2" align="right"&gt;</a:t>
            </a:r>
          </a:p>
          <a:p>
            <a:pPr marL="0" indent="0">
              <a:lnSpc>
                <a:spcPct val="90000"/>
              </a:lnSpc>
              <a:buFontTx/>
              <a:buNone/>
            </a:pPr>
            <a:r>
              <a:rPr lang="en-US" sz="2400" dirty="0"/>
              <a:t>        </a:t>
            </a:r>
            <a:r>
              <a:rPr lang="en-US" sz="2400" dirty="0">
                <a:solidFill>
                  <a:srgbClr val="00B050"/>
                </a:solidFill>
              </a:rPr>
              <a:t>&lt;INPUT</a:t>
            </a:r>
            <a:r>
              <a:rPr lang="en-US" sz="2400" dirty="0"/>
              <a:t> type=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"submit"</a:t>
            </a:r>
            <a:r>
              <a:rPr lang="en-US" sz="2400" dirty="0"/>
              <a:t> name="</a:t>
            </a:r>
            <a:r>
              <a:rPr lang="en-US" sz="2400" dirty="0" err="1"/>
              <a:t>sendEmail</a:t>
            </a:r>
            <a:r>
              <a:rPr lang="en-US" sz="2400" dirty="0"/>
              <a:t>" value="Send </a:t>
            </a:r>
            <a:r>
              <a:rPr lang="en-US" sz="2400" dirty="0" err="1" smtClean="0"/>
              <a:t>eMail</a:t>
            </a:r>
            <a:r>
              <a:rPr lang="en-US" sz="2400" dirty="0" smtClean="0"/>
              <a:t>“ </a:t>
            </a:r>
            <a:r>
              <a:rPr lang="en-US" sz="2400" dirty="0" smtClean="0">
                <a:solidFill>
                  <a:srgbClr val="00B050"/>
                </a:solidFill>
              </a:rPr>
              <a:t>/&gt;</a:t>
            </a:r>
            <a:endParaRPr lang="en-US" sz="2400" dirty="0">
              <a:solidFill>
                <a:srgbClr val="00B050"/>
              </a:solidFill>
            </a:endParaRPr>
          </a:p>
          <a:p>
            <a:pPr marL="0" indent="0">
              <a:lnSpc>
                <a:spcPct val="90000"/>
              </a:lnSpc>
              <a:buFontTx/>
              <a:buNone/>
            </a:pPr>
            <a:r>
              <a:rPr lang="en-US" sz="2400" dirty="0"/>
              <a:t>      &lt;/td&gt;</a:t>
            </a:r>
          </a:p>
          <a:p>
            <a:pPr marL="0" indent="0">
              <a:lnSpc>
                <a:spcPct val="90000"/>
              </a:lnSpc>
              <a:buFontTx/>
              <a:buNone/>
            </a:pPr>
            <a:r>
              <a:rPr lang="en-US" sz="2400" dirty="0"/>
              <a:t>    &lt;/</a:t>
            </a:r>
            <a:r>
              <a:rPr lang="en-US" sz="2400" dirty="0" err="1"/>
              <a:t>tr</a:t>
            </a:r>
            <a:r>
              <a:rPr lang="en-US" sz="2400" dirty="0"/>
              <a:t>&gt;</a:t>
            </a:r>
            <a:r>
              <a:rPr lang="en-US" sz="2400" dirty="0">
                <a:solidFill>
                  <a:srgbClr val="0000FF"/>
                </a:solidFill>
              </a:rPr>
              <a:t>&lt;/table&gt;</a:t>
            </a:r>
          </a:p>
          <a:p>
            <a:pPr marL="0" indent="0">
              <a:lnSpc>
                <a:spcPct val="90000"/>
              </a:lnSpc>
              <a:buFontTx/>
              <a:buNone/>
            </a:pPr>
            <a:r>
              <a:rPr lang="en-US" sz="2400" dirty="0">
                <a:solidFill>
                  <a:srgbClr val="FF0000"/>
                </a:solidFill>
              </a:rPr>
              <a:t>&lt;/FORM&gt;</a:t>
            </a:r>
          </a:p>
        </p:txBody>
      </p:sp>
    </p:spTree>
  </p:cSld>
  <p:clrMapOvr>
    <a:masterClrMapping/>
  </p:clrMapOvr>
  <p:transition>
    <p:randomBar dir="vert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5F14F-676F-4D96-AC9E-915F6605AD7A}" type="slidenum">
              <a:rPr lang="en-US"/>
              <a:pPr/>
              <a:t>17</a:t>
            </a:fld>
            <a:endParaRPr lang="en-US"/>
          </a:p>
        </p:txBody>
      </p:sp>
      <p:pic>
        <p:nvPicPr>
          <p:cNvPr id="4" name="Picture 3" descr="form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0" y="917038"/>
            <a:ext cx="3838575" cy="4874162"/>
          </a:xfrm>
          <a:prstGeom prst="rect">
            <a:avLst/>
          </a:prstGeom>
        </p:spPr>
      </p:pic>
    </p:spTree>
  </p:cSld>
  <p:clrMapOvr>
    <a:masterClrMapping/>
  </p:clrMapOvr>
  <p:transition>
    <p:randomBar dir="vert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A0DC5-66DC-4646-8819-B949B9A20443}" type="slidenum">
              <a:rPr lang="en-US"/>
              <a:pPr/>
              <a:t>18</a:t>
            </a:fld>
            <a:endParaRPr lang="en-US"/>
          </a:p>
        </p:txBody>
      </p:sp>
      <p:sp>
        <p:nvSpPr>
          <p:cNvPr id="28979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l"/>
            <a:r>
              <a:rPr lang="en-US" sz="2600" dirty="0">
                <a:solidFill>
                  <a:srgbClr val="FF0000"/>
                </a:solidFill>
              </a:rPr>
              <a:t>&lt;form</a:t>
            </a:r>
            <a:r>
              <a:rPr lang="en-US" sz="2600" dirty="0">
                <a:solidFill>
                  <a:schemeClr val="tx1"/>
                </a:solidFill>
              </a:rPr>
              <a:t> name="login" method="post" action="</a:t>
            </a:r>
            <a:r>
              <a:rPr lang="en-US" sz="2600" dirty="0" err="1">
                <a:solidFill>
                  <a:schemeClr val="tx1"/>
                </a:solidFill>
              </a:rPr>
              <a:t>loginScript</a:t>
            </a:r>
            <a:r>
              <a:rPr lang="en-US" sz="2600" dirty="0">
                <a:solidFill>
                  <a:schemeClr val="tx1"/>
                </a:solidFill>
              </a:rPr>
              <a:t>"</a:t>
            </a:r>
            <a:r>
              <a:rPr lang="en-US" sz="2600" dirty="0">
                <a:solidFill>
                  <a:srgbClr val="FF0000"/>
                </a:solidFill>
              </a:rPr>
              <a:t>&gt;</a:t>
            </a:r>
            <a:r>
              <a:rPr lang="en-US" sz="2600" dirty="0">
                <a:solidFill>
                  <a:schemeClr val="tx1"/>
                </a:solidFill>
              </a:rPr>
              <a:t/>
            </a:r>
            <a:br>
              <a:rPr lang="en-US" sz="2600" dirty="0">
                <a:solidFill>
                  <a:schemeClr val="tx1"/>
                </a:solidFill>
              </a:rPr>
            </a:br>
            <a:r>
              <a:rPr lang="en-US" sz="2600" dirty="0">
                <a:solidFill>
                  <a:schemeClr val="tx1"/>
                </a:solidFill>
              </a:rPr>
              <a:t>  </a:t>
            </a:r>
            <a:r>
              <a:rPr lang="en-US" sz="2600" dirty="0">
                <a:solidFill>
                  <a:srgbClr val="0000FF"/>
                </a:solidFill>
              </a:rPr>
              <a:t>&lt;table&gt;</a:t>
            </a:r>
            <a:r>
              <a:rPr lang="en-US" sz="2600" dirty="0">
                <a:solidFill>
                  <a:schemeClr val="tx1"/>
                </a:solidFill>
              </a:rPr>
              <a:t>&lt;</a:t>
            </a:r>
            <a:r>
              <a:rPr lang="en-US" sz="2600" dirty="0" err="1">
                <a:solidFill>
                  <a:schemeClr val="tx1"/>
                </a:solidFill>
              </a:rPr>
              <a:t>tr</a:t>
            </a:r>
            <a:r>
              <a:rPr lang="en-US" sz="2600" dirty="0">
                <a:solidFill>
                  <a:schemeClr val="tx1"/>
                </a:solidFill>
              </a:rPr>
              <a:t>&gt; </a:t>
            </a:r>
            <a:br>
              <a:rPr lang="en-US" sz="2600" dirty="0">
                <a:solidFill>
                  <a:schemeClr val="tx1"/>
                </a:solidFill>
              </a:rPr>
            </a:br>
            <a:r>
              <a:rPr lang="en-US" sz="2600" dirty="0">
                <a:solidFill>
                  <a:schemeClr val="tx1"/>
                </a:solidFill>
              </a:rPr>
              <a:t>      &lt;td&gt;User Name: &lt;/td&gt;</a:t>
            </a:r>
            <a:br>
              <a:rPr lang="en-US" sz="2600" dirty="0">
                <a:solidFill>
                  <a:schemeClr val="tx1"/>
                </a:solidFill>
              </a:rPr>
            </a:br>
            <a:r>
              <a:rPr lang="en-US" sz="2600" dirty="0">
                <a:solidFill>
                  <a:schemeClr val="tx1"/>
                </a:solidFill>
              </a:rPr>
              <a:t>      &lt;td&gt;</a:t>
            </a:r>
            <a:br>
              <a:rPr lang="en-US" sz="2600" dirty="0">
                <a:solidFill>
                  <a:schemeClr val="tx1"/>
                </a:solidFill>
              </a:rPr>
            </a:br>
            <a:r>
              <a:rPr lang="en-US" sz="2600" dirty="0">
                <a:solidFill>
                  <a:schemeClr val="tx1"/>
                </a:solidFill>
              </a:rPr>
              <a:t>        </a:t>
            </a:r>
            <a:r>
              <a:rPr lang="en-US" sz="2600" dirty="0">
                <a:solidFill>
                  <a:srgbClr val="00B050"/>
                </a:solidFill>
              </a:rPr>
              <a:t>&lt;input</a:t>
            </a:r>
            <a:r>
              <a:rPr lang="en-US" sz="2600" dirty="0">
                <a:solidFill>
                  <a:schemeClr val="tx1"/>
                </a:solidFill>
              </a:rPr>
              <a:t> type=</a:t>
            </a:r>
            <a:r>
              <a:rPr lang="en-US" sz="2600" dirty="0">
                <a:solidFill>
                  <a:schemeClr val="accent6">
                    <a:lumMod val="75000"/>
                  </a:schemeClr>
                </a:solidFill>
              </a:rPr>
              <a:t>"text"</a:t>
            </a:r>
            <a:r>
              <a:rPr lang="en-US" sz="2600" dirty="0">
                <a:solidFill>
                  <a:schemeClr val="tx1"/>
                </a:solidFill>
              </a:rPr>
              <a:t> name="</a:t>
            </a:r>
            <a:r>
              <a:rPr lang="en-US" sz="2600" dirty="0" err="1">
                <a:solidFill>
                  <a:schemeClr val="tx1"/>
                </a:solidFill>
              </a:rPr>
              <a:t>userName</a:t>
            </a:r>
            <a:r>
              <a:rPr lang="en-US" sz="2600" dirty="0">
                <a:solidFill>
                  <a:schemeClr val="tx1"/>
                </a:solidFill>
              </a:rPr>
              <a:t>" size="</a:t>
            </a:r>
            <a:r>
              <a:rPr lang="en-US" sz="2600" dirty="0" smtClean="0">
                <a:solidFill>
                  <a:schemeClr val="tx1"/>
                </a:solidFill>
              </a:rPr>
              <a:t>10“ </a:t>
            </a:r>
            <a:r>
              <a:rPr lang="en-US" sz="2600" dirty="0" smtClean="0">
                <a:solidFill>
                  <a:srgbClr val="00B050"/>
                </a:solidFill>
              </a:rPr>
              <a:t>/&gt;</a:t>
            </a:r>
            <a:r>
              <a:rPr lang="en-US" sz="2600" dirty="0">
                <a:solidFill>
                  <a:schemeClr val="tx1"/>
                </a:solidFill>
              </a:rPr>
              <a:t/>
            </a:r>
            <a:br>
              <a:rPr lang="en-US" sz="2600" dirty="0">
                <a:solidFill>
                  <a:schemeClr val="tx1"/>
                </a:solidFill>
              </a:rPr>
            </a:br>
            <a:r>
              <a:rPr lang="en-US" sz="2600" dirty="0">
                <a:solidFill>
                  <a:schemeClr val="tx1"/>
                </a:solidFill>
              </a:rPr>
              <a:t>      &lt;/td&gt;</a:t>
            </a:r>
            <a:br>
              <a:rPr lang="en-US" sz="2600" dirty="0">
                <a:solidFill>
                  <a:schemeClr val="tx1"/>
                </a:solidFill>
              </a:rPr>
            </a:br>
            <a:r>
              <a:rPr lang="en-US" sz="2600" dirty="0">
                <a:solidFill>
                  <a:schemeClr val="tx1"/>
                </a:solidFill>
              </a:rPr>
              <a:t>    &lt;/</a:t>
            </a:r>
            <a:r>
              <a:rPr lang="en-US" sz="2600" dirty="0" err="1">
                <a:solidFill>
                  <a:schemeClr val="tx1"/>
                </a:solidFill>
              </a:rPr>
              <a:t>tr</a:t>
            </a:r>
            <a:r>
              <a:rPr lang="en-US" sz="2600" dirty="0">
                <a:solidFill>
                  <a:schemeClr val="tx1"/>
                </a:solidFill>
              </a:rPr>
              <a:t>&gt;&lt;</a:t>
            </a:r>
            <a:r>
              <a:rPr lang="en-US" sz="2600" dirty="0" err="1">
                <a:solidFill>
                  <a:schemeClr val="tx1"/>
                </a:solidFill>
              </a:rPr>
              <a:t>tr</a:t>
            </a:r>
            <a:r>
              <a:rPr lang="en-US" sz="2600" dirty="0">
                <a:solidFill>
                  <a:schemeClr val="tx1"/>
                </a:solidFill>
              </a:rPr>
              <a:t>&gt; </a:t>
            </a:r>
            <a:br>
              <a:rPr lang="en-US" sz="2600" dirty="0">
                <a:solidFill>
                  <a:schemeClr val="tx1"/>
                </a:solidFill>
              </a:rPr>
            </a:br>
            <a:r>
              <a:rPr lang="en-US" sz="2600" dirty="0">
                <a:solidFill>
                  <a:schemeClr val="tx1"/>
                </a:solidFill>
              </a:rPr>
              <a:t>      &lt;td&gt;Password: &lt;/td&gt;</a:t>
            </a:r>
            <a:br>
              <a:rPr lang="en-US" sz="2600" dirty="0">
                <a:solidFill>
                  <a:schemeClr val="tx1"/>
                </a:solidFill>
              </a:rPr>
            </a:br>
            <a:r>
              <a:rPr lang="en-US" sz="2600" dirty="0">
                <a:solidFill>
                  <a:schemeClr val="tx1"/>
                </a:solidFill>
              </a:rPr>
              <a:t>      &lt;td&gt;</a:t>
            </a:r>
            <a:br>
              <a:rPr lang="en-US" sz="2600" dirty="0">
                <a:solidFill>
                  <a:schemeClr val="tx1"/>
                </a:solidFill>
              </a:rPr>
            </a:br>
            <a:r>
              <a:rPr lang="en-US" sz="2600" dirty="0">
                <a:solidFill>
                  <a:schemeClr val="tx1"/>
                </a:solidFill>
              </a:rPr>
              <a:t>        </a:t>
            </a:r>
            <a:r>
              <a:rPr lang="en-US" sz="2600" dirty="0">
                <a:solidFill>
                  <a:srgbClr val="00B050"/>
                </a:solidFill>
              </a:rPr>
              <a:t>&lt;input</a:t>
            </a:r>
            <a:r>
              <a:rPr lang="en-US" sz="2600" dirty="0">
                <a:solidFill>
                  <a:schemeClr val="tx1"/>
                </a:solidFill>
              </a:rPr>
              <a:t> type=</a:t>
            </a:r>
            <a:r>
              <a:rPr lang="en-US" sz="2600" dirty="0">
                <a:solidFill>
                  <a:schemeClr val="accent6">
                    <a:lumMod val="75000"/>
                  </a:schemeClr>
                </a:solidFill>
              </a:rPr>
              <a:t>"password"</a:t>
            </a:r>
            <a:r>
              <a:rPr lang="en-US" sz="2600" dirty="0">
                <a:solidFill>
                  <a:schemeClr val="tx1"/>
                </a:solidFill>
              </a:rPr>
              <a:t> name="password" size="</a:t>
            </a:r>
            <a:r>
              <a:rPr lang="en-US" sz="2600" dirty="0" smtClean="0">
                <a:solidFill>
                  <a:schemeClr val="tx1"/>
                </a:solidFill>
              </a:rPr>
              <a:t>10“ </a:t>
            </a:r>
            <a:r>
              <a:rPr lang="en-US" sz="2600" dirty="0" smtClean="0">
                <a:solidFill>
                  <a:srgbClr val="00B050"/>
                </a:solidFill>
              </a:rPr>
              <a:t>/&gt;</a:t>
            </a:r>
            <a:r>
              <a:rPr lang="en-US" sz="2600" dirty="0">
                <a:solidFill>
                  <a:schemeClr val="tx1"/>
                </a:solidFill>
              </a:rPr>
              <a:t/>
            </a:r>
            <a:br>
              <a:rPr lang="en-US" sz="2600" dirty="0">
                <a:solidFill>
                  <a:schemeClr val="tx1"/>
                </a:solidFill>
              </a:rPr>
            </a:br>
            <a:r>
              <a:rPr lang="en-US" sz="2600" dirty="0">
                <a:solidFill>
                  <a:schemeClr val="tx1"/>
                </a:solidFill>
              </a:rPr>
              <a:t>      &lt;/td&gt;</a:t>
            </a:r>
            <a:br>
              <a:rPr lang="en-US" sz="2600" dirty="0">
                <a:solidFill>
                  <a:schemeClr val="tx1"/>
                </a:solidFill>
              </a:rPr>
            </a:br>
            <a:r>
              <a:rPr lang="en-US" sz="2600" dirty="0">
                <a:solidFill>
                  <a:schemeClr val="tx1"/>
                </a:solidFill>
              </a:rPr>
              <a:t>    &lt;/</a:t>
            </a:r>
            <a:r>
              <a:rPr lang="en-US" sz="2600" dirty="0" err="1">
                <a:solidFill>
                  <a:schemeClr val="tx1"/>
                </a:solidFill>
              </a:rPr>
              <a:t>tr</a:t>
            </a:r>
            <a:r>
              <a:rPr lang="en-US" sz="2600" dirty="0">
                <a:solidFill>
                  <a:schemeClr val="tx1"/>
                </a:solidFill>
              </a:rPr>
              <a:t>&gt;&lt;</a:t>
            </a:r>
            <a:r>
              <a:rPr lang="en-US" sz="2600" dirty="0" err="1">
                <a:solidFill>
                  <a:schemeClr val="tx1"/>
                </a:solidFill>
              </a:rPr>
              <a:t>tr</a:t>
            </a:r>
            <a:r>
              <a:rPr lang="en-US" sz="2600" dirty="0">
                <a:solidFill>
                  <a:schemeClr val="tx1"/>
                </a:solidFill>
              </a:rPr>
              <a:t>&gt; </a:t>
            </a:r>
            <a:br>
              <a:rPr lang="en-US" sz="2600" dirty="0">
                <a:solidFill>
                  <a:schemeClr val="tx1"/>
                </a:solidFill>
              </a:rPr>
            </a:br>
            <a:r>
              <a:rPr lang="en-US" sz="2600" dirty="0">
                <a:solidFill>
                  <a:schemeClr val="tx1"/>
                </a:solidFill>
              </a:rPr>
              <a:t>      &lt;td </a:t>
            </a:r>
            <a:r>
              <a:rPr lang="en-US" sz="2600" dirty="0" err="1">
                <a:solidFill>
                  <a:schemeClr val="tx1"/>
                </a:solidFill>
              </a:rPr>
              <a:t>colspan</a:t>
            </a:r>
            <a:r>
              <a:rPr lang="en-US" sz="2600" dirty="0">
                <a:solidFill>
                  <a:schemeClr val="tx1"/>
                </a:solidFill>
              </a:rPr>
              <a:t>="2" align="right"&gt; </a:t>
            </a:r>
            <a:br>
              <a:rPr lang="en-US" sz="2600" dirty="0">
                <a:solidFill>
                  <a:schemeClr val="tx1"/>
                </a:solidFill>
              </a:rPr>
            </a:br>
            <a:r>
              <a:rPr lang="en-US" sz="2600" dirty="0">
                <a:solidFill>
                  <a:schemeClr val="tx1"/>
                </a:solidFill>
              </a:rPr>
              <a:t>        </a:t>
            </a:r>
            <a:r>
              <a:rPr lang="en-US" sz="2600" dirty="0">
                <a:solidFill>
                  <a:srgbClr val="00B050"/>
                </a:solidFill>
              </a:rPr>
              <a:t>&lt;input</a:t>
            </a:r>
            <a:r>
              <a:rPr lang="en-US" sz="2600" dirty="0">
                <a:solidFill>
                  <a:schemeClr val="tx1"/>
                </a:solidFill>
              </a:rPr>
              <a:t> type=</a:t>
            </a:r>
            <a:r>
              <a:rPr lang="en-US" sz="2600" dirty="0">
                <a:solidFill>
                  <a:schemeClr val="accent6">
                    <a:lumMod val="75000"/>
                  </a:schemeClr>
                </a:solidFill>
              </a:rPr>
              <a:t>"submit"</a:t>
            </a:r>
            <a:r>
              <a:rPr lang="en-US" sz="2600" dirty="0">
                <a:solidFill>
                  <a:schemeClr val="tx1"/>
                </a:solidFill>
              </a:rPr>
              <a:t> name="login" value="Log me </a:t>
            </a:r>
            <a:r>
              <a:rPr lang="en-US" sz="2600" dirty="0" smtClean="0">
                <a:solidFill>
                  <a:schemeClr val="tx1"/>
                </a:solidFill>
              </a:rPr>
              <a:t>in“ </a:t>
            </a:r>
            <a:r>
              <a:rPr lang="en-US" sz="2600" dirty="0" smtClean="0">
                <a:solidFill>
                  <a:srgbClr val="00B050"/>
                </a:solidFill>
              </a:rPr>
              <a:t>/&gt;</a:t>
            </a:r>
            <a:r>
              <a:rPr lang="en-US" sz="2600" dirty="0">
                <a:solidFill>
                  <a:schemeClr val="tx1"/>
                </a:solidFill>
              </a:rPr>
              <a:t/>
            </a:r>
            <a:br>
              <a:rPr lang="en-US" sz="2600" dirty="0">
                <a:solidFill>
                  <a:schemeClr val="tx1"/>
                </a:solidFill>
              </a:rPr>
            </a:br>
            <a:r>
              <a:rPr lang="en-US" sz="2600" dirty="0">
                <a:solidFill>
                  <a:schemeClr val="tx1"/>
                </a:solidFill>
              </a:rPr>
              <a:t>      &lt;/td&gt;</a:t>
            </a:r>
            <a:br>
              <a:rPr lang="en-US" sz="2600" dirty="0">
                <a:solidFill>
                  <a:schemeClr val="tx1"/>
                </a:solidFill>
              </a:rPr>
            </a:br>
            <a:r>
              <a:rPr lang="en-US" sz="2600" dirty="0">
                <a:solidFill>
                  <a:schemeClr val="tx1"/>
                </a:solidFill>
              </a:rPr>
              <a:t>  &lt;/</a:t>
            </a:r>
            <a:r>
              <a:rPr lang="en-US" sz="2600" dirty="0" err="1">
                <a:solidFill>
                  <a:schemeClr val="tx1"/>
                </a:solidFill>
              </a:rPr>
              <a:t>tr</a:t>
            </a:r>
            <a:r>
              <a:rPr lang="en-US" sz="2600" dirty="0">
                <a:solidFill>
                  <a:schemeClr val="tx1"/>
                </a:solidFill>
              </a:rPr>
              <a:t>&gt;</a:t>
            </a:r>
            <a:r>
              <a:rPr lang="en-US" sz="2600" dirty="0">
                <a:solidFill>
                  <a:srgbClr val="0000FF"/>
                </a:solidFill>
              </a:rPr>
              <a:t>&lt;/table&gt;</a:t>
            </a:r>
            <a:r>
              <a:rPr lang="en-US" sz="2600" dirty="0">
                <a:solidFill>
                  <a:schemeClr val="tx1"/>
                </a:solidFill>
              </a:rPr>
              <a:t/>
            </a:r>
            <a:br>
              <a:rPr lang="en-US" sz="2600" dirty="0">
                <a:solidFill>
                  <a:schemeClr val="tx1"/>
                </a:solidFill>
              </a:rPr>
            </a:br>
            <a:r>
              <a:rPr lang="en-US" sz="2600" dirty="0">
                <a:solidFill>
                  <a:srgbClr val="FF0000"/>
                </a:solidFill>
              </a:rPr>
              <a:t>&lt;/form&gt;</a:t>
            </a:r>
          </a:p>
        </p:txBody>
      </p:sp>
    </p:spTree>
  </p:cSld>
  <p:clrMapOvr>
    <a:masterClrMapping/>
  </p:clrMapOvr>
  <p:transition>
    <p:randomBar dir="vert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047EA-DAB7-41DC-B602-EA9260315D4F}" type="slidenum">
              <a:rPr lang="en-US"/>
              <a:pPr/>
              <a:t>19</a:t>
            </a:fld>
            <a:endParaRPr lang="en-US"/>
          </a:p>
        </p:txBody>
      </p:sp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-152400"/>
            <a:ext cx="7772400" cy="11430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Checkbox Input Element</a:t>
            </a:r>
          </a:p>
        </p:txBody>
      </p:sp>
      <p:sp>
        <p:nvSpPr>
          <p:cNvPr id="278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4983163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sz="3600" dirty="0">
                <a:solidFill>
                  <a:srgbClr val="FF0000"/>
                </a:solidFill>
              </a:rPr>
              <a:t>&lt;INPUT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en-US" sz="3600" dirty="0"/>
              <a:t>	</a:t>
            </a:r>
            <a:r>
              <a:rPr lang="en-US" sz="3600" dirty="0">
                <a:solidFill>
                  <a:srgbClr val="0000FF"/>
                </a:solidFill>
              </a:rPr>
              <a:t>type=</a:t>
            </a:r>
            <a:r>
              <a:rPr lang="en-US" sz="36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“</a:t>
            </a:r>
            <a:r>
              <a:rPr lang="en-US" sz="3600" dirty="0"/>
              <a:t>checkbox</a:t>
            </a:r>
            <a:r>
              <a:rPr lang="en-US" sz="36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”</a:t>
            </a:r>
          </a:p>
          <a:p>
            <a:pPr marL="0" indent="0">
              <a:buFontTx/>
              <a:buNone/>
            </a:pPr>
            <a:r>
              <a:rPr lang="en-US" sz="3600" dirty="0">
                <a:solidFill>
                  <a:schemeClr val="tx2"/>
                </a:solidFill>
              </a:rPr>
              <a:t>	</a:t>
            </a:r>
            <a:r>
              <a:rPr lang="en-US" sz="3600" dirty="0">
                <a:solidFill>
                  <a:srgbClr val="0000FF"/>
                </a:solidFill>
              </a:rPr>
              <a:t>name=</a:t>
            </a:r>
            <a:r>
              <a:rPr lang="en-US" sz="36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“</a:t>
            </a:r>
            <a:r>
              <a:rPr lang="en-US" sz="3600" dirty="0" err="1"/>
              <a:t>checkboxName</a:t>
            </a:r>
            <a:r>
              <a:rPr lang="en-US" sz="36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”</a:t>
            </a:r>
            <a:endParaRPr lang="en-US" sz="3600" dirty="0">
              <a:latin typeface="Arial" pitchFamily="34" charset="0"/>
              <a:cs typeface="Arial" pitchFamily="34" charset="0"/>
            </a:endParaRPr>
          </a:p>
          <a:p>
            <a:pPr marL="0" indent="0">
              <a:buFontTx/>
              <a:buNone/>
            </a:pPr>
            <a:r>
              <a:rPr lang="en-US" sz="3600" dirty="0">
                <a:solidFill>
                  <a:schemeClr val="tx2"/>
                </a:solidFill>
              </a:rPr>
              <a:t>	</a:t>
            </a:r>
            <a:r>
              <a:rPr lang="en-US" sz="3600" dirty="0">
                <a:solidFill>
                  <a:srgbClr val="0000FF"/>
                </a:solidFill>
              </a:rPr>
              <a:t>checked</a:t>
            </a:r>
          </a:p>
          <a:p>
            <a:pPr marL="0" indent="0">
              <a:buFontTx/>
              <a:buNone/>
            </a:pPr>
            <a:r>
              <a:rPr lang="en-US" sz="3600" dirty="0"/>
              <a:t>	</a:t>
            </a:r>
            <a:r>
              <a:rPr lang="en-US" sz="3600" dirty="0">
                <a:solidFill>
                  <a:srgbClr val="0000FF"/>
                </a:solidFill>
              </a:rPr>
              <a:t>value=</a:t>
            </a:r>
            <a:r>
              <a:rPr lang="en-US" sz="36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“</a:t>
            </a:r>
            <a:r>
              <a:rPr lang="en-US" sz="3600" dirty="0" err="1"/>
              <a:t>checkedValue</a:t>
            </a:r>
            <a:r>
              <a:rPr lang="en-US" sz="36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”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en-US" sz="3600" dirty="0" smtClean="0">
                <a:solidFill>
                  <a:srgbClr val="FF0000"/>
                </a:solidFill>
              </a:rPr>
              <a:t>/&gt;</a:t>
            </a:r>
            <a:endParaRPr lang="en-US" sz="36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>
    <p:randomBar dir="vert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752B1-42DE-4563-B30E-6C3B50EB0EF8}" type="slidenum">
              <a:rPr lang="en-US"/>
              <a:pPr/>
              <a:t>20</a:t>
            </a:fld>
            <a:endParaRPr lang="en-US"/>
          </a:p>
        </p:txBody>
      </p:sp>
      <p:pic>
        <p:nvPicPr>
          <p:cNvPr id="4" name="Picture 3" descr="form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546462"/>
            <a:ext cx="6408061" cy="5669280"/>
          </a:xfrm>
          <a:prstGeom prst="rect">
            <a:avLst/>
          </a:prstGeom>
        </p:spPr>
      </p:pic>
    </p:spTree>
  </p:cSld>
  <p:clrMapOvr>
    <a:masterClrMapping/>
  </p:clrMapOvr>
  <p:transition>
    <p:randomBar dir="vert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AC706-B44C-4E20-89EB-878BBCE4CA55}" type="slidenum">
              <a:rPr lang="en-US"/>
              <a:pPr/>
              <a:t>21</a:t>
            </a:fld>
            <a:endParaRPr lang="en-US"/>
          </a:p>
        </p:txBody>
      </p:sp>
      <p:sp>
        <p:nvSpPr>
          <p:cNvPr id="28160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-152400"/>
            <a:ext cx="7772400" cy="11430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Radio Button Input Element</a:t>
            </a:r>
          </a:p>
        </p:txBody>
      </p:sp>
      <p:sp>
        <p:nvSpPr>
          <p:cNvPr id="281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229600" cy="4906963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sz="3600" dirty="0">
                <a:solidFill>
                  <a:srgbClr val="FF0000"/>
                </a:solidFill>
              </a:rPr>
              <a:t>&lt;INPUT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en-US" sz="3600" dirty="0"/>
              <a:t>	</a:t>
            </a:r>
            <a:r>
              <a:rPr lang="en-US" sz="3600" dirty="0">
                <a:solidFill>
                  <a:srgbClr val="0000FF"/>
                </a:solidFill>
              </a:rPr>
              <a:t>type=</a:t>
            </a:r>
            <a:r>
              <a:rPr lang="en-US" sz="36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“</a:t>
            </a:r>
            <a:r>
              <a:rPr lang="en-US" sz="3600" dirty="0"/>
              <a:t>radio</a:t>
            </a:r>
            <a:r>
              <a:rPr lang="en-US" sz="36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”</a:t>
            </a:r>
          </a:p>
          <a:p>
            <a:pPr marL="0" indent="0">
              <a:buFontTx/>
              <a:buNone/>
            </a:pPr>
            <a:r>
              <a:rPr lang="en-US" sz="3600" dirty="0">
                <a:solidFill>
                  <a:schemeClr val="tx2"/>
                </a:solidFill>
              </a:rPr>
              <a:t>	</a:t>
            </a:r>
            <a:r>
              <a:rPr lang="en-US" sz="3600" dirty="0">
                <a:solidFill>
                  <a:srgbClr val="0000FF"/>
                </a:solidFill>
              </a:rPr>
              <a:t>name=</a:t>
            </a:r>
            <a:r>
              <a:rPr lang="en-US" sz="36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“</a:t>
            </a:r>
            <a:r>
              <a:rPr lang="en-US" sz="3600" dirty="0" err="1"/>
              <a:t>radioButtonName</a:t>
            </a:r>
            <a:r>
              <a:rPr lang="en-US" sz="36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”</a:t>
            </a:r>
            <a:endParaRPr lang="en-US" sz="3600" dirty="0">
              <a:latin typeface="Arial" pitchFamily="34" charset="0"/>
              <a:cs typeface="Arial" pitchFamily="34" charset="0"/>
            </a:endParaRPr>
          </a:p>
          <a:p>
            <a:pPr marL="0" indent="0">
              <a:buFontTx/>
              <a:buNone/>
            </a:pPr>
            <a:r>
              <a:rPr lang="en-US" sz="3600" dirty="0">
                <a:solidFill>
                  <a:schemeClr val="tx2"/>
                </a:solidFill>
              </a:rPr>
              <a:t>	</a:t>
            </a:r>
            <a:r>
              <a:rPr lang="en-US" sz="3600" dirty="0">
                <a:solidFill>
                  <a:srgbClr val="0000FF"/>
                </a:solidFill>
              </a:rPr>
              <a:t>checked</a:t>
            </a:r>
          </a:p>
          <a:p>
            <a:pPr marL="0" indent="0">
              <a:buFontTx/>
              <a:buNone/>
            </a:pPr>
            <a:r>
              <a:rPr lang="en-US" sz="3600" dirty="0"/>
              <a:t>	</a:t>
            </a:r>
            <a:r>
              <a:rPr lang="en-US" sz="3600" dirty="0">
                <a:solidFill>
                  <a:srgbClr val="0000FF"/>
                </a:solidFill>
              </a:rPr>
              <a:t>value=</a:t>
            </a:r>
            <a:r>
              <a:rPr lang="en-US" sz="36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“</a:t>
            </a:r>
            <a:r>
              <a:rPr lang="en-US" sz="3600" dirty="0" err="1"/>
              <a:t>selectedValue</a:t>
            </a:r>
            <a:r>
              <a:rPr lang="en-US" sz="36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”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en-US" sz="3600" dirty="0" smtClean="0">
                <a:solidFill>
                  <a:srgbClr val="FF0000"/>
                </a:solidFill>
              </a:rPr>
              <a:t>/&gt;</a:t>
            </a:r>
            <a:endParaRPr lang="en-US" sz="36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>
    <p:randomBar dir="vert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4F977-6EA4-4387-A532-180AEF2A1B02}" type="slidenum">
              <a:rPr lang="en-US"/>
              <a:pPr/>
              <a:t>22</a:t>
            </a:fld>
            <a:endParaRPr lang="en-US"/>
          </a:p>
        </p:txBody>
      </p:sp>
      <p:pic>
        <p:nvPicPr>
          <p:cNvPr id="5" name="Picture 4" descr="form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919" y="106680"/>
            <a:ext cx="7540081" cy="6675120"/>
          </a:xfrm>
          <a:prstGeom prst="rect">
            <a:avLst/>
          </a:prstGeom>
        </p:spPr>
      </p:pic>
    </p:spTree>
  </p:cSld>
  <p:clrMapOvr>
    <a:masterClrMapping/>
  </p:clrMapOvr>
  <p:transition>
    <p:randomBar dir="vert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CCAF5-E51A-44EC-9211-6DF685A6F443}" type="slidenum">
              <a:rPr lang="en-US"/>
              <a:pPr/>
              <a:t>23</a:t>
            </a:fld>
            <a:endParaRPr lang="en-US"/>
          </a:p>
        </p:txBody>
      </p:sp>
      <p:sp>
        <p:nvSpPr>
          <p:cNvPr id="2877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>
            <a:noAutofit/>
          </a:bodyPr>
          <a:lstStyle/>
          <a:p>
            <a:pPr algn="l"/>
            <a:r>
              <a:rPr lang="en-US" sz="2100" dirty="0">
                <a:solidFill>
                  <a:srgbClr val="FF0000"/>
                </a:solidFill>
              </a:rPr>
              <a:t>&lt;form</a:t>
            </a:r>
            <a:r>
              <a:rPr lang="en-US" sz="2100" dirty="0">
                <a:solidFill>
                  <a:schemeClr val="tx1"/>
                </a:solidFill>
              </a:rPr>
              <a:t> name="login" method="post" action="</a:t>
            </a:r>
            <a:r>
              <a:rPr lang="en-US" sz="2100" dirty="0" err="1">
                <a:solidFill>
                  <a:schemeClr val="tx1"/>
                </a:solidFill>
              </a:rPr>
              <a:t>loginScript</a:t>
            </a:r>
            <a:r>
              <a:rPr lang="en-US" sz="2100" dirty="0">
                <a:solidFill>
                  <a:schemeClr val="tx1"/>
                </a:solidFill>
              </a:rPr>
              <a:t>"</a:t>
            </a:r>
            <a:r>
              <a:rPr lang="en-US" sz="2100" dirty="0">
                <a:solidFill>
                  <a:srgbClr val="FF0000"/>
                </a:solidFill>
              </a:rPr>
              <a:t>&gt;</a:t>
            </a:r>
            <a:r>
              <a:rPr lang="en-US" sz="2100" dirty="0">
                <a:solidFill>
                  <a:schemeClr val="tx1"/>
                </a:solidFill>
              </a:rPr>
              <a:t/>
            </a:r>
            <a:br>
              <a:rPr lang="en-US" sz="2100" dirty="0">
                <a:solidFill>
                  <a:schemeClr val="tx1"/>
                </a:solidFill>
              </a:rPr>
            </a:br>
            <a:r>
              <a:rPr lang="en-US" sz="2100" dirty="0">
                <a:solidFill>
                  <a:schemeClr val="tx1"/>
                </a:solidFill>
              </a:rPr>
              <a:t>  </a:t>
            </a:r>
            <a:r>
              <a:rPr lang="en-US" sz="2100" dirty="0">
                <a:solidFill>
                  <a:srgbClr val="0000FF"/>
                </a:solidFill>
              </a:rPr>
              <a:t>&lt;table&gt;</a:t>
            </a:r>
            <a:r>
              <a:rPr lang="en-US" sz="2100" dirty="0">
                <a:solidFill>
                  <a:schemeClr val="tx1"/>
                </a:solidFill>
              </a:rPr>
              <a:t>&lt;</a:t>
            </a:r>
            <a:r>
              <a:rPr lang="en-US" sz="2100" dirty="0" err="1">
                <a:solidFill>
                  <a:schemeClr val="tx1"/>
                </a:solidFill>
              </a:rPr>
              <a:t>tr</a:t>
            </a:r>
            <a:r>
              <a:rPr lang="en-US" sz="2100" dirty="0">
                <a:solidFill>
                  <a:schemeClr val="tx1"/>
                </a:solidFill>
              </a:rPr>
              <a:t>&gt; </a:t>
            </a:r>
            <a:br>
              <a:rPr lang="en-US" sz="2100" dirty="0">
                <a:solidFill>
                  <a:schemeClr val="tx1"/>
                </a:solidFill>
              </a:rPr>
            </a:br>
            <a:r>
              <a:rPr lang="en-US" sz="2100" dirty="0">
                <a:solidFill>
                  <a:schemeClr val="tx1"/>
                </a:solidFill>
              </a:rPr>
              <a:t>      &lt;td&gt;User Name: &lt;/td&gt;</a:t>
            </a:r>
            <a:br>
              <a:rPr lang="en-US" sz="2100" dirty="0">
                <a:solidFill>
                  <a:schemeClr val="tx1"/>
                </a:solidFill>
              </a:rPr>
            </a:br>
            <a:r>
              <a:rPr lang="en-US" sz="2100" dirty="0">
                <a:solidFill>
                  <a:schemeClr val="tx1"/>
                </a:solidFill>
              </a:rPr>
              <a:t>      &lt;td</a:t>
            </a:r>
            <a:r>
              <a:rPr lang="en-US" sz="2100" dirty="0" smtClean="0">
                <a:solidFill>
                  <a:schemeClr val="tx1"/>
                </a:solidFill>
              </a:rPr>
              <a:t>&gt;</a:t>
            </a:r>
            <a:r>
              <a:rPr lang="en-US" sz="2100" dirty="0" smtClean="0">
                <a:solidFill>
                  <a:srgbClr val="00B050"/>
                </a:solidFill>
              </a:rPr>
              <a:t>&lt;</a:t>
            </a:r>
            <a:r>
              <a:rPr lang="en-US" sz="2100" dirty="0">
                <a:solidFill>
                  <a:srgbClr val="00B050"/>
                </a:solidFill>
              </a:rPr>
              <a:t>input</a:t>
            </a:r>
            <a:r>
              <a:rPr lang="en-US" sz="2100" dirty="0">
                <a:solidFill>
                  <a:schemeClr val="tx1"/>
                </a:solidFill>
              </a:rPr>
              <a:t> type=</a:t>
            </a:r>
            <a:r>
              <a:rPr lang="en-US" sz="2100" dirty="0">
                <a:solidFill>
                  <a:schemeClr val="accent6">
                    <a:lumMod val="75000"/>
                  </a:schemeClr>
                </a:solidFill>
              </a:rPr>
              <a:t>"text"</a:t>
            </a:r>
            <a:r>
              <a:rPr lang="en-US" sz="2100" dirty="0">
                <a:solidFill>
                  <a:schemeClr val="tx1"/>
                </a:solidFill>
              </a:rPr>
              <a:t> name="</a:t>
            </a:r>
            <a:r>
              <a:rPr lang="en-US" sz="2100" dirty="0" err="1">
                <a:solidFill>
                  <a:schemeClr val="tx1"/>
                </a:solidFill>
              </a:rPr>
              <a:t>userName</a:t>
            </a:r>
            <a:r>
              <a:rPr lang="en-US" sz="2100" dirty="0">
                <a:solidFill>
                  <a:schemeClr val="tx1"/>
                </a:solidFill>
              </a:rPr>
              <a:t>" size="10</a:t>
            </a:r>
            <a:r>
              <a:rPr lang="en-US" sz="2100" dirty="0" smtClean="0">
                <a:solidFill>
                  <a:schemeClr val="tx1"/>
                </a:solidFill>
              </a:rPr>
              <a:t>"&gt;&lt;/</a:t>
            </a:r>
            <a:r>
              <a:rPr lang="en-US" sz="2100" dirty="0">
                <a:solidFill>
                  <a:schemeClr val="tx1"/>
                </a:solidFill>
              </a:rPr>
              <a:t>td&gt;</a:t>
            </a:r>
            <a:br>
              <a:rPr lang="en-US" sz="2100" dirty="0">
                <a:solidFill>
                  <a:schemeClr val="tx1"/>
                </a:solidFill>
              </a:rPr>
            </a:br>
            <a:r>
              <a:rPr lang="en-US" sz="2100" dirty="0">
                <a:solidFill>
                  <a:schemeClr val="tx1"/>
                </a:solidFill>
              </a:rPr>
              <a:t>    &lt;/</a:t>
            </a:r>
            <a:r>
              <a:rPr lang="en-US" sz="2100" dirty="0" err="1">
                <a:solidFill>
                  <a:schemeClr val="tx1"/>
                </a:solidFill>
              </a:rPr>
              <a:t>tr</a:t>
            </a:r>
            <a:r>
              <a:rPr lang="en-US" sz="2100" dirty="0">
                <a:solidFill>
                  <a:schemeClr val="tx1"/>
                </a:solidFill>
              </a:rPr>
              <a:t>&gt;&lt;</a:t>
            </a:r>
            <a:r>
              <a:rPr lang="en-US" sz="2100" dirty="0" err="1">
                <a:solidFill>
                  <a:schemeClr val="tx1"/>
                </a:solidFill>
              </a:rPr>
              <a:t>tr</a:t>
            </a:r>
            <a:r>
              <a:rPr lang="en-US" sz="2100" dirty="0">
                <a:solidFill>
                  <a:schemeClr val="tx1"/>
                </a:solidFill>
              </a:rPr>
              <a:t>&gt; </a:t>
            </a:r>
            <a:br>
              <a:rPr lang="en-US" sz="2100" dirty="0">
                <a:solidFill>
                  <a:schemeClr val="tx1"/>
                </a:solidFill>
              </a:rPr>
            </a:br>
            <a:r>
              <a:rPr lang="en-US" sz="2100" dirty="0">
                <a:solidFill>
                  <a:schemeClr val="tx1"/>
                </a:solidFill>
              </a:rPr>
              <a:t>      &lt;td&gt;Password: &lt;/td&gt;</a:t>
            </a:r>
            <a:br>
              <a:rPr lang="en-US" sz="2100" dirty="0">
                <a:solidFill>
                  <a:schemeClr val="tx1"/>
                </a:solidFill>
              </a:rPr>
            </a:br>
            <a:r>
              <a:rPr lang="en-US" sz="2100" dirty="0">
                <a:solidFill>
                  <a:schemeClr val="tx1"/>
                </a:solidFill>
              </a:rPr>
              <a:t>      &lt;td</a:t>
            </a:r>
            <a:r>
              <a:rPr lang="en-US" sz="2100" dirty="0" smtClean="0">
                <a:solidFill>
                  <a:schemeClr val="tx1"/>
                </a:solidFill>
              </a:rPr>
              <a:t>&gt;</a:t>
            </a:r>
            <a:r>
              <a:rPr lang="en-US" sz="2100" dirty="0" smtClean="0">
                <a:solidFill>
                  <a:srgbClr val="00B050"/>
                </a:solidFill>
              </a:rPr>
              <a:t>&lt;</a:t>
            </a:r>
            <a:r>
              <a:rPr lang="en-US" sz="2100" dirty="0">
                <a:solidFill>
                  <a:srgbClr val="00B050"/>
                </a:solidFill>
              </a:rPr>
              <a:t>input</a:t>
            </a:r>
            <a:r>
              <a:rPr lang="en-US" sz="2100" dirty="0">
                <a:solidFill>
                  <a:schemeClr val="tx1"/>
                </a:solidFill>
              </a:rPr>
              <a:t> type=</a:t>
            </a:r>
            <a:r>
              <a:rPr lang="en-US" sz="2100" dirty="0">
                <a:solidFill>
                  <a:schemeClr val="accent6">
                    <a:lumMod val="75000"/>
                  </a:schemeClr>
                </a:solidFill>
              </a:rPr>
              <a:t>"password"</a:t>
            </a:r>
            <a:r>
              <a:rPr lang="en-US" sz="2100" dirty="0">
                <a:solidFill>
                  <a:schemeClr val="tx1"/>
                </a:solidFill>
              </a:rPr>
              <a:t> name="password" size="10</a:t>
            </a:r>
            <a:r>
              <a:rPr lang="en-US" sz="2100" dirty="0" smtClean="0">
                <a:solidFill>
                  <a:schemeClr val="tx1"/>
                </a:solidFill>
              </a:rPr>
              <a:t>"&gt;&lt;/</a:t>
            </a:r>
            <a:r>
              <a:rPr lang="en-US" sz="2100" dirty="0">
                <a:solidFill>
                  <a:schemeClr val="tx1"/>
                </a:solidFill>
              </a:rPr>
              <a:t>td&gt;</a:t>
            </a:r>
            <a:br>
              <a:rPr lang="en-US" sz="2100" dirty="0">
                <a:solidFill>
                  <a:schemeClr val="tx1"/>
                </a:solidFill>
              </a:rPr>
            </a:br>
            <a:r>
              <a:rPr lang="en-US" sz="2100" dirty="0">
                <a:solidFill>
                  <a:schemeClr val="tx1"/>
                </a:solidFill>
              </a:rPr>
              <a:t>    &lt;/</a:t>
            </a:r>
            <a:r>
              <a:rPr lang="en-US" sz="2100" dirty="0" err="1">
                <a:solidFill>
                  <a:schemeClr val="tx1"/>
                </a:solidFill>
              </a:rPr>
              <a:t>tr</a:t>
            </a:r>
            <a:r>
              <a:rPr lang="en-US" sz="2100" dirty="0">
                <a:solidFill>
                  <a:schemeClr val="tx1"/>
                </a:solidFill>
              </a:rPr>
              <a:t>&gt;&lt;</a:t>
            </a:r>
            <a:r>
              <a:rPr lang="en-US" sz="2100" dirty="0" err="1">
                <a:solidFill>
                  <a:schemeClr val="tx1"/>
                </a:solidFill>
              </a:rPr>
              <a:t>tr</a:t>
            </a:r>
            <a:r>
              <a:rPr lang="en-US" sz="2100" dirty="0">
                <a:solidFill>
                  <a:schemeClr val="tx1"/>
                </a:solidFill>
              </a:rPr>
              <a:t>&gt; </a:t>
            </a:r>
            <a:br>
              <a:rPr lang="en-US" sz="2100" dirty="0">
                <a:solidFill>
                  <a:schemeClr val="tx1"/>
                </a:solidFill>
              </a:rPr>
            </a:br>
            <a:r>
              <a:rPr lang="en-US" sz="2100" dirty="0">
                <a:solidFill>
                  <a:schemeClr val="tx1"/>
                </a:solidFill>
              </a:rPr>
              <a:t>      &lt;td </a:t>
            </a:r>
            <a:r>
              <a:rPr lang="en-US" sz="2100" dirty="0" err="1">
                <a:solidFill>
                  <a:schemeClr val="tx1"/>
                </a:solidFill>
              </a:rPr>
              <a:t>valign</a:t>
            </a:r>
            <a:r>
              <a:rPr lang="en-US" sz="2100" dirty="0">
                <a:solidFill>
                  <a:schemeClr val="tx1"/>
                </a:solidFill>
              </a:rPr>
              <a:t>="top"&gt;Logging in from:&lt;/td&gt;</a:t>
            </a:r>
            <a:br>
              <a:rPr lang="en-US" sz="2100" dirty="0">
                <a:solidFill>
                  <a:schemeClr val="tx1"/>
                </a:solidFill>
              </a:rPr>
            </a:br>
            <a:r>
              <a:rPr lang="en-US" sz="2100" dirty="0">
                <a:solidFill>
                  <a:schemeClr val="tx1"/>
                </a:solidFill>
              </a:rPr>
              <a:t>      &lt;td&gt; </a:t>
            </a:r>
            <a:br>
              <a:rPr lang="en-US" sz="2100" dirty="0">
                <a:solidFill>
                  <a:schemeClr val="tx1"/>
                </a:solidFill>
              </a:rPr>
            </a:br>
            <a:r>
              <a:rPr lang="en-US" sz="2100" dirty="0">
                <a:solidFill>
                  <a:schemeClr val="tx1"/>
                </a:solidFill>
              </a:rPr>
              <a:t>        </a:t>
            </a:r>
            <a:r>
              <a:rPr lang="en-US" sz="2100" dirty="0">
                <a:solidFill>
                  <a:srgbClr val="00B050"/>
                </a:solidFill>
              </a:rPr>
              <a:t>&lt;input</a:t>
            </a:r>
            <a:r>
              <a:rPr lang="en-US" sz="2100" dirty="0">
                <a:solidFill>
                  <a:schemeClr val="tx1"/>
                </a:solidFill>
              </a:rPr>
              <a:t> type=</a:t>
            </a:r>
            <a:r>
              <a:rPr lang="en-US" sz="2100" dirty="0">
                <a:solidFill>
                  <a:schemeClr val="accent6">
                    <a:lumMod val="75000"/>
                  </a:schemeClr>
                </a:solidFill>
              </a:rPr>
              <a:t>"radio"</a:t>
            </a:r>
            <a:r>
              <a:rPr lang="en-US" sz="2100" dirty="0">
                <a:solidFill>
                  <a:schemeClr val="tx1"/>
                </a:solidFill>
              </a:rPr>
              <a:t> name="from" value="</a:t>
            </a:r>
            <a:r>
              <a:rPr lang="en-US" sz="2100" dirty="0" smtClean="0">
                <a:solidFill>
                  <a:schemeClr val="tx1"/>
                </a:solidFill>
              </a:rPr>
              <a:t>home“ checked=“checked”&gt; </a:t>
            </a:r>
            <a:r>
              <a:rPr lang="en-US" sz="2100" dirty="0">
                <a:solidFill>
                  <a:schemeClr val="tx1"/>
                </a:solidFill>
              </a:rPr>
              <a:t>Home&lt;</a:t>
            </a:r>
            <a:r>
              <a:rPr lang="en-US" sz="2100" dirty="0" err="1">
                <a:solidFill>
                  <a:schemeClr val="tx1"/>
                </a:solidFill>
              </a:rPr>
              <a:t>br</a:t>
            </a:r>
            <a:r>
              <a:rPr lang="en-US" sz="2100" dirty="0">
                <a:solidFill>
                  <a:schemeClr val="tx1"/>
                </a:solidFill>
              </a:rPr>
              <a:t>&gt;</a:t>
            </a:r>
            <a:br>
              <a:rPr lang="en-US" sz="2100" dirty="0">
                <a:solidFill>
                  <a:schemeClr val="tx1"/>
                </a:solidFill>
              </a:rPr>
            </a:br>
            <a:r>
              <a:rPr lang="en-US" sz="2100" dirty="0">
                <a:solidFill>
                  <a:schemeClr val="tx1"/>
                </a:solidFill>
              </a:rPr>
              <a:t>        </a:t>
            </a:r>
            <a:r>
              <a:rPr lang="en-US" sz="2100" dirty="0">
                <a:solidFill>
                  <a:srgbClr val="00B050"/>
                </a:solidFill>
              </a:rPr>
              <a:t>&lt;input</a:t>
            </a:r>
            <a:r>
              <a:rPr lang="en-US" sz="2100" dirty="0">
                <a:solidFill>
                  <a:schemeClr val="tx1"/>
                </a:solidFill>
              </a:rPr>
              <a:t> type=</a:t>
            </a:r>
            <a:r>
              <a:rPr lang="en-US" sz="2100" dirty="0">
                <a:solidFill>
                  <a:schemeClr val="accent6">
                    <a:lumMod val="75000"/>
                  </a:schemeClr>
                </a:solidFill>
              </a:rPr>
              <a:t>"radio"</a:t>
            </a:r>
            <a:r>
              <a:rPr lang="en-US" sz="2100" dirty="0">
                <a:solidFill>
                  <a:schemeClr val="tx1"/>
                </a:solidFill>
              </a:rPr>
              <a:t> name="from" value="office"&gt; Home&lt;</a:t>
            </a:r>
            <a:r>
              <a:rPr lang="en-US" sz="2100" dirty="0" err="1">
                <a:solidFill>
                  <a:schemeClr val="tx1"/>
                </a:solidFill>
              </a:rPr>
              <a:t>br</a:t>
            </a:r>
            <a:r>
              <a:rPr lang="en-US" sz="2100" dirty="0">
                <a:solidFill>
                  <a:schemeClr val="tx1"/>
                </a:solidFill>
              </a:rPr>
              <a:t>&gt;</a:t>
            </a:r>
            <a:br>
              <a:rPr lang="en-US" sz="2100" dirty="0">
                <a:solidFill>
                  <a:schemeClr val="tx1"/>
                </a:solidFill>
              </a:rPr>
            </a:br>
            <a:r>
              <a:rPr lang="en-US" sz="2100" dirty="0">
                <a:solidFill>
                  <a:schemeClr val="tx1"/>
                </a:solidFill>
              </a:rPr>
              <a:t>        </a:t>
            </a:r>
            <a:r>
              <a:rPr lang="en-US" sz="2100" dirty="0">
                <a:solidFill>
                  <a:srgbClr val="00B050"/>
                </a:solidFill>
              </a:rPr>
              <a:t>&lt;input</a:t>
            </a:r>
            <a:r>
              <a:rPr lang="en-US" sz="2100" dirty="0">
                <a:solidFill>
                  <a:schemeClr val="tx1"/>
                </a:solidFill>
              </a:rPr>
              <a:t> type=</a:t>
            </a:r>
            <a:r>
              <a:rPr lang="en-US" sz="2100" dirty="0">
                <a:solidFill>
                  <a:schemeClr val="accent6">
                    <a:lumMod val="75000"/>
                  </a:schemeClr>
                </a:solidFill>
              </a:rPr>
              <a:t>"radio"</a:t>
            </a:r>
            <a:r>
              <a:rPr lang="en-US" sz="2100" dirty="0">
                <a:solidFill>
                  <a:schemeClr val="tx1"/>
                </a:solidFill>
              </a:rPr>
              <a:t> name="from" value="university" </a:t>
            </a:r>
            <a:r>
              <a:rPr lang="en-US" sz="2100" dirty="0" smtClean="0">
                <a:solidFill>
                  <a:schemeClr val="tx1"/>
                </a:solidFill>
              </a:rPr>
              <a:t>&gt; </a:t>
            </a:r>
            <a:r>
              <a:rPr lang="en-US" sz="2100" dirty="0">
                <a:solidFill>
                  <a:schemeClr val="tx1"/>
                </a:solidFill>
              </a:rPr>
              <a:t>University</a:t>
            </a:r>
            <a:br>
              <a:rPr lang="en-US" sz="2100" dirty="0">
                <a:solidFill>
                  <a:schemeClr val="tx1"/>
                </a:solidFill>
              </a:rPr>
            </a:br>
            <a:r>
              <a:rPr lang="en-US" sz="2100" dirty="0">
                <a:solidFill>
                  <a:schemeClr val="tx1"/>
                </a:solidFill>
              </a:rPr>
              <a:t>      &lt;/td&gt;</a:t>
            </a:r>
            <a:br>
              <a:rPr lang="en-US" sz="2100" dirty="0">
                <a:solidFill>
                  <a:schemeClr val="tx1"/>
                </a:solidFill>
              </a:rPr>
            </a:br>
            <a:r>
              <a:rPr lang="en-US" sz="2100" dirty="0">
                <a:solidFill>
                  <a:schemeClr val="tx1"/>
                </a:solidFill>
              </a:rPr>
              <a:t>	  &lt;/</a:t>
            </a:r>
            <a:r>
              <a:rPr lang="en-US" sz="2100" dirty="0" err="1">
                <a:solidFill>
                  <a:schemeClr val="tx1"/>
                </a:solidFill>
              </a:rPr>
              <a:t>tr</a:t>
            </a:r>
            <a:r>
              <a:rPr lang="en-US" sz="2100" dirty="0">
                <a:solidFill>
                  <a:schemeClr val="tx1"/>
                </a:solidFill>
              </a:rPr>
              <a:t>&gt;&lt;</a:t>
            </a:r>
            <a:r>
              <a:rPr lang="en-US" sz="2100" dirty="0" err="1">
                <a:solidFill>
                  <a:schemeClr val="tx1"/>
                </a:solidFill>
              </a:rPr>
              <a:t>tr</a:t>
            </a:r>
            <a:r>
              <a:rPr lang="en-US" sz="2100" dirty="0">
                <a:solidFill>
                  <a:schemeClr val="tx1"/>
                </a:solidFill>
              </a:rPr>
              <a:t>&gt; </a:t>
            </a:r>
            <a:br>
              <a:rPr lang="en-US" sz="2100" dirty="0">
                <a:solidFill>
                  <a:schemeClr val="tx1"/>
                </a:solidFill>
              </a:rPr>
            </a:br>
            <a:r>
              <a:rPr lang="en-US" sz="2100" dirty="0">
                <a:solidFill>
                  <a:schemeClr val="tx1"/>
                </a:solidFill>
              </a:rPr>
              <a:t>      </a:t>
            </a:r>
            <a:r>
              <a:rPr lang="en-US" sz="2100" dirty="0" smtClean="0"/>
              <a:t>  </a:t>
            </a:r>
            <a:r>
              <a:rPr lang="en-US" sz="2100" dirty="0" smtClean="0">
                <a:solidFill>
                  <a:schemeClr val="tx1"/>
                </a:solidFill>
              </a:rPr>
              <a:t>&lt;</a:t>
            </a:r>
            <a:r>
              <a:rPr lang="en-US" sz="2100" dirty="0">
                <a:solidFill>
                  <a:schemeClr val="tx1"/>
                </a:solidFill>
              </a:rPr>
              <a:t>td </a:t>
            </a:r>
            <a:r>
              <a:rPr lang="en-US" sz="2100" dirty="0" err="1">
                <a:solidFill>
                  <a:schemeClr val="tx1"/>
                </a:solidFill>
              </a:rPr>
              <a:t>colspan</a:t>
            </a:r>
            <a:r>
              <a:rPr lang="en-US" sz="2100" dirty="0">
                <a:solidFill>
                  <a:schemeClr val="tx1"/>
                </a:solidFill>
              </a:rPr>
              <a:t>="2" align="right"&gt; </a:t>
            </a:r>
            <a:br>
              <a:rPr lang="en-US" sz="2100" dirty="0">
                <a:solidFill>
                  <a:schemeClr val="tx1"/>
                </a:solidFill>
              </a:rPr>
            </a:br>
            <a:r>
              <a:rPr lang="en-US" sz="2100" dirty="0">
                <a:solidFill>
                  <a:schemeClr val="tx1"/>
                </a:solidFill>
              </a:rPr>
              <a:t>        </a:t>
            </a:r>
            <a:r>
              <a:rPr lang="en-US" sz="2100" dirty="0">
                <a:solidFill>
                  <a:srgbClr val="00B050"/>
                </a:solidFill>
              </a:rPr>
              <a:t>&lt;input</a:t>
            </a:r>
            <a:r>
              <a:rPr lang="en-US" sz="2100" dirty="0">
                <a:solidFill>
                  <a:schemeClr val="tx1"/>
                </a:solidFill>
              </a:rPr>
              <a:t> type=</a:t>
            </a:r>
            <a:r>
              <a:rPr lang="en-US" sz="2100" dirty="0">
                <a:solidFill>
                  <a:schemeClr val="accent6">
                    <a:lumMod val="75000"/>
                  </a:schemeClr>
                </a:solidFill>
              </a:rPr>
              <a:t>"submit"</a:t>
            </a:r>
            <a:r>
              <a:rPr lang="en-US" sz="2100" dirty="0">
                <a:solidFill>
                  <a:schemeClr val="tx1"/>
                </a:solidFill>
              </a:rPr>
              <a:t> name="login" value="Log me in"&gt;</a:t>
            </a:r>
            <a:br>
              <a:rPr lang="en-US" sz="2100" dirty="0">
                <a:solidFill>
                  <a:schemeClr val="tx1"/>
                </a:solidFill>
              </a:rPr>
            </a:br>
            <a:r>
              <a:rPr lang="en-US" sz="2100" dirty="0">
                <a:solidFill>
                  <a:schemeClr val="tx1"/>
                </a:solidFill>
              </a:rPr>
              <a:t>      &lt;/td&gt;</a:t>
            </a:r>
            <a:br>
              <a:rPr lang="en-US" sz="2100" dirty="0">
                <a:solidFill>
                  <a:schemeClr val="tx1"/>
                </a:solidFill>
              </a:rPr>
            </a:br>
            <a:r>
              <a:rPr lang="en-US" sz="2100" dirty="0">
                <a:solidFill>
                  <a:schemeClr val="tx1"/>
                </a:solidFill>
              </a:rPr>
              <a:t>  &lt;/</a:t>
            </a:r>
            <a:r>
              <a:rPr lang="en-US" sz="2100" dirty="0" err="1">
                <a:solidFill>
                  <a:schemeClr val="tx1"/>
                </a:solidFill>
              </a:rPr>
              <a:t>tr</a:t>
            </a:r>
            <a:r>
              <a:rPr lang="en-US" sz="2100" dirty="0">
                <a:solidFill>
                  <a:schemeClr val="tx1"/>
                </a:solidFill>
              </a:rPr>
              <a:t>&gt;</a:t>
            </a:r>
            <a:r>
              <a:rPr lang="en-US" sz="2100" dirty="0">
                <a:solidFill>
                  <a:srgbClr val="0000FF"/>
                </a:solidFill>
              </a:rPr>
              <a:t>&lt;/table&gt;</a:t>
            </a:r>
            <a:r>
              <a:rPr lang="en-US" sz="2100" dirty="0">
                <a:solidFill>
                  <a:schemeClr val="tx1"/>
                </a:solidFill>
              </a:rPr>
              <a:t/>
            </a:r>
            <a:br>
              <a:rPr lang="en-US" sz="2100" dirty="0">
                <a:solidFill>
                  <a:schemeClr val="tx1"/>
                </a:solidFill>
              </a:rPr>
            </a:br>
            <a:r>
              <a:rPr lang="en-US" sz="2100" dirty="0">
                <a:solidFill>
                  <a:srgbClr val="FF0000"/>
                </a:solidFill>
              </a:rPr>
              <a:t>&lt;/form&gt;</a:t>
            </a:r>
          </a:p>
        </p:txBody>
      </p:sp>
    </p:spTree>
  </p:cSld>
  <p:clrMapOvr>
    <a:masterClrMapping/>
  </p:clrMapOvr>
  <p:transition>
    <p:randomBar dir="vert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0D033-AC32-4EA6-9674-933BCE7AE5DA}" type="slidenum">
              <a:rPr lang="en-US"/>
              <a:pPr/>
              <a:t>24</a:t>
            </a:fld>
            <a:endParaRPr lang="en-US"/>
          </a:p>
        </p:txBody>
      </p:sp>
      <p:pic>
        <p:nvPicPr>
          <p:cNvPr id="4" name="Picture 3" descr="form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03" y="156756"/>
            <a:ext cx="9023685" cy="6583680"/>
          </a:xfrm>
          <a:prstGeom prst="rect">
            <a:avLst/>
          </a:prstGeom>
        </p:spPr>
      </p:pic>
    </p:spTree>
  </p:cSld>
  <p:clrMapOvr>
    <a:masterClrMapping/>
  </p:clrMapOvr>
  <p:transition>
    <p:randomBar dir="vert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E87DB-6AE5-4C8F-81FE-65AD6616211E}" type="slidenum">
              <a:rPr lang="en-US"/>
              <a:pPr/>
              <a:t>25</a:t>
            </a:fld>
            <a:endParaRPr lang="en-US"/>
          </a:p>
        </p:txBody>
      </p:sp>
      <p:sp>
        <p:nvSpPr>
          <p:cNvPr id="28365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-152400"/>
            <a:ext cx="8077200" cy="11430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Select from a (Drop Down) List</a:t>
            </a:r>
          </a:p>
        </p:txBody>
      </p:sp>
      <p:sp>
        <p:nvSpPr>
          <p:cNvPr id="283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762000"/>
            <a:ext cx="8153400" cy="5943600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dirty="0">
                <a:solidFill>
                  <a:srgbClr val="FF0000"/>
                </a:solidFill>
              </a:rPr>
              <a:t>&lt;SELECT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	</a:t>
            </a:r>
            <a:r>
              <a:rPr lang="en-US" dirty="0">
                <a:solidFill>
                  <a:srgbClr val="0000FF"/>
                </a:solidFill>
              </a:rPr>
              <a:t>name=</a:t>
            </a:r>
            <a:r>
              <a:rPr lang="en-US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“</a:t>
            </a:r>
            <a:r>
              <a:rPr lang="en-US" dirty="0" err="1"/>
              <a:t>listName</a:t>
            </a:r>
            <a:r>
              <a:rPr lang="en-US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”</a:t>
            </a:r>
          </a:p>
          <a:p>
            <a:pPr marL="0" indent="0">
              <a:buFontTx/>
              <a:buNone/>
            </a:pPr>
            <a:r>
              <a:rPr lang="en-US" dirty="0">
                <a:solidFill>
                  <a:schemeClr val="tx2"/>
                </a:solidFill>
              </a:rPr>
              <a:t>	</a:t>
            </a:r>
            <a:r>
              <a:rPr lang="en-US" dirty="0">
                <a:solidFill>
                  <a:srgbClr val="0000FF"/>
                </a:solidFill>
              </a:rPr>
              <a:t>size=</a:t>
            </a:r>
            <a:r>
              <a:rPr lang="en-US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“</a:t>
            </a:r>
            <a:r>
              <a:rPr lang="en-US" dirty="0" err="1"/>
              <a:t>numberOfDisplayedChoices</a:t>
            </a:r>
            <a:r>
              <a:rPr lang="en-US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”</a:t>
            </a:r>
          </a:p>
          <a:p>
            <a:pPr marL="0" indent="0">
              <a:buFontTx/>
              <a:buNone/>
            </a:pPr>
            <a:r>
              <a:rPr lang="en-US" dirty="0">
                <a:solidFill>
                  <a:schemeClr val="tx2"/>
                </a:solidFill>
              </a:rPr>
              <a:t>	</a:t>
            </a:r>
            <a:r>
              <a:rPr lang="en-US" dirty="0">
                <a:solidFill>
                  <a:srgbClr val="0000FF"/>
                </a:solidFill>
              </a:rPr>
              <a:t>multiple</a:t>
            </a:r>
          </a:p>
          <a:p>
            <a:pPr marL="0" indent="0">
              <a:buFontTx/>
              <a:buNone/>
            </a:pPr>
            <a:r>
              <a:rPr lang="en-US" dirty="0">
                <a:solidFill>
                  <a:srgbClr val="FF0000"/>
                </a:solidFill>
              </a:rPr>
              <a:t>&gt;</a:t>
            </a:r>
          </a:p>
          <a:p>
            <a:pPr lvl="1">
              <a:buFontTx/>
              <a:buNone/>
            </a:pPr>
            <a:r>
              <a:rPr lang="en-US" sz="3200" dirty="0">
                <a:solidFill>
                  <a:srgbClr val="FF0000"/>
                </a:solidFill>
              </a:rPr>
              <a:t>&lt;OPTION</a:t>
            </a:r>
            <a:r>
              <a:rPr lang="en-US" sz="3200" dirty="0">
                <a:solidFill>
                  <a:srgbClr val="00FF00"/>
                </a:solidFill>
              </a:rPr>
              <a:t> </a:t>
            </a:r>
            <a:r>
              <a:rPr lang="en-US" sz="3200" dirty="0">
                <a:solidFill>
                  <a:srgbClr val="0000FF"/>
                </a:solidFill>
              </a:rPr>
              <a:t>value=</a:t>
            </a:r>
            <a:r>
              <a:rPr lang="en-US" sz="32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“</a:t>
            </a:r>
            <a:r>
              <a:rPr lang="en-US" sz="3200" dirty="0"/>
              <a:t>value1</a:t>
            </a:r>
            <a:r>
              <a:rPr lang="en-US" sz="32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”</a:t>
            </a:r>
            <a:r>
              <a:rPr lang="en-US" sz="3200" dirty="0">
                <a:solidFill>
                  <a:srgbClr val="FF0000"/>
                </a:solidFill>
              </a:rPr>
              <a:t>&gt;</a:t>
            </a:r>
            <a:r>
              <a:rPr lang="en-US" sz="3200" dirty="0">
                <a:solidFill>
                  <a:schemeClr val="tx2"/>
                </a:solidFill>
              </a:rPr>
              <a:t> </a:t>
            </a:r>
            <a:r>
              <a:rPr lang="en-US" sz="3200" dirty="0"/>
              <a:t>text1</a:t>
            </a:r>
          </a:p>
          <a:p>
            <a:pPr lvl="1">
              <a:buFontTx/>
              <a:buNone/>
            </a:pPr>
            <a:r>
              <a:rPr lang="en-US" sz="3200" dirty="0">
                <a:solidFill>
                  <a:srgbClr val="FF0000"/>
                </a:solidFill>
              </a:rPr>
              <a:t>&lt;OPTION</a:t>
            </a:r>
            <a:r>
              <a:rPr lang="en-US" sz="3200" dirty="0">
                <a:solidFill>
                  <a:srgbClr val="00FF00"/>
                </a:solidFill>
              </a:rPr>
              <a:t> </a:t>
            </a:r>
            <a:r>
              <a:rPr lang="en-US" sz="3200" dirty="0">
                <a:solidFill>
                  <a:srgbClr val="0000FF"/>
                </a:solidFill>
              </a:rPr>
              <a:t>value=</a:t>
            </a:r>
            <a:r>
              <a:rPr lang="en-US" sz="32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“</a:t>
            </a:r>
            <a:r>
              <a:rPr lang="en-US" sz="3200" dirty="0"/>
              <a:t>value2</a:t>
            </a:r>
            <a:r>
              <a:rPr lang="en-US" sz="32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”</a:t>
            </a:r>
            <a:r>
              <a:rPr lang="en-US" sz="3200" dirty="0"/>
              <a:t> </a:t>
            </a:r>
            <a:r>
              <a:rPr lang="en-US" sz="3200" dirty="0">
                <a:solidFill>
                  <a:srgbClr val="0000FF"/>
                </a:solidFill>
              </a:rPr>
              <a:t>selected</a:t>
            </a:r>
            <a:r>
              <a:rPr lang="en-US" sz="3200" dirty="0">
                <a:solidFill>
                  <a:srgbClr val="FF0000"/>
                </a:solidFill>
              </a:rPr>
              <a:t>&gt;</a:t>
            </a:r>
            <a:r>
              <a:rPr lang="en-US" sz="3200" dirty="0">
                <a:solidFill>
                  <a:schemeClr val="tx2"/>
                </a:solidFill>
              </a:rPr>
              <a:t> </a:t>
            </a:r>
            <a:r>
              <a:rPr lang="en-US" sz="3200" dirty="0"/>
              <a:t>text2</a:t>
            </a:r>
          </a:p>
          <a:p>
            <a:pPr lvl="1">
              <a:buFontTx/>
              <a:buNone/>
            </a:pPr>
            <a:r>
              <a:rPr lang="en-US" sz="3200" dirty="0">
                <a:solidFill>
                  <a:srgbClr val="FF0000"/>
                </a:solidFill>
              </a:rPr>
              <a:t>&lt;OPTION </a:t>
            </a:r>
            <a:r>
              <a:rPr lang="en-US" sz="3200" dirty="0">
                <a:solidFill>
                  <a:srgbClr val="0000FF"/>
                </a:solidFill>
              </a:rPr>
              <a:t>value=</a:t>
            </a:r>
            <a:r>
              <a:rPr lang="en-US" sz="32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“</a:t>
            </a:r>
            <a:r>
              <a:rPr lang="en-US" sz="3200" dirty="0"/>
              <a:t>value3</a:t>
            </a:r>
            <a:r>
              <a:rPr lang="en-US" sz="32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”</a:t>
            </a:r>
            <a:r>
              <a:rPr lang="en-US" sz="3200" dirty="0">
                <a:solidFill>
                  <a:srgbClr val="FF0000"/>
                </a:solidFill>
              </a:rPr>
              <a:t>&gt;</a:t>
            </a:r>
            <a:r>
              <a:rPr lang="en-US" sz="3200" dirty="0">
                <a:solidFill>
                  <a:schemeClr val="tx2"/>
                </a:solidFill>
              </a:rPr>
              <a:t> </a:t>
            </a:r>
            <a:r>
              <a:rPr lang="en-US" sz="3200" dirty="0"/>
              <a:t>text2</a:t>
            </a:r>
            <a:endParaRPr lang="en-US" sz="3200" dirty="0">
              <a:solidFill>
                <a:srgbClr val="00FF00"/>
              </a:solidFill>
            </a:endParaRPr>
          </a:p>
          <a:p>
            <a:pPr marL="0" indent="0">
              <a:buFontTx/>
              <a:buNone/>
            </a:pPr>
            <a:r>
              <a:rPr lang="en-US" sz="1800" dirty="0">
                <a:solidFill>
                  <a:srgbClr val="FF0000"/>
                </a:solidFill>
              </a:rPr>
              <a:t>	…</a:t>
            </a:r>
          </a:p>
          <a:p>
            <a:pPr marL="0" indent="0">
              <a:buFontTx/>
              <a:buNone/>
            </a:pPr>
            <a:r>
              <a:rPr lang="en-US" sz="1800" dirty="0">
                <a:solidFill>
                  <a:srgbClr val="FF0000"/>
                </a:solidFill>
              </a:rPr>
              <a:t>	…</a:t>
            </a:r>
          </a:p>
          <a:p>
            <a:pPr marL="0" indent="0">
              <a:buFontTx/>
              <a:buNone/>
            </a:pPr>
            <a:r>
              <a:rPr lang="en-US" dirty="0">
                <a:solidFill>
                  <a:srgbClr val="FF0000"/>
                </a:solidFill>
              </a:rPr>
              <a:t>&lt;/SELECT&gt;</a:t>
            </a:r>
          </a:p>
        </p:txBody>
      </p:sp>
    </p:spTree>
  </p:cSld>
  <p:clrMapOvr>
    <a:masterClrMapping/>
  </p:clrMapOvr>
  <p:transition>
    <p:randomBar dir="vert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F356C-E50B-4104-9497-8885F9F82A66}" type="slidenum">
              <a:rPr lang="en-US"/>
              <a:pPr/>
              <a:t>26</a:t>
            </a:fld>
            <a:endParaRPr lang="en-US"/>
          </a:p>
        </p:txBody>
      </p:sp>
      <p:pic>
        <p:nvPicPr>
          <p:cNvPr id="4" name="Picture 3" descr="form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947" y="126274"/>
            <a:ext cx="7156833" cy="6675120"/>
          </a:xfrm>
          <a:prstGeom prst="rect">
            <a:avLst/>
          </a:prstGeom>
        </p:spPr>
      </p:pic>
    </p:spTree>
  </p:cSld>
  <p:clrMapOvr>
    <a:masterClrMapping/>
  </p:clrMapOvr>
  <p:transition>
    <p:randomBar dir="vert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278CC-2C67-4E8B-B87D-DF9A169AA5B2}" type="slidenum">
              <a:rPr lang="en-US"/>
              <a:pPr/>
              <a:t>27</a:t>
            </a:fld>
            <a:endParaRPr lang="en-US"/>
          </a:p>
        </p:txBody>
      </p:sp>
      <p:sp>
        <p:nvSpPr>
          <p:cNvPr id="28569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85800" y="-152400"/>
            <a:ext cx="7772400" cy="1143000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File Upload Input Element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85699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sz="3600" dirty="0">
                <a:solidFill>
                  <a:srgbClr val="FF0000"/>
                </a:solidFill>
              </a:rPr>
              <a:t>&lt;INPUT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en-US" sz="3600" dirty="0"/>
              <a:t>	</a:t>
            </a:r>
            <a:r>
              <a:rPr lang="en-US" sz="3600" dirty="0">
                <a:solidFill>
                  <a:srgbClr val="0000FF"/>
                </a:solidFill>
              </a:rPr>
              <a:t>type</a:t>
            </a:r>
            <a:r>
              <a:rPr lang="en-US" sz="3600" dirty="0" smtClean="0">
                <a:solidFill>
                  <a:srgbClr val="0000FF"/>
                </a:solidFill>
              </a:rPr>
              <a:t>=</a:t>
            </a:r>
            <a:r>
              <a:rPr lang="en-US" sz="3600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“</a:t>
            </a:r>
            <a:r>
              <a:rPr lang="en-US" sz="3600" dirty="0" smtClean="0"/>
              <a:t>file</a:t>
            </a:r>
            <a:r>
              <a:rPr lang="en-US" sz="3600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”</a:t>
            </a:r>
            <a:endParaRPr lang="en-US" sz="3600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0" indent="0">
              <a:buFontTx/>
              <a:buNone/>
            </a:pPr>
            <a:r>
              <a:rPr lang="en-US" sz="3600" dirty="0">
                <a:solidFill>
                  <a:schemeClr val="tx2"/>
                </a:solidFill>
              </a:rPr>
              <a:t>	</a:t>
            </a:r>
            <a:r>
              <a:rPr lang="en-US" sz="3600" dirty="0">
                <a:solidFill>
                  <a:srgbClr val="0000FF"/>
                </a:solidFill>
              </a:rPr>
              <a:t>name</a:t>
            </a:r>
            <a:r>
              <a:rPr lang="en-US" sz="3600" dirty="0" smtClean="0">
                <a:solidFill>
                  <a:srgbClr val="0000FF"/>
                </a:solidFill>
              </a:rPr>
              <a:t>=</a:t>
            </a:r>
            <a:r>
              <a:rPr lang="en-US" sz="3600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“</a:t>
            </a:r>
            <a:r>
              <a:rPr lang="en-US" sz="3600" dirty="0" err="1" smtClean="0"/>
              <a:t>uploadfile</a:t>
            </a:r>
            <a:r>
              <a:rPr lang="en-US" sz="3600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”</a:t>
            </a:r>
            <a:endParaRPr lang="en-US" sz="3600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0" indent="0">
              <a:buFontTx/>
              <a:buNone/>
            </a:pPr>
            <a:r>
              <a:rPr lang="en-US" sz="3600" dirty="0"/>
              <a:t>	</a:t>
            </a:r>
            <a:r>
              <a:rPr lang="en-US" sz="3600" dirty="0" err="1" smtClean="0">
                <a:solidFill>
                  <a:srgbClr val="0000FF"/>
                </a:solidFill>
              </a:rPr>
              <a:t>enctype</a:t>
            </a:r>
            <a:r>
              <a:rPr lang="en-US" sz="3600" dirty="0" smtClean="0">
                <a:solidFill>
                  <a:srgbClr val="0000FF"/>
                </a:solidFill>
              </a:rPr>
              <a:t>=</a:t>
            </a:r>
            <a:r>
              <a:rPr lang="en-US" sz="3600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“</a:t>
            </a:r>
            <a:r>
              <a:rPr lang="en-US" sz="3600" dirty="0" smtClean="0"/>
              <a:t>multipart/form-data</a:t>
            </a:r>
            <a:r>
              <a:rPr lang="en-US" sz="3600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”</a:t>
            </a:r>
            <a:endParaRPr lang="en-US" sz="3600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0" indent="0">
              <a:buFontTx/>
              <a:buNone/>
            </a:pPr>
            <a:r>
              <a:rPr lang="en-US" sz="3600" dirty="0">
                <a:solidFill>
                  <a:schemeClr val="tx2"/>
                </a:solidFill>
              </a:rPr>
              <a:t>	</a:t>
            </a:r>
            <a:r>
              <a:rPr lang="en-US" sz="3600" dirty="0" smtClean="0">
                <a:solidFill>
                  <a:srgbClr val="0000FF"/>
                </a:solidFill>
              </a:rPr>
              <a:t>size=</a:t>
            </a:r>
            <a:r>
              <a:rPr lang="en-US" sz="3600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“</a:t>
            </a:r>
            <a:r>
              <a:rPr lang="en-US" sz="3600" dirty="0" smtClean="0"/>
              <a:t>35</a:t>
            </a:r>
            <a:r>
              <a:rPr lang="en-US" sz="3600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”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en-US" sz="3600" dirty="0">
                <a:solidFill>
                  <a:srgbClr val="FF0000"/>
                </a:solidFill>
              </a:rPr>
              <a:t>&gt;</a:t>
            </a:r>
          </a:p>
        </p:txBody>
      </p:sp>
    </p:spTree>
  </p:cSld>
  <p:clrMapOvr>
    <a:masterClrMapping/>
  </p:clrMapOvr>
  <p:transition>
    <p:randomBar dir="vert"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278CC-2C67-4E8B-B87D-DF9A169AA5B2}" type="slidenum">
              <a:rPr lang="en-US"/>
              <a:pPr/>
              <a:t>28</a:t>
            </a:fld>
            <a:endParaRPr lang="en-US"/>
          </a:p>
        </p:txBody>
      </p:sp>
      <p:sp>
        <p:nvSpPr>
          <p:cNvPr id="28569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85800" y="-152400"/>
            <a:ext cx="7772400" cy="1143000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Date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Input Element</a:t>
            </a:r>
          </a:p>
        </p:txBody>
      </p:sp>
      <p:sp>
        <p:nvSpPr>
          <p:cNvPr id="285699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sz="3600" dirty="0">
                <a:solidFill>
                  <a:srgbClr val="FF0000"/>
                </a:solidFill>
              </a:rPr>
              <a:t>&lt;INPUT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en-US" sz="3600" dirty="0"/>
              <a:t>	</a:t>
            </a:r>
            <a:r>
              <a:rPr lang="en-US" sz="3600" dirty="0">
                <a:solidFill>
                  <a:srgbClr val="0000FF"/>
                </a:solidFill>
              </a:rPr>
              <a:t>type</a:t>
            </a:r>
            <a:r>
              <a:rPr lang="en-US" sz="3600" dirty="0" smtClean="0">
                <a:solidFill>
                  <a:srgbClr val="0000FF"/>
                </a:solidFill>
              </a:rPr>
              <a:t>=</a:t>
            </a:r>
            <a:r>
              <a:rPr lang="en-US" sz="3600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“</a:t>
            </a:r>
            <a:r>
              <a:rPr lang="en-US" sz="3600" dirty="0" smtClean="0"/>
              <a:t>date</a:t>
            </a:r>
            <a:r>
              <a:rPr lang="en-US" sz="3600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”</a:t>
            </a:r>
            <a:endParaRPr lang="en-US" sz="3600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0" indent="0">
              <a:buFontTx/>
              <a:buNone/>
            </a:pPr>
            <a:r>
              <a:rPr lang="en-US" sz="3600" dirty="0">
                <a:solidFill>
                  <a:schemeClr val="tx2"/>
                </a:solidFill>
              </a:rPr>
              <a:t>	</a:t>
            </a:r>
            <a:r>
              <a:rPr lang="en-US" sz="3600" dirty="0">
                <a:solidFill>
                  <a:srgbClr val="0000FF"/>
                </a:solidFill>
              </a:rPr>
              <a:t>name</a:t>
            </a:r>
            <a:r>
              <a:rPr lang="en-US" sz="3600" dirty="0" smtClean="0">
                <a:solidFill>
                  <a:srgbClr val="0000FF"/>
                </a:solidFill>
              </a:rPr>
              <a:t>=</a:t>
            </a:r>
            <a:r>
              <a:rPr lang="en-US" sz="3600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“</a:t>
            </a:r>
            <a:r>
              <a:rPr lang="en-US" sz="3600" dirty="0" smtClean="0"/>
              <a:t>date1</a:t>
            </a:r>
            <a:r>
              <a:rPr lang="en-US" sz="3600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”</a:t>
            </a:r>
            <a:endParaRPr lang="en-US" sz="3600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0" indent="0">
              <a:buFontTx/>
              <a:buNone/>
            </a:pPr>
            <a:r>
              <a:rPr lang="en-US" sz="3600" dirty="0"/>
              <a:t>	</a:t>
            </a:r>
            <a:r>
              <a:rPr lang="en-US" sz="3600" dirty="0" smtClean="0">
                <a:solidFill>
                  <a:srgbClr val="0000FF"/>
                </a:solidFill>
              </a:rPr>
              <a:t>pattern=</a:t>
            </a:r>
            <a:r>
              <a:rPr lang="en-US" sz="3600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“</a:t>
            </a:r>
            <a:r>
              <a:rPr lang="en-US" sz="3600" dirty="0" smtClean="0"/>
              <a:t>\d{4}-\d{2}-\d{2}</a:t>
            </a:r>
            <a:r>
              <a:rPr lang="en-US" sz="3600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”</a:t>
            </a:r>
            <a:endParaRPr lang="en-US" sz="3600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0" indent="0">
              <a:buFontTx/>
              <a:buNone/>
            </a:pPr>
            <a:r>
              <a:rPr lang="en-US" sz="3600" dirty="0">
                <a:solidFill>
                  <a:schemeClr val="tx2"/>
                </a:solidFill>
              </a:rPr>
              <a:t>	</a:t>
            </a:r>
            <a:r>
              <a:rPr lang="en-US" sz="3600" dirty="0" smtClean="0">
                <a:solidFill>
                  <a:srgbClr val="0000FF"/>
                </a:solidFill>
              </a:rPr>
              <a:t>title=</a:t>
            </a:r>
            <a:r>
              <a:rPr lang="en-US" sz="3600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“</a:t>
            </a:r>
            <a:r>
              <a:rPr lang="en-US" sz="3600" dirty="0" smtClean="0"/>
              <a:t>YYYY-DD-MM</a:t>
            </a:r>
            <a:r>
              <a:rPr lang="en-US" sz="3600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”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en-US" sz="3600" dirty="0">
                <a:solidFill>
                  <a:srgbClr val="FF0000"/>
                </a:solidFill>
              </a:rPr>
              <a:t>&gt;</a:t>
            </a:r>
          </a:p>
        </p:txBody>
      </p:sp>
    </p:spTree>
  </p:cSld>
  <p:clrMapOvr>
    <a:masterClrMapping/>
  </p:clrMapOvr>
  <p:transition>
    <p:randomBar dir="vert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42E5E-D7B3-448B-A7F8-70BDE4B6B306}" type="slidenum">
              <a:rPr lang="en-US"/>
              <a:pPr/>
              <a:t>29</a:t>
            </a:fld>
            <a:endParaRPr lang="en-US"/>
          </a:p>
        </p:txBody>
      </p:sp>
      <p:sp>
        <p:nvSpPr>
          <p:cNvPr id="27443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-152400"/>
            <a:ext cx="7772400" cy="1143000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Number Input Element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74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0" y="1524000"/>
            <a:ext cx="6477000" cy="4114800"/>
          </a:xfrm>
        </p:spPr>
        <p:txBody>
          <a:bodyPr>
            <a:normAutofit lnSpcReduction="10000"/>
          </a:bodyPr>
          <a:lstStyle/>
          <a:p>
            <a:pPr marL="0" indent="0">
              <a:buFontTx/>
              <a:buNone/>
            </a:pPr>
            <a:r>
              <a:rPr lang="en-US" sz="3600" dirty="0">
                <a:solidFill>
                  <a:srgbClr val="FF0000"/>
                </a:solidFill>
              </a:rPr>
              <a:t>&lt;INPUT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en-US" sz="3600" dirty="0"/>
              <a:t>	</a:t>
            </a:r>
            <a:r>
              <a:rPr lang="en-US" sz="3600" dirty="0">
                <a:solidFill>
                  <a:srgbClr val="0000FF"/>
                </a:solidFill>
              </a:rPr>
              <a:t>type</a:t>
            </a:r>
            <a:r>
              <a:rPr lang="en-US" sz="3600" dirty="0" smtClean="0">
                <a:solidFill>
                  <a:srgbClr val="0000FF"/>
                </a:solidFill>
              </a:rPr>
              <a:t>=</a:t>
            </a:r>
            <a:r>
              <a:rPr lang="en-US" sz="3600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“</a:t>
            </a:r>
            <a:r>
              <a:rPr lang="en-US" sz="3600" dirty="0" smtClean="0"/>
              <a:t>number</a:t>
            </a:r>
            <a:r>
              <a:rPr lang="en-US" sz="3600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”</a:t>
            </a:r>
            <a:r>
              <a:rPr lang="en-US" sz="3600" dirty="0" smtClean="0">
                <a:solidFill>
                  <a:schemeClr val="tx2"/>
                </a:solidFill>
              </a:rPr>
              <a:t> </a:t>
            </a:r>
            <a:r>
              <a:rPr lang="en-US" sz="3600" dirty="0">
                <a:solidFill>
                  <a:schemeClr val="tx2"/>
                </a:solidFill>
              </a:rPr>
              <a:t>			</a:t>
            </a:r>
            <a:r>
              <a:rPr lang="en-US" sz="3600" dirty="0">
                <a:solidFill>
                  <a:srgbClr val="0000FF"/>
                </a:solidFill>
              </a:rPr>
              <a:t>name</a:t>
            </a:r>
            <a:r>
              <a:rPr lang="en-US" sz="3600" dirty="0" smtClean="0">
                <a:solidFill>
                  <a:srgbClr val="0000FF"/>
                </a:solidFill>
              </a:rPr>
              <a:t>=</a:t>
            </a:r>
            <a:r>
              <a:rPr lang="en-US" sz="3600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“</a:t>
            </a:r>
            <a:r>
              <a:rPr lang="en-US" sz="3600" dirty="0" smtClean="0"/>
              <a:t>number1</a:t>
            </a:r>
            <a:r>
              <a:rPr lang="en-US" sz="3600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”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en-US" sz="3600" dirty="0"/>
              <a:t>	</a:t>
            </a:r>
            <a:r>
              <a:rPr lang="en-US" sz="3600" dirty="0" smtClean="0">
                <a:solidFill>
                  <a:srgbClr val="0000FF"/>
                </a:solidFill>
              </a:rPr>
              <a:t>min=</a:t>
            </a:r>
            <a:r>
              <a:rPr lang="en-US" sz="3600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“</a:t>
            </a:r>
            <a:r>
              <a:rPr lang="en-US" sz="3600" dirty="0" smtClean="0"/>
              <a:t>1</a:t>
            </a:r>
            <a:r>
              <a:rPr lang="en-US" sz="3600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”</a:t>
            </a:r>
          </a:p>
          <a:p>
            <a:pPr marL="0" indent="0">
              <a:buFontTx/>
              <a:buNone/>
            </a:pPr>
            <a:r>
              <a:rPr lang="en-US" sz="3600" dirty="0" smtClean="0">
                <a:solidFill>
                  <a:srgbClr val="0000FF"/>
                </a:solidFill>
              </a:rPr>
              <a:t>	max=</a:t>
            </a:r>
            <a:r>
              <a:rPr lang="en-US" sz="3600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“</a:t>
            </a:r>
            <a:r>
              <a:rPr lang="en-US" sz="3600" dirty="0" smtClean="0"/>
              <a:t>5</a:t>
            </a:r>
            <a:r>
              <a:rPr lang="en-US" sz="3600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” </a:t>
            </a:r>
          </a:p>
          <a:p>
            <a:pPr marL="0" indent="0">
              <a:buFontTx/>
              <a:buNone/>
            </a:pPr>
            <a:r>
              <a:rPr lang="en-US" sz="3600" dirty="0" smtClean="0">
                <a:solidFill>
                  <a:srgbClr val="0000FF"/>
                </a:solidFill>
              </a:rPr>
              <a:t>	value=</a:t>
            </a:r>
            <a:r>
              <a:rPr lang="en-US" sz="3600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“</a:t>
            </a:r>
            <a:r>
              <a:rPr lang="en-US" sz="3600" dirty="0" smtClean="0"/>
              <a:t>1</a:t>
            </a:r>
            <a:r>
              <a:rPr lang="en-US" sz="3600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” 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en-US" sz="3600" dirty="0" smtClean="0">
                <a:solidFill>
                  <a:srgbClr val="FF0000"/>
                </a:solidFill>
              </a:rPr>
              <a:t>/&gt;</a:t>
            </a:r>
            <a:endParaRPr lang="en-US" sz="36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>
    <p:randomBar dir="vert"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42E5E-D7B3-448B-A7F8-70BDE4B6B306}" type="slidenum">
              <a:rPr lang="en-US"/>
              <a:pPr/>
              <a:t>30</a:t>
            </a:fld>
            <a:endParaRPr lang="en-US"/>
          </a:p>
        </p:txBody>
      </p:sp>
      <p:sp>
        <p:nvSpPr>
          <p:cNvPr id="27443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-152400"/>
            <a:ext cx="7772400" cy="1143000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Range Input Element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74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0" y="1524000"/>
            <a:ext cx="6477000" cy="4114800"/>
          </a:xfrm>
        </p:spPr>
        <p:txBody>
          <a:bodyPr>
            <a:normAutofit fontScale="92500" lnSpcReduction="10000"/>
          </a:bodyPr>
          <a:lstStyle/>
          <a:p>
            <a:pPr marL="0" indent="0">
              <a:buFontTx/>
              <a:buNone/>
            </a:pPr>
            <a:r>
              <a:rPr lang="en-US" sz="3600" dirty="0">
                <a:solidFill>
                  <a:srgbClr val="FF0000"/>
                </a:solidFill>
              </a:rPr>
              <a:t>&lt;INPUT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en-US" sz="3600" dirty="0"/>
              <a:t>	</a:t>
            </a:r>
            <a:r>
              <a:rPr lang="en-US" sz="3600" dirty="0">
                <a:solidFill>
                  <a:srgbClr val="0000FF"/>
                </a:solidFill>
              </a:rPr>
              <a:t>type</a:t>
            </a:r>
            <a:r>
              <a:rPr lang="en-US" sz="3600" dirty="0" smtClean="0">
                <a:solidFill>
                  <a:srgbClr val="0000FF"/>
                </a:solidFill>
              </a:rPr>
              <a:t>=</a:t>
            </a:r>
            <a:r>
              <a:rPr lang="en-US" sz="3600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“</a:t>
            </a:r>
            <a:r>
              <a:rPr lang="en-US" sz="3600" dirty="0" smtClean="0"/>
              <a:t>range</a:t>
            </a:r>
            <a:r>
              <a:rPr lang="en-US" sz="3600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”</a:t>
            </a:r>
            <a:r>
              <a:rPr lang="en-US" sz="3600" dirty="0" smtClean="0">
                <a:solidFill>
                  <a:schemeClr val="tx2"/>
                </a:solidFill>
              </a:rPr>
              <a:t> </a:t>
            </a:r>
            <a:r>
              <a:rPr lang="en-US" sz="3600" dirty="0">
                <a:solidFill>
                  <a:schemeClr val="tx2"/>
                </a:solidFill>
              </a:rPr>
              <a:t>			</a:t>
            </a:r>
            <a:r>
              <a:rPr lang="en-US" sz="3600" dirty="0">
                <a:solidFill>
                  <a:srgbClr val="0000FF"/>
                </a:solidFill>
              </a:rPr>
              <a:t>name</a:t>
            </a:r>
            <a:r>
              <a:rPr lang="en-US" sz="3600" dirty="0" smtClean="0">
                <a:solidFill>
                  <a:srgbClr val="0000FF"/>
                </a:solidFill>
              </a:rPr>
              <a:t>=</a:t>
            </a:r>
            <a:r>
              <a:rPr lang="en-US" sz="3600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“</a:t>
            </a:r>
            <a:r>
              <a:rPr lang="en-US" sz="3600" dirty="0" smtClean="0"/>
              <a:t>range1</a:t>
            </a:r>
            <a:r>
              <a:rPr lang="en-US" sz="3600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”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en-US" sz="3600" dirty="0"/>
              <a:t>	</a:t>
            </a:r>
            <a:r>
              <a:rPr lang="en-US" sz="3600" dirty="0" smtClean="0">
                <a:solidFill>
                  <a:srgbClr val="0000FF"/>
                </a:solidFill>
              </a:rPr>
              <a:t>min=</a:t>
            </a:r>
            <a:r>
              <a:rPr lang="en-US" sz="3600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“</a:t>
            </a:r>
            <a:r>
              <a:rPr lang="en-US" sz="3600" dirty="0" smtClean="0"/>
              <a:t>0</a:t>
            </a:r>
            <a:r>
              <a:rPr lang="en-US" sz="3600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”</a:t>
            </a:r>
          </a:p>
          <a:p>
            <a:pPr marL="0" indent="0">
              <a:buFontTx/>
              <a:buNone/>
            </a:pPr>
            <a:r>
              <a:rPr lang="en-US" sz="3600" dirty="0" smtClean="0">
                <a:solidFill>
                  <a:srgbClr val="0000FF"/>
                </a:solidFill>
              </a:rPr>
              <a:t>	max=</a:t>
            </a:r>
            <a:r>
              <a:rPr lang="en-US" sz="3600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“</a:t>
            </a:r>
            <a:r>
              <a:rPr lang="en-US" sz="3600" dirty="0" smtClean="0"/>
              <a:t>100</a:t>
            </a:r>
            <a:r>
              <a:rPr lang="en-US" sz="3600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” </a:t>
            </a:r>
          </a:p>
          <a:p>
            <a:pPr marL="0" indent="0">
              <a:buFontTx/>
              <a:buNone/>
            </a:pPr>
            <a:r>
              <a:rPr lang="en-US" sz="3600" dirty="0" smtClean="0">
                <a:solidFill>
                  <a:srgbClr val="0000FF"/>
                </a:solidFill>
              </a:rPr>
              <a:t>	step=</a:t>
            </a:r>
            <a:r>
              <a:rPr lang="en-US" sz="3600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“</a:t>
            </a:r>
            <a:r>
              <a:rPr lang="en-US" sz="3600" dirty="0" smtClean="0"/>
              <a:t>10</a:t>
            </a:r>
            <a:r>
              <a:rPr lang="en-US" sz="3600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”</a:t>
            </a:r>
          </a:p>
          <a:p>
            <a:pPr marL="0" indent="0">
              <a:buFontTx/>
              <a:buNone/>
            </a:pPr>
            <a:r>
              <a:rPr lang="en-US" sz="3600" dirty="0" smtClean="0">
                <a:solidFill>
                  <a:srgbClr val="0000FF"/>
                </a:solidFill>
              </a:rPr>
              <a:t>	value=</a:t>
            </a:r>
            <a:r>
              <a:rPr lang="en-US" sz="3600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“</a:t>
            </a:r>
            <a:r>
              <a:rPr lang="en-US" sz="3600" dirty="0" smtClean="0"/>
              <a:t>20</a:t>
            </a:r>
            <a:r>
              <a:rPr lang="en-US" sz="3600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” 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en-US" sz="3600" dirty="0" smtClean="0">
                <a:solidFill>
                  <a:srgbClr val="FF0000"/>
                </a:solidFill>
              </a:rPr>
              <a:t>/&gt;</a:t>
            </a:r>
            <a:endParaRPr lang="en-US" sz="36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>
    <p:randomBar dir="vert"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42E5E-D7B3-448B-A7F8-70BDE4B6B306}" type="slidenum">
              <a:rPr lang="en-US"/>
              <a:pPr/>
              <a:t>31</a:t>
            </a:fld>
            <a:endParaRPr lang="en-US"/>
          </a:p>
        </p:txBody>
      </p:sp>
      <p:sp>
        <p:nvSpPr>
          <p:cNvPr id="27443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-152400"/>
            <a:ext cx="7772400" cy="1143000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Search Input Element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74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0" y="1524000"/>
            <a:ext cx="6477000" cy="4114800"/>
          </a:xfrm>
        </p:spPr>
        <p:txBody>
          <a:bodyPr>
            <a:normAutofit/>
          </a:bodyPr>
          <a:lstStyle/>
          <a:p>
            <a:pPr marL="0" indent="0">
              <a:buFontTx/>
              <a:buNone/>
            </a:pPr>
            <a:r>
              <a:rPr lang="en-US" sz="3600" dirty="0">
                <a:solidFill>
                  <a:srgbClr val="FF0000"/>
                </a:solidFill>
              </a:rPr>
              <a:t>&lt;INPUT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en-US" sz="3600" dirty="0"/>
              <a:t>	</a:t>
            </a:r>
            <a:r>
              <a:rPr lang="en-US" sz="3600" dirty="0">
                <a:solidFill>
                  <a:srgbClr val="0000FF"/>
                </a:solidFill>
              </a:rPr>
              <a:t>type</a:t>
            </a:r>
            <a:r>
              <a:rPr lang="en-US" sz="3600" dirty="0" smtClean="0">
                <a:solidFill>
                  <a:srgbClr val="0000FF"/>
                </a:solidFill>
              </a:rPr>
              <a:t>=</a:t>
            </a:r>
            <a:r>
              <a:rPr lang="en-US" sz="3600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“</a:t>
            </a:r>
            <a:r>
              <a:rPr lang="en-US" sz="3600" dirty="0" smtClean="0"/>
              <a:t>search</a:t>
            </a:r>
            <a:r>
              <a:rPr lang="en-US" sz="3600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”</a:t>
            </a:r>
            <a:r>
              <a:rPr lang="en-US" sz="3600" dirty="0" smtClean="0">
                <a:solidFill>
                  <a:schemeClr val="tx2"/>
                </a:solidFill>
              </a:rPr>
              <a:t> </a:t>
            </a:r>
            <a:r>
              <a:rPr lang="en-US" sz="3600" dirty="0">
                <a:solidFill>
                  <a:schemeClr val="tx2"/>
                </a:solidFill>
              </a:rPr>
              <a:t>			</a:t>
            </a:r>
            <a:r>
              <a:rPr lang="en-US" sz="3600" dirty="0">
                <a:solidFill>
                  <a:srgbClr val="0000FF"/>
                </a:solidFill>
              </a:rPr>
              <a:t>name</a:t>
            </a:r>
            <a:r>
              <a:rPr lang="en-US" sz="3600" dirty="0" smtClean="0">
                <a:solidFill>
                  <a:srgbClr val="0000FF"/>
                </a:solidFill>
              </a:rPr>
              <a:t>=</a:t>
            </a:r>
            <a:r>
              <a:rPr lang="en-US" sz="3600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“</a:t>
            </a:r>
            <a:r>
              <a:rPr lang="en-US" sz="3600" dirty="0" smtClean="0"/>
              <a:t>search1</a:t>
            </a:r>
            <a:r>
              <a:rPr lang="en-US" sz="3600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”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en-US" sz="3600" dirty="0" smtClean="0">
                <a:solidFill>
                  <a:srgbClr val="FF0000"/>
                </a:solidFill>
              </a:rPr>
              <a:t>/&gt;</a:t>
            </a:r>
            <a:endParaRPr lang="en-US" sz="36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>
    <p:randomBar dir="vert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42E5E-D7B3-448B-A7F8-70BDE4B6B306}" type="slidenum">
              <a:rPr lang="en-US"/>
              <a:pPr/>
              <a:t>32</a:t>
            </a:fld>
            <a:endParaRPr lang="en-US"/>
          </a:p>
        </p:txBody>
      </p:sp>
      <p:sp>
        <p:nvSpPr>
          <p:cNvPr id="27443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-152400"/>
            <a:ext cx="7772400" cy="1143000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URL Input Element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74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0" y="1524000"/>
            <a:ext cx="6477000" cy="4114800"/>
          </a:xfrm>
        </p:spPr>
        <p:txBody>
          <a:bodyPr>
            <a:normAutofit/>
          </a:bodyPr>
          <a:lstStyle/>
          <a:p>
            <a:pPr marL="0" indent="0">
              <a:buFontTx/>
              <a:buNone/>
            </a:pPr>
            <a:r>
              <a:rPr lang="en-US" sz="3600" dirty="0">
                <a:solidFill>
                  <a:srgbClr val="FF0000"/>
                </a:solidFill>
              </a:rPr>
              <a:t>&lt;INPUT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en-US" sz="3600" dirty="0"/>
              <a:t>	</a:t>
            </a:r>
            <a:r>
              <a:rPr lang="en-US" sz="3600" dirty="0">
                <a:solidFill>
                  <a:srgbClr val="0000FF"/>
                </a:solidFill>
              </a:rPr>
              <a:t>type</a:t>
            </a:r>
            <a:r>
              <a:rPr lang="en-US" sz="3600" dirty="0" smtClean="0">
                <a:solidFill>
                  <a:srgbClr val="0000FF"/>
                </a:solidFill>
              </a:rPr>
              <a:t>=</a:t>
            </a:r>
            <a:r>
              <a:rPr lang="en-US" sz="3600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“</a:t>
            </a:r>
            <a:r>
              <a:rPr lang="en-US" sz="3600" dirty="0" err="1" smtClean="0"/>
              <a:t>url</a:t>
            </a:r>
            <a:r>
              <a:rPr lang="en-US" sz="3600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”</a:t>
            </a:r>
            <a:r>
              <a:rPr lang="en-US" sz="3600" dirty="0" smtClean="0">
                <a:solidFill>
                  <a:schemeClr val="tx2"/>
                </a:solidFill>
              </a:rPr>
              <a:t> </a:t>
            </a:r>
            <a:r>
              <a:rPr lang="en-US" sz="3600" dirty="0">
                <a:solidFill>
                  <a:schemeClr val="tx2"/>
                </a:solidFill>
              </a:rPr>
              <a:t>			</a:t>
            </a:r>
            <a:r>
              <a:rPr lang="en-US" sz="3600" dirty="0">
                <a:solidFill>
                  <a:srgbClr val="0000FF"/>
                </a:solidFill>
              </a:rPr>
              <a:t>name</a:t>
            </a:r>
            <a:r>
              <a:rPr lang="en-US" sz="3600" dirty="0" smtClean="0">
                <a:solidFill>
                  <a:srgbClr val="0000FF"/>
                </a:solidFill>
              </a:rPr>
              <a:t>=</a:t>
            </a:r>
            <a:r>
              <a:rPr lang="en-US" sz="3600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“</a:t>
            </a:r>
            <a:r>
              <a:rPr lang="en-US" sz="3600" dirty="0" smtClean="0"/>
              <a:t>url1</a:t>
            </a:r>
            <a:r>
              <a:rPr lang="en-US" sz="3600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”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en-US" sz="3600" dirty="0" smtClean="0">
                <a:solidFill>
                  <a:srgbClr val="FF0000"/>
                </a:solidFill>
              </a:rPr>
              <a:t>/&gt;</a:t>
            </a:r>
            <a:endParaRPr lang="en-US" sz="36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>
    <p:randomBar dir="vert"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42E5E-D7B3-448B-A7F8-70BDE4B6B306}" type="slidenum">
              <a:rPr lang="en-US"/>
              <a:pPr/>
              <a:t>33</a:t>
            </a:fld>
            <a:endParaRPr lang="en-US"/>
          </a:p>
        </p:txBody>
      </p:sp>
      <p:sp>
        <p:nvSpPr>
          <p:cNvPr id="27443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-152400"/>
            <a:ext cx="7772400" cy="1143000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Color Input Element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74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0" y="1524000"/>
            <a:ext cx="6477000" cy="4114800"/>
          </a:xfrm>
        </p:spPr>
        <p:txBody>
          <a:bodyPr>
            <a:normAutofit/>
          </a:bodyPr>
          <a:lstStyle/>
          <a:p>
            <a:pPr marL="0" indent="0">
              <a:buFontTx/>
              <a:buNone/>
            </a:pPr>
            <a:r>
              <a:rPr lang="en-US" sz="3600" dirty="0">
                <a:solidFill>
                  <a:srgbClr val="FF0000"/>
                </a:solidFill>
              </a:rPr>
              <a:t>&lt;INPUT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en-US" sz="3600" dirty="0"/>
              <a:t>	</a:t>
            </a:r>
            <a:r>
              <a:rPr lang="en-US" sz="3600" dirty="0">
                <a:solidFill>
                  <a:srgbClr val="0000FF"/>
                </a:solidFill>
              </a:rPr>
              <a:t>type</a:t>
            </a:r>
            <a:r>
              <a:rPr lang="en-US" sz="3600" dirty="0" smtClean="0">
                <a:solidFill>
                  <a:srgbClr val="0000FF"/>
                </a:solidFill>
              </a:rPr>
              <a:t>=</a:t>
            </a:r>
            <a:r>
              <a:rPr lang="en-US" sz="3600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“</a:t>
            </a:r>
            <a:r>
              <a:rPr lang="en-US" sz="3600" dirty="0" smtClean="0"/>
              <a:t>color</a:t>
            </a:r>
            <a:r>
              <a:rPr lang="en-US" sz="3600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”</a:t>
            </a:r>
            <a:r>
              <a:rPr lang="en-US" sz="3600" dirty="0" smtClean="0">
                <a:solidFill>
                  <a:schemeClr val="tx2"/>
                </a:solidFill>
              </a:rPr>
              <a:t> </a:t>
            </a:r>
            <a:r>
              <a:rPr lang="en-US" sz="3600" dirty="0">
                <a:solidFill>
                  <a:schemeClr val="tx2"/>
                </a:solidFill>
              </a:rPr>
              <a:t>			</a:t>
            </a:r>
            <a:r>
              <a:rPr lang="en-US" sz="3600" dirty="0">
                <a:solidFill>
                  <a:srgbClr val="0000FF"/>
                </a:solidFill>
              </a:rPr>
              <a:t>name</a:t>
            </a:r>
            <a:r>
              <a:rPr lang="en-US" sz="3600" dirty="0" smtClean="0">
                <a:solidFill>
                  <a:srgbClr val="0000FF"/>
                </a:solidFill>
              </a:rPr>
              <a:t>=</a:t>
            </a:r>
            <a:r>
              <a:rPr lang="en-US" sz="3600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“</a:t>
            </a:r>
            <a:r>
              <a:rPr lang="en-US" sz="3600" dirty="0" smtClean="0"/>
              <a:t>color1</a:t>
            </a:r>
            <a:r>
              <a:rPr lang="en-US" sz="3600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”</a:t>
            </a:r>
          </a:p>
          <a:p>
            <a:pPr marL="0" indent="0">
              <a:buFontTx/>
              <a:buNone/>
            </a:pPr>
            <a:r>
              <a:rPr lang="en-US" sz="3600" dirty="0" smtClean="0">
                <a:solidFill>
                  <a:srgbClr val="0000FF"/>
                </a:solidFill>
              </a:rPr>
              <a:t>	value=</a:t>
            </a:r>
            <a:r>
              <a:rPr lang="en-US" sz="3600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“</a:t>
            </a:r>
            <a:r>
              <a:rPr lang="en-US" sz="3600" dirty="0" smtClean="0"/>
              <a:t>#336699</a:t>
            </a:r>
            <a:r>
              <a:rPr lang="en-US" sz="3600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” 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en-US" sz="3600" dirty="0" smtClean="0">
                <a:solidFill>
                  <a:srgbClr val="FF0000"/>
                </a:solidFill>
              </a:rPr>
              <a:t>/&gt;</a:t>
            </a:r>
            <a:endParaRPr lang="en-US" sz="36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>
    <p:randomBar dir="vert"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6759F-95A9-4C0B-BFFE-B34A71E2EDB6}" type="slidenum">
              <a:rPr lang="en-US"/>
              <a:pPr/>
              <a:t>34</a:t>
            </a:fld>
            <a:endParaRPr lang="en-US"/>
          </a:p>
        </p:txBody>
      </p:sp>
      <p:sp>
        <p:nvSpPr>
          <p:cNvPr id="35225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1143000"/>
          </a:xfrm>
        </p:spPr>
        <p:txBody>
          <a:bodyPr>
            <a:noAutofit/>
          </a:bodyPr>
          <a:lstStyle/>
          <a:p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16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Possible Values for the “type” Attribute of &lt;INPUT&gt; tag</a:t>
            </a:r>
          </a:p>
        </p:txBody>
      </p:sp>
      <p:sp>
        <p:nvSpPr>
          <p:cNvPr id="352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00200" y="1981200"/>
            <a:ext cx="2667000" cy="4648200"/>
          </a:xfrm>
        </p:spPr>
        <p:txBody>
          <a:bodyPr/>
          <a:lstStyle/>
          <a:p>
            <a:pPr marL="609600" indent="-609600">
              <a:lnSpc>
                <a:spcPct val="90000"/>
              </a:lnSpc>
              <a:buFontTx/>
              <a:buAutoNum type="arabicPeriod"/>
            </a:pPr>
            <a:r>
              <a:rPr lang="en-US" dirty="0"/>
              <a:t>text</a:t>
            </a:r>
          </a:p>
          <a:p>
            <a:pPr marL="609600" indent="-609600">
              <a:lnSpc>
                <a:spcPct val="90000"/>
              </a:lnSpc>
              <a:buFontTx/>
              <a:buAutoNum type="arabicPeriod"/>
            </a:pPr>
            <a:r>
              <a:rPr lang="en-US" dirty="0"/>
              <a:t>password</a:t>
            </a:r>
          </a:p>
          <a:p>
            <a:pPr marL="609600" indent="-609600">
              <a:lnSpc>
                <a:spcPct val="90000"/>
              </a:lnSpc>
              <a:buFontTx/>
              <a:buAutoNum type="arabicPeriod"/>
            </a:pPr>
            <a:r>
              <a:rPr lang="en-US" dirty="0"/>
              <a:t>hidden</a:t>
            </a:r>
          </a:p>
          <a:p>
            <a:pPr marL="609600" indent="-609600">
              <a:lnSpc>
                <a:spcPct val="90000"/>
              </a:lnSpc>
              <a:buFontTx/>
              <a:buAutoNum type="arabicPeriod"/>
            </a:pPr>
            <a:r>
              <a:rPr lang="en-US" dirty="0"/>
              <a:t>checkbox</a:t>
            </a:r>
          </a:p>
          <a:p>
            <a:pPr marL="609600" indent="-609600">
              <a:lnSpc>
                <a:spcPct val="90000"/>
              </a:lnSpc>
              <a:buFontTx/>
              <a:buAutoNum type="arabicPeriod"/>
            </a:pPr>
            <a:r>
              <a:rPr lang="en-US" dirty="0"/>
              <a:t>radio</a:t>
            </a:r>
          </a:p>
          <a:p>
            <a:pPr marL="609600" indent="-609600">
              <a:lnSpc>
                <a:spcPct val="90000"/>
              </a:lnSpc>
              <a:buFontTx/>
              <a:buAutoNum type="arabicPeriod"/>
            </a:pPr>
            <a:r>
              <a:rPr lang="en-US" dirty="0"/>
              <a:t>file</a:t>
            </a:r>
          </a:p>
          <a:p>
            <a:pPr marL="609600" indent="-609600">
              <a:lnSpc>
                <a:spcPct val="90000"/>
              </a:lnSpc>
              <a:buFontTx/>
              <a:buAutoNum type="arabicPeriod"/>
            </a:pPr>
            <a:r>
              <a:rPr lang="en-US" dirty="0"/>
              <a:t>reset</a:t>
            </a:r>
          </a:p>
          <a:p>
            <a:pPr marL="609600" indent="-609600">
              <a:lnSpc>
                <a:spcPct val="90000"/>
              </a:lnSpc>
              <a:buFontTx/>
              <a:buAutoNum type="arabicPeriod"/>
            </a:pPr>
            <a:r>
              <a:rPr lang="en-US" dirty="0"/>
              <a:t>submit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500146" y="1976844"/>
            <a:ext cx="3424654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marR="0" lvl="0" indent="-609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 startAt="9"/>
              <a:tabLst/>
              <a:defRPr/>
            </a:pPr>
            <a:r>
              <a:rPr lang="en-US" sz="3200" kern="0" dirty="0" err="1" smtClean="0">
                <a:solidFill>
                  <a:schemeClr val="tx1"/>
                </a:solidFill>
                <a:latin typeface="+mn-lt"/>
              </a:rPr>
              <a:t>url</a:t>
            </a:r>
            <a:endParaRPr kumimoji="0" 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609600" marR="0" lvl="0" indent="-609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AutoNum type="arabicPeriod" startAt="9"/>
              <a:tabLst/>
              <a:defRPr/>
            </a:pPr>
            <a:r>
              <a:rPr lang="en-US" sz="3200" kern="0" dirty="0" smtClean="0">
                <a:solidFill>
                  <a:schemeClr val="tx1"/>
                </a:solidFill>
                <a:latin typeface="+mn-lt"/>
              </a:rPr>
              <a:t>email</a:t>
            </a:r>
            <a:endParaRPr kumimoji="0" 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609600" marR="0" lvl="0" indent="-609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AutoNum type="arabicPeriod" startAt="9"/>
              <a:tabLst/>
              <a:defRPr/>
            </a:pPr>
            <a:r>
              <a:rPr lang="en-US" sz="3200" kern="0" dirty="0" err="1" smtClean="0">
                <a:solidFill>
                  <a:schemeClr val="tx1"/>
                </a:solidFill>
                <a:latin typeface="+mn-lt"/>
              </a:rPr>
              <a:t>tel</a:t>
            </a:r>
            <a:endParaRPr kumimoji="0" 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609600" marR="0" lvl="0" indent="-609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AutoNum type="arabicPeriod" startAt="9"/>
              <a:tabLst/>
              <a:defRPr/>
            </a:pPr>
            <a:r>
              <a:rPr lang="en-US" sz="3200" kern="0" dirty="0" smtClean="0">
                <a:solidFill>
                  <a:schemeClr val="tx1"/>
                </a:solidFill>
                <a:latin typeface="+mn-lt"/>
              </a:rPr>
              <a:t>time</a:t>
            </a:r>
            <a:endParaRPr kumimoji="0" 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609600" marR="0" lvl="0" indent="-609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AutoNum type="arabicPeriod" startAt="9"/>
              <a:tabLst/>
              <a:defRPr/>
            </a:pPr>
            <a:r>
              <a:rPr lang="en-US" sz="3200" kern="0" dirty="0" smtClean="0">
                <a:solidFill>
                  <a:schemeClr val="tx1"/>
                </a:solidFill>
                <a:latin typeface="+mn-lt"/>
              </a:rPr>
              <a:t>date</a:t>
            </a:r>
            <a:endParaRPr kumimoji="0" 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609600" marR="0" lvl="0" indent="-609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AutoNum type="arabicPeriod" startAt="9"/>
              <a:tabLst/>
              <a:defRPr/>
            </a:pPr>
            <a:r>
              <a:rPr lang="en-US" sz="3200" kern="0" dirty="0" smtClean="0">
                <a:solidFill>
                  <a:schemeClr val="tx1"/>
                </a:solidFill>
                <a:latin typeface="+mn-lt"/>
              </a:rPr>
              <a:t>search</a:t>
            </a:r>
            <a:endParaRPr kumimoji="0" 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609600" marR="0" lvl="0" indent="-609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AutoNum type="arabicPeriod" startAt="9"/>
              <a:tabLst/>
              <a:defRPr/>
            </a:pPr>
            <a:r>
              <a:rPr lang="en-US" sz="3200" kern="0" dirty="0" smtClean="0">
                <a:solidFill>
                  <a:schemeClr val="tx1"/>
                </a:solidFill>
                <a:latin typeface="+mn-lt"/>
              </a:rPr>
              <a:t>range</a:t>
            </a:r>
            <a:endParaRPr kumimoji="0" 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609600" marR="0" lvl="0" indent="-609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AutoNum type="arabicPeriod" startAt="9"/>
              <a:tabLst/>
              <a:defRPr/>
            </a:pPr>
            <a:r>
              <a:rPr lang="en-US" sz="3200" kern="0" dirty="0" err="1" smtClean="0">
                <a:solidFill>
                  <a:schemeClr val="tx1"/>
                </a:solidFill>
                <a:latin typeface="+mn-lt"/>
              </a:rPr>
              <a:t>datetime</a:t>
            </a:r>
            <a:r>
              <a:rPr lang="en-US" sz="3200" kern="0" dirty="0" smtClean="0">
                <a:solidFill>
                  <a:schemeClr val="tx1"/>
                </a:solidFill>
                <a:latin typeface="+mn-lt"/>
              </a:rPr>
              <a:t>-local</a:t>
            </a:r>
            <a:endParaRPr kumimoji="0" 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Bar dir="vert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6723</TotalTime>
  <Words>637</Words>
  <Application>Microsoft Office PowerPoint</Application>
  <PresentationFormat>On-screen Show (4:3)</PresentationFormat>
  <Paragraphs>194</Paragraphs>
  <Slides>34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Arial</vt:lpstr>
      <vt:lpstr>Calibri</vt:lpstr>
      <vt:lpstr>Wingdings</vt:lpstr>
      <vt:lpstr>Office Theme</vt:lpstr>
      <vt:lpstr>1_Office Theme</vt:lpstr>
      <vt:lpstr>Web Engineering  Forms Lecture 04</vt:lpstr>
      <vt:lpstr>FORMS</vt:lpstr>
      <vt:lpstr>Interactive Forms (1)</vt:lpstr>
      <vt:lpstr>Interactive Forms (2)</vt:lpstr>
      <vt:lpstr>Interactive Forms (3)</vt:lpstr>
      <vt:lpstr>FORM Tag</vt:lpstr>
      <vt:lpstr>INPUT Tag</vt:lpstr>
      <vt:lpstr>Single-Line Text Input Field</vt:lpstr>
      <vt:lpstr>PowerPoint Presentation</vt:lpstr>
      <vt:lpstr>Password Input Field</vt:lpstr>
      <vt:lpstr>Multi-Line Text Input Area</vt:lpstr>
      <vt:lpstr>EXAMPLE</vt:lpstr>
      <vt:lpstr>Submit Button Input</vt:lpstr>
      <vt:lpstr>Reset Button Input Element (Resets the contents of a form to default values)</vt:lpstr>
      <vt:lpstr>PowerPoint Presentation</vt:lpstr>
      <vt:lpstr>PowerPoint Presentation</vt:lpstr>
      <vt:lpstr>PowerPoint Presentation</vt:lpstr>
      <vt:lpstr>&lt;form name="login" method="post" action="loginScript"&gt;   &lt;table&gt;&lt;tr&gt;        &lt;td&gt;User Name: &lt;/td&gt;       &lt;td&gt;         &lt;input type="text" name="userName" size="10“ /&gt;       &lt;/td&gt;     &lt;/tr&gt;&lt;tr&gt;        &lt;td&gt;Password: &lt;/td&gt;       &lt;td&gt;         &lt;input type="password" name="password" size="10“ /&gt;       &lt;/td&gt;     &lt;/tr&gt;&lt;tr&gt;        &lt;td colspan="2" align="right"&gt;          &lt;input type="submit" name="login" value="Log me in“ /&gt;       &lt;/td&gt;   &lt;/tr&gt;&lt;/table&gt; &lt;/form&gt;</vt:lpstr>
      <vt:lpstr>Checkbox Input Element</vt:lpstr>
      <vt:lpstr>PowerPoint Presentation</vt:lpstr>
      <vt:lpstr>Radio Button Input Element</vt:lpstr>
      <vt:lpstr>PowerPoint Presentation</vt:lpstr>
      <vt:lpstr>&lt;form name="login" method="post" action="loginScript"&gt;   &lt;table&gt;&lt;tr&gt;        &lt;td&gt;User Name: &lt;/td&gt;       &lt;td&gt;&lt;input type="text" name="userName" size="10"&gt;&lt;/td&gt;     &lt;/tr&gt;&lt;tr&gt;        &lt;td&gt;Password: &lt;/td&gt;       &lt;td&gt;&lt;input type="password" name="password" size="10"&gt;&lt;/td&gt;     &lt;/tr&gt;&lt;tr&gt;        &lt;td valign="top"&gt;Logging in from:&lt;/td&gt;       &lt;td&gt;          &lt;input type="radio" name="from" value="home“ checked=“checked”&gt; Home&lt;br&gt;         &lt;input type="radio" name="from" value="office"&gt; Home&lt;br&gt;         &lt;input type="radio" name="from" value="university" &gt; University       &lt;/td&gt;    &lt;/tr&gt;&lt;tr&gt;          &lt;td colspan="2" align="right"&gt;          &lt;input type="submit" name="login" value="Log me in"&gt;       &lt;/td&gt;   &lt;/tr&gt;&lt;/table&gt; &lt;/form&gt;</vt:lpstr>
      <vt:lpstr>PowerPoint Presentation</vt:lpstr>
      <vt:lpstr>Select from a (Drop Down) List</vt:lpstr>
      <vt:lpstr>PowerPoint Presentation</vt:lpstr>
      <vt:lpstr>File Upload Input Element</vt:lpstr>
      <vt:lpstr>Date Input Element</vt:lpstr>
      <vt:lpstr>Number Input Element</vt:lpstr>
      <vt:lpstr>Range Input Element</vt:lpstr>
      <vt:lpstr>Search Input Element</vt:lpstr>
      <vt:lpstr>URL Input Element</vt:lpstr>
      <vt:lpstr>Color Input Element</vt:lpstr>
      <vt:lpstr>16 Possible Values for the “type” Attribute of &lt;INPUT&gt; tag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computing</dc:title>
  <dc:creator>C &amp; M</dc:creator>
  <cp:lastModifiedBy>Mg</cp:lastModifiedBy>
  <cp:revision>525</cp:revision>
  <dcterms:created xsi:type="dcterms:W3CDTF">2013-04-01T14:15:44Z</dcterms:created>
  <dcterms:modified xsi:type="dcterms:W3CDTF">2021-10-28T20:54:16Z</dcterms:modified>
</cp:coreProperties>
</file>