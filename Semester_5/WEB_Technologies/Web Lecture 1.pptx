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900" r:id="rId2"/>
  </p:sldMasterIdLst>
  <p:notesMasterIdLst>
    <p:notesMasterId r:id="rId18"/>
  </p:notesMasterIdLst>
  <p:sldIdLst>
    <p:sldId id="420" r:id="rId3"/>
    <p:sldId id="492" r:id="rId4"/>
    <p:sldId id="464" r:id="rId5"/>
    <p:sldId id="462" r:id="rId6"/>
    <p:sldId id="459" r:id="rId7"/>
    <p:sldId id="465" r:id="rId8"/>
    <p:sldId id="466" r:id="rId9"/>
    <p:sldId id="471" r:id="rId10"/>
    <p:sldId id="478" r:id="rId11"/>
    <p:sldId id="480" r:id="rId12"/>
    <p:sldId id="481" r:id="rId13"/>
    <p:sldId id="483" r:id="rId14"/>
    <p:sldId id="495" r:id="rId15"/>
    <p:sldId id="504" r:id="rId16"/>
    <p:sldId id="49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007434"/>
    <a:srgbClr val="2E27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4" autoAdjust="0"/>
    <p:restoredTop sz="91577" autoAdjust="0"/>
  </p:normalViewPr>
  <p:slideViewPr>
    <p:cSldViewPr>
      <p:cViewPr varScale="1">
        <p:scale>
          <a:sx n="69" d="100"/>
          <a:sy n="69" d="100"/>
        </p:scale>
        <p:origin x="160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F17C7-A735-43BD-ADEF-6FCA554CCDEC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A9F98-9234-4645-8DB0-2AF13C38CA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90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D4B5E3A-D677-418C-B51E-FFC1BBAF32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E69254C-1AF3-4BE3-B637-7F43D75199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0CC530E-4D2C-4518-8AC6-0B732653A0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55282-2781-4AB3-A4D6-AB48B1CFEA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8A59-A60B-4037-A488-24A4253E2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BA242E2-3ED4-4E9D-9C45-2B18FB11B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E1958-F268-42F3-B104-B67866A382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EE2EC086-E162-4ED8-B25F-4DEF8B2559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D739711-F82D-4368-9028-621D151E10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5D586-FDE9-4CC3-A843-843ABD12BF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0270-A383-41C4-87B9-085282595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440B9C8-1DA6-4025-B72F-C4350C10D53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ransition>
    <p:randomBar dir="vert"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A5F6-02DC-4725-9A6E-E1F16B14CA51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670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z="47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Introduction to Web/HTML</a:t>
            </a:r>
            <a:br>
              <a:rPr lang="en-US" sz="47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7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Lecture 1-2</a:t>
            </a:r>
            <a:br>
              <a:rPr lang="en-US" sz="47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endParaRPr lang="en-US" sz="4700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8001000" y="6172200"/>
            <a:ext cx="1143000" cy="609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3400" y="1371600"/>
            <a:ext cx="8077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Head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part is to communicate information with other web pages/search engines/robots/algorithms etc. In short, we can say that head part is to communicate with machines.</a:t>
            </a:r>
          </a:p>
          <a:p>
            <a:pPr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Body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part is to communicate information with users/humans.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&lt;html&gt;</a:t>
            </a: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/>
              <a:t>	  &lt;</a:t>
            </a:r>
            <a:r>
              <a:rPr lang="en-US" dirty="0">
                <a:latin typeface="Arial" pitchFamily="34" charset="0"/>
                <a:cs typeface="Arial" pitchFamily="34" charset="0"/>
              </a:rPr>
              <a:t>head&gt;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	&lt;</a:t>
            </a:r>
            <a:r>
              <a:rPr lang="en-US" dirty="0">
                <a:latin typeface="Arial" pitchFamily="34" charset="0"/>
                <a:cs typeface="Arial" pitchFamily="34" charset="0"/>
              </a:rPr>
              <a:t>title&gt;Title of page&lt;/title&gt; </a:t>
            </a:r>
          </a:p>
          <a:p>
            <a:pPr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              &lt;/</a:t>
            </a:r>
            <a:r>
              <a:rPr lang="en-US" dirty="0">
                <a:latin typeface="Arial" pitchFamily="34" charset="0"/>
                <a:cs typeface="Arial" pitchFamily="34" charset="0"/>
              </a:rPr>
              <a:t>head&gt; 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lvl="2"/>
            <a:r>
              <a:rPr lang="en-US" dirty="0">
                <a:latin typeface="Arial" pitchFamily="34" charset="0"/>
                <a:cs typeface="Arial" pitchFamily="34" charset="0"/>
              </a:rPr>
              <a:t>    &lt;body&gt; </a:t>
            </a:r>
          </a:p>
          <a:p>
            <a:pPr lvl="2"/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This </a:t>
            </a:r>
            <a:r>
              <a:rPr lang="en-US" dirty="0">
                <a:latin typeface="Arial" pitchFamily="34" charset="0"/>
                <a:cs typeface="Arial" pitchFamily="34" charset="0"/>
              </a:rPr>
              <a:t>is my first homepage. </a:t>
            </a:r>
          </a:p>
          <a:p>
            <a:pPr lvl="2"/>
            <a:r>
              <a:rPr lang="en-US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en-US" dirty="0">
                <a:latin typeface="Arial" pitchFamily="34" charset="0"/>
                <a:cs typeface="Arial" pitchFamily="34" charset="0"/>
              </a:rPr>
              <a:t>&lt;/body&gt;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44584181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Head Element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 smtClean="0"/>
              <a:t>HEAD tag always keep </a:t>
            </a:r>
            <a:r>
              <a:rPr lang="en-US" dirty="0" smtClean="0">
                <a:solidFill>
                  <a:srgbClr val="0000FF"/>
                </a:solidFill>
              </a:rPr>
              <a:t>behind the HTML tag</a:t>
            </a:r>
            <a:r>
              <a:rPr lang="en-US" dirty="0" smtClean="0"/>
              <a:t>.</a:t>
            </a:r>
          </a:p>
          <a:p>
            <a:pPr>
              <a:lnSpc>
                <a:spcPct val="80000"/>
              </a:lnSpc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Head part is to communicate information with other web pages/search engines/robots/algorithms etc. In short, we can say that head part is to communicate with machines.</a:t>
            </a:r>
          </a:p>
          <a:p>
            <a:pPr>
              <a:lnSpc>
                <a:spcPct val="80000"/>
              </a:lnSpc>
              <a:buNone/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Things are going in the HEAD section, consider to be </a:t>
            </a:r>
            <a:r>
              <a:rPr lang="en-US" dirty="0" smtClean="0">
                <a:solidFill>
                  <a:srgbClr val="00B050"/>
                </a:solidFill>
              </a:rPr>
              <a:t>META data content model </a:t>
            </a:r>
            <a:r>
              <a:rPr lang="en-US" dirty="0" smtClean="0"/>
              <a:t>these includes </a:t>
            </a:r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rgbClr val="FF0000"/>
                </a:solidFill>
              </a:rPr>
              <a:t>TITLE</a:t>
            </a:r>
            <a:r>
              <a:rPr lang="en-US" dirty="0" smtClean="0"/>
              <a:t>, </a:t>
            </a:r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rgbClr val="0000FF"/>
                </a:solidFill>
              </a:rPr>
              <a:t>META</a:t>
            </a:r>
            <a:r>
              <a:rPr lang="en-US" dirty="0" smtClean="0"/>
              <a:t>, </a:t>
            </a:r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rgbClr val="00B050"/>
                </a:solidFill>
              </a:rPr>
              <a:t>LINK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STYLE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SCRIPT</a:t>
            </a:r>
            <a:r>
              <a:rPr lang="en-US" smtClean="0"/>
              <a:t>. </a:t>
            </a:r>
            <a:endParaRPr lang="en-US" dirty="0" smtClean="0"/>
          </a:p>
          <a:p>
            <a:pPr>
              <a:lnSpc>
                <a:spcPct val="80000"/>
              </a:lnSpc>
            </a:pPr>
            <a:endParaRPr lang="en-US" dirty="0" smtClean="0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32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838200"/>
            <a:ext cx="8610600" cy="55626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3400" dirty="0" smtClean="0">
                <a:latin typeface="Arial" pitchFamily="34" charset="0"/>
                <a:cs typeface="Arial" pitchFamily="34" charset="0"/>
              </a:rPr>
              <a:t>&lt;!DOCTYPE html&gt;</a:t>
            </a:r>
          </a:p>
          <a:p>
            <a:pPr>
              <a:buNone/>
            </a:pPr>
            <a:endParaRPr lang="en-US" sz="3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400" dirty="0" smtClean="0">
                <a:latin typeface="Arial" pitchFamily="34" charset="0"/>
                <a:cs typeface="Arial" pitchFamily="34" charset="0"/>
              </a:rPr>
              <a:t>&lt;html 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lang</a:t>
            </a:r>
            <a:r>
              <a:rPr lang="en-US" sz="3400" dirty="0" smtClean="0">
                <a:latin typeface="Arial" pitchFamily="34" charset="0"/>
                <a:cs typeface="Arial" pitchFamily="34" charset="0"/>
              </a:rPr>
              <a:t>=‘en’&gt;</a:t>
            </a:r>
          </a:p>
          <a:p>
            <a:pPr>
              <a:buNone/>
            </a:pPr>
            <a:r>
              <a:rPr lang="en-US" sz="3400" dirty="0" smtClean="0"/>
              <a:t>	  </a:t>
            </a:r>
            <a:r>
              <a:rPr lang="en-US" sz="3400" dirty="0" smtClean="0">
                <a:solidFill>
                  <a:srgbClr val="FF3300"/>
                </a:solidFill>
              </a:rPr>
              <a:t>&lt;</a:t>
            </a:r>
            <a:r>
              <a:rPr lang="en-US" sz="3400" dirty="0" smtClean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head&gt;</a:t>
            </a:r>
            <a:r>
              <a:rPr lang="en-US" sz="3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sz="3400" dirty="0" smtClean="0">
                <a:latin typeface="Arial" pitchFamily="34" charset="0"/>
                <a:cs typeface="Arial" pitchFamily="34" charset="0"/>
              </a:rPr>
              <a:t>		&lt;meta 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charset</a:t>
            </a:r>
            <a:r>
              <a:rPr lang="en-US" sz="3400" dirty="0" smtClean="0">
                <a:latin typeface="Arial" pitchFamily="34" charset="0"/>
                <a:cs typeface="Arial" pitchFamily="34" charset="0"/>
              </a:rPr>
              <a:t>=“UTF-8” /&gt;</a:t>
            </a:r>
          </a:p>
          <a:p>
            <a:pPr>
              <a:buNone/>
            </a:pPr>
            <a:r>
              <a:rPr lang="en-US" sz="3400" dirty="0" smtClean="0">
                <a:latin typeface="Arial" pitchFamily="34" charset="0"/>
                <a:cs typeface="Arial" pitchFamily="34" charset="0"/>
              </a:rPr>
              <a:t>	       </a:t>
            </a:r>
            <a:r>
              <a:rPr lang="en-US" sz="3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&lt;title&gt;Title of page&lt;/title&gt; </a:t>
            </a:r>
          </a:p>
          <a:p>
            <a:pPr>
              <a:buNone/>
            </a:pPr>
            <a:r>
              <a:rPr lang="en-US" sz="3400" dirty="0" smtClean="0">
                <a:latin typeface="Arial" pitchFamily="34" charset="0"/>
                <a:cs typeface="Arial" pitchFamily="34" charset="0"/>
              </a:rPr>
              <a:t>		</a:t>
            </a:r>
            <a:r>
              <a:rPr lang="en-US" sz="3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&lt;link </a:t>
            </a:r>
            <a:r>
              <a:rPr lang="en-US" sz="34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rel</a:t>
            </a:r>
            <a:r>
              <a:rPr lang="en-US" sz="3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=“</a:t>
            </a:r>
            <a:r>
              <a:rPr lang="en-US" sz="34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stylesheet</a:t>
            </a:r>
            <a:r>
              <a:rPr lang="en-US" sz="3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” type=“text/</a:t>
            </a:r>
            <a:r>
              <a:rPr lang="en-US" sz="34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css</a:t>
            </a:r>
            <a:r>
              <a:rPr lang="en-US" sz="3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” </a:t>
            </a:r>
            <a:r>
              <a:rPr lang="en-US" sz="34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href</a:t>
            </a:r>
            <a:r>
              <a:rPr lang="en-US" sz="3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=“main.css” /&gt; </a:t>
            </a:r>
            <a:r>
              <a:rPr lang="en-US" sz="3400" dirty="0" smtClean="0">
                <a:latin typeface="Arial" pitchFamily="34" charset="0"/>
                <a:cs typeface="Arial" pitchFamily="34" charset="0"/>
              </a:rPr>
              <a:t>// To link 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stylesheet</a:t>
            </a:r>
            <a:endParaRPr lang="en-US" sz="3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n-US" sz="35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&lt;link </a:t>
            </a:r>
            <a:r>
              <a:rPr lang="en-US" sz="35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href</a:t>
            </a:r>
            <a:r>
              <a:rPr lang="en-US" sz="35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="scissors-small.png" type="image/gif" </a:t>
            </a:r>
            <a:r>
              <a:rPr lang="en-US" sz="35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rel</a:t>
            </a:r>
            <a:r>
              <a:rPr lang="en-US" sz="35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="shortcut icon" /&gt;</a:t>
            </a:r>
          </a:p>
          <a:p>
            <a:pPr>
              <a:buNone/>
            </a:pPr>
            <a:r>
              <a:rPr lang="en-US" sz="3400" dirty="0" smtClean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          /</a:t>
            </a:r>
            <a:r>
              <a:rPr lang="en-US" sz="3400" dirty="0" smtClean="0">
                <a:latin typeface="Arial" pitchFamily="34" charset="0"/>
                <a:cs typeface="Arial" pitchFamily="34" charset="0"/>
              </a:rPr>
              <a:t>/ To link short icon which appear in address bar</a:t>
            </a:r>
          </a:p>
          <a:p>
            <a:pPr>
              <a:buNone/>
            </a:pPr>
            <a:r>
              <a:rPr lang="en-US" sz="3400" dirty="0" smtClean="0">
                <a:latin typeface="Arial" pitchFamily="34" charset="0"/>
                <a:cs typeface="Arial" pitchFamily="34" charset="0"/>
              </a:rPr>
              <a:t>     </a:t>
            </a:r>
            <a:r>
              <a:rPr lang="en-US" sz="3400" dirty="0" smtClean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&lt;/head&gt; </a:t>
            </a:r>
          </a:p>
          <a:p>
            <a:pPr>
              <a:buNone/>
            </a:pPr>
            <a:endParaRPr lang="en-US" sz="3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400" dirty="0" smtClean="0">
                <a:latin typeface="Arial" pitchFamily="34" charset="0"/>
                <a:cs typeface="Arial" pitchFamily="34" charset="0"/>
              </a:rPr>
              <a:t>    &lt;body&gt; </a:t>
            </a:r>
          </a:p>
          <a:p>
            <a:pPr>
              <a:buNone/>
            </a:pPr>
            <a:r>
              <a:rPr lang="en-US" sz="3400" dirty="0" smtClean="0">
                <a:latin typeface="Arial" pitchFamily="34" charset="0"/>
                <a:cs typeface="Arial" pitchFamily="34" charset="0"/>
              </a:rPr>
              <a:t>			This is my first homepage. </a:t>
            </a:r>
          </a:p>
          <a:p>
            <a:pPr>
              <a:buNone/>
            </a:pPr>
            <a:r>
              <a:rPr lang="en-US" sz="3400" dirty="0" smtClean="0">
                <a:latin typeface="Arial" pitchFamily="34" charset="0"/>
                <a:cs typeface="Arial" pitchFamily="34" charset="0"/>
              </a:rPr>
              <a:t>			</a:t>
            </a:r>
          </a:p>
          <a:p>
            <a:pPr>
              <a:buNone/>
            </a:pPr>
            <a:r>
              <a:rPr lang="en-US" sz="3400" dirty="0" smtClean="0">
                <a:latin typeface="Arial" pitchFamily="34" charset="0"/>
                <a:cs typeface="Arial" pitchFamily="34" charset="0"/>
              </a:rPr>
              <a:t>	 &lt;/body&gt;</a:t>
            </a:r>
          </a:p>
          <a:p>
            <a:pPr>
              <a:buNone/>
            </a:pPr>
            <a:endParaRPr lang="en-US" sz="3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400" dirty="0" smtClean="0">
                <a:latin typeface="Arial" pitchFamily="34" charset="0"/>
                <a:cs typeface="Arial" pitchFamily="34" charset="0"/>
              </a:rPr>
              <a:t>&lt;/html&gt;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32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Title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TITLE element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is used for setting title of a document. 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Title element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is required in HTML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even its empty. There may be only </a:t>
            </a:r>
            <a:r>
              <a:rPr lang="en-US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one TITLE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element in a web page.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Example:</a:t>
            </a:r>
          </a:p>
          <a:p>
            <a:pPr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	&lt;head&gt; </a:t>
            </a:r>
          </a:p>
          <a:p>
            <a:pPr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      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&lt;title&gt;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Title of page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&lt;/title&gt; </a:t>
            </a:r>
          </a:p>
          <a:p>
            <a:pPr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  &lt;/head&gt; 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666"/>
            <a:ext cx="8229600" cy="86836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Link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LINK element is used to have </a:t>
            </a:r>
            <a:r>
              <a:rPr lang="en-US" dirty="0" smtClean="0">
                <a:solidFill>
                  <a:srgbClr val="FF0000"/>
                </a:solidFill>
              </a:rPr>
              <a:t>relationship with other documents</a:t>
            </a:r>
            <a:r>
              <a:rPr lang="en-US" dirty="0" smtClean="0"/>
              <a:t>. LINK tag is used to add </a:t>
            </a:r>
            <a:r>
              <a:rPr lang="en-US" dirty="0" smtClean="0">
                <a:solidFill>
                  <a:srgbClr val="00B050"/>
                </a:solidFill>
              </a:rPr>
              <a:t>external style sheet</a:t>
            </a:r>
            <a:r>
              <a:rPr lang="en-US" dirty="0" smtClean="0"/>
              <a:t>. Link is also used to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place a small image</a:t>
            </a:r>
            <a:r>
              <a:rPr lang="en-US" dirty="0" smtClean="0"/>
              <a:t> at title portion of the web page.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00FF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&lt;head&gt; </a:t>
            </a:r>
          </a:p>
          <a:p>
            <a:pPr>
              <a:buNone/>
            </a:pPr>
            <a:r>
              <a:rPr lang="en-US" dirty="0" smtClean="0"/>
              <a:t>	       &lt;title&gt;Title of page&lt;/title&gt;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cs typeface="Arial" pitchFamily="34" charset="0"/>
              </a:rPr>
              <a:t>&lt;link </a:t>
            </a:r>
            <a:r>
              <a:rPr lang="en-US" dirty="0" err="1" smtClean="0">
                <a:cs typeface="Arial" pitchFamily="34" charset="0"/>
              </a:rPr>
              <a:t>rel</a:t>
            </a:r>
            <a:r>
              <a:rPr lang="en-US" dirty="0" smtClean="0">
                <a:cs typeface="Arial" pitchFamily="34" charset="0"/>
              </a:rPr>
              <a:t>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err="1" smtClean="0">
                <a:cs typeface="Arial" pitchFamily="34" charset="0"/>
              </a:rPr>
              <a:t>stylesheet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>
                <a:cs typeface="Arial" pitchFamily="34" charset="0"/>
              </a:rPr>
              <a:t> type=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>
                <a:cs typeface="Arial" pitchFamily="34" charset="0"/>
              </a:rPr>
              <a:t>text/</a:t>
            </a:r>
            <a:r>
              <a:rPr lang="en-US" dirty="0" err="1" smtClean="0">
                <a:cs typeface="Arial" pitchFamily="34" charset="0"/>
              </a:rPr>
              <a:t>css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>
                <a:cs typeface="Arial" pitchFamily="34" charset="0"/>
              </a:rPr>
              <a:t>  				</a:t>
            </a:r>
            <a:r>
              <a:rPr lang="en-US" dirty="0" err="1" smtClean="0">
                <a:cs typeface="Arial" pitchFamily="34" charset="0"/>
              </a:rPr>
              <a:t>href</a:t>
            </a:r>
            <a:r>
              <a:rPr lang="en-US" dirty="0" smtClean="0">
                <a:cs typeface="Arial" pitchFamily="34" charset="0"/>
              </a:rPr>
              <a:t>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>
                <a:cs typeface="Arial" pitchFamily="34" charset="0"/>
              </a:rPr>
              <a:t>main.css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>
                <a:solidFill>
                  <a:srgbClr val="FF0000"/>
                </a:solidFill>
                <a:cs typeface="Arial" pitchFamily="34" charset="0"/>
              </a:rPr>
              <a:t> /&gt;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cs typeface="Arial" pitchFamily="34" charset="0"/>
              </a:rPr>
              <a:t>		&lt;link </a:t>
            </a:r>
            <a:r>
              <a:rPr lang="en-US" dirty="0" err="1" smtClean="0">
                <a:cs typeface="Arial" pitchFamily="34" charset="0"/>
              </a:rPr>
              <a:t>href</a:t>
            </a:r>
            <a:r>
              <a:rPr lang="en-US" dirty="0" smtClean="0">
                <a:cs typeface="Arial" pitchFamily="34" charset="0"/>
              </a:rPr>
              <a:t>="scissors-small.png" type="image/gif"                 </a:t>
            </a:r>
          </a:p>
          <a:p>
            <a:pPr>
              <a:buNone/>
            </a:pPr>
            <a:r>
              <a:rPr lang="en-US" dirty="0" smtClean="0">
                <a:cs typeface="Arial" pitchFamily="34" charset="0"/>
              </a:rPr>
              <a:t>                         </a:t>
            </a:r>
            <a:r>
              <a:rPr lang="en-US" dirty="0" err="1" smtClean="0">
                <a:cs typeface="Arial" pitchFamily="34" charset="0"/>
              </a:rPr>
              <a:t>rel</a:t>
            </a:r>
            <a:r>
              <a:rPr lang="en-US" dirty="0" smtClean="0">
                <a:cs typeface="Arial" pitchFamily="34" charset="0"/>
              </a:rPr>
              <a:t>="shortcut icon" </a:t>
            </a:r>
            <a:r>
              <a:rPr lang="en-US" dirty="0" smtClean="0">
                <a:solidFill>
                  <a:srgbClr val="FF0000"/>
                </a:solidFill>
                <a:cs typeface="Arial" pitchFamily="34" charset="0"/>
              </a:rPr>
              <a:t>/&gt;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cs typeface="Arial" pitchFamily="34" charset="0"/>
              </a:rPr>
              <a:t>		&lt;script</a:t>
            </a:r>
            <a:r>
              <a:rPr lang="en-US" dirty="0" smtClean="0">
                <a:cs typeface="Arial" pitchFamily="34" charset="0"/>
              </a:rPr>
              <a:t> </a:t>
            </a:r>
            <a:r>
              <a:rPr lang="en-US" dirty="0" err="1" smtClean="0">
                <a:cs typeface="Arial" pitchFamily="34" charset="0"/>
              </a:rPr>
              <a:t>src</a:t>
            </a:r>
            <a:r>
              <a:rPr lang="en-US" dirty="0" smtClean="0">
                <a:cs typeface="Arial" pitchFamily="34" charset="0"/>
              </a:rPr>
              <a:t>="myscripts.js“ </a:t>
            </a:r>
            <a:r>
              <a:rPr lang="en-US" dirty="0" err="1" smtClean="0">
                <a:cs typeface="Arial" pitchFamily="34" charset="0"/>
              </a:rPr>
              <a:t>rel</a:t>
            </a:r>
            <a:r>
              <a:rPr lang="en-US" dirty="0" smtClean="0">
                <a:cs typeface="Arial" pitchFamily="34" charset="0"/>
              </a:rPr>
              <a:t>=“javascript” type=“</a:t>
            </a:r>
            <a:r>
              <a:rPr lang="en-US" dirty="0" err="1" smtClean="0">
                <a:cs typeface="Arial" pitchFamily="34" charset="0"/>
              </a:rPr>
              <a:t>javascript</a:t>
            </a:r>
            <a:r>
              <a:rPr lang="en-US" dirty="0" smtClean="0">
                <a:cs typeface="Arial" pitchFamily="34" charset="0"/>
              </a:rPr>
              <a:t>/text”&gt; </a:t>
            </a:r>
            <a:r>
              <a:rPr lang="en-US" dirty="0" smtClean="0">
                <a:solidFill>
                  <a:srgbClr val="FF0000"/>
                </a:solidFill>
                <a:cs typeface="Arial" pitchFamily="34" charset="0"/>
              </a:rPr>
              <a:t>&lt;/script&gt;</a:t>
            </a:r>
          </a:p>
          <a:p>
            <a:pPr>
              <a:buNone/>
            </a:pPr>
            <a:r>
              <a:rPr lang="en-US" dirty="0" smtClean="0"/>
              <a:t>    &lt;/head&gt; 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Style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STYLE element is used to </a:t>
            </a:r>
            <a:r>
              <a:rPr lang="en-US" dirty="0" smtClean="0">
                <a:solidFill>
                  <a:srgbClr val="00B050"/>
                </a:solidFill>
              </a:rPr>
              <a:t>embed style sheet </a:t>
            </a:r>
            <a:r>
              <a:rPr lang="en-US" dirty="0" smtClean="0"/>
              <a:t>on a same web page.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&lt;head&gt; </a:t>
            </a:r>
          </a:p>
          <a:p>
            <a:pPr>
              <a:buNone/>
            </a:pPr>
            <a:r>
              <a:rPr lang="en-US" dirty="0" smtClean="0"/>
              <a:t>	       &lt;title&gt;Title of page&lt;/title&gt; </a:t>
            </a:r>
          </a:p>
          <a:p>
            <a:pPr>
              <a:buNone/>
            </a:pPr>
            <a:r>
              <a:rPr lang="en-US" dirty="0" smtClean="0">
                <a:cs typeface="Arial" pitchFamily="34" charset="0"/>
              </a:rPr>
              <a:t>		</a:t>
            </a:r>
            <a:r>
              <a:rPr lang="en-US" dirty="0" smtClean="0">
                <a:solidFill>
                  <a:srgbClr val="FF3300"/>
                </a:solidFill>
                <a:cs typeface="Arial" pitchFamily="34" charset="0"/>
              </a:rPr>
              <a:t> &lt;style&gt;</a:t>
            </a:r>
          </a:p>
          <a:p>
            <a:pPr>
              <a:buNone/>
            </a:pPr>
            <a:r>
              <a:rPr lang="en-US" dirty="0" smtClean="0">
                <a:cs typeface="Arial" pitchFamily="34" charset="0"/>
              </a:rPr>
              <a:t>			p {</a:t>
            </a:r>
          </a:p>
          <a:p>
            <a:pPr>
              <a:buNone/>
            </a:pPr>
            <a:r>
              <a:rPr lang="en-US" dirty="0" smtClean="0">
                <a:cs typeface="Arial" pitchFamily="34" charset="0"/>
              </a:rPr>
              <a:t>			      line-height: 1.2;</a:t>
            </a:r>
          </a:p>
          <a:p>
            <a:pPr>
              <a:buNone/>
            </a:pPr>
            <a:r>
              <a:rPr lang="en-US" dirty="0" smtClean="0">
                <a:cs typeface="Arial" pitchFamily="34" charset="0"/>
              </a:rPr>
              <a:t>			}</a:t>
            </a:r>
          </a:p>
          <a:p>
            <a:pPr>
              <a:buNone/>
            </a:pPr>
            <a:r>
              <a:rPr lang="en-US" dirty="0" smtClean="0">
                <a:cs typeface="Arial" pitchFamily="34" charset="0"/>
              </a:rPr>
              <a:t>			</a:t>
            </a:r>
            <a:r>
              <a:rPr lang="en-US" dirty="0" err="1" smtClean="0">
                <a:cs typeface="Arial" pitchFamily="34" charset="0"/>
              </a:rPr>
              <a:t>p.first:first</a:t>
            </a:r>
            <a:r>
              <a:rPr lang="en-US" dirty="0" smtClean="0">
                <a:cs typeface="Arial" pitchFamily="34" charset="0"/>
              </a:rPr>
              <a:t>-line {</a:t>
            </a:r>
          </a:p>
          <a:p>
            <a:pPr>
              <a:buNone/>
            </a:pPr>
            <a:r>
              <a:rPr lang="en-US" dirty="0" smtClean="0">
                <a:cs typeface="Arial" pitchFamily="34" charset="0"/>
              </a:rPr>
              <a:t>			       font-variant: small-caps;</a:t>
            </a:r>
          </a:p>
          <a:p>
            <a:pPr>
              <a:buNone/>
            </a:pPr>
            <a:r>
              <a:rPr lang="en-US" dirty="0" smtClean="0">
                <a:cs typeface="Arial" pitchFamily="34" charset="0"/>
              </a:rPr>
              <a:t>			}</a:t>
            </a:r>
          </a:p>
          <a:p>
            <a:pPr>
              <a:buNone/>
            </a:pPr>
            <a:r>
              <a:rPr lang="en-US" dirty="0" smtClean="0">
                <a:cs typeface="Arial" pitchFamily="34" charset="0"/>
              </a:rPr>
              <a:t>		 </a:t>
            </a:r>
            <a:r>
              <a:rPr lang="en-US" dirty="0" smtClean="0">
                <a:solidFill>
                  <a:srgbClr val="FF3300"/>
                </a:solidFill>
                <a:cs typeface="Arial" pitchFamily="34" charset="0"/>
              </a:rPr>
              <a:t>&lt;/style&gt;</a:t>
            </a:r>
          </a:p>
          <a:p>
            <a:pPr>
              <a:buNone/>
            </a:pPr>
            <a:r>
              <a:rPr lang="en-US" dirty="0" smtClean="0">
                <a:solidFill>
                  <a:srgbClr val="FF3300"/>
                </a:solidFill>
                <a:cs typeface="Arial" pitchFamily="34" charset="0"/>
              </a:rPr>
              <a:t>&lt;script language=“</a:t>
            </a:r>
            <a:r>
              <a:rPr lang="en-US" dirty="0" err="1" smtClean="0">
                <a:solidFill>
                  <a:srgbClr val="FF3300"/>
                </a:solidFill>
                <a:cs typeface="Arial" pitchFamily="34" charset="0"/>
              </a:rPr>
              <a:t>javascript</a:t>
            </a:r>
            <a:r>
              <a:rPr lang="en-US" dirty="0" smtClean="0">
                <a:solidFill>
                  <a:srgbClr val="FF3300"/>
                </a:solidFill>
                <a:cs typeface="Arial" pitchFamily="34" charset="0"/>
              </a:rPr>
              <a:t>”&gt;</a:t>
            </a:r>
          </a:p>
          <a:p>
            <a:pPr>
              <a:buNone/>
            </a:pPr>
            <a:r>
              <a:rPr lang="en-US" dirty="0" err="1" smtClean="0"/>
              <a:t>document.getElementById</a:t>
            </a:r>
            <a:r>
              <a:rPr lang="en-US" dirty="0" smtClean="0"/>
              <a:t>("demo").</a:t>
            </a:r>
            <a:r>
              <a:rPr lang="en-US" dirty="0" err="1" smtClean="0"/>
              <a:t>innerHTML</a:t>
            </a:r>
            <a:r>
              <a:rPr lang="en-US" dirty="0" smtClean="0"/>
              <a:t> = "Hello JavaScript!";</a:t>
            </a:r>
            <a:endParaRPr lang="en-US" dirty="0" smtClean="0">
              <a:solidFill>
                <a:srgbClr val="FF3300"/>
              </a:solidFill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rgbClr val="FF3300"/>
                </a:solidFill>
                <a:cs typeface="Arial" pitchFamily="34" charset="0"/>
              </a:rPr>
              <a:t>&lt;/script&gt;</a:t>
            </a:r>
            <a:endParaRPr lang="en-US" dirty="0" smtClean="0">
              <a:solidFill>
                <a:srgbClr val="FF3300"/>
              </a:solidFill>
            </a:endParaRPr>
          </a:p>
          <a:p>
            <a:pPr>
              <a:buNone/>
            </a:pPr>
            <a:r>
              <a:rPr lang="en-US" dirty="0" smtClean="0"/>
              <a:t>    &lt;/head&gt;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Meta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META tag </a:t>
            </a:r>
            <a:r>
              <a:rPr lang="en-US" dirty="0" smtClean="0"/>
              <a:t>is used to describe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various aspects </a:t>
            </a:r>
            <a:r>
              <a:rPr lang="en-US" dirty="0" smtClean="0"/>
              <a:t>of your HTML page. META means its data about data. It helps </a:t>
            </a:r>
            <a:r>
              <a:rPr lang="en-US" dirty="0" smtClean="0">
                <a:solidFill>
                  <a:srgbClr val="FF0000"/>
                </a:solidFill>
              </a:rPr>
              <a:t>search engine to categorize</a:t>
            </a:r>
            <a:r>
              <a:rPr lang="en-US" dirty="0" smtClean="0"/>
              <a:t> your page.</a:t>
            </a:r>
          </a:p>
          <a:p>
            <a:endParaRPr lang="en-US" dirty="0" smtClean="0"/>
          </a:p>
          <a:p>
            <a:r>
              <a:rPr lang="en-US" dirty="0" smtClean="0"/>
              <a:t>The data that </a:t>
            </a:r>
            <a:r>
              <a:rPr lang="en-US" dirty="0" smtClean="0">
                <a:solidFill>
                  <a:srgbClr val="0000FF"/>
                </a:solidFill>
              </a:rPr>
              <a:t>can not be display </a:t>
            </a:r>
            <a:r>
              <a:rPr lang="en-US" dirty="0" smtClean="0"/>
              <a:t>on web page, but </a:t>
            </a:r>
            <a:r>
              <a:rPr lang="en-US" dirty="0" smtClean="0">
                <a:solidFill>
                  <a:srgbClr val="00B050"/>
                </a:solidFill>
              </a:rPr>
              <a:t>can be used by various process</a:t>
            </a:r>
            <a:r>
              <a:rPr lang="en-US" dirty="0" smtClean="0"/>
              <a:t>. Like web server deliver it or user web browsers.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906"/>
            <a:ext cx="8229600" cy="79216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Line Break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Normally your 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browser will decide, where to break the line</a:t>
            </a:r>
            <a:r>
              <a:rPr lang="en-US" dirty="0" smtClean="0"/>
              <a:t> and paragraphs. You may force a line to break using the </a:t>
            </a:r>
            <a:r>
              <a:rPr lang="en-US" dirty="0" smtClean="0">
                <a:solidFill>
                  <a:srgbClr val="0000FF"/>
                </a:solidFill>
              </a:rPr>
              <a:t>&lt;BR&gt; tag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>
                <a:solidFill>
                  <a:srgbClr val="00B050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&lt;p&gt;</a:t>
            </a:r>
          </a:p>
          <a:p>
            <a:pPr>
              <a:buNone/>
            </a:pPr>
            <a:r>
              <a:rPr lang="en-US" dirty="0" smtClean="0"/>
              <a:t>	The attackers set about acquiring the control over the computers to be used in the attack. </a:t>
            </a:r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solidFill>
                  <a:srgbClr val="FF0000"/>
                </a:solidFill>
              </a:rPr>
              <a:t>br</a:t>
            </a:r>
            <a:r>
              <a:rPr lang="en-US" dirty="0" smtClean="0">
                <a:solidFill>
                  <a:srgbClr val="FF0000"/>
                </a:solidFill>
              </a:rPr>
              <a:t> /&gt;</a:t>
            </a:r>
            <a:r>
              <a:rPr lang="en-US" dirty="0" smtClean="0"/>
              <a:t> By scanning using </a:t>
            </a:r>
            <a:r>
              <a:rPr lang="en-US" dirty="0" err="1" smtClean="0"/>
              <a:t>Sscan</a:t>
            </a:r>
            <a:r>
              <a:rPr lang="en-US" dirty="0" smtClean="0"/>
              <a:t> SW, a large numbers of computers attached to the </a:t>
            </a:r>
            <a:r>
              <a:rPr lang="en-US" dirty="0" err="1" smtClean="0"/>
              <a:t>Internet.</a:t>
            </a:r>
            <a:r>
              <a:rPr lang="en-US" dirty="0" err="1" smtClean="0">
                <a:solidFill>
                  <a:srgbClr val="FF0000"/>
                </a:solidFill>
              </a:rPr>
              <a:t>&amp;nbsp</a:t>
            </a:r>
            <a:r>
              <a:rPr lang="en-US" dirty="0" smtClean="0">
                <a:solidFill>
                  <a:srgbClr val="FF0000"/>
                </a:solidFill>
              </a:rPr>
              <a:t>;&amp;</a:t>
            </a:r>
            <a:r>
              <a:rPr lang="en-US" dirty="0" err="1" smtClean="0">
                <a:solidFill>
                  <a:srgbClr val="FF0000"/>
                </a:solidFill>
              </a:rPr>
              <a:t>nbsp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  <a:r>
              <a:rPr lang="en-US" dirty="0" smtClean="0"/>
              <a:t> Once a computer with a weak security scheme is identified, the attackers try a break-in.</a:t>
            </a:r>
          </a:p>
          <a:p>
            <a:pPr>
              <a:buNone/>
            </a:pPr>
            <a:r>
              <a:rPr lang="en-US" dirty="0" smtClean="0"/>
              <a:t>	&lt;/p&gt;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Font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US" dirty="0" smtClean="0"/>
              <a:t>Sometimes you tell browser to show text something in a different way. Can of course use </a:t>
            </a:r>
            <a:r>
              <a:rPr lang="en-US" dirty="0" smtClean="0">
                <a:solidFill>
                  <a:srgbClr val="0000FF"/>
                </a:solidFill>
              </a:rPr>
              <a:t>CSS </a:t>
            </a:r>
            <a:r>
              <a:rPr lang="en-US" dirty="0" smtClean="0"/>
              <a:t>for this often as best choice. </a:t>
            </a:r>
          </a:p>
          <a:p>
            <a:endParaRPr lang="en-US" dirty="0" smtClean="0"/>
          </a:p>
          <a:p>
            <a:r>
              <a:rPr lang="en-US" dirty="0" smtClean="0"/>
              <a:t>HTML does however provide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few simple elements</a:t>
            </a:r>
            <a:r>
              <a:rPr lang="en-US" dirty="0" smtClean="0"/>
              <a:t>, case where you need something just simple.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&lt;b&gt;</a:t>
            </a:r>
            <a:r>
              <a:rPr lang="en-US" dirty="0" smtClean="0"/>
              <a:t> Bold </a:t>
            </a:r>
            <a:r>
              <a:rPr lang="en-US" dirty="0" smtClean="0">
                <a:solidFill>
                  <a:srgbClr val="FF0000"/>
                </a:solidFill>
              </a:rPr>
              <a:t>&lt;/b&gt;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&gt;</a:t>
            </a:r>
            <a:r>
              <a:rPr lang="en-US" dirty="0" smtClean="0"/>
              <a:t> Italic </a:t>
            </a:r>
            <a:r>
              <a:rPr lang="en-US" dirty="0" smtClean="0">
                <a:solidFill>
                  <a:srgbClr val="FF0000"/>
                </a:solidFill>
              </a:rPr>
              <a:t>&lt;/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&lt;u&gt;</a:t>
            </a:r>
            <a:r>
              <a:rPr lang="en-US" dirty="0" smtClean="0"/>
              <a:t> Underline </a:t>
            </a:r>
            <a:r>
              <a:rPr lang="en-US" dirty="0" smtClean="0">
                <a:solidFill>
                  <a:srgbClr val="FF0000"/>
                </a:solidFill>
              </a:rPr>
              <a:t>&lt;/u&gt;</a:t>
            </a:r>
          </a:p>
          <a:p>
            <a:r>
              <a:rPr lang="en-US" dirty="0" smtClean="0"/>
              <a:t>This is a </a:t>
            </a:r>
            <a:r>
              <a:rPr lang="en-US" dirty="0" smtClean="0">
                <a:solidFill>
                  <a:srgbClr val="FF0000"/>
                </a:solidFill>
              </a:rPr>
              <a:t>&lt;sub&gt; </a:t>
            </a:r>
            <a:r>
              <a:rPr lang="en-US" dirty="0" smtClean="0"/>
              <a:t>subscript </a:t>
            </a:r>
            <a:r>
              <a:rPr lang="en-US" dirty="0" smtClean="0">
                <a:solidFill>
                  <a:srgbClr val="FF0000"/>
                </a:solidFill>
              </a:rPr>
              <a:t>&lt;/sub&gt;</a:t>
            </a:r>
          </a:p>
          <a:p>
            <a:r>
              <a:rPr lang="en-US" dirty="0" smtClean="0"/>
              <a:t>This is a </a:t>
            </a:r>
            <a:r>
              <a:rPr lang="en-US" dirty="0" smtClean="0">
                <a:solidFill>
                  <a:srgbClr val="FF0000"/>
                </a:solidFill>
              </a:rPr>
              <a:t>&lt;sup&gt; </a:t>
            </a:r>
            <a:r>
              <a:rPr lang="en-US" dirty="0" smtClean="0"/>
              <a:t>superscript </a:t>
            </a:r>
            <a:r>
              <a:rPr lang="en-US" dirty="0" smtClean="0">
                <a:solidFill>
                  <a:srgbClr val="FF0000"/>
                </a:solidFill>
              </a:rPr>
              <a:t>&lt;/sup&gt;</a:t>
            </a:r>
          </a:p>
          <a:p>
            <a:r>
              <a:rPr lang="en-US" dirty="0" smtClean="0"/>
              <a:t>This is a </a:t>
            </a:r>
            <a:r>
              <a:rPr lang="en-US" dirty="0" smtClean="0">
                <a:solidFill>
                  <a:srgbClr val="FF0000"/>
                </a:solidFill>
              </a:rPr>
              <a:t>&lt;small&gt; </a:t>
            </a:r>
            <a:r>
              <a:rPr lang="en-US" dirty="0" smtClean="0"/>
              <a:t>small </a:t>
            </a:r>
            <a:r>
              <a:rPr lang="en-US" dirty="0" smtClean="0">
                <a:solidFill>
                  <a:srgbClr val="FF0000"/>
                </a:solidFill>
              </a:rPr>
              <a:t>&lt;/small&gt;</a:t>
            </a:r>
          </a:p>
          <a:p>
            <a:pPr>
              <a:buNone/>
            </a:pPr>
            <a:r>
              <a:rPr lang="en-US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906"/>
            <a:ext cx="8229600" cy="79216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Highlighting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dirty="0" smtClean="0"/>
              <a:t>HTML provides new </a:t>
            </a:r>
            <a:r>
              <a:rPr lang="en-US" dirty="0" smtClean="0">
                <a:solidFill>
                  <a:srgbClr val="00B050"/>
                </a:solidFill>
              </a:rPr>
              <a:t>inline element called MARK</a:t>
            </a:r>
            <a:r>
              <a:rPr lang="en-US" dirty="0" smtClean="0"/>
              <a:t> to highlighting text.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>
                <a:solidFill>
                  <a:srgbClr val="0000FF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&lt;p&gt;</a:t>
            </a:r>
          </a:p>
          <a:p>
            <a:pPr>
              <a:buNone/>
            </a:pPr>
            <a:r>
              <a:rPr lang="en-US" dirty="0" smtClean="0"/>
              <a:t>	The attackers set about acquiring the control over the computers to be used in the attack. By </a:t>
            </a:r>
            <a:r>
              <a:rPr lang="en-US" dirty="0" smtClean="0">
                <a:solidFill>
                  <a:srgbClr val="FF0000"/>
                </a:solidFill>
              </a:rPr>
              <a:t>&lt;mark&gt;</a:t>
            </a:r>
            <a:r>
              <a:rPr lang="en-US" dirty="0" smtClean="0"/>
              <a:t>scanning using </a:t>
            </a:r>
            <a:r>
              <a:rPr lang="en-US" dirty="0" err="1" smtClean="0"/>
              <a:t>Sscan</a:t>
            </a:r>
            <a:r>
              <a:rPr lang="en-US" dirty="0" smtClean="0"/>
              <a:t> SW,</a:t>
            </a:r>
            <a:r>
              <a:rPr lang="en-US" dirty="0" smtClean="0">
                <a:solidFill>
                  <a:srgbClr val="FF0000"/>
                </a:solidFill>
              </a:rPr>
              <a:t>&lt;/mark&gt;</a:t>
            </a:r>
            <a:r>
              <a:rPr lang="en-US" dirty="0" smtClean="0"/>
              <a:t> a large numbers of computers attached to the Internet. Once a computer with a weak security scheme is identified, the attackers try a break-in.</a:t>
            </a:r>
          </a:p>
          <a:p>
            <a:pPr>
              <a:buNone/>
            </a:pPr>
            <a:r>
              <a:rPr lang="en-US" dirty="0" smtClean="0"/>
              <a:t>	&lt;/p&gt;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Heading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Heading elements</a:t>
            </a:r>
            <a:r>
              <a:rPr lang="en-US" dirty="0" smtClean="0"/>
              <a:t> are available at </a:t>
            </a:r>
            <a:r>
              <a:rPr lang="en-US" dirty="0" smtClean="0">
                <a:solidFill>
                  <a:srgbClr val="00B050"/>
                </a:solidFill>
              </a:rPr>
              <a:t>six level</a:t>
            </a:r>
            <a:r>
              <a:rPr lang="en-US" dirty="0" smtClean="0"/>
              <a:t>. Heading is block level element.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&lt;h1&gt;</a:t>
            </a:r>
            <a:r>
              <a:rPr lang="en-US" dirty="0" smtClean="0"/>
              <a:t> Heading 1 </a:t>
            </a:r>
            <a:r>
              <a:rPr lang="en-US" dirty="0" smtClean="0">
                <a:solidFill>
                  <a:srgbClr val="FF0000"/>
                </a:solidFill>
              </a:rPr>
              <a:t>&lt;/h1&gt;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&lt;h2&gt;</a:t>
            </a:r>
            <a:r>
              <a:rPr lang="en-US" dirty="0" smtClean="0"/>
              <a:t> Heading 2 </a:t>
            </a:r>
            <a:r>
              <a:rPr lang="en-US" dirty="0" smtClean="0">
                <a:solidFill>
                  <a:srgbClr val="FF0000"/>
                </a:solidFill>
              </a:rPr>
              <a:t>&lt;/h2&gt;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&lt;h3&gt;</a:t>
            </a:r>
            <a:r>
              <a:rPr lang="en-US" dirty="0" smtClean="0"/>
              <a:t> Heading 3 </a:t>
            </a:r>
            <a:r>
              <a:rPr lang="en-US" dirty="0" smtClean="0">
                <a:solidFill>
                  <a:srgbClr val="FF0000"/>
                </a:solidFill>
              </a:rPr>
              <a:t>&lt;/h3&gt;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&lt;h4&gt;</a:t>
            </a:r>
            <a:r>
              <a:rPr lang="en-US" dirty="0" smtClean="0"/>
              <a:t> Heading 4 </a:t>
            </a:r>
            <a:r>
              <a:rPr lang="en-US" dirty="0" smtClean="0">
                <a:solidFill>
                  <a:srgbClr val="FF0000"/>
                </a:solidFill>
              </a:rPr>
              <a:t>&lt;/h4&gt;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&lt;h5&gt;</a:t>
            </a:r>
            <a:r>
              <a:rPr lang="en-US" dirty="0" smtClean="0"/>
              <a:t> Heading 5 </a:t>
            </a:r>
            <a:r>
              <a:rPr lang="en-US" dirty="0" smtClean="0">
                <a:solidFill>
                  <a:srgbClr val="FF0000"/>
                </a:solidFill>
              </a:rPr>
              <a:t>&lt;/h5&gt;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&lt;h6&gt;</a:t>
            </a:r>
            <a:r>
              <a:rPr lang="en-US" dirty="0" smtClean="0"/>
              <a:t> Heading 6 </a:t>
            </a:r>
            <a:r>
              <a:rPr lang="en-US" dirty="0" smtClean="0">
                <a:solidFill>
                  <a:srgbClr val="FF0000"/>
                </a:solidFill>
              </a:rPr>
              <a:t>&lt;/h6&gt;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Hyper Link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 smtClean="0"/>
              <a:t>In HTML, you create a hyper link with </a:t>
            </a:r>
            <a:r>
              <a:rPr lang="en-US" dirty="0" smtClean="0">
                <a:solidFill>
                  <a:srgbClr val="0000FF"/>
                </a:solidFill>
              </a:rPr>
              <a:t>Anchor tag</a:t>
            </a:r>
            <a:r>
              <a:rPr lang="en-US" dirty="0" smtClean="0"/>
              <a:t>. </a:t>
            </a:r>
          </a:p>
          <a:p>
            <a:pPr>
              <a:lnSpc>
                <a:spcPct val="80000"/>
              </a:lnSpc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rgbClr val="00B050"/>
                </a:solidFill>
              </a:rPr>
              <a:t>Example: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&lt;body&gt;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&lt;p&gt;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	Here is a link to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&lt;a </a:t>
            </a:r>
            <a:r>
              <a:rPr lang="en-US" dirty="0" err="1" smtClean="0">
                <a:solidFill>
                  <a:srgbClr val="FF0000"/>
                </a:solidFill>
              </a:rPr>
              <a:t>href</a:t>
            </a:r>
            <a:r>
              <a:rPr lang="en-US" dirty="0" smtClean="0">
                <a:solidFill>
                  <a:srgbClr val="FF0000"/>
                </a:solidFill>
              </a:rPr>
              <a:t>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/>
              <a:t>http://www.uol.edu.pk/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 smtClean="0">
                <a:cs typeface="Arial" pitchFamily="34" charset="0"/>
              </a:rPr>
              <a:t>target=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>
                <a:cs typeface="Arial" pitchFamily="34" charset="0"/>
              </a:rPr>
              <a:t>_blank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 smtClean="0"/>
              <a:t>title =“SEO friendly keyword for link” &gt;</a:t>
            </a:r>
            <a:r>
              <a:rPr lang="en-US" dirty="0" smtClean="0">
                <a:solidFill>
                  <a:srgbClr val="00B0F0"/>
                </a:solidFill>
              </a:rPr>
              <a:t>my home page</a:t>
            </a:r>
            <a:r>
              <a:rPr lang="en-US" dirty="0" smtClean="0">
                <a:solidFill>
                  <a:srgbClr val="FF0000"/>
                </a:solidFill>
              </a:rPr>
              <a:t>&lt;/a&gt;</a:t>
            </a:r>
            <a:r>
              <a:rPr lang="en-US" dirty="0" smtClean="0"/>
              <a:t>.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	&lt;/p&gt;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&lt;/body&gt;</a:t>
            </a:r>
          </a:p>
          <a:p>
            <a:pPr>
              <a:lnSpc>
                <a:spcPct val="80000"/>
              </a:lnSpc>
            </a:pPr>
            <a:endParaRPr lang="en-US" dirty="0" smtClean="0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It is very common to use images as links.</a:t>
            </a:r>
          </a:p>
          <a:p>
            <a:endParaRPr lang="en-US" dirty="0" smtClean="0"/>
          </a:p>
          <a:p>
            <a:r>
              <a:rPr lang="en-US" dirty="0" smtClean="0"/>
              <a:t>Example:</a:t>
            </a:r>
          </a:p>
          <a:p>
            <a:pPr>
              <a:buNone/>
            </a:pPr>
            <a:r>
              <a:rPr lang="en-US" dirty="0" smtClean="0"/>
              <a:t>	&lt;p&gt;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3300"/>
                </a:solidFill>
              </a:rPr>
              <a:t>&lt;</a:t>
            </a:r>
            <a:r>
              <a:rPr lang="en-US" dirty="0" err="1" smtClean="0">
                <a:solidFill>
                  <a:srgbClr val="FF0000"/>
                </a:solidFill>
              </a:rPr>
              <a:t>img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src</a:t>
            </a:r>
            <a:r>
              <a:rPr lang="en-US" dirty="0" smtClean="0">
                <a:solidFill>
                  <a:srgbClr val="0000FF"/>
                </a:solidFill>
              </a:rPr>
              <a:t>=</a:t>
            </a: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>
                <a:solidFill>
                  <a:srgbClr val="0000FF"/>
                </a:solidFill>
              </a:rPr>
              <a:t>images/paper.png</a:t>
            </a: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” </a:t>
            </a:r>
            <a:r>
              <a:rPr lang="en-US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rel</a:t>
            </a: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=“alternate text to represent image” </a:t>
            </a:r>
            <a:r>
              <a:rPr lang="en-US" dirty="0" smtClean="0">
                <a:solidFill>
                  <a:srgbClr val="0000FF"/>
                </a:solidFill>
                <a:cs typeface="Arial" pitchFamily="34" charset="0"/>
              </a:rPr>
              <a:t>border=</a:t>
            </a: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>
                <a:solidFill>
                  <a:srgbClr val="0000FF"/>
                </a:solidFill>
                <a:cs typeface="Arial" pitchFamily="34" charset="0"/>
              </a:rPr>
              <a:t>0</a:t>
            </a: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/&gt;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&lt;/p&gt;</a:t>
            </a:r>
          </a:p>
          <a:p>
            <a:endParaRPr lang="en-US" dirty="0"/>
          </a:p>
        </p:txBody>
      </p:sp>
    </p:spTree>
  </p:cSld>
  <p:clrMapOvr>
    <a:masterClrMapping/>
  </p:clrMapOvr>
  <p:transition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USING IMAGE AS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 smtClean="0"/>
              <a:t>It is very common to use images as links.</a:t>
            </a:r>
          </a:p>
          <a:p>
            <a:endParaRPr lang="en-US" dirty="0" smtClean="0"/>
          </a:p>
          <a:p>
            <a:r>
              <a:rPr lang="en-US" dirty="0" smtClean="0"/>
              <a:t>Example:</a:t>
            </a:r>
          </a:p>
          <a:p>
            <a:pPr>
              <a:buNone/>
            </a:pPr>
            <a:r>
              <a:rPr lang="en-US" dirty="0" smtClean="0"/>
              <a:t>	&lt;p&gt;</a:t>
            </a:r>
          </a:p>
          <a:p>
            <a:pPr>
              <a:buNone/>
            </a:pPr>
            <a:r>
              <a:rPr lang="en-US" dirty="0" smtClean="0"/>
              <a:t>		Here is a link to </a:t>
            </a:r>
            <a:r>
              <a:rPr lang="en-US" dirty="0" smtClean="0">
                <a:solidFill>
                  <a:srgbClr val="0000FF"/>
                </a:solidFill>
              </a:rPr>
              <a:t>&lt;a </a:t>
            </a:r>
            <a:r>
              <a:rPr lang="en-US" dirty="0" err="1" smtClean="0">
                <a:solidFill>
                  <a:srgbClr val="0000FF"/>
                </a:solidFill>
              </a:rPr>
              <a:t>href</a:t>
            </a:r>
            <a:r>
              <a:rPr lang="en-US" dirty="0" smtClean="0">
                <a:solidFill>
                  <a:srgbClr val="0000FF"/>
                </a:solidFill>
              </a:rPr>
              <a:t>=</a:t>
            </a: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>
                <a:solidFill>
                  <a:srgbClr val="0000FF"/>
                </a:solidFill>
              </a:rPr>
              <a:t>http://sites.google.com/site/cs1113webprog/</a:t>
            </a: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solidFill>
                  <a:srgbClr val="FF0000"/>
                </a:solidFill>
              </a:rPr>
              <a:t>img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src</a:t>
            </a:r>
            <a:r>
              <a:rPr lang="en-US" dirty="0" smtClean="0">
                <a:solidFill>
                  <a:srgbClr val="FF0000"/>
                </a:solidFill>
              </a:rPr>
              <a:t>=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>
                <a:solidFill>
                  <a:srgbClr val="FF0000"/>
                </a:solidFill>
              </a:rPr>
              <a:t>images/paper.png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” </a:t>
            </a:r>
            <a:r>
              <a:rPr lang="en-US" dirty="0" smtClean="0">
                <a:solidFill>
                  <a:srgbClr val="FF0000"/>
                </a:solidFill>
                <a:cs typeface="Arial" pitchFamily="34" charset="0"/>
              </a:rPr>
              <a:t>border=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>
                <a:solidFill>
                  <a:srgbClr val="FF0000"/>
                </a:solidFill>
                <a:cs typeface="Arial" pitchFamily="34" charset="0"/>
              </a:rPr>
              <a:t>0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>
                <a:solidFill>
                  <a:srgbClr val="FF0000"/>
                </a:solidFill>
              </a:rPr>
              <a:t> /&gt;</a:t>
            </a:r>
            <a:r>
              <a:rPr lang="en-US" dirty="0" smtClean="0">
                <a:solidFill>
                  <a:srgbClr val="0000FF"/>
                </a:solidFill>
              </a:rPr>
              <a:t>&lt;/a&gt;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&lt;/p&gt;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E69254C-1AF3-4BE3-B637-7F43D751999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5675</TotalTime>
  <Words>544</Words>
  <Application>Microsoft Office PowerPoint</Application>
  <PresentationFormat>On-screen Show (4:3)</PresentationFormat>
  <Paragraphs>157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Century Schoolbook</vt:lpstr>
      <vt:lpstr>Wingdings</vt:lpstr>
      <vt:lpstr>Wingdings 2</vt:lpstr>
      <vt:lpstr>Office Theme</vt:lpstr>
      <vt:lpstr>Oriel</vt:lpstr>
      <vt:lpstr>Introduction to Web/HTML Lecture 1-2 </vt:lpstr>
      <vt:lpstr>HTML</vt:lpstr>
      <vt:lpstr>  Head Element</vt:lpstr>
      <vt:lpstr>Example</vt:lpstr>
      <vt:lpstr>Title Element</vt:lpstr>
      <vt:lpstr>Link Element</vt:lpstr>
      <vt:lpstr>Style Element</vt:lpstr>
      <vt:lpstr>Meta Tag</vt:lpstr>
      <vt:lpstr>Line Break Tag</vt:lpstr>
      <vt:lpstr>Font Element</vt:lpstr>
      <vt:lpstr>Highlighting Text</vt:lpstr>
      <vt:lpstr>Heading Tags</vt:lpstr>
      <vt:lpstr>Hyper Link</vt:lpstr>
      <vt:lpstr>Image Tag</vt:lpstr>
      <vt:lpstr>USING IMAGE AS 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computing</dc:title>
  <dc:creator>C &amp; M</dc:creator>
  <cp:lastModifiedBy>Home</cp:lastModifiedBy>
  <cp:revision>484</cp:revision>
  <dcterms:created xsi:type="dcterms:W3CDTF">2013-04-01T14:15:44Z</dcterms:created>
  <dcterms:modified xsi:type="dcterms:W3CDTF">2025-09-30T02:56:29Z</dcterms:modified>
</cp:coreProperties>
</file>