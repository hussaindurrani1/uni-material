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672" r:id="rId2"/>
  </p:sldMasterIdLst>
  <p:notesMasterIdLst>
    <p:notesMasterId r:id="rId30"/>
  </p:notesMasterIdLst>
  <p:handoutMasterIdLst>
    <p:handoutMasterId r:id="rId31"/>
  </p:handoutMasterIdLst>
  <p:sldIdLst>
    <p:sldId id="420" r:id="rId3"/>
    <p:sldId id="518" r:id="rId4"/>
    <p:sldId id="529" r:id="rId5"/>
    <p:sldId id="531" r:id="rId6"/>
    <p:sldId id="508" r:id="rId7"/>
    <p:sldId id="511" r:id="rId8"/>
    <p:sldId id="520" r:id="rId9"/>
    <p:sldId id="513" r:id="rId10"/>
    <p:sldId id="533" r:id="rId11"/>
    <p:sldId id="539" r:id="rId12"/>
    <p:sldId id="540" r:id="rId13"/>
    <p:sldId id="541" r:id="rId14"/>
    <p:sldId id="542" r:id="rId15"/>
    <p:sldId id="546" r:id="rId16"/>
    <p:sldId id="547" r:id="rId17"/>
    <p:sldId id="554" r:id="rId18"/>
    <p:sldId id="555" r:id="rId19"/>
    <p:sldId id="556" r:id="rId20"/>
    <p:sldId id="562" r:id="rId21"/>
    <p:sldId id="567" r:id="rId22"/>
    <p:sldId id="568" r:id="rId23"/>
    <p:sldId id="574" r:id="rId24"/>
    <p:sldId id="575" r:id="rId25"/>
    <p:sldId id="583" r:id="rId26"/>
    <p:sldId id="596" r:id="rId27"/>
    <p:sldId id="597" r:id="rId28"/>
    <p:sldId id="598" r:id="rId2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2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2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2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2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bg2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bg2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bg2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bg2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bg2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D60093"/>
    <a:srgbClr val="00FF00"/>
    <a:srgbClr val="FFCC00"/>
    <a:srgbClr val="CC3300"/>
    <a:srgbClr val="6600CC"/>
    <a:srgbClr val="333333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39" autoAdjust="0"/>
    <p:restoredTop sz="94660"/>
  </p:normalViewPr>
  <p:slideViewPr>
    <p:cSldViewPr>
      <p:cViewPr varScale="1">
        <p:scale>
          <a:sx n="71" d="100"/>
          <a:sy n="71" d="100"/>
        </p:scale>
        <p:origin x="136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0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874CBAB-A7CC-4ABB-B357-28C27D02C67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881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A3FE03-8F40-42ED-A27A-3BD66651DE8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770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9F98-9234-4645-8DB0-2AF13C38CAC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46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3FD08-7D85-48B4-8121-7C0C524315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E003C-3159-44DC-B733-0D2886C9775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167A5B-7B3D-49E6-A46B-668169EEA7A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AD4DD4-28B8-43CD-954E-BEEA408FEC4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B39C75-45DE-4A25-A1C1-9D9A81E2320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1B8869-B845-4F91-8462-12A97DE80E3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D37C7B-080A-41A1-9E6D-89BED4C1E6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DA942-1C89-4C24-9457-D302222C89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9F2EEF-236D-441E-852A-5052C9F2CB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1BAFF1-BA68-42C4-804A-E29B5D05AFD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CAAD51-EDB4-40A8-B823-8D035B00B6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FD08-7D85-48B4-8121-7C0C5243158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03C-3159-44DC-B733-0D2886C977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67A5B-7B3D-49E6-A46B-668169EEA7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D4DD4-28B8-43CD-954E-BEEA408FE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39C75-45DE-4A25-A1C1-9D9A81E232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8869-B845-4F91-8462-12A97DE80E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37C7B-080A-41A1-9E6D-89BED4C1E66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DA942-1C89-4C24-9457-D302222C899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F2EEF-236D-441E-852A-5052C9F2CB8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BAFF1-BA68-42C4-804A-E29B5D05AF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AAD51-EDB4-40A8-B823-8D035B00B6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4AAE0718-600E-412D-BFF0-98B93DCD7A49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1031" name="Picture 7" descr="vu logo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229600" y="6248400"/>
            <a:ext cx="914400" cy="465138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Bar dir="vert"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E0718-600E-412D-BFF0-98B93DCD7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randomBar dir="vert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670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sz="4200" dirty="0">
                <a:solidFill>
                  <a:srgbClr val="009900"/>
                </a:solidFill>
              </a:rPr>
              <a:t>CS428 Web Engineering</a:t>
            </a:r>
            <a:br>
              <a:rPr lang="en-US" sz="4200" dirty="0">
                <a:solidFill>
                  <a:schemeClr val="tx1"/>
                </a:solidFill>
              </a:rPr>
            </a:br>
            <a:r>
              <a:rPr lang="en-US" sz="3200" b="1" kern="12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Lecture 05</a:t>
            </a:r>
            <a:br>
              <a:rPr lang="en-US" sz="14200" b="1" dirty="0">
                <a:solidFill>
                  <a:schemeClr val="tx1"/>
                </a:solidFill>
              </a:rPr>
            </a:br>
            <a:r>
              <a:rPr lang="en-US" sz="4200" dirty="0">
                <a:solidFill>
                  <a:schemeClr val="tx1"/>
                </a:solidFill>
                <a:latin typeface="Calibri" pitchFamily="34" charset="0"/>
              </a:rPr>
              <a:t>Introduction</a:t>
            </a:r>
            <a:br>
              <a:rPr lang="en-US" sz="4200" dirty="0">
                <a:solidFill>
                  <a:schemeClr val="tx1"/>
                </a:solidFill>
                <a:latin typeface="Calibri" pitchFamily="34" charset="0"/>
              </a:rPr>
            </a:br>
            <a:r>
              <a:rPr lang="en-US" sz="4200" dirty="0">
                <a:solidFill>
                  <a:schemeClr val="tx1"/>
                </a:solidFill>
                <a:latin typeface="Calibri" pitchFamily="34" charset="0"/>
              </a:rPr>
              <a:t>Font and Text Properties</a:t>
            </a:r>
            <a:br>
              <a:rPr lang="en-US" sz="4200">
                <a:solidFill>
                  <a:schemeClr val="tx1"/>
                </a:solidFill>
              </a:rPr>
            </a:br>
            <a:endParaRPr lang="en-US" sz="4200" kern="12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DE52-AFB4-4E55-91D7-B40C59B9CACC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  <p:transition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CSS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82000" cy="54864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There are </a:t>
            </a:r>
            <a:r>
              <a:rPr lang="en-US" dirty="0">
                <a:solidFill>
                  <a:srgbClr val="FF0000"/>
                </a:solidFill>
              </a:rPr>
              <a:t>three ways</a:t>
            </a:r>
            <a:r>
              <a:rPr lang="en-US" dirty="0"/>
              <a:t> through which you apply CSS on your HTML doc.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>
                <a:solidFill>
                  <a:srgbClr val="00B050"/>
                </a:solidFill>
              </a:rPr>
              <a:t>Inline 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Internal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>
                <a:solidFill>
                  <a:srgbClr val="FF0000"/>
                </a:solidFill>
              </a:rPr>
              <a:t>External</a:t>
            </a:r>
          </a:p>
          <a:p>
            <a:r>
              <a:rPr lang="en-US" sz="2200" dirty="0"/>
              <a:t>A style rule is made of </a:t>
            </a:r>
            <a:r>
              <a:rPr lang="en-US" sz="2200" dirty="0">
                <a:solidFill>
                  <a:srgbClr val="009900"/>
                </a:solidFill>
              </a:rPr>
              <a:t>three parts</a:t>
            </a:r>
            <a:r>
              <a:rPr lang="en-US" sz="2200" dirty="0"/>
              <a:t>: </a:t>
            </a:r>
          </a:p>
          <a:p>
            <a:r>
              <a:rPr lang="en-US" sz="2200" b="1" dirty="0">
                <a:solidFill>
                  <a:srgbClr val="009900"/>
                </a:solidFill>
              </a:rPr>
              <a:t>Selector:</a:t>
            </a:r>
            <a:r>
              <a:rPr lang="en-US" sz="2200" b="1" dirty="0"/>
              <a:t> </a:t>
            </a:r>
            <a:r>
              <a:rPr lang="en-US" sz="2200" dirty="0"/>
              <a:t>A selector is an </a:t>
            </a: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HTML tag</a:t>
            </a:r>
            <a:r>
              <a:rPr lang="en-US" sz="2200" dirty="0"/>
              <a:t> at which style will be applied. This could be any tag like &lt;h1&gt; or &lt;table&gt; etc. </a:t>
            </a:r>
          </a:p>
          <a:p>
            <a:r>
              <a:rPr lang="en-US" sz="2200" b="1" dirty="0">
                <a:solidFill>
                  <a:schemeClr val="accent3">
                    <a:lumMod val="50000"/>
                  </a:schemeClr>
                </a:solidFill>
              </a:rPr>
              <a:t>Property:</a:t>
            </a:r>
            <a:r>
              <a:rPr lang="en-US" sz="2200" b="1" dirty="0"/>
              <a:t> </a:t>
            </a:r>
            <a:r>
              <a:rPr lang="en-US" sz="2200" dirty="0"/>
              <a:t>A property is a </a:t>
            </a: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type of attribute</a:t>
            </a:r>
            <a:r>
              <a:rPr lang="en-US" sz="2200" dirty="0"/>
              <a:t> of HTML tag. Put simply, all the HTML attributes are converted into CSS properties. They could be </a:t>
            </a:r>
            <a:r>
              <a:rPr lang="en-US" sz="2200" i="1" dirty="0"/>
              <a:t>color or border etc. </a:t>
            </a:r>
          </a:p>
          <a:p>
            <a:r>
              <a:rPr lang="en-US" sz="2200" b="1" dirty="0">
                <a:solidFill>
                  <a:srgbClr val="FF0000"/>
                </a:solidFill>
              </a:rPr>
              <a:t>Value:</a:t>
            </a:r>
            <a:r>
              <a:rPr lang="en-US" sz="2200" b="1" dirty="0"/>
              <a:t> </a:t>
            </a:r>
            <a:r>
              <a:rPr lang="en-US" sz="2200" dirty="0"/>
              <a:t>Values are </a:t>
            </a: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assigned to properties</a:t>
            </a:r>
            <a:r>
              <a:rPr lang="en-US" sz="2200" dirty="0"/>
              <a:t>. For example </a:t>
            </a:r>
            <a:r>
              <a:rPr lang="en-US" sz="2200" i="1" dirty="0"/>
              <a:t>color property can have value either red or #F1F1F1 etc. </a:t>
            </a:r>
          </a:p>
          <a:p>
            <a:endParaRPr lang="en-US" sz="2400" dirty="0"/>
          </a:p>
          <a:p>
            <a:r>
              <a:rPr lang="en-US" sz="2400" dirty="0"/>
              <a:t>You can put CSS Style Rule Syntax as follows: </a:t>
            </a:r>
          </a:p>
          <a:p>
            <a:pPr>
              <a:buNone/>
            </a:pPr>
            <a:r>
              <a:rPr lang="en-US" sz="2400" dirty="0">
                <a:solidFill>
                  <a:srgbClr val="009900"/>
                </a:solidFill>
              </a:rPr>
              <a:t>			selector</a:t>
            </a:r>
            <a:r>
              <a:rPr lang="en-US" sz="2400" dirty="0"/>
              <a:t> 	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{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property: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value</a:t>
            </a:r>
            <a:r>
              <a:rPr lang="en-US" sz="2400" dirty="0"/>
              <a:t>;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}</a:t>
            </a:r>
            <a:r>
              <a:rPr lang="en-US" sz="2400" dirty="0"/>
              <a:t> 	</a:t>
            </a:r>
          </a:p>
          <a:p>
            <a:pPr>
              <a:buNone/>
            </a:pPr>
            <a:endParaRPr lang="en-US" sz="2400" dirty="0"/>
          </a:p>
          <a:p>
            <a:r>
              <a:rPr lang="en-US" sz="2400" dirty="0">
                <a:solidFill>
                  <a:srgbClr val="FF0000"/>
                </a:solidFill>
              </a:rPr>
              <a:t>Example</a:t>
            </a:r>
            <a:r>
              <a:rPr lang="en-US" sz="2400" dirty="0"/>
              <a:t>: You can define a table border as follows:</a:t>
            </a:r>
          </a:p>
          <a:p>
            <a:pPr>
              <a:buNone/>
            </a:pPr>
            <a:r>
              <a:rPr lang="en-US" sz="2400" dirty="0"/>
              <a:t>			</a:t>
            </a:r>
            <a:r>
              <a:rPr lang="en-US" sz="2400" dirty="0">
                <a:solidFill>
                  <a:srgbClr val="009900"/>
                </a:solidFill>
              </a:rPr>
              <a:t>table</a:t>
            </a:r>
            <a:r>
              <a:rPr lang="en-US" sz="2400" dirty="0"/>
              <a:t> 	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{</a:t>
            </a:r>
            <a:r>
              <a:rPr lang="en-US" sz="2400" dirty="0"/>
              <a:t>  </a:t>
            </a:r>
            <a:r>
              <a:rPr lang="en-US" sz="2400" dirty="0">
                <a:solidFill>
                  <a:srgbClr val="FF0000"/>
                </a:solidFill>
              </a:rPr>
              <a:t>border: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1px solid #C00FDF</a:t>
            </a:r>
            <a:r>
              <a:rPr lang="en-US" sz="2400" dirty="0"/>
              <a:t>;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} </a:t>
            </a:r>
            <a:r>
              <a:rPr lang="en-US" sz="2400" dirty="0"/>
              <a:t>	</a:t>
            </a:r>
          </a:p>
          <a:p>
            <a:endParaRPr lang="en-US" sz="2200" i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03C-3159-44DC-B733-0D2886C9775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ransition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Inline CSS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609600"/>
            <a:ext cx="8534400" cy="1295400"/>
          </a:xfrm>
        </p:spPr>
        <p:txBody>
          <a:bodyPr/>
          <a:lstStyle/>
          <a:p>
            <a:pPr marL="0" indent="0">
              <a:lnSpc>
                <a:spcPct val="90000"/>
              </a:lnSpc>
            </a:pPr>
            <a:r>
              <a:rPr lang="en-US" sz="2400" dirty="0"/>
              <a:t> You can also embed your</a:t>
            </a:r>
            <a:r>
              <a:rPr lang="en-US" sz="2400" dirty="0">
                <a:solidFill>
                  <a:schemeClr val="tx2"/>
                </a:solidFill>
              </a:rPr>
              <a:t> CSS </a:t>
            </a:r>
            <a:r>
              <a:rPr lang="en-US" sz="2400" dirty="0"/>
              <a:t>code in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>
                <a:solidFill>
                  <a:schemeClr val="tx2"/>
                </a:solidFill>
              </a:rPr>
              <a:t>   HTML </a:t>
            </a:r>
            <a:r>
              <a:rPr lang="en-US" sz="2400" dirty="0"/>
              <a:t>document.</a:t>
            </a:r>
          </a:p>
          <a:p>
            <a:pPr marL="0" indent="0">
              <a:lnSpc>
                <a:spcPct val="90000"/>
              </a:lnSpc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Example: </a:t>
            </a:r>
            <a:r>
              <a:rPr lang="en-US" sz="2400" dirty="0"/>
              <a:t>	</a:t>
            </a:r>
            <a:r>
              <a:rPr lang="en-US" sz="2400" dirty="0">
                <a:solidFill>
                  <a:srgbClr val="00FF00"/>
                </a:solidFill>
              </a:rPr>
              <a:t>&lt;p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style=</a:t>
            </a:r>
            <a:r>
              <a:rPr lang="en-US" sz="2400" dirty="0"/>
              <a:t>“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font-family:</a:t>
            </a:r>
            <a:r>
              <a:rPr lang="en-US" sz="2400" dirty="0"/>
              <a:t>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</a:rPr>
              <a:t>monospace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;</a:t>
            </a:r>
            <a:r>
              <a:rPr lang="en-US" sz="2400" dirty="0"/>
              <a:t>”</a:t>
            </a:r>
            <a:r>
              <a:rPr lang="en-US" sz="2400" dirty="0">
                <a:solidFill>
                  <a:srgbClr val="00FF00"/>
                </a:solidFill>
              </a:rPr>
              <a:t>&gt;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F784-A48E-4047-969C-F6BA08913B12}" type="slidenum">
              <a:rPr lang="en-US"/>
              <a:pPr/>
              <a:t>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124200" y="1981200"/>
            <a:ext cx="28311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INTERNAL CSS</a:t>
            </a:r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2514600"/>
            <a:ext cx="83820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&lt;style&gt;&lt;/style&gt;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always placed between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&lt;head&gt;&lt;/head&gt;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tags.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&lt;style&gt;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line-height: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120%;</a:t>
            </a:r>
            <a:r>
              <a:rPr kumimoji="0" lang="en-US" sz="24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         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&lt;/style&gt;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4572000"/>
            <a:ext cx="38266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EXTERNAL CSS FILE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28600" y="5288340"/>
            <a:ext cx="8915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External CSS file will always place between </a:t>
            </a:r>
            <a:r>
              <a:rPr lang="en-US" sz="2400" dirty="0">
                <a:solidFill>
                  <a:srgbClr val="FF0000"/>
                </a:solidFill>
              </a:rPr>
              <a:t>&lt;HEAD&gt;&lt;/HEAD&gt;</a:t>
            </a:r>
            <a:r>
              <a:rPr lang="en-US" sz="2400" dirty="0"/>
              <a:t> tags.</a:t>
            </a:r>
          </a:p>
          <a:p>
            <a:r>
              <a:rPr lang="en-US" sz="2400" dirty="0">
                <a:solidFill>
                  <a:srgbClr val="00FF00"/>
                </a:solidFill>
              </a:rPr>
              <a:t>&lt;link </a:t>
            </a:r>
            <a:r>
              <a:rPr lang="en-US" sz="2400" dirty="0" err="1">
                <a:solidFill>
                  <a:schemeClr val="accent3">
                    <a:lumMod val="50000"/>
                  </a:schemeClr>
                </a:solidFill>
              </a:rPr>
              <a:t>rel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=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“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</a:rPr>
              <a:t>stylesheet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”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type=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“text/</a:t>
            </a:r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</a:rPr>
              <a:t>css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”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   </a:t>
            </a:r>
            <a:r>
              <a:rPr lang="en-US" sz="2400" dirty="0" err="1">
                <a:solidFill>
                  <a:schemeClr val="accent3">
                    <a:lumMod val="50000"/>
                  </a:schemeClr>
                </a:solidFill>
              </a:rPr>
              <a:t>href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=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“main.css”</a:t>
            </a:r>
            <a:r>
              <a:rPr lang="en-US" sz="2400" dirty="0"/>
              <a:t> /</a:t>
            </a:r>
            <a:r>
              <a:rPr lang="en-US" sz="2400" dirty="0">
                <a:solidFill>
                  <a:srgbClr val="00FF00"/>
                </a:solidFill>
              </a:rPr>
              <a:t>&gt;</a:t>
            </a:r>
          </a:p>
        </p:txBody>
      </p:sp>
    </p:spTree>
  </p:cSld>
  <p:clrMapOvr>
    <a:masterClrMapping/>
  </p:clrMapOvr>
  <p:transition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3948"/>
            <a:ext cx="7772400" cy="762000"/>
          </a:xfrm>
        </p:spPr>
        <p:txBody>
          <a:bodyPr/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0010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There are </a:t>
            </a:r>
            <a:r>
              <a:rPr lang="en-US" dirty="0">
                <a:solidFill>
                  <a:srgbClr val="D60093"/>
                </a:solidFill>
              </a:rPr>
              <a:t>three types</a:t>
            </a:r>
            <a:r>
              <a:rPr lang="en-US" dirty="0"/>
              <a:t> of selectors: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>
                <a:solidFill>
                  <a:srgbClr val="00B050"/>
                </a:solidFill>
              </a:rPr>
              <a:t>Tag </a:t>
            </a:r>
            <a:r>
              <a:rPr lang="en-US" sz="3200" dirty="0"/>
              <a:t>selectors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>
                <a:solidFill>
                  <a:srgbClr val="FF0000"/>
                </a:solidFill>
              </a:rPr>
              <a:t>ID</a:t>
            </a:r>
            <a:r>
              <a:rPr lang="en-US" sz="3200" dirty="0"/>
              <a:t> selectors (Apply at Only One element)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>
                <a:solidFill>
                  <a:schemeClr val="tx2"/>
                </a:solidFill>
              </a:rPr>
              <a:t>Class</a:t>
            </a:r>
            <a:r>
              <a:rPr lang="en-US" sz="3200" dirty="0"/>
              <a:t> selectors  (Group of elements)</a:t>
            </a:r>
          </a:p>
          <a:p>
            <a:pPr lvl="1">
              <a:buNone/>
            </a:pPr>
            <a:r>
              <a:rPr lang="en-US" sz="3200" dirty="0"/>
              <a:t>Examples:</a:t>
            </a:r>
          </a:p>
          <a:p>
            <a:pPr marL="0" indent="0">
              <a:buFontTx/>
              <a:buNone/>
            </a:pPr>
            <a:r>
              <a:rPr lang="en-US" sz="3600" dirty="0">
                <a:solidFill>
                  <a:srgbClr val="FF0000"/>
                </a:solidFill>
              </a:rPr>
              <a:t>&lt;style&gt;</a:t>
            </a:r>
            <a:br>
              <a:rPr lang="en-US" sz="3600" dirty="0"/>
            </a:br>
            <a:r>
              <a:rPr lang="en-US" sz="3600" dirty="0"/>
              <a:t>	</a:t>
            </a:r>
            <a:r>
              <a:rPr lang="en-US" sz="3600" dirty="0">
                <a:solidFill>
                  <a:schemeClr val="tx2"/>
                </a:solidFill>
              </a:rPr>
              <a:t>p </a:t>
            </a:r>
            <a:r>
              <a:rPr lang="en-US" sz="3600" dirty="0"/>
              <a:t>{ </a:t>
            </a:r>
            <a:r>
              <a:rPr lang="en-US" sz="3600" dirty="0">
                <a:solidFill>
                  <a:schemeClr val="tx2"/>
                </a:solidFill>
              </a:rPr>
              <a:t>font-family: </a:t>
            </a:r>
            <a:r>
              <a:rPr lang="en-US" sz="3600" dirty="0"/>
              <a:t>sans-serif;}</a:t>
            </a:r>
          </a:p>
          <a:p>
            <a:pPr marL="0" indent="0">
              <a:buFontTx/>
              <a:buNone/>
            </a:pPr>
            <a:r>
              <a:rPr lang="en-US" sz="3600" b="1" dirty="0">
                <a:solidFill>
                  <a:srgbClr val="FF0000"/>
                </a:solidFill>
              </a:rPr>
              <a:t>	</a:t>
            </a:r>
            <a:r>
              <a:rPr lang="en-US" sz="3600" dirty="0">
                <a:solidFill>
                  <a:schemeClr val="tx2"/>
                </a:solidFill>
              </a:rPr>
              <a:t>.</a:t>
            </a:r>
            <a:r>
              <a:rPr lang="en-US" sz="3600" dirty="0" err="1">
                <a:solidFill>
                  <a:schemeClr val="tx2"/>
                </a:solidFill>
              </a:rPr>
              <a:t>foo</a:t>
            </a:r>
            <a:r>
              <a:rPr lang="en-US" sz="3600" dirty="0">
                <a:solidFill>
                  <a:schemeClr val="tx2"/>
                </a:solidFill>
              </a:rPr>
              <a:t> </a:t>
            </a:r>
            <a:r>
              <a:rPr lang="en-US" sz="3600" dirty="0"/>
              <a:t>{</a:t>
            </a:r>
            <a:r>
              <a:rPr lang="en-US" sz="3600" dirty="0">
                <a:solidFill>
                  <a:schemeClr val="tx2"/>
                </a:solidFill>
              </a:rPr>
              <a:t> font-size: </a:t>
            </a:r>
            <a:r>
              <a:rPr lang="en-US" sz="3600" dirty="0"/>
              <a:t>15pt; } </a:t>
            </a:r>
          </a:p>
          <a:p>
            <a:pPr marL="0" indent="0"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#p1 </a:t>
            </a:r>
            <a:r>
              <a:rPr lang="en-US" sz="3600" dirty="0"/>
              <a:t>{</a:t>
            </a:r>
            <a:r>
              <a:rPr lang="en-US" sz="3600" dirty="0">
                <a:solidFill>
                  <a:schemeClr val="tx2"/>
                </a:solidFill>
              </a:rPr>
              <a:t>	line-height: </a:t>
            </a:r>
            <a:r>
              <a:rPr lang="en-US" sz="3600" dirty="0"/>
              <a:t>150%; </a:t>
            </a:r>
            <a:r>
              <a:rPr lang="en-US" sz="3600" dirty="0">
                <a:solidFill>
                  <a:schemeClr val="tx2"/>
                </a:solidFill>
              </a:rPr>
              <a:t>   </a:t>
            </a:r>
            <a:r>
              <a:rPr lang="en-US" sz="3600" dirty="0"/>
              <a:t>} </a:t>
            </a:r>
            <a:br>
              <a:rPr lang="en-US" sz="3600" dirty="0"/>
            </a:br>
            <a:r>
              <a:rPr lang="en-US" sz="3600" dirty="0">
                <a:solidFill>
                  <a:srgbClr val="FF0000"/>
                </a:solidFill>
              </a:rPr>
              <a:t>&lt;/style&gt;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03C-3159-44DC-B733-0D2886C9775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ransition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Example Class Selector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899159"/>
            <a:ext cx="8077200" cy="55626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2800" dirty="0">
                <a:solidFill>
                  <a:srgbClr val="FF0000"/>
                </a:solidFill>
              </a:rPr>
              <a:t>&lt;style&gt;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p</a:t>
            </a:r>
            <a:r>
              <a:rPr lang="en-US" sz="2800" b="1" dirty="0">
                <a:solidFill>
                  <a:schemeClr val="tx2"/>
                </a:solidFill>
              </a:rPr>
              <a:t>.</a:t>
            </a:r>
            <a:r>
              <a:rPr lang="en-US" sz="2800" dirty="0">
                <a:solidFill>
                  <a:schemeClr val="tx2"/>
                </a:solidFill>
              </a:rPr>
              <a:t>foo </a:t>
            </a:r>
            <a:r>
              <a:rPr lang="en-US" sz="2800" dirty="0"/>
              <a:t>{</a:t>
            </a:r>
          </a:p>
          <a:p>
            <a:pPr marL="0" indent="0">
              <a:buFontTx/>
              <a:buNone/>
            </a:pPr>
            <a:r>
              <a:rPr lang="en-US" sz="2800" dirty="0">
                <a:solidFill>
                  <a:schemeClr val="tx2"/>
                </a:solidFill>
              </a:rPr>
              <a:t>		font-family: </a:t>
            </a:r>
            <a:r>
              <a:rPr lang="en-US" sz="2800" dirty="0"/>
              <a:t>sans-serif;</a:t>
            </a:r>
          </a:p>
          <a:p>
            <a:pPr marL="0" indent="0">
              <a:buFontTx/>
              <a:buNone/>
            </a:pPr>
            <a:r>
              <a:rPr lang="en-US" sz="2800" dirty="0">
                <a:solidFill>
                  <a:schemeClr val="tx2"/>
                </a:solidFill>
              </a:rPr>
              <a:t>		font-size: </a:t>
            </a:r>
            <a:r>
              <a:rPr lang="en-US" sz="2800" dirty="0"/>
              <a:t>15pt;</a:t>
            </a:r>
          </a:p>
          <a:p>
            <a:pPr marL="0" indent="0">
              <a:buFontTx/>
              <a:buNone/>
            </a:pPr>
            <a:r>
              <a:rPr lang="en-US" sz="2800" dirty="0">
                <a:solidFill>
                  <a:schemeClr val="tx2"/>
                </a:solidFill>
              </a:rPr>
              <a:t>		line-height: </a:t>
            </a:r>
            <a:r>
              <a:rPr lang="en-US" sz="2800" dirty="0"/>
              <a:t>150%;</a:t>
            </a:r>
          </a:p>
          <a:p>
            <a:pPr marL="0" indent="0">
              <a:buFontTx/>
              <a:buNone/>
            </a:pPr>
            <a:r>
              <a:rPr lang="en-US" sz="2800" dirty="0">
                <a:solidFill>
                  <a:schemeClr val="tx2"/>
                </a:solidFill>
              </a:rPr>
              <a:t>	   </a:t>
            </a:r>
            <a:r>
              <a:rPr lang="en-US" sz="2800" dirty="0"/>
              <a:t>}</a:t>
            </a:r>
            <a:br>
              <a:rPr lang="en-US" sz="2800" dirty="0"/>
            </a:br>
            <a:r>
              <a:rPr lang="en-US" sz="2800" dirty="0">
                <a:solidFill>
                  <a:srgbClr val="FF0000"/>
                </a:solidFill>
              </a:rPr>
              <a:t>&lt;/style&gt;</a:t>
            </a:r>
          </a:p>
          <a:p>
            <a:pPr marL="0" indent="0">
              <a:buFontTx/>
              <a:buNone/>
            </a:pPr>
            <a:r>
              <a:rPr lang="en-US" sz="2800" dirty="0"/>
              <a:t>&lt;body&gt;</a:t>
            </a:r>
          </a:p>
          <a:p>
            <a:pPr marL="0" indent="0">
              <a:buFontTx/>
              <a:buNone/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FF0000"/>
                </a:solidFill>
              </a:rPr>
              <a:t>&lt;h1</a:t>
            </a:r>
            <a:r>
              <a:rPr lang="en-US" sz="2800" dirty="0">
                <a:solidFill>
                  <a:srgbClr val="00FF00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class</a:t>
            </a:r>
            <a:r>
              <a:rPr lang="en-US" sz="2800" dirty="0"/>
              <a:t>=“</a:t>
            </a:r>
            <a:r>
              <a:rPr lang="en-US" sz="2800" dirty="0" err="1"/>
              <a:t>foo</a:t>
            </a:r>
            <a:r>
              <a:rPr lang="en-US" sz="2800" dirty="0"/>
              <a:t>”</a:t>
            </a:r>
            <a:r>
              <a:rPr lang="en-US" sz="2800" dirty="0">
                <a:solidFill>
                  <a:srgbClr val="FF0000"/>
                </a:solidFill>
              </a:rPr>
              <a:t>&gt;&lt;/h1&gt;</a:t>
            </a:r>
          </a:p>
          <a:p>
            <a:pPr marL="0" indent="0">
              <a:buFontTx/>
              <a:buNone/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FF0000"/>
                </a:solidFill>
              </a:rPr>
              <a:t>&lt;p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tx2"/>
                </a:solidFill>
              </a:rPr>
              <a:t>class=</a:t>
            </a:r>
            <a:r>
              <a:rPr lang="en-US" sz="2800" dirty="0"/>
              <a:t>“</a:t>
            </a:r>
            <a:r>
              <a:rPr lang="en-US" sz="2800" dirty="0" err="1"/>
              <a:t>foo</a:t>
            </a:r>
            <a:r>
              <a:rPr lang="en-US" sz="2800" dirty="0"/>
              <a:t>”</a:t>
            </a:r>
            <a:r>
              <a:rPr lang="en-US" sz="2800" dirty="0">
                <a:solidFill>
                  <a:srgbClr val="FF0000"/>
                </a:solidFill>
              </a:rPr>
              <a:t>&gt;&lt;/p&gt;</a:t>
            </a:r>
          </a:p>
          <a:p>
            <a:pPr marL="0" indent="0">
              <a:buFontTx/>
              <a:buNone/>
            </a:pPr>
            <a:r>
              <a:rPr lang="en-US" sz="2800" dirty="0"/>
              <a:t>&lt;/body&gt;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36D7-2B8C-4854-BBD5-99B0CF7176BF}" type="slidenum">
              <a:rPr lang="en-US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152400" y="2640874"/>
            <a:ext cx="1447800" cy="533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9900"/>
                </a:solidFill>
              </a:rPr>
              <a:t>c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Arial" charset="0"/>
              </a:rPr>
              <a:t>lass selector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 rot="5400000" flipH="1" flipV="1">
            <a:off x="800100" y="2019300"/>
            <a:ext cx="685800" cy="45720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Descendant Selector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90600"/>
            <a:ext cx="8077200" cy="5257800"/>
          </a:xfrm>
        </p:spPr>
        <p:txBody>
          <a:bodyPr>
            <a:normAutofit lnSpcReduction="10000"/>
          </a:bodyPr>
          <a:lstStyle/>
          <a:p>
            <a:pPr marL="0" indent="0">
              <a:buFontTx/>
              <a:buNone/>
            </a:pPr>
            <a:r>
              <a:rPr lang="en-US" sz="2400" dirty="0"/>
              <a:t>&lt;style&gt;</a:t>
            </a:r>
            <a:br>
              <a:rPr lang="en-US" sz="2400" dirty="0"/>
            </a:br>
            <a:r>
              <a:rPr lang="en-US" sz="2400" dirty="0"/>
              <a:t>	 </a:t>
            </a:r>
            <a:r>
              <a:rPr lang="en-US" sz="2400" dirty="0">
                <a:solidFill>
                  <a:srgbClr val="009900"/>
                </a:solidFill>
              </a:rPr>
              <a:t>p a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/>
              <a:t>{</a:t>
            </a:r>
          </a:p>
          <a:p>
            <a:pPr marL="0" indent="0">
              <a:buFontTx/>
              <a:buNone/>
            </a:pPr>
            <a:r>
              <a:rPr lang="en-US" sz="2400" dirty="0">
                <a:solidFill>
                  <a:schemeClr val="tx2"/>
                </a:solidFill>
              </a:rPr>
              <a:t>		font-family: </a:t>
            </a:r>
            <a:r>
              <a:rPr lang="en-US" sz="2400" dirty="0"/>
              <a:t>sans-serif;</a:t>
            </a:r>
          </a:p>
          <a:p>
            <a:pPr marL="0" indent="0">
              <a:buFontTx/>
              <a:buNone/>
            </a:pPr>
            <a:r>
              <a:rPr lang="en-US" sz="2400" dirty="0">
                <a:solidFill>
                  <a:schemeClr val="tx2"/>
                </a:solidFill>
              </a:rPr>
              <a:t>		font-size: </a:t>
            </a:r>
            <a:r>
              <a:rPr lang="en-US" sz="2400" dirty="0"/>
              <a:t>15pt;</a:t>
            </a:r>
          </a:p>
          <a:p>
            <a:pPr marL="0" indent="0">
              <a:buFontTx/>
              <a:buNone/>
            </a:pPr>
            <a:r>
              <a:rPr lang="en-US" sz="2400" dirty="0">
                <a:solidFill>
                  <a:schemeClr val="tx2"/>
                </a:solidFill>
              </a:rPr>
              <a:t>		line-height: </a:t>
            </a:r>
            <a:r>
              <a:rPr lang="en-US" sz="2400" dirty="0"/>
              <a:t>150%;</a:t>
            </a:r>
          </a:p>
          <a:p>
            <a:pPr marL="0" indent="0">
              <a:buFontTx/>
              <a:buNone/>
            </a:pPr>
            <a:r>
              <a:rPr lang="en-US" sz="2400" dirty="0">
                <a:solidFill>
                  <a:schemeClr val="tx2"/>
                </a:solidFill>
              </a:rPr>
              <a:t>	   </a:t>
            </a:r>
            <a:r>
              <a:rPr lang="en-US" sz="2400" dirty="0"/>
              <a:t>}</a:t>
            </a:r>
            <a:br>
              <a:rPr lang="en-US" sz="2400" dirty="0"/>
            </a:br>
            <a:r>
              <a:rPr lang="en-US" sz="2400" dirty="0"/>
              <a:t>&lt;/style&gt;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&lt;p&gt;</a:t>
            </a:r>
            <a:r>
              <a:rPr lang="en-US" sz="2400" dirty="0"/>
              <a:t>    </a:t>
            </a:r>
            <a:r>
              <a:rPr lang="en-US" sz="2400" dirty="0" err="1"/>
              <a:t>Lorem</a:t>
            </a:r>
            <a:r>
              <a:rPr lang="en-US" sz="2400" dirty="0"/>
              <a:t> </a:t>
            </a:r>
            <a:r>
              <a:rPr lang="en-US" sz="2400" dirty="0" err="1"/>
              <a:t>ipsum</a:t>
            </a:r>
            <a:r>
              <a:rPr lang="en-US" sz="2400" dirty="0"/>
              <a:t> dolor sit </a:t>
            </a:r>
            <a:r>
              <a:rPr lang="en-US" sz="2400" dirty="0" err="1"/>
              <a:t>amet</a:t>
            </a:r>
            <a:r>
              <a:rPr lang="en-US" sz="2400" dirty="0"/>
              <a:t>, </a:t>
            </a:r>
            <a:r>
              <a:rPr lang="en-US" sz="2400" dirty="0" err="1"/>
              <a:t>consectetur</a:t>
            </a:r>
            <a:r>
              <a:rPr lang="en-US" sz="2400" dirty="0"/>
              <a:t> </a:t>
            </a:r>
            <a:r>
              <a:rPr lang="en-US" sz="2400" dirty="0" err="1"/>
              <a:t>adipiscing</a:t>
            </a:r>
            <a:r>
              <a:rPr lang="en-US" sz="2400" dirty="0"/>
              <a:t> </a:t>
            </a:r>
            <a:r>
              <a:rPr lang="en-US" sz="2400" dirty="0" err="1"/>
              <a:t>elit</a:t>
            </a:r>
            <a:r>
              <a:rPr lang="en-US" sz="2400" dirty="0"/>
              <a:t>.. Nam </a:t>
            </a:r>
            <a:r>
              <a:rPr lang="en-US" sz="2400" dirty="0" err="1"/>
              <a:t>pulvinar</a:t>
            </a:r>
            <a:r>
              <a:rPr lang="en-US" sz="2400" dirty="0"/>
              <a:t> </a:t>
            </a:r>
            <a:r>
              <a:rPr lang="en-US" sz="2400" dirty="0" err="1"/>
              <a:t>nunc</a:t>
            </a:r>
            <a:r>
              <a:rPr lang="en-US" sz="2400" dirty="0"/>
              <a:t> ac magna    </a:t>
            </a:r>
            <a:r>
              <a:rPr lang="en-US" sz="2400" dirty="0" err="1"/>
              <a:t>aliquam</a:t>
            </a:r>
            <a:r>
              <a:rPr lang="en-US" sz="2400" dirty="0"/>
              <a:t> </a:t>
            </a:r>
            <a:r>
              <a:rPr lang="en-US" sz="2400" dirty="0" err="1"/>
              <a:t>quis</a:t>
            </a:r>
            <a:r>
              <a:rPr lang="en-US" sz="2400" dirty="0"/>
              <a:t> </a:t>
            </a:r>
            <a:r>
              <a:rPr lang="en-US" sz="2400" dirty="0" err="1"/>
              <a:t>sodales</a:t>
            </a:r>
            <a:r>
              <a:rPr lang="en-US" sz="2400" dirty="0"/>
              <a:t> dui </a:t>
            </a:r>
            <a:r>
              <a:rPr lang="en-US" sz="2400" dirty="0" err="1"/>
              <a:t>nunc</a:t>
            </a:r>
            <a:r>
              <a:rPr lang="en-US" sz="2400" dirty="0"/>
              <a:t> sit </a:t>
            </a:r>
            <a:r>
              <a:rPr lang="en-US" sz="2400" dirty="0" err="1"/>
              <a:t>elementum</a:t>
            </a:r>
            <a:r>
              <a:rPr lang="en-US" sz="2400" dirty="0"/>
              <a:t>. </a:t>
            </a:r>
            <a:r>
              <a:rPr lang="en-US" sz="2400" dirty="0">
                <a:solidFill>
                  <a:srgbClr val="009900"/>
                </a:solidFill>
              </a:rPr>
              <a:t>&lt;a</a:t>
            </a:r>
            <a:r>
              <a:rPr lang="en-US" sz="2400" dirty="0"/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href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=</a:t>
            </a:r>
            <a:r>
              <a:rPr lang="en-US" sz="2400" dirty="0"/>
              <a:t>“page1.html”</a:t>
            </a:r>
            <a:r>
              <a:rPr lang="en-US" sz="2400" dirty="0">
                <a:solidFill>
                  <a:srgbClr val="009900"/>
                </a:solidFill>
              </a:rPr>
              <a:t>&gt;</a:t>
            </a:r>
            <a:r>
              <a:rPr lang="en-US" sz="2400" dirty="0" err="1"/>
              <a:t>Donec</a:t>
            </a:r>
            <a:r>
              <a:rPr lang="en-US" sz="2400" dirty="0"/>
              <a:t> </a:t>
            </a:r>
            <a:r>
              <a:rPr lang="en-US" sz="2400" dirty="0" err="1"/>
              <a:t>eu</a:t>
            </a:r>
            <a:r>
              <a:rPr lang="en-US" sz="2400" dirty="0"/>
              <a:t> nisi </a:t>
            </a:r>
            <a:r>
              <a:rPr lang="en-US" sz="2400" dirty="0" err="1"/>
              <a:t>turpis</a:t>
            </a:r>
            <a:r>
              <a:rPr lang="en-US" sz="2400" dirty="0">
                <a:solidFill>
                  <a:srgbClr val="009900"/>
                </a:solidFill>
              </a:rPr>
              <a:t>,&lt;/a&gt;</a:t>
            </a:r>
            <a:r>
              <a:rPr lang="en-US" sz="2400" dirty="0">
                <a:solidFill>
                  <a:srgbClr val="00FF00"/>
                </a:solidFill>
              </a:rPr>
              <a:t> </a:t>
            </a:r>
            <a:r>
              <a:rPr lang="en-US" sz="2400" dirty="0"/>
              <a:t>sit </a:t>
            </a:r>
            <a:r>
              <a:rPr lang="en-US" sz="2400" dirty="0" err="1"/>
              <a:t>amet</a:t>
            </a:r>
            <a:r>
              <a:rPr lang="en-US" sz="2400" dirty="0"/>
              <a:t> </a:t>
            </a:r>
            <a:r>
              <a:rPr lang="en-US" sz="2400" dirty="0" err="1"/>
              <a:t>rutrum</a:t>
            </a:r>
            <a:r>
              <a:rPr lang="en-US" sz="2400" dirty="0"/>
              <a:t> </a:t>
            </a:r>
            <a:r>
              <a:rPr lang="en-US" sz="2400" dirty="0" err="1"/>
              <a:t>leo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&lt;/p&gt;</a:t>
            </a:r>
          </a:p>
          <a:p>
            <a:pPr marL="0" indent="0">
              <a:buNone/>
            </a:pPr>
            <a:r>
              <a:rPr lang="en-US" sz="2400" dirty="0"/>
              <a:t>Click</a:t>
            </a:r>
            <a:r>
              <a:rPr lang="en-US" sz="2400" dirty="0">
                <a:solidFill>
                  <a:srgbClr val="FF0000"/>
                </a:solidFill>
              </a:rPr>
              <a:t> &lt;a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href</a:t>
            </a:r>
            <a:r>
              <a:rPr lang="en-US" sz="2400" dirty="0"/>
              <a:t>=“page2.html”</a:t>
            </a:r>
            <a:r>
              <a:rPr lang="en-US" sz="2400" dirty="0">
                <a:solidFill>
                  <a:srgbClr val="FF0000"/>
                </a:solidFill>
              </a:rPr>
              <a:t>&gt;</a:t>
            </a:r>
            <a:r>
              <a:rPr lang="en-US" sz="2400" dirty="0"/>
              <a:t>here</a:t>
            </a:r>
            <a:r>
              <a:rPr lang="en-US" sz="2400" dirty="0">
                <a:solidFill>
                  <a:srgbClr val="FF0000"/>
                </a:solidFill>
              </a:rPr>
              <a:t>&lt;/a&gt;</a:t>
            </a:r>
          </a:p>
          <a:p>
            <a:pPr marL="0" indent="0">
              <a:buFontTx/>
              <a:buNone/>
            </a:pPr>
            <a:endParaRPr lang="en-US" sz="240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36D7-2B8C-4854-BBD5-99B0CF7176BF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  <p:transition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Grouping Selector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90600"/>
            <a:ext cx="8305800" cy="5105400"/>
          </a:xfrm>
        </p:spPr>
        <p:txBody>
          <a:bodyPr/>
          <a:lstStyle/>
          <a:p>
            <a:pPr marL="0" indent="0"/>
            <a:r>
              <a:rPr lang="en-US" sz="3600" dirty="0">
                <a:solidFill>
                  <a:srgbClr val="FF0000"/>
                </a:solidFill>
              </a:rPr>
              <a:t> </a:t>
            </a:r>
            <a:r>
              <a:rPr lang="en-US" dirty="0"/>
              <a:t>you can apply style to many selectors.</a:t>
            </a:r>
          </a:p>
          <a:p>
            <a:pPr marL="0" indent="0"/>
            <a:r>
              <a:rPr lang="en-US" dirty="0">
                <a:solidFill>
                  <a:srgbClr val="FF0000"/>
                </a:solidFill>
              </a:rPr>
              <a:t> &lt;style&gt;</a:t>
            </a:r>
            <a:br>
              <a:rPr lang="en-US" dirty="0"/>
            </a:br>
            <a:r>
              <a:rPr lang="en-US" dirty="0"/>
              <a:t>	 </a:t>
            </a:r>
            <a:r>
              <a:rPr lang="en-US" dirty="0">
                <a:solidFill>
                  <a:srgbClr val="009900"/>
                </a:solidFill>
              </a:rPr>
              <a:t>h1,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009900"/>
                </a:solidFill>
              </a:rPr>
              <a:t>p,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rgbClr val="009900"/>
                </a:solidFill>
              </a:rPr>
              <a:t>section,#mydiv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{</a:t>
            </a:r>
          </a:p>
          <a:p>
            <a:pPr marL="0" indent="0">
              <a:buFontTx/>
              <a:buNone/>
            </a:pPr>
            <a:r>
              <a:rPr lang="en-US" dirty="0">
                <a:solidFill>
                  <a:schemeClr val="tx2"/>
                </a:solidFill>
              </a:rPr>
              <a:t>		color: </a:t>
            </a:r>
            <a:r>
              <a:rPr lang="en-US" dirty="0"/>
              <a:t>#35c;</a:t>
            </a:r>
          </a:p>
          <a:p>
            <a:pPr marL="0" indent="0">
              <a:buFontTx/>
              <a:buNone/>
            </a:pPr>
            <a:r>
              <a:rPr lang="en-US" dirty="0">
                <a:solidFill>
                  <a:schemeClr val="tx2"/>
                </a:solidFill>
              </a:rPr>
              <a:t>		font-weight: </a:t>
            </a:r>
            <a:r>
              <a:rPr lang="en-US" dirty="0"/>
              <a:t>bold;</a:t>
            </a:r>
          </a:p>
          <a:p>
            <a:pPr marL="0" indent="0">
              <a:buFontTx/>
              <a:buNone/>
            </a:pPr>
            <a:r>
              <a:rPr lang="en-US" dirty="0">
                <a:solidFill>
                  <a:schemeClr val="tx2"/>
                </a:solidFill>
              </a:rPr>
              <a:t>		letter-spacing: </a:t>
            </a:r>
            <a:r>
              <a:rPr lang="en-US" dirty="0"/>
              <a:t>.4em;</a:t>
            </a:r>
          </a:p>
          <a:p>
            <a:pPr marL="0" indent="0">
              <a:buFontTx/>
              <a:buNone/>
            </a:pPr>
            <a:r>
              <a:rPr lang="en-US" dirty="0">
                <a:solidFill>
                  <a:schemeClr val="tx2"/>
                </a:solidFill>
              </a:rPr>
              <a:t>	   </a:t>
            </a: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&lt;/style&gt;</a:t>
            </a:r>
          </a:p>
          <a:p>
            <a:pPr marL="0" indent="0"/>
            <a:endParaRPr lang="en-US" sz="2800" dirty="0"/>
          </a:p>
          <a:p>
            <a:pPr marL="0" indent="0">
              <a:buFontTx/>
              <a:buNone/>
            </a:pPr>
            <a:endParaRPr lang="en-US" sz="360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36D7-2B8C-4854-BBD5-99B0CF7176BF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  <p:transition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PSEUDO SELECTOR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90600"/>
            <a:ext cx="8077200" cy="5105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3600" dirty="0">
                <a:solidFill>
                  <a:srgbClr val="FF0000"/>
                </a:solidFill>
              </a:rPr>
              <a:t>&lt;style&gt;</a:t>
            </a:r>
          </a:p>
          <a:p>
            <a:pPr marL="0" indent="0"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</a:t>
            </a:r>
            <a:r>
              <a:rPr lang="en-US" sz="3600" dirty="0">
                <a:solidFill>
                  <a:srgbClr val="009900"/>
                </a:solidFill>
              </a:rPr>
              <a:t>a</a:t>
            </a:r>
            <a:r>
              <a:rPr lang="en-US" sz="3600" b="1" dirty="0"/>
              <a:t>:</a:t>
            </a:r>
            <a:r>
              <a:rPr lang="en-US" sz="3600" dirty="0">
                <a:solidFill>
                  <a:srgbClr val="009900"/>
                </a:solidFill>
              </a:rPr>
              <a:t>link</a:t>
            </a:r>
            <a:r>
              <a:rPr lang="en-US" sz="3600" dirty="0">
                <a:solidFill>
                  <a:schemeClr val="tx2"/>
                </a:solidFill>
              </a:rPr>
              <a:t> </a:t>
            </a:r>
            <a:r>
              <a:rPr lang="en-US" sz="3600" dirty="0"/>
              <a:t>{</a:t>
            </a:r>
          </a:p>
          <a:p>
            <a:pPr marL="0" indent="0"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		color: </a:t>
            </a:r>
            <a:r>
              <a:rPr lang="en-US" sz="3600" dirty="0"/>
              <a:t>#008080;</a:t>
            </a:r>
          </a:p>
          <a:p>
            <a:pPr marL="0" indent="0"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  		 </a:t>
            </a:r>
            <a:r>
              <a:rPr lang="en-US" sz="3600" dirty="0"/>
              <a:t>} </a:t>
            </a:r>
            <a:br>
              <a:rPr lang="en-US" sz="3600" dirty="0"/>
            </a:br>
            <a:r>
              <a:rPr lang="en-US" sz="3600" dirty="0"/>
              <a:t>	 </a:t>
            </a:r>
            <a:r>
              <a:rPr lang="en-US" sz="3600" dirty="0">
                <a:solidFill>
                  <a:srgbClr val="009900"/>
                </a:solidFill>
              </a:rPr>
              <a:t>a</a:t>
            </a:r>
            <a:r>
              <a:rPr lang="en-US" sz="3600" b="1" dirty="0"/>
              <a:t>:</a:t>
            </a:r>
            <a:r>
              <a:rPr lang="en-US" sz="3600" dirty="0">
                <a:solidFill>
                  <a:srgbClr val="009900"/>
                </a:solidFill>
              </a:rPr>
              <a:t>hover</a:t>
            </a:r>
            <a:r>
              <a:rPr lang="en-US" sz="3600" dirty="0">
                <a:solidFill>
                  <a:schemeClr val="tx2"/>
                </a:solidFill>
              </a:rPr>
              <a:t> </a:t>
            </a:r>
            <a:r>
              <a:rPr lang="en-US" sz="3600" dirty="0"/>
              <a:t>{</a:t>
            </a:r>
          </a:p>
          <a:p>
            <a:pPr marL="0" indent="0"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		color: </a:t>
            </a:r>
            <a:r>
              <a:rPr lang="en-US" sz="3600" dirty="0"/>
              <a:t>#FF0000;</a:t>
            </a:r>
          </a:p>
          <a:p>
            <a:pPr marL="0" indent="0">
              <a:buFontTx/>
              <a:buNone/>
            </a:pPr>
            <a:r>
              <a:rPr lang="en-US" sz="3600" dirty="0">
                <a:solidFill>
                  <a:schemeClr val="tx2"/>
                </a:solidFill>
              </a:rPr>
              <a:t>	  		 </a:t>
            </a:r>
            <a:r>
              <a:rPr lang="en-US" sz="3600" dirty="0"/>
              <a:t>}</a:t>
            </a:r>
            <a:br>
              <a:rPr lang="en-US" sz="3600" dirty="0"/>
            </a:br>
            <a:r>
              <a:rPr lang="en-US" dirty="0">
                <a:solidFill>
                  <a:srgbClr val="FF0000"/>
                </a:solidFill>
              </a:rPr>
              <a:t>&lt;/style&gt;</a:t>
            </a:r>
            <a:endParaRPr lang="en-US" sz="3600" dirty="0">
              <a:solidFill>
                <a:srgbClr val="FF0000"/>
              </a:solidFill>
            </a:endParaRPr>
          </a:p>
          <a:p>
            <a:pPr marL="0" indent="0">
              <a:buFontTx/>
              <a:buNone/>
            </a:pPr>
            <a:endParaRPr lang="en-US" sz="360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636D7-2B8C-4854-BBD5-99B0CF7176BF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  <p:transition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CSS Box Model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03C-3159-44DC-B733-0D2886C97757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524000"/>
            <a:ext cx="5868404" cy="4678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912"/>
            <a:ext cx="8229600" cy="7921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Block-Level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106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 block level element in HTML create a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“block”</a:t>
            </a:r>
            <a:r>
              <a:rPr lang="en-US" dirty="0">
                <a:latin typeface="Arial" pitchFamily="34" charset="0"/>
                <a:cs typeface="Arial" pitchFamily="34" charset="0"/>
              </a:rPr>
              <a:t> or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“box”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Browsers typically 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display</a:t>
            </a:r>
            <a:r>
              <a:rPr lang="en-US" dirty="0">
                <a:latin typeface="Arial" pitchFamily="34" charset="0"/>
                <a:cs typeface="Arial" pitchFamily="34" charset="0"/>
              </a:rPr>
              <a:t> the block-level element with a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new line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Block level elements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may contain inline elements </a:t>
            </a:r>
            <a:r>
              <a:rPr lang="en-US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other block-level elements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block level elements create 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“larger” structure</a:t>
            </a:r>
            <a:r>
              <a:rPr lang="en-US" dirty="0">
                <a:latin typeface="Arial" pitchFamily="34" charset="0"/>
                <a:cs typeface="Arial" pitchFamily="34" charset="0"/>
              </a:rPr>
              <a:t> than inline elements.</a:t>
            </a:r>
          </a:p>
        </p:txBody>
      </p:sp>
    </p:spTree>
  </p:cSld>
  <p:clrMapOvr>
    <a:masterClrMapping/>
  </p:clrMapOvr>
  <p:transition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912"/>
            <a:ext cx="8229600" cy="7921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List of Block-Level Elements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990600"/>
          <a:ext cx="8229601" cy="545592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&lt;address&gt;</a:t>
                      </a:r>
                    </a:p>
                    <a:p>
                      <a:r>
                        <a:rPr lang="en-US" sz="1600" b="0" dirty="0"/>
                        <a:t>Contact information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&lt;</a:t>
                      </a:r>
                      <a:r>
                        <a:rPr lang="en-US" sz="1600" dirty="0" err="1"/>
                        <a:t>figcaption</a:t>
                      </a:r>
                      <a:r>
                        <a:rPr lang="en-US" sz="1600" dirty="0"/>
                        <a:t>&gt; 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(</a:t>
                      </a:r>
                      <a:r>
                        <a:rPr lang="en-US" sz="1600" b="0" i="0" u="none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HTML5)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Figure caption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&lt;</a:t>
                      </a:r>
                      <a:r>
                        <a:rPr lang="en-US" sz="1600" dirty="0" err="1"/>
                        <a:t>ol</a:t>
                      </a:r>
                      <a:r>
                        <a:rPr lang="en-US" sz="1600" dirty="0"/>
                        <a:t>&gt;</a:t>
                      </a:r>
                    </a:p>
                    <a:p>
                      <a:r>
                        <a:rPr lang="en-US" sz="1600" b="0" dirty="0"/>
                        <a:t>Ordered 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&lt;article&gt;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(</a:t>
                      </a:r>
                      <a:r>
                        <a:rPr lang="en-US" sz="1600" b="0" i="0" u="none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HTML5)</a:t>
                      </a:r>
                    </a:p>
                    <a:p>
                      <a:r>
                        <a:rPr lang="en-US" sz="1600" b="0" i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Article content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&lt;figure&gt;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(</a:t>
                      </a:r>
                      <a:r>
                        <a:rPr lang="en-US" sz="1600" b="0" i="0" u="none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HTML5)</a:t>
                      </a:r>
                    </a:p>
                    <a:p>
                      <a:r>
                        <a:rPr lang="en-US" sz="1600" b="0" i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Groups media content with a caption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&lt;output&gt;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(</a:t>
                      </a:r>
                      <a:r>
                        <a:rPr lang="en-US" sz="1600" b="0" i="0" u="none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HTML5)</a:t>
                      </a:r>
                    </a:p>
                    <a:p>
                      <a:r>
                        <a:rPr lang="en-US" sz="1600" b="0" i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Form output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&lt;aside&gt;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(</a:t>
                      </a:r>
                      <a:r>
                        <a:rPr lang="en-US" sz="1600" b="0" i="0" u="none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HTML5)</a:t>
                      </a:r>
                    </a:p>
                    <a:p>
                      <a:r>
                        <a:rPr lang="en-US" sz="1600" b="0" i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Aside content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&lt;footer&gt;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(</a:t>
                      </a:r>
                      <a:r>
                        <a:rPr lang="en-US" sz="1600" b="0" i="0" u="none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HTML5)</a:t>
                      </a:r>
                    </a:p>
                    <a:p>
                      <a:r>
                        <a:rPr lang="en-US" sz="1600" b="0" i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Section or page footer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&lt;p&gt;</a:t>
                      </a:r>
                    </a:p>
                    <a:p>
                      <a:r>
                        <a:rPr lang="en-US" sz="1600" b="0" dirty="0"/>
                        <a:t>Paragraph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&lt;audio&gt;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(</a:t>
                      </a:r>
                      <a:r>
                        <a:rPr lang="en-US" sz="1600" b="0" i="0" u="none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HTML5)</a:t>
                      </a:r>
                    </a:p>
                    <a:p>
                      <a:r>
                        <a:rPr lang="en-US" sz="1600" b="0" i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Audio player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&lt;form&gt;</a:t>
                      </a:r>
                    </a:p>
                    <a:p>
                      <a:r>
                        <a:rPr lang="en-US" sz="1600" b="0" dirty="0"/>
                        <a:t>Input form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&lt;pre&gt;</a:t>
                      </a:r>
                    </a:p>
                    <a:p>
                      <a:r>
                        <a:rPr lang="en-US" sz="1600" b="0" dirty="0"/>
                        <a:t>Preformatted text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&lt;</a:t>
                      </a:r>
                      <a:r>
                        <a:rPr lang="en-US" sz="1600" b="1" dirty="0" err="1"/>
                        <a:t>blockquote</a:t>
                      </a:r>
                      <a:r>
                        <a:rPr lang="en-US" sz="1600" b="1" dirty="0"/>
                        <a:t>&gt;</a:t>
                      </a:r>
                    </a:p>
                    <a:p>
                      <a:r>
                        <a:rPr lang="en-US" sz="1600" b="0" dirty="0"/>
                        <a:t>Long (“block”) quotation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&lt;h1&gt;&lt;h2&gt;&lt;h3&gt;&lt;h4&gt;&lt;h5&gt;&lt;h6&gt;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Heading levels 1 - 6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&lt;section&gt;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(</a:t>
                      </a:r>
                      <a:r>
                        <a:rPr lang="en-US" sz="1600" b="0" i="0" u="none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HTML5)</a:t>
                      </a:r>
                    </a:p>
                    <a:p>
                      <a:r>
                        <a:rPr lang="en-US" sz="1600" b="0" i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Section of the page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&lt;canvas&gt;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(</a:t>
                      </a:r>
                      <a:r>
                        <a:rPr lang="en-US" sz="1600" b="0" i="0" u="none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HTML5)</a:t>
                      </a:r>
                    </a:p>
                    <a:p>
                      <a:r>
                        <a:rPr lang="en-US" sz="1600" b="0" i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Drawing canvas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&lt;header&gt;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(</a:t>
                      </a:r>
                      <a:r>
                        <a:rPr lang="en-US" sz="1600" b="0" i="0" u="none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HTML5)</a:t>
                      </a:r>
                    </a:p>
                    <a:p>
                      <a:r>
                        <a:rPr lang="en-US" sz="1600" b="0" i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Section or page header.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&lt;table&gt;</a:t>
                      </a:r>
                    </a:p>
                    <a:p>
                      <a:r>
                        <a:rPr lang="en-US" sz="1600" b="0" dirty="0"/>
                        <a:t>Table.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&lt;</a:t>
                      </a:r>
                      <a:r>
                        <a:rPr lang="en-US" sz="1600" b="1" dirty="0" err="1"/>
                        <a:t>dd</a:t>
                      </a:r>
                      <a:r>
                        <a:rPr lang="en-US" sz="1600" b="1" dirty="0"/>
                        <a:t>&gt;</a:t>
                      </a:r>
                    </a:p>
                    <a:p>
                      <a:r>
                        <a:rPr lang="en-US" sz="1600" b="0" dirty="0"/>
                        <a:t>Definition</a:t>
                      </a:r>
                      <a:r>
                        <a:rPr lang="en-US" sz="1600" b="0" baseline="0" dirty="0"/>
                        <a:t> description</a:t>
                      </a:r>
                      <a:endParaRPr 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</a:t>
                      </a:r>
                      <a:r>
                        <a:rPr lang="en-US" sz="1600" b="1" dirty="0" err="1"/>
                        <a:t>hgroup</a:t>
                      </a:r>
                      <a:r>
                        <a:rPr lang="en-US" sz="1600" b="1" dirty="0"/>
                        <a:t>&gt;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(</a:t>
                      </a:r>
                      <a:r>
                        <a:rPr lang="en-US" sz="1600" b="0" i="0" u="none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HTML5)</a:t>
                      </a:r>
                    </a:p>
                    <a:p>
                      <a:r>
                        <a:rPr lang="en-US" sz="1600" b="0" i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Groups header</a:t>
                      </a:r>
                      <a:r>
                        <a:rPr lang="en-US" sz="1600" b="0" i="0" u="non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information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</a:t>
                      </a:r>
                      <a:r>
                        <a:rPr lang="en-US" sz="1600" b="1" dirty="0" err="1"/>
                        <a:t>tfoot</a:t>
                      </a:r>
                      <a:r>
                        <a:rPr lang="en-US" sz="1600" b="1" dirty="0"/>
                        <a:t>&gt;</a:t>
                      </a:r>
                    </a:p>
                    <a:p>
                      <a:r>
                        <a:rPr lang="en-US" sz="1600" b="0" dirty="0"/>
                        <a:t>Table footer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&lt;div&gt;</a:t>
                      </a:r>
                    </a:p>
                    <a:p>
                      <a:r>
                        <a:rPr lang="en-US" sz="1600" b="0" dirty="0"/>
                        <a:t>Document division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&lt;hr&gt;</a:t>
                      </a:r>
                    </a:p>
                    <a:p>
                      <a:r>
                        <a:rPr lang="en-US" sz="1600" b="0" dirty="0"/>
                        <a:t>Horizontal  rule (dividing line)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</a:t>
                      </a:r>
                      <a:r>
                        <a:rPr lang="en-US" sz="1600" b="1" dirty="0" err="1"/>
                        <a:t>ul</a:t>
                      </a:r>
                      <a:r>
                        <a:rPr lang="en-US" sz="1600" b="1" dirty="0"/>
                        <a:t>&gt;</a:t>
                      </a:r>
                    </a:p>
                    <a:p>
                      <a:r>
                        <a:rPr lang="en-US" sz="1600" b="0" dirty="0"/>
                        <a:t>Unordered 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&lt;dl&gt;</a:t>
                      </a:r>
                    </a:p>
                    <a:p>
                      <a:r>
                        <a:rPr lang="en-US" sz="1600" b="0" dirty="0"/>
                        <a:t>Definition 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</a:t>
                      </a:r>
                      <a:r>
                        <a:rPr lang="en-US" sz="1600" b="1" dirty="0" err="1"/>
                        <a:t>fieldset</a:t>
                      </a:r>
                      <a:r>
                        <a:rPr lang="en-US" sz="1600" b="1" dirty="0"/>
                        <a:t>&gt;</a:t>
                      </a:r>
                    </a:p>
                    <a:p>
                      <a:r>
                        <a:rPr lang="en-US" sz="1600" b="0" dirty="0"/>
                        <a:t>Field set label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&lt;video&gt;</a:t>
                      </a:r>
                      <a:r>
                        <a:rPr lang="en-US" sz="1600" dirty="0">
                          <a:solidFill>
                            <a:srgbClr val="0000FF"/>
                          </a:solidFill>
                        </a:rPr>
                        <a:t>(</a:t>
                      </a:r>
                      <a:r>
                        <a:rPr lang="en-US" sz="1600" b="0" i="0" u="none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HTML5)</a:t>
                      </a:r>
                    </a:p>
                    <a:p>
                      <a:r>
                        <a:rPr lang="en-US" sz="1600" b="0" i="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Video player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912"/>
            <a:ext cx="8229600" cy="7921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Inline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 Inline element </a:t>
            </a:r>
            <a:r>
              <a:rPr lang="en-US" dirty="0">
                <a:latin typeface="Arial" pitchFamily="34" charset="0"/>
                <a:cs typeface="Arial" pitchFamily="34" charset="0"/>
              </a:rPr>
              <a:t>in HTML 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occupies only the space bounded by the tags</a:t>
            </a:r>
            <a:r>
              <a:rPr lang="en-US" dirty="0">
                <a:latin typeface="Arial" pitchFamily="34" charset="0"/>
                <a:cs typeface="Arial" pitchFamily="34" charset="0"/>
              </a:rPr>
              <a:t> that define the inline element.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Generally, inline elements may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contain only data </a:t>
            </a:r>
            <a:r>
              <a:rPr lang="en-US" dirty="0">
                <a:latin typeface="Arial" pitchFamily="34" charset="0"/>
                <a:cs typeface="Arial" pitchFamily="34" charset="0"/>
              </a:rPr>
              <a:t>and other inline elements.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By default, inline elements </a:t>
            </a:r>
            <a:r>
              <a:rPr lang="en-US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do not begin with new line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  <p:transition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6030"/>
            <a:ext cx="8229600" cy="8683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The &lt;span&gt; &amp; &lt;div&gt; Tags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&lt;span&gt;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...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&lt;/span&gt;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element defines an 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“inline” structure</a:t>
            </a:r>
            <a:r>
              <a:rPr lang="en-US" dirty="0">
                <a:latin typeface="Arial" pitchFamily="34" charset="0"/>
                <a:cs typeface="Arial" pitchFamily="34" charset="0"/>
              </a:rPr>
              <a:t>, i.e. it simply defines a stretch of text.  Thus it can be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used within a paragraph</a:t>
            </a:r>
            <a:r>
              <a:rPr lang="en-US" dirty="0">
                <a:latin typeface="Arial" pitchFamily="34" charset="0"/>
                <a:cs typeface="Arial" pitchFamily="34" charset="0"/>
              </a:rPr>
              <a:t> or table element without affecting the flow of the text.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&lt;div&gt;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...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&lt;/div&gt;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element defines a 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block” structure</a:t>
            </a:r>
            <a:r>
              <a:rPr lang="en-US" dirty="0">
                <a:latin typeface="Arial" pitchFamily="34" charset="0"/>
                <a:cs typeface="Arial" pitchFamily="34" charset="0"/>
              </a:rPr>
              <a:t>.  Usually the browser will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place line breaks</a:t>
            </a:r>
            <a:r>
              <a:rPr lang="en-US" dirty="0">
                <a:latin typeface="Arial" pitchFamily="34" charset="0"/>
                <a:cs typeface="Arial" pitchFamily="34" charset="0"/>
              </a:rPr>
              <a:t> before and after this element, but otherwise it has no effect itself.  </a:t>
            </a:r>
          </a:p>
        </p:txBody>
      </p:sp>
    </p:spTree>
  </p:cSld>
  <p:clrMapOvr>
    <a:masterClrMapping/>
  </p:clrMapOvr>
  <p:transition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CSS Font Properties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458200" cy="56388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You can set following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font properties</a:t>
            </a:r>
            <a:r>
              <a:rPr lang="en-US" dirty="0">
                <a:latin typeface="Arial" pitchFamily="34" charset="0"/>
                <a:cs typeface="Arial" pitchFamily="34" charset="0"/>
              </a:rPr>
              <a:t> of an element: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font-family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change the face of a font.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font-style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make a font italic or oblique.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font-variant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create a small-caps effect.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font-weight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increase or decrease how bold or light a font appears.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font-size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increase or decrease the size of a font.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Font Styles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4582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"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font-family: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georgia</a:t>
            </a:r>
            <a:r>
              <a:rPr lang="en-US" dirty="0">
                <a:latin typeface="Arial" pitchFamily="34" charset="0"/>
                <a:cs typeface="Arial" pitchFamily="34" charset="0"/>
              </a:rPr>
              <a:t>,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garamond</a:t>
            </a:r>
            <a:r>
              <a:rPr lang="en-US" dirty="0">
                <a:latin typeface="Arial" pitchFamily="34" charset="0"/>
                <a:cs typeface="Arial" pitchFamily="34" charset="0"/>
              </a:rPr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serif</a:t>
            </a:r>
            <a:r>
              <a:rPr lang="en-US" dirty="0">
                <a:latin typeface="Arial" pitchFamily="34" charset="0"/>
                <a:cs typeface="Arial" pitchFamily="34" charset="0"/>
              </a:rPr>
              <a:t>;"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dirty="0">
                <a:latin typeface="Arial" pitchFamily="34" charset="0"/>
                <a:cs typeface="Arial" pitchFamily="34" charset="0"/>
              </a:rPr>
              <a:t> This is test.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"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font-style: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italic;</a:t>
            </a:r>
            <a:r>
              <a:rPr lang="en-US" dirty="0">
                <a:latin typeface="Arial" pitchFamily="34" charset="0"/>
                <a:cs typeface="Arial" pitchFamily="34" charset="0"/>
              </a:rPr>
              <a:t>"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Testing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"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font-size: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20pt;</a:t>
            </a:r>
            <a:r>
              <a:rPr lang="en-US" dirty="0">
                <a:latin typeface="Arial" pitchFamily="34" charset="0"/>
                <a:cs typeface="Arial" pitchFamily="34" charset="0"/>
              </a:rPr>
              <a:t>"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Testing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"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font-weight: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bold;</a:t>
            </a:r>
            <a:r>
              <a:rPr lang="en-US" dirty="0">
                <a:latin typeface="Arial" pitchFamily="34" charset="0"/>
                <a:cs typeface="Arial" pitchFamily="34" charset="0"/>
              </a:rPr>
              <a:t>"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Testing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"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font-variant: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small-caps;</a:t>
            </a:r>
            <a:r>
              <a:rPr lang="en-US" dirty="0">
                <a:latin typeface="Arial" pitchFamily="34" charset="0"/>
                <a:cs typeface="Arial" pitchFamily="34" charset="0"/>
              </a:rPr>
              <a:t>"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This text will be rendered in small caps.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  <p:transition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CSS Text Formatting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458200" cy="56388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You can set following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text properties</a:t>
            </a:r>
            <a:r>
              <a:rPr lang="en-US" dirty="0">
                <a:latin typeface="Arial" pitchFamily="34" charset="0"/>
                <a:cs typeface="Arial" pitchFamily="34" charset="0"/>
              </a:rPr>
              <a:t> of an element: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color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set the color of a text.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letter-spacing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add or subtract space between the letters.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word-spacing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add or subtract space between the words.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text-indent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indent the text of a paragraph.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text-align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align the text of a document.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>
              <a:buFont typeface="Wingdings" pitchFamily="2" charset="2"/>
              <a:buChar char="§"/>
            </a:pPr>
            <a:endParaRPr lang="en-US" b="1" dirty="0"/>
          </a:p>
          <a:p>
            <a:pPr lvl="1">
              <a:buFont typeface="Wingdings" pitchFamily="2" charset="2"/>
              <a:buChar char="§"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lnSpc>
                <a:spcPct val="80000"/>
              </a:lnSpc>
            </a:pPr>
            <a:endParaRPr lang="en-US" dirty="0"/>
          </a:p>
        </p:txBody>
      </p:sp>
    </p:spTree>
  </p:cSld>
  <p:clrMapOvr>
    <a:masterClrMapping/>
  </p:clrMapOvr>
  <p:transition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text-decoration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underline,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overline</a:t>
            </a:r>
            <a:r>
              <a:rPr lang="en-US" dirty="0">
                <a:latin typeface="Arial" pitchFamily="34" charset="0"/>
                <a:cs typeface="Arial" pitchFamily="34" charset="0"/>
              </a:rPr>
              <a:t> and strikethrough text.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text-transform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capitalize text or convert text to uppercase or lowercase letters.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text-shadow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set the text shadow around a text.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white-space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control the flow and formatting of text.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>
              <a:buFont typeface="Wingdings" pitchFamily="2" charset="2"/>
              <a:buChar char="§"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 lvl="1">
              <a:buFont typeface="Wingdings" pitchFamily="2" charset="2"/>
              <a:buChar char="§"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254C-1AF3-4BE3-B637-7F43D751999D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ransition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Test Styles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838200"/>
            <a:ext cx="8382000" cy="53340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color: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red;</a:t>
            </a:r>
            <a:r>
              <a:rPr lang="en-US" dirty="0">
                <a:latin typeface="Arial" pitchFamily="34" charset="0"/>
                <a:cs typeface="Arial" pitchFamily="34" charset="0"/>
              </a:rPr>
              <a:t>”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Testing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letter-spacing: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5px;</a:t>
            </a:r>
            <a:r>
              <a:rPr lang="en-US" dirty="0">
                <a:latin typeface="Arial" pitchFamily="34" charset="0"/>
                <a:cs typeface="Arial" pitchFamily="34" charset="0"/>
              </a:rPr>
              <a:t>”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This text is having space between letters.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word-spacing: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5px;</a:t>
            </a:r>
            <a:r>
              <a:rPr lang="en-US" dirty="0">
                <a:latin typeface="Arial" pitchFamily="34" charset="0"/>
                <a:cs typeface="Arial" pitchFamily="34" charset="0"/>
              </a:rPr>
              <a:t>”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This text is having space between words.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text-indent: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1cm;</a:t>
            </a:r>
            <a:r>
              <a:rPr lang="en-US" dirty="0">
                <a:latin typeface="Arial" pitchFamily="34" charset="0"/>
                <a:cs typeface="Arial" pitchFamily="34" charset="0"/>
              </a:rPr>
              <a:t>”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This text will have first line indent by 1cm.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 and this line will remain at its actual position.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text-decoration: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underline;</a:t>
            </a:r>
            <a:r>
              <a:rPr lang="en-US" dirty="0">
                <a:latin typeface="Arial" pitchFamily="34" charset="0"/>
                <a:cs typeface="Arial" pitchFamily="34" charset="0"/>
              </a:rPr>
              <a:t>”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This will be underline.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dirty="0">
                <a:latin typeface="Arial" pitchFamily="34" charset="0"/>
                <a:cs typeface="Arial" pitchFamily="34" charset="0"/>
              </a:rPr>
              <a:t>none, underline,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overline</a:t>
            </a:r>
            <a:r>
              <a:rPr lang="en-US" dirty="0">
                <a:latin typeface="Arial" pitchFamily="34" charset="0"/>
                <a:cs typeface="Arial" pitchFamily="34" charset="0"/>
              </a:rPr>
              <a:t>, line-through, blink )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81C-964A-4A79-8A80-917816585508}" type="slidenum">
              <a:rPr lang="en-US"/>
              <a:pPr/>
              <a:t>18</a:t>
            </a:fld>
            <a:endParaRPr lang="en-US"/>
          </a:p>
        </p:txBody>
      </p:sp>
    </p:spTree>
  </p:cSld>
  <p:clrMapOvr>
    <a:masterClrMapping/>
  </p:clrMapOvr>
  <p:transition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text-decoration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838200"/>
            <a:ext cx="8382000" cy="53340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text-decoration: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underline;</a:t>
            </a:r>
            <a:r>
              <a:rPr lang="en-US" dirty="0">
                <a:latin typeface="Arial" pitchFamily="34" charset="0"/>
                <a:cs typeface="Arial" pitchFamily="34" charset="0"/>
              </a:rPr>
              <a:t>”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This will be underline.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Output: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u="sng" dirty="0">
                <a:latin typeface="Arial" pitchFamily="34" charset="0"/>
                <a:cs typeface="Arial" pitchFamily="34" charset="0"/>
              </a:rPr>
              <a:t>This will be underline.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Possible values: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none, underline,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overline</a:t>
            </a:r>
            <a:r>
              <a:rPr lang="en-US" dirty="0">
                <a:latin typeface="Arial" pitchFamily="34" charset="0"/>
                <a:cs typeface="Arial" pitchFamily="34" charset="0"/>
              </a:rPr>
              <a:t>, line-through, blink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81C-964A-4A79-8A80-917816585508}" type="slidenum">
              <a:rPr lang="en-US"/>
              <a:pPr/>
              <a:t>19</a:t>
            </a:fld>
            <a:endParaRPr lang="en-US"/>
          </a:p>
        </p:txBody>
      </p:sp>
    </p:spTree>
  </p:cSld>
  <p:clrMapOvr>
    <a:masterClrMapping/>
  </p:clrMapOvr>
  <p:transition>
    <p:randomBar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CSS background Properties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4582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You can set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background</a:t>
            </a:r>
            <a:r>
              <a:rPr lang="en-US" dirty="0">
                <a:latin typeface="Arial" pitchFamily="34" charset="0"/>
                <a:cs typeface="Arial" pitchFamily="34" charset="0"/>
              </a:rPr>
              <a:t> of various HTML elements: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background-color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set the background color of an element.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background-image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set the background image of an element.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background-repeat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control the repetition of an image in the background.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background-position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control the position of an image in the background.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background-attachment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control the scrolling of an image in the background.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B781C-964A-4A79-8A80-917816585508}" type="slidenum">
              <a:rPr lang="en-US"/>
              <a:pPr/>
              <a:t>21</a:t>
            </a:fld>
            <a:endParaRPr lang="en-US"/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background-color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8610600" cy="53340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background-color: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yellow;</a:t>
            </a:r>
            <a:r>
              <a:rPr lang="en-US" dirty="0">
                <a:latin typeface="Arial" pitchFamily="34" charset="0"/>
                <a:cs typeface="Arial" pitchFamily="34" charset="0"/>
              </a:rPr>
              <a:t>”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This text has a yellow background.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Output: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&lt;table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background-</a:t>
            </a:r>
            <a:r>
              <a:rPr lang="en-US" dirty="0" err="1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image: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url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(images/css.gif); </a:t>
            </a:r>
          </a:p>
          <a:p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background-repeat: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no-repeat; </a:t>
            </a:r>
          </a:p>
          <a:p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background-size: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200px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200px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; </a:t>
            </a:r>
          </a:p>
          <a:p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background-position: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100px 200px;</a:t>
            </a:r>
          </a:p>
          <a:p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background-attachment: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fixed;</a:t>
            </a:r>
            <a:r>
              <a:rPr lang="en-US" dirty="0">
                <a:latin typeface="Arial" pitchFamily="34" charset="0"/>
                <a:cs typeface="Arial" pitchFamily="34" charset="0"/>
              </a:rPr>
              <a:t>” 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 Fixed or Scroll</a:t>
            </a: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Possible values for Repeat: </a:t>
            </a:r>
            <a:r>
              <a:rPr lang="en-US" dirty="0">
                <a:latin typeface="Arial" pitchFamily="34" charset="0"/>
                <a:cs typeface="Arial" pitchFamily="34" charset="0"/>
              </a:rPr>
              <a:t>repeat, 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repeat-y, repeat-x, no-repeat</a:t>
            </a: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67400" y="4548184"/>
            <a:ext cx="3124200" cy="2057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5943600" y="4648200"/>
            <a:ext cx="1219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 dirty="0"/>
              <a:t>left </a:t>
            </a:r>
          </a:p>
          <a:p>
            <a:pPr eaLnBrk="1" hangingPunct="1">
              <a:spcBef>
                <a:spcPct val="50000"/>
              </a:spcBef>
            </a:pPr>
            <a:r>
              <a:rPr lang="en-US" sz="1600" b="1" dirty="0"/>
              <a:t>top</a:t>
            </a: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7086600" y="4625975"/>
            <a:ext cx="1219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 dirty="0"/>
              <a:t>center</a:t>
            </a:r>
          </a:p>
          <a:p>
            <a:pPr eaLnBrk="1" hangingPunct="1">
              <a:spcBef>
                <a:spcPct val="50000"/>
              </a:spcBef>
            </a:pPr>
            <a:r>
              <a:rPr lang="en-US" sz="1600" b="1" dirty="0"/>
              <a:t>top</a:t>
            </a: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5943600" y="5768975"/>
            <a:ext cx="1219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 dirty="0"/>
              <a:t>left </a:t>
            </a:r>
          </a:p>
          <a:p>
            <a:pPr eaLnBrk="1" hangingPunct="1">
              <a:spcBef>
                <a:spcPct val="50000"/>
              </a:spcBef>
            </a:pPr>
            <a:r>
              <a:rPr lang="en-US" sz="1600" b="1" dirty="0"/>
              <a:t>bottom</a:t>
            </a: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7010400" y="5768975"/>
            <a:ext cx="1219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 dirty="0"/>
              <a:t>center</a:t>
            </a:r>
          </a:p>
          <a:p>
            <a:pPr eaLnBrk="1" hangingPunct="1">
              <a:spcBef>
                <a:spcPct val="50000"/>
              </a:spcBef>
            </a:pPr>
            <a:r>
              <a:rPr lang="en-US" sz="1600" b="1" dirty="0"/>
              <a:t>bottom</a:t>
            </a:r>
          </a:p>
        </p:txBody>
      </p: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8077200" y="5768975"/>
            <a:ext cx="1219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 dirty="0"/>
              <a:t>right</a:t>
            </a:r>
          </a:p>
          <a:p>
            <a:pPr eaLnBrk="1" hangingPunct="1">
              <a:spcBef>
                <a:spcPct val="50000"/>
              </a:spcBef>
            </a:pPr>
            <a:r>
              <a:rPr lang="en-US" sz="1600" b="1" dirty="0"/>
              <a:t>bottom</a:t>
            </a:r>
          </a:p>
        </p:txBody>
      </p:sp>
    </p:spTree>
  </p:cSld>
  <p:clrMapOvr>
    <a:masterClrMapping/>
  </p:clrMapOvr>
  <p:transition>
    <p:randomBar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CSS Borders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458200" cy="563880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You can set following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border properties</a:t>
            </a:r>
            <a:r>
              <a:rPr lang="en-US" dirty="0">
                <a:latin typeface="Arial" pitchFamily="34" charset="0"/>
                <a:cs typeface="Arial" pitchFamily="34" charset="0"/>
              </a:rPr>
              <a:t> of an element: 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border-color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set the color of the border.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border-style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set the style of border.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border-width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set . 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The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border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property is used to set the width, style and color of the border in one declaration. </a:t>
            </a:r>
          </a:p>
          <a:p>
            <a:pPr lvl="1">
              <a:buFont typeface="Wingdings" pitchFamily="2" charset="2"/>
              <a:buChar char="§"/>
            </a:pPr>
            <a:endParaRPr lang="en-US" dirty="0"/>
          </a:p>
          <a:p>
            <a:pPr lvl="1"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lnSpc>
                <a:spcPct val="80000"/>
              </a:lnSpc>
            </a:pPr>
            <a:endParaRPr lang="en-US" dirty="0"/>
          </a:p>
        </p:txBody>
      </p:sp>
    </p:spTree>
  </p:cSld>
  <p:clrMapOvr>
    <a:masterClrMapping/>
  </p:clrMapOvr>
  <p:transition>
    <p:randomBar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border-style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458200" cy="5638800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</a:t>
            </a:r>
            <a:r>
              <a:rPr lang="en-US" dirty="0">
                <a:latin typeface="Arial" pitchFamily="34" charset="0"/>
                <a:cs typeface="Arial" pitchFamily="34" charset="0"/>
              </a:rPr>
              <a:t>=“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border-style:</a:t>
            </a:r>
            <a:r>
              <a:rPr lang="en-US" dirty="0">
                <a:latin typeface="Arial" pitchFamily="34" charset="0"/>
                <a:cs typeface="Arial" pitchFamily="34" charset="0"/>
              </a:rPr>
              <a:t> none”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dirty="0">
                <a:latin typeface="Arial" pitchFamily="34" charset="0"/>
                <a:cs typeface="Arial" pitchFamily="34" charset="0"/>
              </a:rPr>
              <a:t>This is a border with none width.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</a:t>
            </a:r>
            <a:r>
              <a:rPr lang="en-US" dirty="0">
                <a:latin typeface="Arial" pitchFamily="34" charset="0"/>
                <a:cs typeface="Arial" pitchFamily="34" charset="0"/>
              </a:rPr>
              <a:t>=“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border-style: </a:t>
            </a:r>
            <a:r>
              <a:rPr lang="en-US" dirty="0">
                <a:latin typeface="Arial" pitchFamily="34" charset="0"/>
                <a:cs typeface="Arial" pitchFamily="34" charset="0"/>
              </a:rPr>
              <a:t>solid”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dirty="0">
                <a:latin typeface="Arial" pitchFamily="34" charset="0"/>
                <a:cs typeface="Arial" pitchFamily="34" charset="0"/>
              </a:rPr>
              <a:t>This is a solid border.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</a:t>
            </a:r>
            <a:r>
              <a:rPr lang="en-US" dirty="0">
                <a:latin typeface="Arial" pitchFamily="34" charset="0"/>
                <a:cs typeface="Arial" pitchFamily="34" charset="0"/>
              </a:rPr>
              <a:t>=“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border-style:</a:t>
            </a:r>
            <a:r>
              <a:rPr lang="en-US" dirty="0">
                <a:latin typeface="Arial" pitchFamily="34" charset="0"/>
                <a:cs typeface="Arial" pitchFamily="34" charset="0"/>
              </a:rPr>
              <a:t> dashed”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dirty="0">
                <a:latin typeface="Arial" pitchFamily="34" charset="0"/>
                <a:cs typeface="Arial" pitchFamily="34" charset="0"/>
              </a:rPr>
              <a:t> This is a dashed border.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	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&lt;style&gt;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p.example1</a:t>
            </a:r>
            <a:r>
              <a:rPr lang="en-US" dirty="0">
                <a:latin typeface="Arial" pitchFamily="34" charset="0"/>
                <a:cs typeface="Arial" pitchFamily="34" charset="0"/>
              </a:rPr>
              <a:t> {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	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border-bottom-style:</a:t>
            </a:r>
            <a:r>
              <a:rPr lang="en-US" dirty="0">
                <a:latin typeface="Arial" pitchFamily="34" charset="0"/>
                <a:cs typeface="Arial" pitchFamily="34" charset="0"/>
              </a:rPr>
              <a:t> #009900;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	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border-top-style:</a:t>
            </a:r>
            <a:r>
              <a:rPr lang="en-US" dirty="0">
                <a:latin typeface="Arial" pitchFamily="34" charset="0"/>
                <a:cs typeface="Arial" pitchFamily="34" charset="0"/>
              </a:rPr>
              <a:t> #FF0000;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	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border-left-style:</a:t>
            </a:r>
            <a:r>
              <a:rPr lang="en-US" dirty="0">
                <a:latin typeface="Arial" pitchFamily="34" charset="0"/>
                <a:cs typeface="Arial" pitchFamily="34" charset="0"/>
              </a:rPr>
              <a:t> #330000;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	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border-right-style:</a:t>
            </a:r>
            <a:r>
              <a:rPr lang="en-US" dirty="0">
                <a:latin typeface="Arial" pitchFamily="34" charset="0"/>
                <a:cs typeface="Arial" pitchFamily="34" charset="0"/>
              </a:rPr>
              <a:t> #0000CC;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}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p.example1</a:t>
            </a:r>
            <a:r>
              <a:rPr lang="en-US" dirty="0">
                <a:latin typeface="Arial" pitchFamily="34" charset="0"/>
                <a:cs typeface="Arial" pitchFamily="34" charset="0"/>
              </a:rPr>
              <a:t> {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	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border-bottom-color:</a:t>
            </a:r>
            <a:r>
              <a:rPr lang="en-US" dirty="0">
                <a:latin typeface="Arial" pitchFamily="34" charset="0"/>
                <a:cs typeface="Arial" pitchFamily="34" charset="0"/>
              </a:rPr>
              <a:t> #009900;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	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border-top-color:</a:t>
            </a:r>
            <a:r>
              <a:rPr lang="en-US" dirty="0">
                <a:latin typeface="Arial" pitchFamily="34" charset="0"/>
                <a:cs typeface="Arial" pitchFamily="34" charset="0"/>
              </a:rPr>
              <a:t> #FF0000;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	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border-left-width:</a:t>
            </a:r>
            <a:r>
              <a:rPr lang="en-US" dirty="0">
                <a:latin typeface="Arial" pitchFamily="34" charset="0"/>
                <a:cs typeface="Arial" pitchFamily="34" charset="0"/>
              </a:rPr>
              <a:t> 2px;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	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border-right-width:</a:t>
            </a:r>
            <a:r>
              <a:rPr lang="en-US" dirty="0">
                <a:latin typeface="Arial" pitchFamily="34" charset="0"/>
                <a:cs typeface="Arial" pitchFamily="34" charset="0"/>
              </a:rPr>
              <a:t> 2px;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}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&lt;/style&gt;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border:</a:t>
            </a:r>
            <a:r>
              <a:rPr lang="en-US" dirty="0">
                <a:latin typeface="Arial" pitchFamily="34" charset="0"/>
                <a:cs typeface="Arial" pitchFamily="34" charset="0"/>
              </a:rPr>
              <a:t> 4px solid red;”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dirty="0">
                <a:latin typeface="Arial" pitchFamily="34" charset="0"/>
                <a:cs typeface="Arial" pitchFamily="34" charset="0"/>
              </a:rPr>
              <a:t>test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&lt;/p&gt;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margin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458200" cy="5638800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&lt;div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margin-top:</a:t>
            </a:r>
            <a:r>
              <a:rPr lang="en-US" dirty="0">
                <a:latin typeface="Arial" pitchFamily="34" charset="0"/>
                <a:cs typeface="Arial" pitchFamily="34" charset="0"/>
              </a:rPr>
              <a:t> 10px;”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dirty="0">
                <a:latin typeface="Arial" pitchFamily="34" charset="0"/>
                <a:cs typeface="Arial" pitchFamily="34" charset="0"/>
              </a:rPr>
              <a:t> Web.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&lt;/div&gt;</a:t>
            </a: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&lt;div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margin-bottom:</a:t>
            </a:r>
            <a:r>
              <a:rPr lang="en-US" dirty="0">
                <a:latin typeface="Arial" pitchFamily="34" charset="0"/>
                <a:cs typeface="Arial" pitchFamily="34" charset="0"/>
              </a:rPr>
              <a:t> 10px;”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&lt;div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margin-left:</a:t>
            </a:r>
            <a:r>
              <a:rPr lang="en-US" dirty="0">
                <a:latin typeface="Arial" pitchFamily="34" charset="0"/>
                <a:cs typeface="Arial" pitchFamily="34" charset="0"/>
              </a:rPr>
              <a:t> 10%;”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&lt;div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margin-right:</a:t>
            </a:r>
            <a:r>
              <a:rPr lang="en-US" dirty="0">
                <a:latin typeface="Arial" pitchFamily="34" charset="0"/>
                <a:cs typeface="Arial" pitchFamily="34" charset="0"/>
              </a:rPr>
              <a:t> 10%;”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&lt;style&gt;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dirty="0">
                <a:latin typeface="Arial" pitchFamily="34" charset="0"/>
                <a:cs typeface="Arial" pitchFamily="34" charset="0"/>
              </a:rPr>
              <a:t> {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margin: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15px;</a:t>
            </a:r>
            <a:r>
              <a:rPr lang="en-US" dirty="0">
                <a:latin typeface="Arial" pitchFamily="34" charset="0"/>
                <a:cs typeface="Arial" pitchFamily="34" charset="0"/>
              </a:rPr>
              <a:t> }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all four margins will be 15px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dirty="0">
                <a:latin typeface="Arial" pitchFamily="34" charset="0"/>
                <a:cs typeface="Arial" pitchFamily="34" charset="0"/>
              </a:rPr>
              <a:t> {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margin: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10px 5px;</a:t>
            </a:r>
            <a:r>
              <a:rPr lang="en-US" dirty="0">
                <a:latin typeface="Arial" pitchFamily="34" charset="0"/>
                <a:cs typeface="Arial" pitchFamily="34" charset="0"/>
              </a:rPr>
              <a:t> }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top and bottom margin will be 10px, left and right 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   will be 2% of the total width of doc.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dirty="0">
                <a:latin typeface="Arial" pitchFamily="34" charset="0"/>
                <a:cs typeface="Arial" pitchFamily="34" charset="0"/>
              </a:rPr>
              <a:t> {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margin: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10px 8px 20px 15px;</a:t>
            </a:r>
            <a:r>
              <a:rPr lang="en-US" dirty="0">
                <a:latin typeface="Arial" pitchFamily="34" charset="0"/>
                <a:cs typeface="Arial" pitchFamily="34" charset="0"/>
              </a:rPr>
              <a:t> }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top margin will be 10px, right margin will be 2%, bottom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    margin will be -10px, left margin will be set by the browser</a:t>
            </a:r>
          </a:p>
          <a:p>
            <a:pPr>
              <a:buNone/>
            </a:pPr>
            <a:r>
              <a:rPr lang="en-US" b="1" dirty="0">
                <a:latin typeface="Arial" pitchFamily="34" charset="0"/>
                <a:cs typeface="Arial" pitchFamily="34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&lt;/style&gt;</a:t>
            </a: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Padding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458200" cy="5638800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&lt;div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padding-top:</a:t>
            </a:r>
            <a:r>
              <a:rPr lang="en-US" dirty="0">
                <a:latin typeface="Arial" pitchFamily="34" charset="0"/>
                <a:cs typeface="Arial" pitchFamily="34" charset="0"/>
              </a:rPr>
              <a:t> 10px;”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  <a:r>
              <a:rPr lang="en-US" dirty="0">
                <a:latin typeface="Arial" pitchFamily="34" charset="0"/>
                <a:cs typeface="Arial" pitchFamily="34" charset="0"/>
              </a:rPr>
              <a:t> Web.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&lt;/div&gt;</a:t>
            </a: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&lt;div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padding-bottom:</a:t>
            </a:r>
            <a:r>
              <a:rPr lang="en-US" dirty="0">
                <a:latin typeface="Arial" pitchFamily="34" charset="0"/>
                <a:cs typeface="Arial" pitchFamily="34" charset="0"/>
              </a:rPr>
              <a:t> 10px;”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&lt;div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padding-left:</a:t>
            </a:r>
            <a:r>
              <a:rPr lang="en-US" dirty="0">
                <a:latin typeface="Arial" pitchFamily="34" charset="0"/>
                <a:cs typeface="Arial" pitchFamily="34" charset="0"/>
              </a:rPr>
              <a:t> 10%;”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&lt;div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style=</a:t>
            </a:r>
            <a:r>
              <a:rPr lang="en-US" dirty="0">
                <a:latin typeface="Arial" pitchFamily="34" charset="0"/>
                <a:cs typeface="Arial" pitchFamily="34" charset="0"/>
              </a:rPr>
              <a:t>“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padding-right:</a:t>
            </a:r>
            <a:r>
              <a:rPr lang="en-US" dirty="0">
                <a:latin typeface="Arial" pitchFamily="34" charset="0"/>
                <a:cs typeface="Arial" pitchFamily="34" charset="0"/>
              </a:rPr>
              <a:t> 10%;”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&gt;</a:t>
            </a: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&lt;style&gt;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dirty="0">
                <a:latin typeface="Arial" pitchFamily="34" charset="0"/>
                <a:cs typeface="Arial" pitchFamily="34" charset="0"/>
              </a:rPr>
              <a:t> {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padding: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15px;</a:t>
            </a:r>
            <a:r>
              <a:rPr lang="en-US" dirty="0">
                <a:latin typeface="Arial" pitchFamily="34" charset="0"/>
                <a:cs typeface="Arial" pitchFamily="34" charset="0"/>
              </a:rPr>
              <a:t> }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all four margins will be 15px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dirty="0">
                <a:latin typeface="Arial" pitchFamily="34" charset="0"/>
                <a:cs typeface="Arial" pitchFamily="34" charset="0"/>
              </a:rPr>
              <a:t> {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padding: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10px 5px;</a:t>
            </a:r>
            <a:r>
              <a:rPr lang="en-US" dirty="0">
                <a:latin typeface="Arial" pitchFamily="34" charset="0"/>
                <a:cs typeface="Arial" pitchFamily="34" charset="0"/>
              </a:rPr>
              <a:t> }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top and bottom.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dirty="0">
                <a:latin typeface="Arial" pitchFamily="34" charset="0"/>
                <a:cs typeface="Arial" pitchFamily="34" charset="0"/>
              </a:rPr>
              <a:t> {</a:t>
            </a:r>
            <a:r>
              <a:rPr lang="en-US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padding: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10px 8px 20px 15px;</a:t>
            </a:r>
            <a:r>
              <a:rPr lang="en-US" dirty="0">
                <a:latin typeface="Arial" pitchFamily="34" charset="0"/>
                <a:cs typeface="Arial" pitchFamily="34" charset="0"/>
              </a:rPr>
              <a:t> }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	top margin, right margin, bottom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    margin, </a:t>
            </a:r>
            <a:r>
              <a:rPr lang="en-US">
                <a:latin typeface="Arial" pitchFamily="34" charset="0"/>
                <a:cs typeface="Arial" pitchFamily="34" charset="0"/>
              </a:rPr>
              <a:t>left margin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b="1" dirty="0">
                <a:latin typeface="Arial" pitchFamily="34" charset="0"/>
                <a:cs typeface="Arial" pitchFamily="34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&lt;/style&gt;</a:t>
            </a: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randomBar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9890"/>
            <a:ext cx="8229600" cy="639762"/>
          </a:xfrm>
        </p:spPr>
        <p:txBody>
          <a:bodyPr>
            <a:noAutofit/>
          </a:bodyPr>
          <a:lstStyle/>
          <a:p>
            <a:pPr eaLnBrk="1" hangingPunct="1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mic Sans MS" pitchFamily="66" charset="0"/>
              </a:rPr>
              <a:t>Display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458200" cy="5638800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display: block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 block-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levery</a:t>
            </a:r>
            <a:r>
              <a:rPr lang="en-US" dirty="0">
                <a:latin typeface="Arial" pitchFamily="34" charset="0"/>
                <a:cs typeface="Arial" pitchFamily="34" charset="0"/>
              </a:rPr>
              <a:t> element always starts on a new line and occupies the full available width of its parent container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display: inline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An inline-level element does not start on a new line and only takes up as much width as its content requires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display: none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This completely removes an element from the document flow, making it invisible and taking up no space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display: flex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This turns an element into a flex container, allowing its direct children (flex items) to be laid out and aligned in a flexible and responsive way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justify-content property is used to align the flex items when they do not use all available space on the main-axis (horizontally).	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align-items property is used to align the flex items when they do not use all available space on the cross-axis (vertically).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030803"/>
      </p:ext>
    </p:extLst>
  </p:cSld>
  <p:clrMapOvr>
    <a:masterClrMapping/>
  </p:clrMapOvr>
  <p:transition>
    <p:randomBar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D8082-A0C8-4A28-B36A-73CF3644A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A67DF-D27F-489D-A19A-2F396B828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b="1" dirty="0"/>
              <a:t>Static : This is the default value for all HTML elements. A static element is positioned according to the normal flow of the document. The top, right, bottom, and left properties have no effect</a:t>
            </a:r>
          </a:p>
          <a:p>
            <a:endParaRPr lang="en-US" sz="2400" b="1" dirty="0"/>
          </a:p>
          <a:p>
            <a:r>
              <a:rPr lang="en-US" sz="2400" b="1" dirty="0"/>
              <a:t>Relative : An element with position: relative is positioned relative to its normal position in the document flow. The top, right, bottom, and left properties will "nudge" the element away from its original spot.</a:t>
            </a:r>
          </a:p>
          <a:p>
            <a:endParaRPr lang="en-US" sz="2400" b="1" dirty="0"/>
          </a:p>
          <a:p>
            <a:r>
              <a:rPr lang="en-US" sz="2400" b="1" dirty="0"/>
              <a:t>Absolute : It is positioned relative to its closest positioned ancestor (i.e., an ancestor with a position other than static) If there is no positioned ancestor, it is positioned relative to the initial containing block</a:t>
            </a:r>
          </a:p>
          <a:p>
            <a:endParaRPr lang="en-US" sz="2400" b="1" dirty="0"/>
          </a:p>
          <a:p>
            <a:r>
              <a:rPr lang="en-US" sz="2400" b="1" dirty="0"/>
              <a:t>Fixed : An element with position: fixed is positioned relative to the browser's viewport</a:t>
            </a:r>
          </a:p>
          <a:p>
            <a:endParaRPr lang="en-US" sz="2400" b="1" dirty="0"/>
          </a:p>
          <a:p>
            <a:r>
              <a:rPr lang="en-US" sz="2400" b="1" dirty="0"/>
              <a:t>Sticky : It behaves like a relative element until a certain scroll position is reached.</a:t>
            </a:r>
          </a:p>
          <a:p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F7FED-765C-40B2-925C-CB424937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E003C-3159-44DC-B733-0D2886C9775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918454"/>
      </p:ext>
    </p:extLst>
  </p:cSld>
  <p:clrMapOvr>
    <a:masterClrMapping/>
  </p:clrMapOvr>
  <p:transition>
    <p:randomBar dir="vert"/>
  </p:transition>
</p:sld>
</file>

<file path=ppt/theme/theme1.xml><?xml version="1.0" encoding="utf-8"?>
<a:theme xmlns:a="http://schemas.openxmlformats.org/drawingml/2006/main" name="Introduction to Computing – CS101  Power Point Slides Lecture  15">
  <a:themeElements>
    <a:clrScheme name="Blank Presentation 2">
      <a:dk1>
        <a:srgbClr val="000000"/>
      </a:dk1>
      <a:lt1>
        <a:srgbClr val="FFFFFF"/>
      </a:lt1>
      <a:dk2>
        <a:srgbClr val="0000FF"/>
      </a:dk2>
      <a:lt2>
        <a:srgbClr val="FFFF00"/>
      </a:lt2>
      <a:accent1>
        <a:srgbClr val="FF9900"/>
      </a:accent1>
      <a:accent2>
        <a:srgbClr val="00FFFF"/>
      </a:accent2>
      <a:accent3>
        <a:srgbClr val="AAA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1193</TotalTime>
  <Words>2407</Words>
  <Application>Microsoft Office PowerPoint</Application>
  <PresentationFormat>On-screen Show (4:3)</PresentationFormat>
  <Paragraphs>356</Paragraphs>
  <Slides>27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Comic Sans MS</vt:lpstr>
      <vt:lpstr>Times New Roman</vt:lpstr>
      <vt:lpstr>Wingdings</vt:lpstr>
      <vt:lpstr>Introduction to Computing – CS101  Power Point Slides Lecture  15</vt:lpstr>
      <vt:lpstr>Office Theme</vt:lpstr>
      <vt:lpstr>CS428 Web Engineering Lecture 05 Introduction Font and Text Properties </vt:lpstr>
      <vt:lpstr>CSS Syntax</vt:lpstr>
      <vt:lpstr>Inline CSS</vt:lpstr>
      <vt:lpstr>SELECTORS</vt:lpstr>
      <vt:lpstr>Example Class Selector</vt:lpstr>
      <vt:lpstr>Descendant Selector</vt:lpstr>
      <vt:lpstr>Grouping Selector</vt:lpstr>
      <vt:lpstr>PSEUDO SELECTOR</vt:lpstr>
      <vt:lpstr>CSS Box Model </vt:lpstr>
      <vt:lpstr>Block-Level Elements</vt:lpstr>
      <vt:lpstr>List of Block-Level Elements</vt:lpstr>
      <vt:lpstr>Inline Elements</vt:lpstr>
      <vt:lpstr>The &lt;span&gt; &amp; &lt;div&gt; Tags</vt:lpstr>
      <vt:lpstr>CSS Font Properties</vt:lpstr>
      <vt:lpstr>Font Styles</vt:lpstr>
      <vt:lpstr>CSS Text Formatting</vt:lpstr>
      <vt:lpstr>PowerPoint Presentation</vt:lpstr>
      <vt:lpstr>Test Styles</vt:lpstr>
      <vt:lpstr>text-decoration</vt:lpstr>
      <vt:lpstr>CSS background Properties</vt:lpstr>
      <vt:lpstr>background-color</vt:lpstr>
      <vt:lpstr>CSS Borders</vt:lpstr>
      <vt:lpstr>border-style</vt:lpstr>
      <vt:lpstr>margin</vt:lpstr>
      <vt:lpstr>Padding</vt:lpstr>
      <vt:lpstr>Display</vt:lpstr>
      <vt:lpstr>Position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 Introduction to Computing Lecture 15 More on Interactive Forms  (Web Development Lecture 5)</dc:title>
  <dc:creator>Yasir</dc:creator>
  <cp:lastModifiedBy>Ihtisham ul haq</cp:lastModifiedBy>
  <cp:revision>160</cp:revision>
  <dcterms:created xsi:type="dcterms:W3CDTF">2014-05-09T14:15:30Z</dcterms:created>
  <dcterms:modified xsi:type="dcterms:W3CDTF">2025-10-13T03:06:58Z</dcterms:modified>
</cp:coreProperties>
</file>