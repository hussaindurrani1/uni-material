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  <p:sldMasterId id="2147483672" r:id="rId2"/>
  </p:sldMasterIdLst>
  <p:notesMasterIdLst>
    <p:notesMasterId r:id="rId19"/>
  </p:notesMasterIdLst>
  <p:handoutMasterIdLst>
    <p:handoutMasterId r:id="rId20"/>
  </p:handoutMasterIdLst>
  <p:sldIdLst>
    <p:sldId id="420" r:id="rId3"/>
    <p:sldId id="426" r:id="rId4"/>
    <p:sldId id="428" r:id="rId5"/>
    <p:sldId id="429" r:id="rId6"/>
    <p:sldId id="430" r:id="rId7"/>
    <p:sldId id="432" r:id="rId8"/>
    <p:sldId id="453" r:id="rId9"/>
    <p:sldId id="452" r:id="rId10"/>
    <p:sldId id="433" r:id="rId11"/>
    <p:sldId id="434" r:id="rId12"/>
    <p:sldId id="435" r:id="rId13"/>
    <p:sldId id="436" r:id="rId14"/>
    <p:sldId id="454" r:id="rId15"/>
    <p:sldId id="455" r:id="rId16"/>
    <p:sldId id="440" r:id="rId17"/>
    <p:sldId id="451" r:id="rId1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bg2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bg2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bg2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bg2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bg2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bg2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bg2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bg2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bg2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D60093"/>
    <a:srgbClr val="00FF00"/>
    <a:srgbClr val="FFCC00"/>
    <a:srgbClr val="CC3300"/>
    <a:srgbClr val="6600CC"/>
    <a:srgbClr val="333333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39" autoAdjust="0"/>
    <p:restoredTop sz="94660"/>
  </p:normalViewPr>
  <p:slideViewPr>
    <p:cSldViewPr>
      <p:cViewPr varScale="1">
        <p:scale>
          <a:sx n="75" d="100"/>
          <a:sy n="75" d="100"/>
        </p:scale>
        <p:origin x="708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30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874CBAB-A7CC-4ABB-B357-28C27D02C67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881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A3FE03-8F40-42ED-A27A-3BD66651DE8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4770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03FD08-7D85-48B4-8121-7C0C5243158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BE003C-3159-44DC-B733-0D2886C9775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167A5B-7B3D-49E6-A46B-668169EEA7A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AD4DD4-28B8-43CD-954E-BEEA408FEC4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B39C75-45DE-4A25-A1C1-9D9A81E2320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1B8869-B845-4F91-8462-12A97DE80E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D37C7B-080A-41A1-9E6D-89BED4C1E66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DDA942-1C89-4C24-9457-D302222C89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9F2EEF-236D-441E-852A-5052C9F2CB8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1BAFF1-BA68-42C4-804A-E29B5D05AFD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CAAD51-EDB4-40A8-B823-8D035B00B6E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3FD08-7D85-48B4-8121-7C0C524315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003C-3159-44DC-B733-0D2886C977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67A5B-7B3D-49E6-A46B-668169EEA7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4DD4-28B8-43CD-954E-BEEA408FEC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9C75-45DE-4A25-A1C1-9D9A81E232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B8869-B845-4F91-8462-12A97DE80E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37C7B-080A-41A1-9E6D-89BED4C1E6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DA942-1C89-4C24-9457-D302222C89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F2EEF-236D-441E-852A-5052C9F2C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BAFF1-BA68-42C4-804A-E29B5D05AF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AAD51-EDB4-40A8-B823-8D035B00B6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280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4AAE0718-600E-412D-BFF0-98B93DCD7A49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1031" name="Picture 7" descr="vu logo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0972800" y="6248400"/>
            <a:ext cx="1219200" cy="465138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randomBar dir="vert"/>
  </p:transition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E0718-600E-412D-BFF0-98B93DCD7A4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randomBar dir="vert"/>
  </p:transition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266700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sz="14200" b="1" dirty="0"/>
              <a:t/>
            </a:r>
            <a:br>
              <a:rPr lang="en-US" sz="14200" b="1" dirty="0"/>
            </a:br>
            <a:r>
              <a:rPr lang="en-US" sz="4200" dirty="0">
                <a:latin typeface="Calibri" pitchFamily="34" charset="0"/>
              </a:rPr>
              <a:t>Responsive Design</a:t>
            </a:r>
            <a:br>
              <a:rPr lang="en-US" sz="4200" dirty="0">
                <a:latin typeface="Calibri" pitchFamily="34" charset="0"/>
              </a:rPr>
            </a:br>
            <a:r>
              <a:rPr lang="en-US" sz="4200" dirty="0">
                <a:latin typeface="Calibri" pitchFamily="34" charset="0"/>
              </a:rPr>
              <a:t>and</a:t>
            </a:r>
            <a:br>
              <a:rPr lang="en-US" sz="4200" dirty="0">
                <a:latin typeface="Calibri" pitchFamily="34" charset="0"/>
              </a:rPr>
            </a:br>
            <a:r>
              <a:rPr lang="en-US" sz="4200" dirty="0">
                <a:latin typeface="Calibri" pitchFamily="34" charset="0"/>
              </a:rPr>
              <a:t>Introduction to Bootstrap</a:t>
            </a:r>
            <a:endParaRPr lang="en-US" sz="42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DE52-AFB4-4E55-91D7-B40C59B9CACC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8" name="Picture 4" descr="Cov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ransition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4" name="Picture 4" descr="Cov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ransition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2" name="Picture 4" descr="Cov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ransition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40" name="Picture 4" descr="Cov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ransition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6" name="Picture 4" descr="Cov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ransition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37C7B-080A-41A1-9E6D-89BED4C1E66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981200" y="304801"/>
            <a:ext cx="83058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chemeClr val="accent1"/>
                </a:solidFill>
              </a:rPr>
              <a:t>Units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n-US" sz="2000" b="1" dirty="0" smtClean="0">
              <a:solidFill>
                <a:schemeClr val="accent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accent1"/>
                </a:solidFill>
              </a:rPr>
              <a:t>px</a:t>
            </a:r>
            <a:r>
              <a:rPr lang="en-US" sz="2000" b="1" dirty="0">
                <a:solidFill>
                  <a:schemeClr val="accent1"/>
                </a:solidFill>
              </a:rPr>
              <a:t>	Pixels	Most common; 1 </a:t>
            </a:r>
            <a:r>
              <a:rPr lang="en-US" sz="2000" b="1" dirty="0" err="1">
                <a:solidFill>
                  <a:schemeClr val="accent1"/>
                </a:solidFill>
              </a:rPr>
              <a:t>px</a:t>
            </a:r>
            <a:r>
              <a:rPr lang="en-US" sz="2000" b="1" dirty="0">
                <a:solidFill>
                  <a:schemeClr val="accent1"/>
                </a:solidFill>
              </a:rPr>
              <a:t> = one screen pixel (</a:t>
            </a:r>
            <a:r>
              <a:rPr lang="en-US" sz="2000" b="1" dirty="0" err="1">
                <a:solidFill>
                  <a:schemeClr val="accent1"/>
                </a:solidFill>
              </a:rPr>
              <a:t>approx</a:t>
            </a:r>
            <a:r>
              <a:rPr lang="en-US" sz="2000" b="1" dirty="0">
                <a:solidFill>
                  <a:schemeClr val="accent1"/>
                </a:solidFill>
              </a:rPr>
              <a:t>)	width: 100px;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/>
                </a:solidFill>
              </a:rPr>
              <a:t>cm	Centimeters	1 cm = 37.8 </a:t>
            </a:r>
            <a:r>
              <a:rPr lang="en-US" sz="2000" b="1" dirty="0" err="1">
                <a:solidFill>
                  <a:schemeClr val="accent1"/>
                </a:solidFill>
              </a:rPr>
              <a:t>px</a:t>
            </a:r>
            <a:r>
              <a:rPr lang="en-US" sz="2000" b="1" dirty="0">
                <a:solidFill>
                  <a:schemeClr val="accent1"/>
                </a:solidFill>
              </a:rPr>
              <a:t>	width: 5cm;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/>
                </a:solidFill>
              </a:rPr>
              <a:t>mm	Millimeters	1 mm = 1/10 of a cm	margin: 10mm;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/>
                </a:solidFill>
              </a:rPr>
              <a:t>in	Inches	1 in = 2.54 cm = 96 </a:t>
            </a:r>
            <a:r>
              <a:rPr lang="en-US" sz="2000" b="1" dirty="0" err="1">
                <a:solidFill>
                  <a:schemeClr val="accent1"/>
                </a:solidFill>
              </a:rPr>
              <a:t>px</a:t>
            </a:r>
            <a:r>
              <a:rPr lang="en-US" sz="2000" b="1" dirty="0">
                <a:solidFill>
                  <a:schemeClr val="accent1"/>
                </a:solidFill>
              </a:rPr>
              <a:t>	height: 2in;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accent1"/>
                </a:solidFill>
              </a:rPr>
              <a:t>pt</a:t>
            </a:r>
            <a:r>
              <a:rPr lang="en-US" sz="2000" b="1" dirty="0">
                <a:solidFill>
                  <a:schemeClr val="accent1"/>
                </a:solidFill>
              </a:rPr>
              <a:t>	Points	1 </a:t>
            </a:r>
            <a:r>
              <a:rPr lang="en-US" sz="2000" b="1" dirty="0" err="1">
                <a:solidFill>
                  <a:schemeClr val="accent1"/>
                </a:solidFill>
              </a:rPr>
              <a:t>pt</a:t>
            </a:r>
            <a:r>
              <a:rPr lang="en-US" sz="2000" b="1" dirty="0">
                <a:solidFill>
                  <a:schemeClr val="accent1"/>
                </a:solidFill>
              </a:rPr>
              <a:t> = 1/72 inch	</a:t>
            </a:r>
            <a:r>
              <a:rPr lang="en-US" sz="2000" b="1" dirty="0" smtClean="0">
                <a:solidFill>
                  <a:schemeClr val="accent1"/>
                </a:solidFill>
              </a:rPr>
              <a:t> font-size</a:t>
            </a:r>
            <a:r>
              <a:rPr lang="en-US" sz="2000" b="1" dirty="0">
                <a:solidFill>
                  <a:schemeClr val="accent1"/>
                </a:solidFill>
              </a:rPr>
              <a:t>: 12pt;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/>
                </a:solidFill>
              </a:rPr>
              <a:t>pc	Picas	1 pc = 12 points	width: 3pc;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/>
                </a:solidFill>
              </a:rPr>
              <a:t>%	Parent element	Percentage of parent size	width: 50%;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accent1"/>
                </a:solidFill>
              </a:rPr>
              <a:t>em</a:t>
            </a:r>
            <a:r>
              <a:rPr lang="en-US" sz="2000" b="1" dirty="0">
                <a:solidFill>
                  <a:schemeClr val="accent1"/>
                </a:solidFill>
              </a:rPr>
              <a:t>	Font size of the element (or parent)	1em = current font size	padding: 2em;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/>
                </a:solidFill>
              </a:rPr>
              <a:t>rem	Root element’s font size	1rem = root &lt;html&gt; font size	margin: 1.5rem;</a:t>
            </a:r>
          </a:p>
        </p:txBody>
      </p:sp>
    </p:spTree>
    <p:extLst>
      <p:ext uri="{BB962C8B-B14F-4D97-AF65-F5344CB8AC3E}">
        <p14:creationId xmlns:p14="http://schemas.microsoft.com/office/powerpoint/2010/main" val="3368658812"/>
      </p:ext>
    </p:extLst>
  </p:cSld>
  <p:clrMapOvr>
    <a:masterClrMapping/>
  </p:clrMapOvr>
  <p:transition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37C7B-080A-41A1-9E6D-89BED4C1E66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29229" y="304801"/>
            <a:ext cx="8904942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The .container class provides a responsive fixed width container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The .container-fluid class provides a full width container, spanning the entire width of the viewport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Use the .container class to create a responsive, fixed-width container.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Note that its width (max-width) will change on different screen sizes: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chemeClr val="accent1"/>
              </a:solidFill>
            </a:endParaRPr>
          </a:p>
          <a:p>
            <a:r>
              <a:rPr lang="en-US" sz="2000" dirty="0" smtClean="0">
                <a:solidFill>
                  <a:schemeClr val="accent1"/>
                </a:solidFill>
              </a:rPr>
              <a:t>Sample : </a:t>
            </a:r>
            <a:r>
              <a:rPr lang="en-US" sz="2000" dirty="0">
                <a:solidFill>
                  <a:schemeClr val="accent1"/>
                </a:solidFill>
              </a:rPr>
              <a:t>&lt;div class="container p-5 </a:t>
            </a:r>
            <a:r>
              <a:rPr lang="en-US" sz="2000" dirty="0" smtClean="0">
                <a:solidFill>
                  <a:schemeClr val="accent1"/>
                </a:solidFill>
              </a:rPr>
              <a:t>m-5 </a:t>
            </a:r>
            <a:r>
              <a:rPr lang="en-US" sz="2000" dirty="0" err="1">
                <a:solidFill>
                  <a:schemeClr val="accent1"/>
                </a:solidFill>
              </a:rPr>
              <a:t>bg</a:t>
            </a:r>
            <a:r>
              <a:rPr lang="en-US" sz="2000" dirty="0">
                <a:solidFill>
                  <a:schemeClr val="accent1"/>
                </a:solidFill>
              </a:rPr>
              <a:t>-primary text-white"&gt;&lt;/div</a:t>
            </a:r>
            <a:r>
              <a:rPr lang="en-US" sz="2000" dirty="0" smtClean="0">
                <a:solidFill>
                  <a:schemeClr val="accent1"/>
                </a:solidFill>
              </a:rPr>
              <a:t>&gt;</a:t>
            </a:r>
          </a:p>
          <a:p>
            <a:endParaRPr lang="en-US" sz="2000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&lt;p class="h1"&gt;h1 Bootstrap heading&lt;/p&gt;</a:t>
            </a: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 smtClean="0">
                <a:solidFill>
                  <a:schemeClr val="accent1"/>
                </a:solidFill>
              </a:rPr>
              <a:t>Colors </a:t>
            </a:r>
            <a:r>
              <a:rPr lang="en-US" sz="2000" dirty="0">
                <a:solidFill>
                  <a:schemeClr val="accent1"/>
                </a:solidFill>
              </a:rPr>
              <a:t>: .</a:t>
            </a:r>
            <a:r>
              <a:rPr lang="en-US" sz="2000" dirty="0" err="1">
                <a:solidFill>
                  <a:schemeClr val="accent1"/>
                </a:solidFill>
              </a:rPr>
              <a:t>bg</a:t>
            </a:r>
            <a:r>
              <a:rPr lang="en-US" sz="2000" dirty="0">
                <a:solidFill>
                  <a:schemeClr val="accent1"/>
                </a:solidFill>
              </a:rPr>
              <a:t>-primary, .</a:t>
            </a:r>
            <a:r>
              <a:rPr lang="en-US" sz="2000" dirty="0" err="1">
                <a:solidFill>
                  <a:schemeClr val="accent1"/>
                </a:solidFill>
              </a:rPr>
              <a:t>bg</a:t>
            </a:r>
            <a:r>
              <a:rPr lang="en-US" sz="2000" dirty="0">
                <a:solidFill>
                  <a:schemeClr val="accent1"/>
                </a:solidFill>
              </a:rPr>
              <a:t>-success, .</a:t>
            </a:r>
            <a:r>
              <a:rPr lang="en-US" sz="2000" dirty="0" err="1">
                <a:solidFill>
                  <a:schemeClr val="accent1"/>
                </a:solidFill>
              </a:rPr>
              <a:t>bg</a:t>
            </a:r>
            <a:r>
              <a:rPr lang="en-US" sz="2000" dirty="0">
                <a:solidFill>
                  <a:schemeClr val="accent1"/>
                </a:solidFill>
              </a:rPr>
              <a:t>-info, .</a:t>
            </a:r>
            <a:r>
              <a:rPr lang="en-US" sz="2000" dirty="0" err="1">
                <a:solidFill>
                  <a:schemeClr val="accent1"/>
                </a:solidFill>
              </a:rPr>
              <a:t>bg</a:t>
            </a:r>
            <a:r>
              <a:rPr lang="en-US" sz="2000" dirty="0">
                <a:solidFill>
                  <a:schemeClr val="accent1"/>
                </a:solidFill>
              </a:rPr>
              <a:t>-warning, .</a:t>
            </a:r>
            <a:r>
              <a:rPr lang="en-US" sz="2000" dirty="0" err="1">
                <a:solidFill>
                  <a:schemeClr val="accent1"/>
                </a:solidFill>
              </a:rPr>
              <a:t>bg</a:t>
            </a:r>
            <a:r>
              <a:rPr lang="en-US" sz="2000" dirty="0">
                <a:solidFill>
                  <a:schemeClr val="accent1"/>
                </a:solidFill>
              </a:rPr>
              <a:t>-danger, .</a:t>
            </a:r>
            <a:r>
              <a:rPr lang="en-US" sz="2000" dirty="0" err="1">
                <a:solidFill>
                  <a:schemeClr val="accent1"/>
                </a:solidFill>
              </a:rPr>
              <a:t>bg</a:t>
            </a:r>
            <a:r>
              <a:rPr lang="en-US" sz="2000" dirty="0">
                <a:solidFill>
                  <a:schemeClr val="accent1"/>
                </a:solidFill>
              </a:rPr>
              <a:t>-secondary, .</a:t>
            </a:r>
            <a:r>
              <a:rPr lang="en-US" sz="2000" dirty="0" err="1">
                <a:solidFill>
                  <a:schemeClr val="accent1"/>
                </a:solidFill>
              </a:rPr>
              <a:t>bg</a:t>
            </a:r>
            <a:r>
              <a:rPr lang="en-US" sz="2000" dirty="0">
                <a:solidFill>
                  <a:schemeClr val="accent1"/>
                </a:solidFill>
              </a:rPr>
              <a:t>-dark and .</a:t>
            </a:r>
            <a:r>
              <a:rPr lang="en-US" sz="2000" dirty="0" err="1">
                <a:solidFill>
                  <a:schemeClr val="accent1"/>
                </a:solidFill>
              </a:rPr>
              <a:t>bg</a:t>
            </a:r>
            <a:r>
              <a:rPr lang="en-US" sz="2000" dirty="0">
                <a:solidFill>
                  <a:schemeClr val="accent1"/>
                </a:solidFill>
              </a:rPr>
              <a:t>-light.</a:t>
            </a:r>
            <a:endParaRPr lang="en-US" sz="2000" dirty="0">
              <a:solidFill>
                <a:schemeClr val="accent1"/>
              </a:solidFill>
            </a:endParaRPr>
          </a:p>
          <a:p>
            <a:r>
              <a:rPr lang="en-US" dirty="0"/>
              <a:t/>
            </a:r>
            <a:br>
              <a:rPr lang="en-US" dirty="0"/>
            </a:br>
            <a:endParaRPr lang="en-US" sz="2000" dirty="0">
              <a:solidFill>
                <a:schemeClr val="accent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363820"/>
            <a:ext cx="10506375" cy="134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535455"/>
      </p:ext>
    </p:extLst>
  </p:cSld>
  <p:clrMapOvr>
    <a:masterClrMapping/>
  </p:clrMapOvr>
  <p:transition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4" name="Picture 4" descr="Cov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ransition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2" name="Picture 4" descr="Cov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ransition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0" name="Picture 4" descr="Cov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7620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ransition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8" name="Picture 4" descr="Cov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ransition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37C7B-080A-41A1-9E6D-89BED4C1E66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981200" y="304801"/>
            <a:ext cx="8305800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accent1"/>
                </a:solidFill>
              </a:rPr>
              <a:t>Alerts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Alerts are created with the .alert class, followed by one of the contextual classes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.alert-success,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 .alert-info,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 .alert-warning,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 .alert-danger,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 .alert-primary,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 .alert-secondary, 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 .alert-light 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 .alert-dark: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 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 div class="alert alert-success"&gt;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 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 Add the .alert-link class to any links inside the alert box to create "matching colored links":</a:t>
            </a:r>
          </a:p>
          <a:p>
            <a:endParaRPr lang="en-US" sz="2000" b="1" dirty="0">
              <a:solidFill>
                <a:schemeClr val="accent1"/>
              </a:solidFill>
            </a:endParaRPr>
          </a:p>
          <a:p>
            <a:r>
              <a:rPr lang="en-US" sz="2000" b="1" dirty="0">
                <a:solidFill>
                  <a:schemeClr val="accent1"/>
                </a:solidFill>
              </a:rPr>
              <a:t>&lt;div class="alert alert-success"&gt;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  &lt;strong&gt;Success!&lt;/strong&gt; You should &lt;a </a:t>
            </a:r>
            <a:r>
              <a:rPr lang="en-US" sz="2000" b="1" dirty="0" err="1">
                <a:solidFill>
                  <a:schemeClr val="accent1"/>
                </a:solidFill>
              </a:rPr>
              <a:t>href</a:t>
            </a:r>
            <a:r>
              <a:rPr lang="en-US" sz="2000" b="1" dirty="0">
                <a:solidFill>
                  <a:schemeClr val="accent1"/>
                </a:solidFill>
              </a:rPr>
              <a:t>="#" class="alert-link"&gt;read this message&lt;/a&gt;.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&lt;/div&gt;</a:t>
            </a:r>
          </a:p>
          <a:p>
            <a:endParaRPr lang="en-US" sz="2000" b="1" dirty="0">
              <a:solidFill>
                <a:schemeClr val="accent1"/>
              </a:solidFill>
            </a:endParaRPr>
          </a:p>
          <a:p>
            <a:endParaRPr lang="en-US" sz="2000" b="1" dirty="0">
              <a:solidFill>
                <a:schemeClr val="accent1"/>
              </a:solidFill>
            </a:endParaRPr>
          </a:p>
          <a:p>
            <a:endParaRPr lang="en-US" sz="2000" b="1" dirty="0">
              <a:solidFill>
                <a:schemeClr val="accent1"/>
              </a:solidFill>
            </a:endParaRPr>
          </a:p>
          <a:p>
            <a:endParaRPr lang="en-US" sz="2000" b="1" dirty="0" smtClean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865269"/>
      </p:ext>
    </p:extLst>
  </p:cSld>
  <p:clrMapOvr>
    <a:masterClrMapping/>
  </p:clrMapOvr>
  <p:transition>
    <p:randomBar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37C7B-080A-41A1-9E6D-89BED4C1E66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981200" y="304801"/>
            <a:ext cx="8305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accent1"/>
                </a:solidFill>
              </a:rPr>
              <a:t>Buttons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/>
                </a:solidFill>
              </a:rPr>
              <a:t>&lt;button type="button" class="</a:t>
            </a:r>
            <a:r>
              <a:rPr lang="en-US" sz="2000" b="1" dirty="0" err="1">
                <a:solidFill>
                  <a:schemeClr val="accent1"/>
                </a:solidFill>
              </a:rPr>
              <a:t>btn</a:t>
            </a:r>
            <a:r>
              <a:rPr lang="en-US" sz="2000" b="1" dirty="0">
                <a:solidFill>
                  <a:schemeClr val="accent1"/>
                </a:solidFill>
              </a:rPr>
              <a:t>"&gt;Basic&lt;/button&gt;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/>
                </a:solidFill>
              </a:rPr>
              <a:t>&lt;button type="button" class="</a:t>
            </a:r>
            <a:r>
              <a:rPr lang="en-US" sz="2000" b="1" dirty="0" err="1">
                <a:solidFill>
                  <a:schemeClr val="accent1"/>
                </a:solidFill>
              </a:rPr>
              <a:t>btn</a:t>
            </a:r>
            <a:r>
              <a:rPr lang="en-US" sz="2000" b="1" dirty="0">
                <a:solidFill>
                  <a:schemeClr val="accent1"/>
                </a:solidFill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</a:rPr>
              <a:t>btn</a:t>
            </a:r>
            <a:r>
              <a:rPr lang="en-US" sz="2000" b="1" dirty="0">
                <a:solidFill>
                  <a:schemeClr val="accent1"/>
                </a:solidFill>
              </a:rPr>
              <a:t>-primary"&gt;Primary&lt;/button&gt;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/>
                </a:solidFill>
              </a:rPr>
              <a:t>&lt;button type="button" class="</a:t>
            </a:r>
            <a:r>
              <a:rPr lang="en-US" sz="2000" b="1" dirty="0" err="1">
                <a:solidFill>
                  <a:schemeClr val="accent1"/>
                </a:solidFill>
              </a:rPr>
              <a:t>btn</a:t>
            </a:r>
            <a:r>
              <a:rPr lang="en-US" sz="2000" b="1" dirty="0">
                <a:solidFill>
                  <a:schemeClr val="accent1"/>
                </a:solidFill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</a:rPr>
              <a:t>btn</a:t>
            </a:r>
            <a:r>
              <a:rPr lang="en-US" sz="2000" b="1" dirty="0">
                <a:solidFill>
                  <a:schemeClr val="accent1"/>
                </a:solidFill>
              </a:rPr>
              <a:t>-secondary"&gt;Secondary&lt;/button&gt;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/>
                </a:solidFill>
              </a:rPr>
              <a:t>&lt;button type="button" class="</a:t>
            </a:r>
            <a:r>
              <a:rPr lang="en-US" sz="2000" b="1" dirty="0" err="1">
                <a:solidFill>
                  <a:schemeClr val="accent1"/>
                </a:solidFill>
              </a:rPr>
              <a:t>btn</a:t>
            </a:r>
            <a:r>
              <a:rPr lang="en-US" sz="2000" b="1" dirty="0">
                <a:solidFill>
                  <a:schemeClr val="accent1"/>
                </a:solidFill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</a:rPr>
              <a:t>btn</a:t>
            </a:r>
            <a:r>
              <a:rPr lang="en-US" sz="2000" b="1" dirty="0">
                <a:solidFill>
                  <a:schemeClr val="accent1"/>
                </a:solidFill>
              </a:rPr>
              <a:t>-success"&gt;Success&lt;/button&gt;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/>
                </a:solidFill>
              </a:rPr>
              <a:t>&lt;button type="button" class="</a:t>
            </a:r>
            <a:r>
              <a:rPr lang="en-US" sz="2000" b="1" dirty="0" err="1">
                <a:solidFill>
                  <a:schemeClr val="accent1"/>
                </a:solidFill>
              </a:rPr>
              <a:t>btn</a:t>
            </a:r>
            <a:r>
              <a:rPr lang="en-US" sz="2000" b="1" dirty="0">
                <a:solidFill>
                  <a:schemeClr val="accent1"/>
                </a:solidFill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</a:rPr>
              <a:t>btn</a:t>
            </a:r>
            <a:r>
              <a:rPr lang="en-US" sz="2000" b="1" dirty="0">
                <a:solidFill>
                  <a:schemeClr val="accent1"/>
                </a:solidFill>
              </a:rPr>
              <a:t>-info"&gt;Info&lt;/button&gt;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/>
                </a:solidFill>
              </a:rPr>
              <a:t>&lt;button type="button" class="</a:t>
            </a:r>
            <a:r>
              <a:rPr lang="en-US" sz="2000" b="1" dirty="0" err="1">
                <a:solidFill>
                  <a:schemeClr val="accent1"/>
                </a:solidFill>
              </a:rPr>
              <a:t>btn</a:t>
            </a:r>
            <a:r>
              <a:rPr lang="en-US" sz="2000" b="1" dirty="0">
                <a:solidFill>
                  <a:schemeClr val="accent1"/>
                </a:solidFill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</a:rPr>
              <a:t>btn</a:t>
            </a:r>
            <a:r>
              <a:rPr lang="en-US" sz="2000" b="1" dirty="0">
                <a:solidFill>
                  <a:schemeClr val="accent1"/>
                </a:solidFill>
              </a:rPr>
              <a:t>-warning"&gt;Warning&lt;/button&gt;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/>
                </a:solidFill>
              </a:rPr>
              <a:t>&lt;button type="button" class="</a:t>
            </a:r>
            <a:r>
              <a:rPr lang="en-US" sz="2000" b="1" dirty="0" err="1">
                <a:solidFill>
                  <a:schemeClr val="accent1"/>
                </a:solidFill>
              </a:rPr>
              <a:t>btn</a:t>
            </a:r>
            <a:r>
              <a:rPr lang="en-US" sz="2000" b="1" dirty="0">
                <a:solidFill>
                  <a:schemeClr val="accent1"/>
                </a:solidFill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</a:rPr>
              <a:t>btn</a:t>
            </a:r>
            <a:r>
              <a:rPr lang="en-US" sz="2000" b="1" dirty="0">
                <a:solidFill>
                  <a:schemeClr val="accent1"/>
                </a:solidFill>
              </a:rPr>
              <a:t>-danger"&gt;Danger&lt;/button&gt;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/>
                </a:solidFill>
              </a:rPr>
              <a:t>&lt;button type="button" class="</a:t>
            </a:r>
            <a:r>
              <a:rPr lang="en-US" sz="2000" b="1" dirty="0" err="1">
                <a:solidFill>
                  <a:schemeClr val="accent1"/>
                </a:solidFill>
              </a:rPr>
              <a:t>btn</a:t>
            </a:r>
            <a:r>
              <a:rPr lang="en-US" sz="2000" b="1" dirty="0">
                <a:solidFill>
                  <a:schemeClr val="accent1"/>
                </a:solidFill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</a:rPr>
              <a:t>btn</a:t>
            </a:r>
            <a:r>
              <a:rPr lang="en-US" sz="2000" b="1" dirty="0">
                <a:solidFill>
                  <a:schemeClr val="accent1"/>
                </a:solidFill>
              </a:rPr>
              <a:t>-dark"&gt;Dark&lt;/button&gt;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/>
                </a:solidFill>
              </a:rPr>
              <a:t>&lt;button type="button" class="</a:t>
            </a:r>
            <a:r>
              <a:rPr lang="en-US" sz="2000" b="1" dirty="0" err="1">
                <a:solidFill>
                  <a:schemeClr val="accent1"/>
                </a:solidFill>
              </a:rPr>
              <a:t>btn</a:t>
            </a:r>
            <a:r>
              <a:rPr lang="en-US" sz="2000" b="1" dirty="0">
                <a:solidFill>
                  <a:schemeClr val="accent1"/>
                </a:solidFill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</a:rPr>
              <a:t>btn</a:t>
            </a:r>
            <a:r>
              <a:rPr lang="en-US" sz="2000" b="1" dirty="0">
                <a:solidFill>
                  <a:schemeClr val="accent1"/>
                </a:solidFill>
              </a:rPr>
              <a:t>-light"&gt;Light&lt;/button&gt;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/>
                </a:solidFill>
              </a:rPr>
              <a:t>&lt;button type="button" class="</a:t>
            </a:r>
            <a:r>
              <a:rPr lang="en-US" sz="2000" b="1" dirty="0" err="1">
                <a:solidFill>
                  <a:schemeClr val="accent1"/>
                </a:solidFill>
              </a:rPr>
              <a:t>btn</a:t>
            </a:r>
            <a:r>
              <a:rPr lang="en-US" sz="2000" b="1" dirty="0">
                <a:solidFill>
                  <a:schemeClr val="accent1"/>
                </a:solidFill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</a:rPr>
              <a:t>btn</a:t>
            </a:r>
            <a:r>
              <a:rPr lang="en-US" sz="2000" b="1" dirty="0">
                <a:solidFill>
                  <a:schemeClr val="accent1"/>
                </a:solidFill>
              </a:rPr>
              <a:t>-link"&gt;Link&lt;/button&gt;</a:t>
            </a:r>
          </a:p>
          <a:p>
            <a:endParaRPr lang="en-US" sz="2000" b="1" dirty="0">
              <a:solidFill>
                <a:schemeClr val="accent1"/>
              </a:solidFill>
            </a:endParaRPr>
          </a:p>
          <a:p>
            <a:r>
              <a:rPr lang="en-US" sz="2000" b="1" dirty="0" smtClean="0">
                <a:solidFill>
                  <a:schemeClr val="accent1"/>
                </a:solidFill>
              </a:rPr>
              <a:t>Explore Other Bootstrap Elements like card </a:t>
            </a:r>
            <a:r>
              <a:rPr lang="en-US" sz="2000" b="1" dirty="0" err="1" smtClean="0">
                <a:solidFill>
                  <a:schemeClr val="accent1"/>
                </a:solidFill>
              </a:rPr>
              <a:t>etc</a:t>
            </a:r>
            <a:endParaRPr lang="en-US" sz="2000" b="1" dirty="0">
              <a:solidFill>
                <a:schemeClr val="accent1"/>
              </a:solidFill>
            </a:endParaRPr>
          </a:p>
          <a:p>
            <a:endParaRPr lang="en-US" sz="2000" b="1" dirty="0" smtClean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5628289"/>
      </p:ext>
    </p:extLst>
  </p:cSld>
  <p:clrMapOvr>
    <a:masterClrMapping/>
  </p:clrMapOvr>
  <p:transition>
    <p:randomBar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20" name="Picture 4" descr="Cov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ransition>
    <p:randomBar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8" name="Picture 4" descr="Cov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ransition>
    <p:randomBar dir="vert"/>
  </p:transition>
</p:sld>
</file>

<file path=ppt/theme/theme1.xml><?xml version="1.0" encoding="utf-8"?>
<a:theme xmlns:a="http://schemas.openxmlformats.org/drawingml/2006/main" name="Introduction to Computing – CS101  Power Point Slides Lecture  15">
  <a:themeElements>
    <a:clrScheme name="Blank Presentation 2">
      <a:dk1>
        <a:srgbClr val="000000"/>
      </a:dk1>
      <a:lt1>
        <a:srgbClr val="FFFFFF"/>
      </a:lt1>
      <a:dk2>
        <a:srgbClr val="0000FF"/>
      </a:dk2>
      <a:lt2>
        <a:srgbClr val="FFFF00"/>
      </a:lt2>
      <a:accent1>
        <a:srgbClr val="FF9900"/>
      </a:accent1>
      <a:accent2>
        <a:srgbClr val="00FFFF"/>
      </a:accent2>
      <a:accent3>
        <a:srgbClr val="AAAAFF"/>
      </a:accent3>
      <a:accent4>
        <a:srgbClr val="DADADA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1225</TotalTime>
  <Words>330</Words>
  <Application>Microsoft Office PowerPoint</Application>
  <PresentationFormat>Widescreen</PresentationFormat>
  <Paragraphs>62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Introduction to Computing – CS101  Power Point Slides Lecture  15</vt:lpstr>
      <vt:lpstr>Office Theme</vt:lpstr>
      <vt:lpstr> Responsive Design and Introduction to Bootstrap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 Introduction to Computing Lecture 15 More on Interactive Forms  (Web Development Lecture 5)</dc:title>
  <dc:creator>Yasir</dc:creator>
  <cp:lastModifiedBy>Ihtisham Ul Haq</cp:lastModifiedBy>
  <cp:revision>165</cp:revision>
  <dcterms:created xsi:type="dcterms:W3CDTF">2014-05-09T14:15:30Z</dcterms:created>
  <dcterms:modified xsi:type="dcterms:W3CDTF">2025-10-26T20:36:56Z</dcterms:modified>
</cp:coreProperties>
</file>