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60" r:id="rId3"/>
    <p:sldId id="261" r:id="rId4"/>
    <p:sldId id="262" r:id="rId5"/>
    <p:sldId id="264" r:id="rId6"/>
    <p:sldId id="263" r:id="rId7"/>
    <p:sldId id="265" r:id="rId8"/>
    <p:sldId id="266" r:id="rId9"/>
    <p:sldId id="267" r:id="rId10"/>
    <p:sldId id="268" r:id="rId11"/>
    <p:sldId id="269" r:id="rId12"/>
    <p:sldId id="270" r:id="rId13"/>
    <p:sldId id="277" r:id="rId14"/>
    <p:sldId id="271" r:id="rId15"/>
    <p:sldId id="272" r:id="rId16"/>
    <p:sldId id="273" r:id="rId17"/>
    <p:sldId id="275" r:id="rId18"/>
    <p:sldId id="276" r:id="rId19"/>
    <p:sldId id="274" r:id="rId20"/>
    <p:sldId id="297" r:id="rId21"/>
    <p:sldId id="298" r:id="rId22"/>
    <p:sldId id="278" r:id="rId23"/>
    <p:sldId id="279" r:id="rId24"/>
    <p:sldId id="280" r:id="rId25"/>
    <p:sldId id="281" r:id="rId26"/>
    <p:sldId id="282" r:id="rId27"/>
    <p:sldId id="283" r:id="rId28"/>
    <p:sldId id="285" r:id="rId29"/>
    <p:sldId id="299" r:id="rId30"/>
    <p:sldId id="300" r:id="rId31"/>
    <p:sldId id="303" r:id="rId32"/>
    <p:sldId id="301" r:id="rId33"/>
    <p:sldId id="302" r:id="rId34"/>
    <p:sldId id="286" r:id="rId35"/>
    <p:sldId id="287" r:id="rId36"/>
    <p:sldId id="288" r:id="rId37"/>
    <p:sldId id="289" r:id="rId38"/>
    <p:sldId id="290" r:id="rId39"/>
    <p:sldId id="292" r:id="rId40"/>
    <p:sldId id="291" r:id="rId41"/>
    <p:sldId id="293" r:id="rId42"/>
    <p:sldId id="294" r:id="rId43"/>
    <p:sldId id="295" r:id="rId4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5806" autoAdjust="0"/>
  </p:normalViewPr>
  <p:slideViewPr>
    <p:cSldViewPr snapToGrid="0">
      <p:cViewPr varScale="1">
        <p:scale>
          <a:sx n="82" d="100"/>
          <a:sy n="82" d="100"/>
        </p:scale>
        <p:origin x="691" y="7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k Kausar" userId="3a5a0e80-1a0a-42e8-aacf-20faf71ac72f" providerId="ADAL" clId="{79482851-B4AB-466D-9A56-8C3B902AAC3F}"/>
    <pc:docChg chg="modSld">
      <pc:chgData name="Mahek Kausar" userId="3a5a0e80-1a0a-42e8-aacf-20faf71ac72f" providerId="ADAL" clId="{79482851-B4AB-466D-9A56-8C3B902AAC3F}" dt="2026-09-27T17:01:22.406" v="0" actId="1076"/>
      <pc:docMkLst>
        <pc:docMk/>
      </pc:docMkLst>
      <pc:sldChg chg="modSp">
        <pc:chgData name="Mahek Kausar" userId="3a5a0e80-1a0a-42e8-aacf-20faf71ac72f" providerId="ADAL" clId="{79482851-B4AB-466D-9A56-8C3B902AAC3F}" dt="2026-09-27T17:01:22.406" v="0" actId="1076"/>
        <pc:sldMkLst>
          <pc:docMk/>
          <pc:sldMk cId="3402869620" sldId="274"/>
        </pc:sldMkLst>
        <pc:picChg chg="mod">
          <ac:chgData name="Mahek Kausar" userId="3a5a0e80-1a0a-42e8-aacf-20faf71ac72f" providerId="ADAL" clId="{79482851-B4AB-466D-9A56-8C3B902AAC3F}" dt="2026-09-27T17:01:22.406" v="0" actId="1076"/>
          <ac:picMkLst>
            <pc:docMk/>
            <pc:sldMk cId="3402869620" sldId="274"/>
            <ac:picMk id="4" creationId="{961584A9-C7E1-733D-2A95-1504BBEBC3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52D8F1-F4DE-439B-A215-934558471514}" type="datetimeFigureOut">
              <a:rPr lang="en-PK" smtClean="0"/>
              <a:t>09/27/2026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29802-1D12-45E7-83E3-A28D083BE9A2}" type="slidenum">
              <a:rPr lang="en-PK" smtClean="0"/>
              <a:t>‹#›</a:t>
            </a:fld>
            <a:endParaRPr lang="en-PK"/>
          </a:p>
        </p:txBody>
      </p:sp>
    </p:spTree>
    <p:extLst>
      <p:ext uri="{BB962C8B-B14F-4D97-AF65-F5344CB8AC3E}">
        <p14:creationId xmlns:p14="http://schemas.microsoft.com/office/powerpoint/2010/main" val="1654630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1</a:t>
            </a:fld>
            <a:endParaRPr lang="en-PK"/>
          </a:p>
        </p:txBody>
      </p:sp>
    </p:spTree>
    <p:extLst>
      <p:ext uri="{BB962C8B-B14F-4D97-AF65-F5344CB8AC3E}">
        <p14:creationId xmlns:p14="http://schemas.microsoft.com/office/powerpoint/2010/main" val="1343414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collection referred to is typically known as "data." Data can be broadly categorized into several types, including:</a:t>
            </a:r>
          </a:p>
          <a:p>
            <a:endParaRPr lang="en-US" dirty="0"/>
          </a:p>
          <a:p>
            <a:pPr marL="171450" indent="-171450">
              <a:buFont typeface="Arial" panose="020B0604020202020204" pitchFamily="34" charset="0"/>
              <a:buChar char="•"/>
            </a:pPr>
            <a:r>
              <a:rPr lang="en-US" dirty="0"/>
              <a:t>Text data: Raw textual information that can be stored and processed.</a:t>
            </a:r>
          </a:p>
          <a:p>
            <a:pPr marL="171450" indent="-171450">
              <a:buFont typeface="Arial" panose="020B0604020202020204" pitchFamily="34" charset="0"/>
              <a:buChar char="•"/>
            </a:pPr>
            <a:r>
              <a:rPr lang="en-US" dirty="0"/>
              <a:t>Numeric data: Data in the form of numbers that can be used for various calculations and analysis.</a:t>
            </a:r>
          </a:p>
          <a:p>
            <a:pPr marL="171450" indent="-171450">
              <a:buFont typeface="Arial" panose="020B0604020202020204" pitchFamily="34" charset="0"/>
              <a:buChar char="•"/>
            </a:pPr>
            <a:r>
              <a:rPr lang="en-US" dirty="0"/>
              <a:t>Image data: Visual information stored in the form of images.</a:t>
            </a:r>
          </a:p>
          <a:p>
            <a:pPr marL="171450" indent="-171450">
              <a:buFont typeface="Arial" panose="020B0604020202020204" pitchFamily="34" charset="0"/>
              <a:buChar char="•"/>
            </a:pPr>
            <a:r>
              <a:rPr lang="en-US" dirty="0"/>
              <a:t>Audio data: Sound information stored in the form of audio files.</a:t>
            </a:r>
          </a:p>
          <a:p>
            <a:pPr marL="171450" indent="-171450">
              <a:buFont typeface="Arial" panose="020B0604020202020204" pitchFamily="34" charset="0"/>
              <a:buChar char="•"/>
            </a:pPr>
            <a:r>
              <a:rPr lang="en-US" dirty="0"/>
              <a:t>Video data: Moving visual information stored in the form of video files.</a:t>
            </a:r>
          </a:p>
          <a:p>
            <a:pPr marL="171450" indent="-171450">
              <a:buFont typeface="Arial" panose="020B0604020202020204" pitchFamily="34" charset="0"/>
              <a:buChar char="•"/>
            </a:pPr>
            <a:r>
              <a:rPr lang="en-US" dirty="0"/>
              <a:t>Multimedia data: Data that combines different forms of media, such as text, images, audio, and video, into a single integrated package.</a:t>
            </a:r>
          </a:p>
          <a:p>
            <a:pPr marL="0" indent="0">
              <a:buFont typeface="Arial" panose="020B0604020202020204" pitchFamily="34" charset="0"/>
              <a:buNone/>
            </a:pPr>
            <a:endParaRPr lang="en-US" dirty="0"/>
          </a:p>
          <a:p>
            <a:r>
              <a:rPr lang="en-US" dirty="0"/>
              <a:t>When this data is organized, stored, and managed, it can be used for various purposes, including analysis, decision-making, research, and many other applications. Data processing and analysis often involve using various techniques and tools to extract meaningful insights from the data.</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4</a:t>
            </a:fld>
            <a:endParaRPr lang="en-PK"/>
          </a:p>
        </p:txBody>
      </p:sp>
    </p:spTree>
    <p:extLst>
      <p:ext uri="{BB962C8B-B14F-4D97-AF65-F5344CB8AC3E}">
        <p14:creationId xmlns:p14="http://schemas.microsoft.com/office/powerpoint/2010/main" val="2926680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description of each component of the DIKIW model:</a:t>
            </a:r>
          </a:p>
          <a:p>
            <a:endParaRPr lang="en-US" dirty="0"/>
          </a:p>
          <a:p>
            <a:r>
              <a:rPr lang="en-US" dirty="0"/>
              <a:t>Data: Data refers to the raw facts, figures, or statistics that are collected and processed. Data is often unorganized and lacks context, but it can be used to generate information.</a:t>
            </a:r>
          </a:p>
          <a:p>
            <a:endParaRPr lang="en-US" dirty="0"/>
          </a:p>
          <a:p>
            <a:r>
              <a:rPr lang="en-US" dirty="0"/>
              <a:t>Information: Information is processed and contextualized data that has meaning and relevance to a specific context or situation. Information is often structured and organized in a way that makes it easier to understand and use.</a:t>
            </a:r>
          </a:p>
          <a:p>
            <a:endParaRPr lang="en-US" dirty="0"/>
          </a:p>
          <a:p>
            <a:r>
              <a:rPr lang="en-US" dirty="0"/>
              <a:t>Knowledge: Knowledge is the result of analyzing and synthesizing information to create insights and understanding. Knowledge is often subjective and depends on the individual's perspective and experience.</a:t>
            </a:r>
          </a:p>
          <a:p>
            <a:endParaRPr lang="en-US" dirty="0"/>
          </a:p>
          <a:p>
            <a:r>
              <a:rPr lang="en-US" dirty="0"/>
              <a:t>Intelligence: Intelligence is the ability to apply knowledge to solve problems or make decisions. Intelligence requires critical thinking, reasoning, and problem-solving skills.</a:t>
            </a:r>
          </a:p>
          <a:p>
            <a:endParaRPr lang="en-US" dirty="0"/>
          </a:p>
          <a:p>
            <a:r>
              <a:rPr lang="en-US" dirty="0"/>
              <a:t>Wisdom: Wisdom is the ability to apply intelligence to achieve long-term goals and benefits. Wisdom requires an understanding of the broader context and consequences of decisions.</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7</a:t>
            </a:fld>
            <a:endParaRPr lang="en-PK"/>
          </a:p>
        </p:txBody>
      </p:sp>
    </p:spTree>
    <p:extLst>
      <p:ext uri="{BB962C8B-B14F-4D97-AF65-F5344CB8AC3E}">
        <p14:creationId xmlns:p14="http://schemas.microsoft.com/office/powerpoint/2010/main" val="480816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i="1" u="sng" dirty="0">
                <a:solidFill>
                  <a:srgbClr val="FF0000"/>
                </a:solidFill>
              </a:rPr>
              <a:t>An asset is a person, structure, facility, information, and technology throughout its lifecycle. It includes the management, operational, and technical controls that are put in place, including measures to prevent unauthorized access, use, disclosure, disruption, modification, or destruction of information</a:t>
            </a:r>
            <a:r>
              <a:rPr lang="en-US" dirty="0"/>
              <a:t>.“ ~ NIST</a:t>
            </a:r>
          </a:p>
        </p:txBody>
      </p:sp>
      <p:sp>
        <p:nvSpPr>
          <p:cNvPr id="4" name="Slide Number Placeholder 3"/>
          <p:cNvSpPr>
            <a:spLocks noGrp="1"/>
          </p:cNvSpPr>
          <p:nvPr>
            <p:ph type="sldNum" sz="quarter" idx="5"/>
          </p:nvPr>
        </p:nvSpPr>
        <p:spPr/>
        <p:txBody>
          <a:bodyPr/>
          <a:lstStyle/>
          <a:p>
            <a:fld id="{ED529802-1D12-45E7-83E3-A28D083BE9A2}" type="slidenum">
              <a:rPr lang="en-PK" smtClean="0"/>
              <a:t>8</a:t>
            </a:fld>
            <a:endParaRPr lang="en-PK"/>
          </a:p>
        </p:txBody>
      </p:sp>
    </p:spTree>
    <p:extLst>
      <p:ext uri="{BB962C8B-B14F-4D97-AF65-F5344CB8AC3E}">
        <p14:creationId xmlns:p14="http://schemas.microsoft.com/office/powerpoint/2010/main" val="1464504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Relationships among risk, vulnerabilities, threats, and countermeasures (Figure)</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23</a:t>
            </a:fld>
            <a:endParaRPr lang="en-PK"/>
          </a:p>
        </p:txBody>
      </p:sp>
    </p:spTree>
    <p:extLst>
      <p:ext uri="{BB962C8B-B14F-4D97-AF65-F5344CB8AC3E}">
        <p14:creationId xmlns:p14="http://schemas.microsoft.com/office/powerpoint/2010/main" val="4023916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CIAA model is a framework used in information security to ensure the confidentiality, integrity, and availability of information assets. The model expands on the CIA (Confidentiality, Integrity, and Availability) triad to include two additional elements, authenticity and non-repudiation. The five elements are:</a:t>
            </a:r>
          </a:p>
          <a:p>
            <a:endParaRPr lang="en-US" dirty="0"/>
          </a:p>
          <a:p>
            <a:r>
              <a:rPr lang="en-US" dirty="0"/>
              <a:t>Confidentiality: The protection of information from unauthorized access, disclosure, or exposure. Confidentiality ensures that sensitive information is only accessible to authorized parties and is kept secure from unauthorized individuals or entities.</a:t>
            </a:r>
          </a:p>
          <a:p>
            <a:endParaRPr lang="en-US" dirty="0"/>
          </a:p>
          <a:p>
            <a:r>
              <a:rPr lang="en-US" dirty="0"/>
              <a:t>Integrity: The assurance that information is accurate and has not been altered or tampered with in any way. Integrity ensures that data remains consistent and trustworthy throughout its lifecycle, and that it can be relied upon for decision-making and other critical purposes.</a:t>
            </a:r>
          </a:p>
          <a:p>
            <a:endParaRPr lang="en-US" dirty="0"/>
          </a:p>
          <a:p>
            <a:r>
              <a:rPr lang="en-US" dirty="0"/>
              <a:t>Availability: The guarantee that information is accessible and usable by authorized parties when and where it is needed. Availability ensures that systems and networks are reliable and resilient, and that users can access the resources they need to perform their jobs.</a:t>
            </a:r>
          </a:p>
          <a:p>
            <a:endParaRPr lang="en-US" dirty="0"/>
          </a:p>
          <a:p>
            <a:r>
              <a:rPr lang="en-US" dirty="0"/>
              <a:t>Authenticity: The assurance that information has been created or modified by an authorized source and that it has not been forged or altered in transit. Authenticity ensures that data can be trusted to be genuine and reliable, and that it has not been tampered with or manipulated.</a:t>
            </a:r>
          </a:p>
          <a:p>
            <a:endParaRPr lang="en-US" dirty="0"/>
          </a:p>
          <a:p>
            <a:r>
              <a:rPr lang="en-US" dirty="0"/>
              <a:t>Non-repudiation: The ability to verify that an action or communication has been performed by a specific individual or entity and that it cannot be denied later. Non-repudiation ensures that parties cannot deny their involvement in a transaction or communication, and that there is evidence of all actions taken.</a:t>
            </a:r>
          </a:p>
          <a:p>
            <a:endParaRPr lang="en-US" dirty="0"/>
          </a:p>
          <a:p>
            <a:r>
              <a:rPr lang="en-US" dirty="0"/>
              <a:t>The CIAA model is a useful tool for organizations to assess and manage their information security risks and to ensure that their information assets are protected from a range of threats and vulnerabilities.</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27</a:t>
            </a:fld>
            <a:endParaRPr lang="en-PK"/>
          </a:p>
        </p:txBody>
      </p:sp>
    </p:spTree>
    <p:extLst>
      <p:ext uri="{BB962C8B-B14F-4D97-AF65-F5344CB8AC3E}">
        <p14:creationId xmlns:p14="http://schemas.microsoft.com/office/powerpoint/2010/main" val="4003265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Interruption, delay, denial of receipt, or denial of service: System assets or information may become unavailable or rendered inaccessible.</a:t>
            </a:r>
          </a:p>
          <a:p>
            <a:endParaRPr lang="en-US" dirty="0"/>
          </a:p>
          <a:p>
            <a:r>
              <a:rPr lang="en-US" dirty="0"/>
              <a:t>Interception or snooping: An unauthorized party gains access to information by browsing through files or reading communications.</a:t>
            </a:r>
          </a:p>
          <a:p>
            <a:endParaRPr lang="en-US" dirty="0"/>
          </a:p>
          <a:p>
            <a:r>
              <a:rPr lang="en-US" dirty="0"/>
              <a:t>Modification or alteration: An unauthorized party changes information in transit or information stored for subsequent access.</a:t>
            </a:r>
          </a:p>
          <a:p>
            <a:endParaRPr lang="en-US" dirty="0"/>
          </a:p>
          <a:p>
            <a:r>
              <a:rPr lang="en-US" dirty="0"/>
              <a:t>Fabrication, masquerade, or spoofing: Spurious information is inserted into the system or network to make it appear as if it is from a legitimate entity.</a:t>
            </a:r>
          </a:p>
          <a:p>
            <a:r>
              <a:rPr lang="en-US" dirty="0"/>
              <a:t>Repudiation of origin: False denial that an entity created something.</a:t>
            </a:r>
          </a:p>
        </p:txBody>
      </p:sp>
      <p:sp>
        <p:nvSpPr>
          <p:cNvPr id="4" name="Slide Number Placeholder 3"/>
          <p:cNvSpPr>
            <a:spLocks noGrp="1"/>
          </p:cNvSpPr>
          <p:nvPr>
            <p:ph type="sldNum" sz="quarter" idx="5"/>
          </p:nvPr>
        </p:nvSpPr>
        <p:spPr/>
        <p:txBody>
          <a:bodyPr/>
          <a:lstStyle/>
          <a:p>
            <a:fld id="{ED529802-1D12-45E7-83E3-A28D083BE9A2}" type="slidenum">
              <a:rPr lang="en-PK" smtClean="0"/>
              <a:t>29</a:t>
            </a:fld>
            <a:endParaRPr lang="en-PK"/>
          </a:p>
        </p:txBody>
      </p:sp>
    </p:spTree>
    <p:extLst>
      <p:ext uri="{BB962C8B-B14F-4D97-AF65-F5344CB8AC3E}">
        <p14:creationId xmlns:p14="http://schemas.microsoft.com/office/powerpoint/2010/main" val="452228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29802-1D12-45E7-83E3-A28D083BE9A2}" type="slidenum">
              <a:rPr lang="en-PK" smtClean="0"/>
              <a:t>30</a:t>
            </a:fld>
            <a:endParaRPr lang="en-PK"/>
          </a:p>
        </p:txBody>
      </p:sp>
    </p:spTree>
    <p:extLst>
      <p:ext uri="{BB962C8B-B14F-4D97-AF65-F5344CB8AC3E}">
        <p14:creationId xmlns:p14="http://schemas.microsoft.com/office/powerpoint/2010/main" val="195044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29802-1D12-45E7-83E3-A28D083BE9A2}" type="slidenum">
              <a:rPr lang="en-PK" smtClean="0"/>
              <a:t>31</a:t>
            </a:fld>
            <a:endParaRPr lang="en-PK"/>
          </a:p>
        </p:txBody>
      </p:sp>
    </p:spTree>
    <p:extLst>
      <p:ext uri="{BB962C8B-B14F-4D97-AF65-F5344CB8AC3E}">
        <p14:creationId xmlns:p14="http://schemas.microsoft.com/office/powerpoint/2010/main" val="4240263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29802-1D12-45E7-83E3-A28D083BE9A2}" type="slidenum">
              <a:rPr lang="en-PK" smtClean="0"/>
              <a:t>32</a:t>
            </a:fld>
            <a:endParaRPr lang="en-PK"/>
          </a:p>
        </p:txBody>
      </p:sp>
    </p:spTree>
    <p:extLst>
      <p:ext uri="{BB962C8B-B14F-4D97-AF65-F5344CB8AC3E}">
        <p14:creationId xmlns:p14="http://schemas.microsoft.com/office/powerpoint/2010/main" val="4282056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29802-1D12-45E7-83E3-A28D083BE9A2}" type="slidenum">
              <a:rPr lang="en-PK" smtClean="0"/>
              <a:t>33</a:t>
            </a:fld>
            <a:endParaRPr lang="en-PK"/>
          </a:p>
        </p:txBody>
      </p:sp>
    </p:spTree>
    <p:extLst>
      <p:ext uri="{BB962C8B-B14F-4D97-AF65-F5344CB8AC3E}">
        <p14:creationId xmlns:p14="http://schemas.microsoft.com/office/powerpoint/2010/main" val="597592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Reciprocity: If someone gives you a gift, however small it may be, you’re more likely to respond in kind with a gift of your own. With the Nigerian scam, the scammer has all but given you millions of dollars, the least you can do is help pay the nominal processing fee.</a:t>
            </a:r>
          </a:p>
          <a:p>
            <a:endParaRPr lang="en-US" dirty="0"/>
          </a:p>
          <a:p>
            <a:r>
              <a:rPr lang="en-US" dirty="0"/>
              <a:t>Scarcity: In 2019 Americans caught a glimpse of the end times when Popeyes sold out of their popular chicken sandwiches. People fought over the sandwiches. One man threatened Popeyes employees with a gun. Another man sued the fast food chain for deceptive business practices. People killed for the sandwiches. Literally. That, in a nutshell, is scarcity. If consumers can’t have something, they just want more of it.</a:t>
            </a:r>
          </a:p>
          <a:p>
            <a:endParaRPr lang="en-US" dirty="0"/>
          </a:p>
          <a:p>
            <a:r>
              <a:rPr lang="en-US" dirty="0"/>
              <a:t>Authority: Pretending to be royalty is just one way criminals can employ authority to manipulate their victims. Malwarebytes Labs has reported on a number of different scam calls in which callers purport to be from some United States government agency. The victims, callers allege, owe money on back taxes or fines and if they don’t settle up with the government immediately, they’re going to jail.</a:t>
            </a:r>
          </a:p>
          <a:p>
            <a:endParaRPr lang="en-US" dirty="0"/>
          </a:p>
          <a:p>
            <a:r>
              <a:rPr lang="en-US" dirty="0"/>
              <a:t>Consistency: Generally speaking, no one wants to come off as indecisive. When we say we’re going to do something we try to follow through. And if you can get someone to agree to something small first, then they’ll feel pressured to agree to something bigger. Take, for example, money mule scams. Working on behalf of the scammers, money mules accept illicit funds from one account then transfer it to the scammer. Even when the legality of the operations comes into question, victims tend to follow through, not wanting to go back on their word.</a:t>
            </a:r>
          </a:p>
          <a:p>
            <a:endParaRPr lang="en-US" dirty="0"/>
          </a:p>
          <a:p>
            <a:r>
              <a:rPr lang="en-US" dirty="0"/>
              <a:t>Liking: The Ellen DeGeneres scam is a great example of liking. In social media posts supposedly from Ellen herself, scammers cut together videos of the popular daytime talk show speaking about her favorite charities along with a request to share the posts. Because the victims like Ellen, they’re more inclined to share. “Ellen” then reaches out directly to those who shared the post and asks them to download one of her films for a chance at winning a million dollars. Of course, there is no million dollars and all victims have to show for their effort is a subscription to an illegal streaming site and a pirated copy of Mr. Wrong.</a:t>
            </a:r>
          </a:p>
          <a:p>
            <a:endParaRPr lang="en-US" dirty="0"/>
          </a:p>
          <a:p>
            <a:r>
              <a:rPr lang="en-US" dirty="0"/>
              <a:t>Consensus: You’ve probably heard the expression: “If everyone else jumped off a bridge, would you?” If you have, then you’re familiar with the concept of consensus. People are more inclined to respond affirmatively if they think everyone else is doing it. As it applies to online scams, Malwarebytes Labs has reported on fake charitable organizations emerging in the aftermath of a natural disaster. Criminals use the groundswell of support that typically follows to pressure people in to donating money.</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41</a:t>
            </a:fld>
            <a:endParaRPr lang="en-PK"/>
          </a:p>
        </p:txBody>
      </p:sp>
    </p:spTree>
    <p:extLst>
      <p:ext uri="{BB962C8B-B14F-4D97-AF65-F5344CB8AC3E}">
        <p14:creationId xmlns:p14="http://schemas.microsoft.com/office/powerpoint/2010/main" val="39962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3E0E4-3460-CEE3-52C7-7CC04C3F6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B49E0B5A-3553-3FF8-CBDA-789E88D0C5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55C759FE-9388-8E00-0073-661C8270FE6C}"/>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5" name="Footer Placeholder 4">
            <a:extLst>
              <a:ext uri="{FF2B5EF4-FFF2-40B4-BE49-F238E27FC236}">
                <a16:creationId xmlns:a16="http://schemas.microsoft.com/office/drawing/2014/main" id="{67FB41FB-761D-C966-E0DC-E25C9F1DB77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4FE9A6-BB40-A49D-C80E-FE1CE62996D6}"/>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494902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2D384-7B70-4E18-82CC-A78BC669155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27A9EDE-67F4-FA5E-CEC2-E178E326D6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80EA234-69C7-2843-A272-9F05D47119FF}"/>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5" name="Footer Placeholder 4">
            <a:extLst>
              <a:ext uri="{FF2B5EF4-FFF2-40B4-BE49-F238E27FC236}">
                <a16:creationId xmlns:a16="http://schemas.microsoft.com/office/drawing/2014/main" id="{BC5C44B5-DF85-BB92-4289-CD702ACD56D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A19698E-4740-E398-56FD-E57797398A63}"/>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506549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BAFC-265F-9D2E-69D5-7B33AABDCF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3974F02D-E4E4-51AF-C8F9-265F0AB3A4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682F43-D717-58D3-DB9F-E72C788BB004}"/>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5" name="Footer Placeholder 4">
            <a:extLst>
              <a:ext uri="{FF2B5EF4-FFF2-40B4-BE49-F238E27FC236}">
                <a16:creationId xmlns:a16="http://schemas.microsoft.com/office/drawing/2014/main" id="{6AB06170-296B-8DF5-DE30-290A3FA422D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2A0296B-5D81-0553-AD39-B0F5F437CFCB}"/>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705009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185A-81B2-9A2A-D7B4-3ED2EC7AB7BE}"/>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F355CB3-B280-A1E8-80AD-F60C8AA0AE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BDCBBDCD-6BFB-4796-A6F3-0B5535A5F4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195D15F9-ACD0-51FA-D326-7833F2517C55}"/>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6" name="Footer Placeholder 5">
            <a:extLst>
              <a:ext uri="{FF2B5EF4-FFF2-40B4-BE49-F238E27FC236}">
                <a16:creationId xmlns:a16="http://schemas.microsoft.com/office/drawing/2014/main" id="{C03B0620-AFCE-1F1A-693B-01D6AF4EB18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F0E7A6A-70D7-2387-F899-C9096ABC90EE}"/>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970059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C1490-93D9-8B9E-F919-EA839C1F9BA1}"/>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5D3478E-811A-8BEC-33B8-278867ED20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3BE3-B431-10DB-08A7-756B26EF2B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9220B94B-7230-AC07-F12B-81CD85D7F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63A27D-BF3D-6889-C167-CF82083790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20C5210-FAD2-8E76-C11F-45209C5E0DBC}"/>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8" name="Footer Placeholder 7">
            <a:extLst>
              <a:ext uri="{FF2B5EF4-FFF2-40B4-BE49-F238E27FC236}">
                <a16:creationId xmlns:a16="http://schemas.microsoft.com/office/drawing/2014/main" id="{7CBC2DC6-22B7-CA54-37AB-A15DEF81B7CC}"/>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1FC8CE7-E631-9941-7CA6-5488424B184E}"/>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55791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9707F-A017-7FD8-E4C4-3B59AE410A92}"/>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4C8A5390-8C5E-4707-85AF-4D3908F0984B}"/>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4" name="Footer Placeholder 3">
            <a:extLst>
              <a:ext uri="{FF2B5EF4-FFF2-40B4-BE49-F238E27FC236}">
                <a16:creationId xmlns:a16="http://schemas.microsoft.com/office/drawing/2014/main" id="{7D6F68B2-2FD3-831B-F261-5DBCF0D82A3A}"/>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66C4B51-2753-0E50-A74B-28759CF7E75F}"/>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3041460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629E8-70AB-F4D7-AEDC-7476128FF2A4}"/>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3" name="Footer Placeholder 2">
            <a:extLst>
              <a:ext uri="{FF2B5EF4-FFF2-40B4-BE49-F238E27FC236}">
                <a16:creationId xmlns:a16="http://schemas.microsoft.com/office/drawing/2014/main" id="{458FFF22-82F8-0700-0B89-88EDD5DB1041}"/>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80054D03-62D2-4E39-1B1C-FD50D4B3ABAA}"/>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41924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DC8A-571A-2F81-F640-4C5408A4A4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D8A850F8-63C7-8F4A-C59E-A6D43AB6EC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5592071F-88DA-7E23-2BC8-BF14BC247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570862-FE53-E718-BC1E-67F86B532535}"/>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6" name="Footer Placeholder 5">
            <a:extLst>
              <a:ext uri="{FF2B5EF4-FFF2-40B4-BE49-F238E27FC236}">
                <a16:creationId xmlns:a16="http://schemas.microsoft.com/office/drawing/2014/main" id="{434F3E98-2076-3844-7557-9FFD10A23CF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243D9-1D4A-5150-3ABB-D70242FC0133}"/>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839737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257C5-C98C-8FF0-42D1-C176A9AC9C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24BFF53-1183-F056-1063-21E920B106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E60C5E90-B759-8A66-1F0A-F3109EC75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E8816-0F03-453B-B6F6-8E75F66494FF}"/>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6" name="Footer Placeholder 5">
            <a:extLst>
              <a:ext uri="{FF2B5EF4-FFF2-40B4-BE49-F238E27FC236}">
                <a16:creationId xmlns:a16="http://schemas.microsoft.com/office/drawing/2014/main" id="{EDCE9014-D982-06B2-1E8C-1B0CCCDB29F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EE507F5-6AC7-BC66-F312-70BFAF4A432B}"/>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603868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7768B-EF50-5A0E-2F9E-4B63657B24D3}"/>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1E17520-08A5-AB59-BA66-5C3D30D2FB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1EC4A2-4A1E-9AB6-E2D6-16413D643864}"/>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5" name="Footer Placeholder 4">
            <a:extLst>
              <a:ext uri="{FF2B5EF4-FFF2-40B4-BE49-F238E27FC236}">
                <a16:creationId xmlns:a16="http://schemas.microsoft.com/office/drawing/2014/main" id="{808370EF-312F-A5BD-2819-794D0F7511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5028731-3278-F28A-D6F2-DF00839E9AAF}"/>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3736516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F8A7A4-40F0-9F36-62EA-F939CBB0D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EFDB56E-03FD-B110-071F-132E01D89B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6D58D1-6C47-8FE5-12F9-8D6FB995F307}"/>
              </a:ext>
            </a:extLst>
          </p:cNvPr>
          <p:cNvSpPr>
            <a:spLocks noGrp="1"/>
          </p:cNvSpPr>
          <p:nvPr>
            <p:ph type="dt" sz="half" idx="10"/>
          </p:nvPr>
        </p:nvSpPr>
        <p:spPr/>
        <p:txBody>
          <a:bodyPr/>
          <a:lstStyle/>
          <a:p>
            <a:fld id="{D23050DA-9B59-43EB-803F-7B0627A1A7CB}" type="datetimeFigureOut">
              <a:rPr lang="en-PK" smtClean="0"/>
              <a:t>09/27/2026</a:t>
            </a:fld>
            <a:endParaRPr lang="en-PK"/>
          </a:p>
        </p:txBody>
      </p:sp>
      <p:sp>
        <p:nvSpPr>
          <p:cNvPr id="5" name="Footer Placeholder 4">
            <a:extLst>
              <a:ext uri="{FF2B5EF4-FFF2-40B4-BE49-F238E27FC236}">
                <a16:creationId xmlns:a16="http://schemas.microsoft.com/office/drawing/2014/main" id="{42C1E631-4093-51D6-E1F2-F0FD597A8F6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B511E47-51D6-94EE-1A04-496BA9700BBB}"/>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066783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7374D0-CA0A-570C-0A2C-F93FFA9578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E85D99B-66EE-21D4-6EE1-4CCB11BF43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C1C5CDA-0204-EFB9-BD12-13AE43525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3050DA-9B59-43EB-803F-7B0627A1A7CB}" type="datetimeFigureOut">
              <a:rPr lang="en-PK" smtClean="0"/>
              <a:t>09/27/2026</a:t>
            </a:fld>
            <a:endParaRPr lang="en-PK"/>
          </a:p>
        </p:txBody>
      </p:sp>
      <p:sp>
        <p:nvSpPr>
          <p:cNvPr id="5" name="Footer Placeholder 4">
            <a:extLst>
              <a:ext uri="{FF2B5EF4-FFF2-40B4-BE49-F238E27FC236}">
                <a16:creationId xmlns:a16="http://schemas.microsoft.com/office/drawing/2014/main" id="{6B26F4D4-BB55-C9A4-822B-F2440B9771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C470B50E-19E0-8611-9504-DAE48F60DE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E0A77A-9BD6-4017-967F-AEAC6CCB9E0C}" type="slidenum">
              <a:rPr lang="en-PK" smtClean="0"/>
              <a:t>‹#›</a:t>
            </a:fld>
            <a:endParaRPr lang="en-PK"/>
          </a:p>
        </p:txBody>
      </p:sp>
    </p:spTree>
    <p:extLst>
      <p:ext uri="{BB962C8B-B14F-4D97-AF65-F5344CB8AC3E}">
        <p14:creationId xmlns:p14="http://schemas.microsoft.com/office/powerpoint/2010/main" val="27811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54F1-789F-96BB-AB29-DE1D6CF67B9E}"/>
              </a:ext>
            </a:extLst>
          </p:cNvPr>
          <p:cNvSpPr>
            <a:spLocks noGrp="1"/>
          </p:cNvSpPr>
          <p:nvPr>
            <p:ph type="title"/>
          </p:nvPr>
        </p:nvSpPr>
        <p:spPr>
          <a:xfrm>
            <a:off x="838200" y="2310956"/>
            <a:ext cx="10515600" cy="2236088"/>
          </a:xfrm>
        </p:spPr>
        <p:txBody>
          <a:bodyPr>
            <a:noAutofit/>
          </a:bodyPr>
          <a:lstStyle/>
          <a:p>
            <a:pPr algn="ctr"/>
            <a:r>
              <a:rPr lang="en-US" sz="4800" dirty="0"/>
              <a:t>Information Security (</a:t>
            </a:r>
            <a:r>
              <a:rPr lang="en-US" sz="4800" dirty="0">
                <a:solidFill>
                  <a:schemeClr val="accent1">
                    <a:lumMod val="75000"/>
                  </a:schemeClr>
                </a:solidFill>
              </a:rPr>
              <a:t>CSNC3413</a:t>
            </a:r>
            <a:r>
              <a:rPr lang="en-US" sz="4800" dirty="0"/>
              <a:t>) </a:t>
            </a:r>
            <a:br>
              <a:rPr lang="en-US" sz="4800" dirty="0"/>
            </a:br>
            <a:br>
              <a:rPr lang="en-US" sz="4800" dirty="0"/>
            </a:br>
            <a:r>
              <a:rPr lang="en-US" sz="4800" dirty="0"/>
              <a:t>Lecture 1</a:t>
            </a:r>
            <a:endParaRPr lang="en-PK" sz="4800" dirty="0"/>
          </a:p>
        </p:txBody>
      </p:sp>
    </p:spTree>
    <p:extLst>
      <p:ext uri="{BB962C8B-B14F-4D97-AF65-F5344CB8AC3E}">
        <p14:creationId xmlns:p14="http://schemas.microsoft.com/office/powerpoint/2010/main" val="4106003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85725-F427-ED10-1611-6D574B9DF9FC}"/>
              </a:ext>
            </a:extLst>
          </p:cNvPr>
          <p:cNvSpPr>
            <a:spLocks noGrp="1"/>
          </p:cNvSpPr>
          <p:nvPr>
            <p:ph type="title"/>
          </p:nvPr>
        </p:nvSpPr>
        <p:spPr/>
        <p:txBody>
          <a:bodyPr/>
          <a:lstStyle/>
          <a:p>
            <a:r>
              <a:rPr lang="en-US" dirty="0"/>
              <a:t>Contents</a:t>
            </a:r>
            <a:endParaRPr lang="en-PK" dirty="0"/>
          </a:p>
        </p:txBody>
      </p:sp>
      <p:sp>
        <p:nvSpPr>
          <p:cNvPr id="3" name="Content Placeholder 2">
            <a:extLst>
              <a:ext uri="{FF2B5EF4-FFF2-40B4-BE49-F238E27FC236}">
                <a16:creationId xmlns:a16="http://schemas.microsoft.com/office/drawing/2014/main" id="{F16711C4-56C9-E308-9D9E-378444125B6D}"/>
              </a:ext>
            </a:extLst>
          </p:cNvPr>
          <p:cNvSpPr>
            <a:spLocks noGrp="1"/>
          </p:cNvSpPr>
          <p:nvPr>
            <p:ph idx="1"/>
          </p:nvPr>
        </p:nvSpPr>
        <p:spPr/>
        <p:txBody>
          <a:bodyPr>
            <a:normAutofit/>
          </a:bodyPr>
          <a:lstStyle/>
          <a:p>
            <a:r>
              <a:rPr lang="en-US" b="1" dirty="0"/>
              <a:t>Introduction of Information Security</a:t>
            </a:r>
          </a:p>
          <a:p>
            <a:pPr lvl="1">
              <a:buFont typeface="Courier New" panose="02070309020205020404" pitchFamily="49" charset="0"/>
              <a:buChar char="o"/>
            </a:pPr>
            <a:r>
              <a:rPr lang="en-US" dirty="0"/>
              <a:t>Basics of Information Security</a:t>
            </a:r>
          </a:p>
          <a:p>
            <a:pPr lvl="1">
              <a:buFont typeface="Courier New" panose="02070309020205020404" pitchFamily="49" charset="0"/>
              <a:buChar char="o"/>
            </a:pPr>
            <a:r>
              <a:rPr lang="en-US" dirty="0"/>
              <a:t>Basic terminologies</a:t>
            </a:r>
          </a:p>
          <a:p>
            <a:pPr lvl="1">
              <a:buFont typeface="Courier New" panose="02070309020205020404" pitchFamily="49" charset="0"/>
              <a:buChar char="o"/>
            </a:pPr>
            <a:r>
              <a:rPr lang="en-US" dirty="0"/>
              <a:t>CIA Model</a:t>
            </a:r>
          </a:p>
          <a:p>
            <a:pPr lvl="1">
              <a:buFont typeface="Courier New" panose="02070309020205020404" pitchFamily="49" charset="0"/>
              <a:buChar char="o"/>
            </a:pPr>
            <a:r>
              <a:rPr lang="en-US" dirty="0"/>
              <a:t>Solution of CIA related Issues?		</a:t>
            </a:r>
          </a:p>
          <a:p>
            <a:pPr lvl="1">
              <a:buFont typeface="Courier New" panose="02070309020205020404" pitchFamily="49" charset="0"/>
              <a:buChar char="o"/>
            </a:pPr>
            <a:r>
              <a:rPr lang="en-US" dirty="0"/>
              <a:t>Social Engineering</a:t>
            </a:r>
          </a:p>
          <a:p>
            <a:endParaRPr lang="en-PK" dirty="0"/>
          </a:p>
        </p:txBody>
      </p:sp>
    </p:spTree>
    <p:extLst>
      <p:ext uri="{BB962C8B-B14F-4D97-AF65-F5344CB8AC3E}">
        <p14:creationId xmlns:p14="http://schemas.microsoft.com/office/powerpoint/2010/main" val="1120277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4E9CF5-89E1-CB43-7A48-48C3B3C4C1FF}"/>
              </a:ext>
            </a:extLst>
          </p:cNvPr>
          <p:cNvSpPr>
            <a:spLocks noGrp="1"/>
          </p:cNvSpPr>
          <p:nvPr>
            <p:ph idx="1"/>
          </p:nvPr>
        </p:nvSpPr>
        <p:spPr>
          <a:xfrm>
            <a:off x="838200" y="2500532"/>
            <a:ext cx="10515600" cy="1856935"/>
          </a:xfrm>
        </p:spPr>
        <p:txBody>
          <a:bodyPr>
            <a:normAutofit/>
          </a:bodyPr>
          <a:lstStyle/>
          <a:p>
            <a:pPr marL="0" indent="0" algn="ctr">
              <a:buNone/>
            </a:pPr>
            <a:r>
              <a:rPr lang="en-US" sz="7200" b="1" dirty="0"/>
              <a:t>WHAT IS </a:t>
            </a:r>
            <a:r>
              <a:rPr lang="en-US" sz="7200" b="1" dirty="0">
                <a:solidFill>
                  <a:srgbClr val="FF0000"/>
                </a:solidFill>
              </a:rPr>
              <a:t>DATA</a:t>
            </a:r>
            <a:r>
              <a:rPr lang="en-US" sz="7200" b="1" dirty="0"/>
              <a:t>?</a:t>
            </a:r>
            <a:endParaRPr lang="en-PK" sz="7200" b="1" dirty="0"/>
          </a:p>
        </p:txBody>
      </p:sp>
    </p:spTree>
    <p:extLst>
      <p:ext uri="{BB962C8B-B14F-4D97-AF65-F5344CB8AC3E}">
        <p14:creationId xmlns:p14="http://schemas.microsoft.com/office/powerpoint/2010/main" val="2568170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011C-A741-1CDC-79BE-98D0A11EF771}"/>
              </a:ext>
            </a:extLst>
          </p:cNvPr>
          <p:cNvSpPr>
            <a:spLocks noGrp="1"/>
          </p:cNvSpPr>
          <p:nvPr>
            <p:ph type="title"/>
          </p:nvPr>
        </p:nvSpPr>
        <p:spPr/>
        <p:txBody>
          <a:bodyPr/>
          <a:lstStyle/>
          <a:p>
            <a:r>
              <a:rPr lang="en-US" dirty="0"/>
              <a:t>WHAT IS DATA?</a:t>
            </a:r>
            <a:endParaRPr lang="en-PK" dirty="0"/>
          </a:p>
        </p:txBody>
      </p:sp>
      <p:sp>
        <p:nvSpPr>
          <p:cNvPr id="3" name="Content Placeholder 2">
            <a:extLst>
              <a:ext uri="{FF2B5EF4-FFF2-40B4-BE49-F238E27FC236}">
                <a16:creationId xmlns:a16="http://schemas.microsoft.com/office/drawing/2014/main" id="{CA481741-15F7-302A-7744-5D512D5DF864}"/>
              </a:ext>
            </a:extLst>
          </p:cNvPr>
          <p:cNvSpPr>
            <a:spLocks noGrp="1"/>
          </p:cNvSpPr>
          <p:nvPr>
            <p:ph idx="1"/>
          </p:nvPr>
        </p:nvSpPr>
        <p:spPr/>
        <p:txBody>
          <a:bodyPr/>
          <a:lstStyle/>
          <a:p>
            <a:pPr algn="just"/>
            <a:r>
              <a:rPr lang="en-US" dirty="0"/>
              <a:t>Data is a collection of </a:t>
            </a:r>
            <a:r>
              <a:rPr lang="en-US" dirty="0">
                <a:solidFill>
                  <a:srgbClr val="FF0000"/>
                </a:solidFill>
              </a:rPr>
              <a:t>raw</a:t>
            </a:r>
            <a:r>
              <a:rPr lang="en-US" dirty="0"/>
              <a:t> facts, figures, images, audio, video, and multimedia that can be </a:t>
            </a:r>
            <a:r>
              <a:rPr lang="en-US" dirty="0">
                <a:solidFill>
                  <a:schemeClr val="accent1"/>
                </a:solidFill>
              </a:rPr>
              <a:t>stored</a:t>
            </a:r>
            <a:r>
              <a:rPr lang="en-US" dirty="0"/>
              <a:t>, </a:t>
            </a:r>
            <a:r>
              <a:rPr lang="en-US" dirty="0">
                <a:solidFill>
                  <a:schemeClr val="accent1"/>
                </a:solidFill>
              </a:rPr>
              <a:t>processed</a:t>
            </a:r>
            <a:r>
              <a:rPr lang="en-US" dirty="0"/>
              <a:t>, and </a:t>
            </a:r>
            <a:r>
              <a:rPr lang="en-US" dirty="0">
                <a:solidFill>
                  <a:schemeClr val="accent1"/>
                </a:solidFill>
              </a:rPr>
              <a:t>analyzed</a:t>
            </a:r>
            <a:r>
              <a:rPr lang="en-US" dirty="0"/>
              <a:t>.</a:t>
            </a:r>
          </a:p>
          <a:p>
            <a:pPr algn="just"/>
            <a:r>
              <a:rPr lang="en-US" dirty="0"/>
              <a:t>Data is often </a:t>
            </a:r>
            <a:r>
              <a:rPr lang="en-US" dirty="0">
                <a:solidFill>
                  <a:srgbClr val="FF0000"/>
                </a:solidFill>
              </a:rPr>
              <a:t>unorganized</a:t>
            </a:r>
            <a:r>
              <a:rPr lang="en-US" dirty="0"/>
              <a:t> and lacks </a:t>
            </a:r>
            <a:r>
              <a:rPr lang="en-US" dirty="0">
                <a:solidFill>
                  <a:schemeClr val="accent1"/>
                </a:solidFill>
              </a:rPr>
              <a:t>context</a:t>
            </a:r>
            <a:r>
              <a:rPr lang="en-US" dirty="0"/>
              <a:t>, but it can be used to generate information.</a:t>
            </a:r>
          </a:p>
          <a:p>
            <a:endParaRPr lang="en-PK" dirty="0"/>
          </a:p>
        </p:txBody>
      </p:sp>
    </p:spTree>
    <p:extLst>
      <p:ext uri="{BB962C8B-B14F-4D97-AF65-F5344CB8AC3E}">
        <p14:creationId xmlns:p14="http://schemas.microsoft.com/office/powerpoint/2010/main" val="2303545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527E1-17FB-EDBD-5F11-8C838563DEC7}"/>
              </a:ext>
            </a:extLst>
          </p:cNvPr>
          <p:cNvSpPr>
            <a:spLocks noGrp="1"/>
          </p:cNvSpPr>
          <p:nvPr>
            <p:ph type="title"/>
          </p:nvPr>
        </p:nvSpPr>
        <p:spPr/>
        <p:txBody>
          <a:bodyPr/>
          <a:lstStyle/>
          <a:p>
            <a:r>
              <a:rPr lang="en-US" dirty="0"/>
              <a:t>WHAT IS INFORMATION?</a:t>
            </a:r>
            <a:endParaRPr lang="en-PK" dirty="0"/>
          </a:p>
        </p:txBody>
      </p:sp>
      <p:sp>
        <p:nvSpPr>
          <p:cNvPr id="3" name="Content Placeholder 2">
            <a:extLst>
              <a:ext uri="{FF2B5EF4-FFF2-40B4-BE49-F238E27FC236}">
                <a16:creationId xmlns:a16="http://schemas.microsoft.com/office/drawing/2014/main" id="{24A76CA0-042E-84C1-F818-0F01DDED7F11}"/>
              </a:ext>
            </a:extLst>
          </p:cNvPr>
          <p:cNvSpPr>
            <a:spLocks noGrp="1"/>
          </p:cNvSpPr>
          <p:nvPr>
            <p:ph idx="1"/>
          </p:nvPr>
        </p:nvSpPr>
        <p:spPr/>
        <p:txBody>
          <a:bodyPr/>
          <a:lstStyle/>
          <a:p>
            <a:pPr algn="just"/>
            <a:r>
              <a:rPr lang="en-US" dirty="0"/>
              <a:t>Information is </a:t>
            </a:r>
            <a:r>
              <a:rPr lang="en-US" dirty="0">
                <a:solidFill>
                  <a:schemeClr val="accent1"/>
                </a:solidFill>
              </a:rPr>
              <a:t>processed</a:t>
            </a:r>
            <a:r>
              <a:rPr lang="en-US" dirty="0"/>
              <a:t> and </a:t>
            </a:r>
            <a:r>
              <a:rPr lang="en-US" dirty="0">
                <a:solidFill>
                  <a:srgbClr val="FF0000"/>
                </a:solidFill>
              </a:rPr>
              <a:t>contextualized</a:t>
            </a:r>
            <a:r>
              <a:rPr lang="en-US" dirty="0"/>
              <a:t> data that has meaning and relevance to a specific context or situation. Information is often structured and organized in a way that makes it easier to understand and use.</a:t>
            </a:r>
            <a:endParaRPr lang="en-PK" dirty="0"/>
          </a:p>
        </p:txBody>
      </p:sp>
    </p:spTree>
    <p:extLst>
      <p:ext uri="{BB962C8B-B14F-4D97-AF65-F5344CB8AC3E}">
        <p14:creationId xmlns:p14="http://schemas.microsoft.com/office/powerpoint/2010/main" val="4118260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A128FAA-2611-36CE-7446-F9412EEA7605}"/>
              </a:ext>
            </a:extLst>
          </p:cNvPr>
          <p:cNvPicPr>
            <a:picLocks noGrp="1" noChangeAspect="1"/>
          </p:cNvPicPr>
          <p:nvPr>
            <p:ph idx="1"/>
          </p:nvPr>
        </p:nvPicPr>
        <p:blipFill rotWithShape="1">
          <a:blip r:embed="rId2"/>
          <a:srcRect b="3909"/>
          <a:stretch/>
        </p:blipFill>
        <p:spPr>
          <a:xfrm>
            <a:off x="2145175" y="607184"/>
            <a:ext cx="7519330" cy="5945953"/>
          </a:xfrm>
        </p:spPr>
      </p:pic>
      <p:sp>
        <p:nvSpPr>
          <p:cNvPr id="6" name="TextBox 5">
            <a:extLst>
              <a:ext uri="{FF2B5EF4-FFF2-40B4-BE49-F238E27FC236}">
                <a16:creationId xmlns:a16="http://schemas.microsoft.com/office/drawing/2014/main" id="{09990AFF-25E1-AAC5-EA98-D245BBC22B2A}"/>
              </a:ext>
            </a:extLst>
          </p:cNvPr>
          <p:cNvSpPr txBox="1"/>
          <p:nvPr/>
        </p:nvSpPr>
        <p:spPr>
          <a:xfrm>
            <a:off x="727158" y="314796"/>
            <a:ext cx="2836033" cy="584775"/>
          </a:xfrm>
          <a:prstGeom prst="rect">
            <a:avLst/>
          </a:prstGeom>
          <a:noFill/>
        </p:spPr>
        <p:txBody>
          <a:bodyPr wrap="none" rtlCol="0">
            <a:spAutoFit/>
          </a:bodyPr>
          <a:lstStyle/>
          <a:p>
            <a:r>
              <a:rPr lang="en-US" sz="3200" b="1" dirty="0"/>
              <a:t>DIKIW - </a:t>
            </a:r>
            <a:r>
              <a:rPr lang="en-US" sz="3200" b="1" dirty="0">
                <a:solidFill>
                  <a:srgbClr val="FF0000"/>
                </a:solidFill>
              </a:rPr>
              <a:t>MODEL</a:t>
            </a:r>
            <a:endParaRPr lang="en-PK" sz="3200" b="1" dirty="0">
              <a:solidFill>
                <a:srgbClr val="FF0000"/>
              </a:solidFill>
            </a:endParaRPr>
          </a:p>
        </p:txBody>
      </p:sp>
    </p:spTree>
    <p:extLst>
      <p:ext uri="{BB962C8B-B14F-4D97-AF65-F5344CB8AC3E}">
        <p14:creationId xmlns:p14="http://schemas.microsoft.com/office/powerpoint/2010/main" val="4233799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453E5-D22C-1334-D9BA-1644E5439326}"/>
              </a:ext>
            </a:extLst>
          </p:cNvPr>
          <p:cNvSpPr>
            <a:spLocks noGrp="1"/>
          </p:cNvSpPr>
          <p:nvPr>
            <p:ph type="title"/>
          </p:nvPr>
        </p:nvSpPr>
        <p:spPr/>
        <p:txBody>
          <a:bodyPr/>
          <a:lstStyle/>
          <a:p>
            <a:r>
              <a:rPr lang="en-US" sz="4400" b="1" dirty="0"/>
              <a:t>DIKIW - </a:t>
            </a:r>
            <a:r>
              <a:rPr lang="en-US" sz="4400" b="1" dirty="0">
                <a:solidFill>
                  <a:srgbClr val="FF0000"/>
                </a:solidFill>
              </a:rPr>
              <a:t>MODEL</a:t>
            </a:r>
            <a:endParaRPr lang="en-PK" dirty="0"/>
          </a:p>
        </p:txBody>
      </p:sp>
      <p:sp>
        <p:nvSpPr>
          <p:cNvPr id="3" name="Content Placeholder 2">
            <a:extLst>
              <a:ext uri="{FF2B5EF4-FFF2-40B4-BE49-F238E27FC236}">
                <a16:creationId xmlns:a16="http://schemas.microsoft.com/office/drawing/2014/main" id="{39AE850A-F5EE-936C-DE04-79157D7DEA53}"/>
              </a:ext>
            </a:extLst>
          </p:cNvPr>
          <p:cNvSpPr>
            <a:spLocks noGrp="1"/>
          </p:cNvSpPr>
          <p:nvPr>
            <p:ph idx="1"/>
          </p:nvPr>
        </p:nvSpPr>
        <p:spPr/>
        <p:txBody>
          <a:bodyPr/>
          <a:lstStyle/>
          <a:p>
            <a:pPr algn="just"/>
            <a:r>
              <a:rPr lang="en-US" dirty="0"/>
              <a:t>The </a:t>
            </a:r>
            <a:r>
              <a:rPr lang="en-US" dirty="0">
                <a:solidFill>
                  <a:srgbClr val="FF0000"/>
                </a:solidFill>
              </a:rPr>
              <a:t>DIKIW</a:t>
            </a:r>
            <a:r>
              <a:rPr lang="en-US" dirty="0"/>
              <a:t> model is a framework that describes the relationship between data, information, knowledge, intelligence, and wisdom. </a:t>
            </a:r>
          </a:p>
          <a:p>
            <a:pPr algn="just"/>
            <a:r>
              <a:rPr lang="en-US" dirty="0"/>
              <a:t>The model suggests that data is the most basic form of information, which is then processed and contextualized to form knowledge. </a:t>
            </a:r>
          </a:p>
          <a:p>
            <a:pPr algn="just"/>
            <a:r>
              <a:rPr lang="en-US" dirty="0"/>
              <a:t>Intelligence is the ability to use knowledge to solve problems or make decisions, while wisdom is the ability to apply intelligence to achieve long-term goals and benefits.</a:t>
            </a:r>
          </a:p>
          <a:p>
            <a:pPr algn="just"/>
            <a:r>
              <a:rPr lang="en-US" dirty="0"/>
              <a:t>The DIKIW model is often used in information management and knowledge management to help organizations manage and leverage their data, information, and knowledge assets.</a:t>
            </a:r>
            <a:endParaRPr lang="en-PK" dirty="0"/>
          </a:p>
        </p:txBody>
      </p:sp>
    </p:spTree>
    <p:extLst>
      <p:ext uri="{BB962C8B-B14F-4D97-AF65-F5344CB8AC3E}">
        <p14:creationId xmlns:p14="http://schemas.microsoft.com/office/powerpoint/2010/main" val="295127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F2D5-C612-269C-632A-D38811642B0C}"/>
              </a:ext>
            </a:extLst>
          </p:cNvPr>
          <p:cNvSpPr>
            <a:spLocks noGrp="1"/>
          </p:cNvSpPr>
          <p:nvPr>
            <p:ph type="title"/>
          </p:nvPr>
        </p:nvSpPr>
        <p:spPr/>
        <p:txBody>
          <a:bodyPr/>
          <a:lstStyle/>
          <a:p>
            <a:r>
              <a:rPr lang="en-US" dirty="0"/>
              <a:t>WHAT IS AN ASSET?</a:t>
            </a:r>
            <a:endParaRPr lang="en-PK" dirty="0"/>
          </a:p>
        </p:txBody>
      </p:sp>
      <p:sp>
        <p:nvSpPr>
          <p:cNvPr id="3" name="Content Placeholder 2">
            <a:extLst>
              <a:ext uri="{FF2B5EF4-FFF2-40B4-BE49-F238E27FC236}">
                <a16:creationId xmlns:a16="http://schemas.microsoft.com/office/drawing/2014/main" id="{A8618392-3470-8857-428A-480CA749A4CE}"/>
              </a:ext>
            </a:extLst>
          </p:cNvPr>
          <p:cNvSpPr>
            <a:spLocks noGrp="1"/>
          </p:cNvSpPr>
          <p:nvPr>
            <p:ph idx="1"/>
          </p:nvPr>
        </p:nvSpPr>
        <p:spPr/>
        <p:txBody>
          <a:bodyPr/>
          <a:lstStyle/>
          <a:p>
            <a:r>
              <a:rPr lang="en-US" b="1" i="1" dirty="0"/>
              <a:t>An asset is what we are trying to protect.</a:t>
            </a:r>
          </a:p>
          <a:p>
            <a:r>
              <a:rPr lang="en-US" dirty="0"/>
              <a:t>Anything that is valuable for an organization</a:t>
            </a:r>
          </a:p>
          <a:p>
            <a:pPr lvl="1"/>
            <a:r>
              <a:rPr lang="en-US" sz="2800" dirty="0">
                <a:solidFill>
                  <a:srgbClr val="FF0000"/>
                </a:solidFill>
              </a:rPr>
              <a:t>Information</a:t>
            </a:r>
          </a:p>
          <a:p>
            <a:pPr lvl="1"/>
            <a:r>
              <a:rPr lang="en-US" sz="2800" dirty="0">
                <a:solidFill>
                  <a:srgbClr val="FF0000"/>
                </a:solidFill>
              </a:rPr>
              <a:t>Property</a:t>
            </a:r>
          </a:p>
          <a:p>
            <a:pPr lvl="1"/>
            <a:r>
              <a:rPr lang="en-US" sz="2800" dirty="0">
                <a:solidFill>
                  <a:srgbClr val="FF0000"/>
                </a:solidFill>
              </a:rPr>
              <a:t>Software</a:t>
            </a:r>
          </a:p>
          <a:p>
            <a:pPr lvl="1"/>
            <a:r>
              <a:rPr lang="en-US" sz="2800" dirty="0">
                <a:solidFill>
                  <a:srgbClr val="FF0000"/>
                </a:solidFill>
              </a:rPr>
              <a:t>Hardware</a:t>
            </a:r>
          </a:p>
          <a:p>
            <a:pPr lvl="1"/>
            <a:r>
              <a:rPr lang="en-US" sz="2800" dirty="0">
                <a:solidFill>
                  <a:srgbClr val="FF0000"/>
                </a:solidFill>
              </a:rPr>
              <a:t>Human</a:t>
            </a:r>
            <a:endParaRPr lang="en-PK" sz="2800" dirty="0">
              <a:solidFill>
                <a:srgbClr val="FF0000"/>
              </a:solidFill>
            </a:endParaRPr>
          </a:p>
        </p:txBody>
      </p:sp>
    </p:spTree>
    <p:extLst>
      <p:ext uri="{BB962C8B-B14F-4D97-AF65-F5344CB8AC3E}">
        <p14:creationId xmlns:p14="http://schemas.microsoft.com/office/powerpoint/2010/main" val="3003694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5FF60-509E-DFB2-747D-18FBC2E9AF1D}"/>
              </a:ext>
            </a:extLst>
          </p:cNvPr>
          <p:cNvSpPr>
            <a:spLocks noGrp="1"/>
          </p:cNvSpPr>
          <p:nvPr>
            <p:ph type="title"/>
          </p:nvPr>
        </p:nvSpPr>
        <p:spPr/>
        <p:txBody>
          <a:bodyPr/>
          <a:lstStyle/>
          <a:p>
            <a:r>
              <a:rPr lang="en-US" dirty="0"/>
              <a:t>WHAT IS A THREAT?</a:t>
            </a:r>
            <a:endParaRPr lang="en-PK" dirty="0"/>
          </a:p>
        </p:txBody>
      </p:sp>
      <p:sp>
        <p:nvSpPr>
          <p:cNvPr id="3" name="Content Placeholder 2">
            <a:extLst>
              <a:ext uri="{FF2B5EF4-FFF2-40B4-BE49-F238E27FC236}">
                <a16:creationId xmlns:a16="http://schemas.microsoft.com/office/drawing/2014/main" id="{33AA882F-1959-5863-4288-A9B8441F01CD}"/>
              </a:ext>
            </a:extLst>
          </p:cNvPr>
          <p:cNvSpPr>
            <a:spLocks noGrp="1"/>
          </p:cNvSpPr>
          <p:nvPr>
            <p:ph idx="1"/>
          </p:nvPr>
        </p:nvSpPr>
        <p:spPr/>
        <p:txBody>
          <a:bodyPr>
            <a:normAutofit/>
          </a:bodyPr>
          <a:lstStyle/>
          <a:p>
            <a:r>
              <a:rPr lang="en-US" dirty="0"/>
              <a:t>Any thing that can cause harm</a:t>
            </a:r>
          </a:p>
          <a:p>
            <a:pPr lvl="1"/>
            <a:r>
              <a:rPr lang="en-US" sz="2800" dirty="0"/>
              <a:t>From someone else</a:t>
            </a:r>
          </a:p>
          <a:p>
            <a:r>
              <a:rPr lang="en-US" dirty="0"/>
              <a:t>A threat is a potential danger to an asset (information)</a:t>
            </a:r>
          </a:p>
          <a:p>
            <a:endParaRPr lang="en-US" dirty="0"/>
          </a:p>
          <a:p>
            <a:r>
              <a:rPr lang="en-US" b="1" dirty="0"/>
              <a:t>Threat </a:t>
            </a:r>
            <a:r>
              <a:rPr lang="en-US" b="1" dirty="0">
                <a:solidFill>
                  <a:srgbClr val="FF0000"/>
                </a:solidFill>
              </a:rPr>
              <a:t>Agent</a:t>
            </a:r>
            <a:r>
              <a:rPr lang="en-US" dirty="0"/>
              <a:t>:</a:t>
            </a:r>
          </a:p>
          <a:p>
            <a:pPr lvl="1"/>
            <a:r>
              <a:rPr lang="en-US" sz="2800" dirty="0"/>
              <a:t>The entity which causes threat to happen</a:t>
            </a:r>
          </a:p>
          <a:p>
            <a:pPr lvl="1"/>
            <a:r>
              <a:rPr lang="en-US" sz="2800" b="1" u="sng" dirty="0"/>
              <a:t>Example</a:t>
            </a:r>
            <a:r>
              <a:rPr lang="en-US" sz="2800" b="1" dirty="0"/>
              <a:t>: </a:t>
            </a:r>
            <a:r>
              <a:rPr lang="en-US" sz="2800" dirty="0"/>
              <a:t>An intruder in a system, Malware, Nature</a:t>
            </a:r>
            <a:endParaRPr lang="en-PK" sz="2800" dirty="0"/>
          </a:p>
        </p:txBody>
      </p:sp>
    </p:spTree>
    <p:extLst>
      <p:ext uri="{BB962C8B-B14F-4D97-AF65-F5344CB8AC3E}">
        <p14:creationId xmlns:p14="http://schemas.microsoft.com/office/powerpoint/2010/main" val="263817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5139A-27A3-2BBC-CCCD-DC4F314CEF8B}"/>
              </a:ext>
            </a:extLst>
          </p:cNvPr>
          <p:cNvSpPr>
            <a:spLocks noGrp="1"/>
          </p:cNvSpPr>
          <p:nvPr>
            <p:ph type="title"/>
          </p:nvPr>
        </p:nvSpPr>
        <p:spPr/>
        <p:txBody>
          <a:bodyPr/>
          <a:lstStyle/>
          <a:p>
            <a:r>
              <a:rPr lang="en-US" dirty="0"/>
              <a:t>WHAT IS A VULNERABILITY?</a:t>
            </a:r>
            <a:endParaRPr lang="en-PK" dirty="0"/>
          </a:p>
        </p:txBody>
      </p:sp>
      <p:sp>
        <p:nvSpPr>
          <p:cNvPr id="3" name="Content Placeholder 2">
            <a:extLst>
              <a:ext uri="{FF2B5EF4-FFF2-40B4-BE49-F238E27FC236}">
                <a16:creationId xmlns:a16="http://schemas.microsoft.com/office/drawing/2014/main" id="{67D7ABF7-63E9-05BB-B4C6-6755E33FED37}"/>
              </a:ext>
            </a:extLst>
          </p:cNvPr>
          <p:cNvSpPr>
            <a:spLocks noGrp="1"/>
          </p:cNvSpPr>
          <p:nvPr>
            <p:ph idx="1"/>
          </p:nvPr>
        </p:nvSpPr>
        <p:spPr/>
        <p:txBody>
          <a:bodyPr/>
          <a:lstStyle/>
          <a:p>
            <a:r>
              <a:rPr lang="en-US" dirty="0"/>
              <a:t>A weakness or gap in our protection efforts.</a:t>
            </a:r>
          </a:p>
          <a:p>
            <a:r>
              <a:rPr lang="en-US" dirty="0"/>
              <a:t>It makes an attack possible.</a:t>
            </a:r>
          </a:p>
          <a:p>
            <a:endParaRPr lang="en-US" dirty="0"/>
          </a:p>
          <a:p>
            <a:r>
              <a:rPr lang="en-US" i="1" dirty="0">
                <a:solidFill>
                  <a:srgbClr val="FF0000"/>
                </a:solidFill>
              </a:rPr>
              <a:t>Vulnerability is weakness or gap in a security program that can be exploited by threats to gain unauthorized access to an asset.</a:t>
            </a:r>
            <a:endParaRPr lang="en-PK" i="1" dirty="0">
              <a:solidFill>
                <a:srgbClr val="FF0000"/>
              </a:solidFill>
            </a:endParaRPr>
          </a:p>
        </p:txBody>
      </p:sp>
    </p:spTree>
    <p:extLst>
      <p:ext uri="{BB962C8B-B14F-4D97-AF65-F5344CB8AC3E}">
        <p14:creationId xmlns:p14="http://schemas.microsoft.com/office/powerpoint/2010/main" val="4098557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73419-7E7B-8EC2-3C43-377B9E47AE2F}"/>
              </a:ext>
            </a:extLst>
          </p:cNvPr>
          <p:cNvSpPr>
            <a:spLocks noGrp="1"/>
          </p:cNvSpPr>
          <p:nvPr>
            <p:ph type="title"/>
          </p:nvPr>
        </p:nvSpPr>
        <p:spPr/>
        <p:txBody>
          <a:bodyPr/>
          <a:lstStyle/>
          <a:p>
            <a:r>
              <a:rPr lang="en-US" dirty="0"/>
              <a:t>WHAT IS RISK?</a:t>
            </a:r>
            <a:endParaRPr lang="en-PK" dirty="0"/>
          </a:p>
        </p:txBody>
      </p:sp>
      <p:sp>
        <p:nvSpPr>
          <p:cNvPr id="3" name="Content Placeholder 2">
            <a:extLst>
              <a:ext uri="{FF2B5EF4-FFF2-40B4-BE49-F238E27FC236}">
                <a16:creationId xmlns:a16="http://schemas.microsoft.com/office/drawing/2014/main" id="{0A0887F7-6523-BDE9-9EBC-E648B7107A3C}"/>
              </a:ext>
            </a:extLst>
          </p:cNvPr>
          <p:cNvSpPr>
            <a:spLocks noGrp="1"/>
          </p:cNvSpPr>
          <p:nvPr>
            <p:ph idx="1"/>
          </p:nvPr>
        </p:nvSpPr>
        <p:spPr/>
        <p:txBody>
          <a:bodyPr/>
          <a:lstStyle/>
          <a:p>
            <a:r>
              <a:rPr lang="en-US" dirty="0"/>
              <a:t>The potential for loss, damage or destruction of an asset as a result of a threat exploiting a vulnerability.</a:t>
            </a:r>
          </a:p>
          <a:p>
            <a:endParaRPr lang="en-US" dirty="0"/>
          </a:p>
          <a:p>
            <a:endParaRPr lang="en-US" dirty="0"/>
          </a:p>
          <a:p>
            <a:pPr lvl="1">
              <a:buClr>
                <a:srgbClr val="FF0000"/>
              </a:buClr>
              <a:buFont typeface="Aldhabi" panose="01000000000000000000" pitchFamily="2" charset="-78"/>
              <a:buChar char="→"/>
            </a:pPr>
            <a:r>
              <a:rPr lang="en-US" sz="2800" dirty="0"/>
              <a:t>A </a:t>
            </a:r>
            <a:r>
              <a:rPr lang="en-US" sz="2800" dirty="0">
                <a:solidFill>
                  <a:schemeClr val="accent1"/>
                </a:solidFill>
              </a:rPr>
              <a:t>risk</a:t>
            </a:r>
            <a:r>
              <a:rPr lang="en-US" sz="2800" dirty="0"/>
              <a:t> is a </a:t>
            </a:r>
            <a:r>
              <a:rPr lang="en-US" sz="2800" b="1" i="1" dirty="0">
                <a:solidFill>
                  <a:srgbClr val="FF0000"/>
                </a:solidFill>
              </a:rPr>
              <a:t>possible</a:t>
            </a:r>
            <a:r>
              <a:rPr lang="en-US" sz="2800" dirty="0"/>
              <a:t> event which could cause a loss</a:t>
            </a:r>
          </a:p>
          <a:p>
            <a:pPr lvl="1">
              <a:buClr>
                <a:srgbClr val="FF0000"/>
              </a:buClr>
              <a:buFont typeface="Aldhabi" panose="01000000000000000000" pitchFamily="2" charset="-78"/>
              <a:buChar char="→"/>
            </a:pPr>
            <a:r>
              <a:rPr lang="en-US" sz="2800" i="1" u="sng" dirty="0"/>
              <a:t>Own perception</a:t>
            </a:r>
          </a:p>
          <a:p>
            <a:pPr lvl="1">
              <a:buClr>
                <a:srgbClr val="FF0000"/>
              </a:buClr>
              <a:buFont typeface="Aldhabi" panose="01000000000000000000" pitchFamily="2" charset="-78"/>
              <a:buChar char="→"/>
            </a:pPr>
            <a:r>
              <a:rPr lang="en-US" sz="2800" dirty="0"/>
              <a:t>Risk = F(Threat, Vulnerability, Asset)</a:t>
            </a:r>
            <a:endParaRPr lang="en-PK" sz="2800" dirty="0"/>
          </a:p>
        </p:txBody>
      </p:sp>
    </p:spTree>
    <p:extLst>
      <p:ext uri="{BB962C8B-B14F-4D97-AF65-F5344CB8AC3E}">
        <p14:creationId xmlns:p14="http://schemas.microsoft.com/office/powerpoint/2010/main" val="3814442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E15BB2-9F26-C3C2-C5C1-64ED2315B51C}"/>
              </a:ext>
            </a:extLst>
          </p:cNvPr>
          <p:cNvPicPr>
            <a:picLocks noGrp="1" noChangeAspect="1"/>
          </p:cNvPicPr>
          <p:nvPr>
            <p:ph idx="1"/>
          </p:nvPr>
        </p:nvPicPr>
        <p:blipFill>
          <a:blip r:embed="rId2"/>
          <a:stretch>
            <a:fillRect/>
          </a:stretch>
        </p:blipFill>
        <p:spPr>
          <a:xfrm>
            <a:off x="3055620" y="316230"/>
            <a:ext cx="6080759" cy="6225540"/>
          </a:xfrm>
        </p:spPr>
      </p:pic>
    </p:spTree>
    <p:extLst>
      <p:ext uri="{BB962C8B-B14F-4D97-AF65-F5344CB8AC3E}">
        <p14:creationId xmlns:p14="http://schemas.microsoft.com/office/powerpoint/2010/main" val="580179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DF033-6A57-14E6-72D1-ED0C8C1F60D8}"/>
              </a:ext>
            </a:extLst>
          </p:cNvPr>
          <p:cNvSpPr>
            <a:spLocks noGrp="1"/>
          </p:cNvSpPr>
          <p:nvPr>
            <p:ph idx="1"/>
          </p:nvPr>
        </p:nvSpPr>
        <p:spPr>
          <a:xfrm>
            <a:off x="838200" y="167640"/>
            <a:ext cx="10515600" cy="6009323"/>
          </a:xfrm>
        </p:spPr>
        <p:txBody>
          <a:bodyPr/>
          <a:lstStyle/>
          <a:p>
            <a:r>
              <a:rPr lang="en-US" dirty="0"/>
              <a:t>Risk is the intersection of assets, threats, and vulnerabilities.</a:t>
            </a:r>
          </a:p>
          <a:p>
            <a:endParaRPr lang="en-PK" dirty="0"/>
          </a:p>
        </p:txBody>
      </p:sp>
      <p:pic>
        <p:nvPicPr>
          <p:cNvPr id="5" name="Picture 4">
            <a:extLst>
              <a:ext uri="{FF2B5EF4-FFF2-40B4-BE49-F238E27FC236}">
                <a16:creationId xmlns:a16="http://schemas.microsoft.com/office/drawing/2014/main" id="{B3271AC6-6E5D-B1D1-35EE-FC462026CE0B}"/>
              </a:ext>
            </a:extLst>
          </p:cNvPr>
          <p:cNvPicPr>
            <a:picLocks noChangeAspect="1"/>
          </p:cNvPicPr>
          <p:nvPr/>
        </p:nvPicPr>
        <p:blipFill>
          <a:blip r:embed="rId2"/>
          <a:stretch>
            <a:fillRect/>
          </a:stretch>
        </p:blipFill>
        <p:spPr>
          <a:xfrm>
            <a:off x="121156" y="1397553"/>
            <a:ext cx="11949687" cy="4062894"/>
          </a:xfrm>
          <a:prstGeom prst="rect">
            <a:avLst/>
          </a:prstGeom>
        </p:spPr>
      </p:pic>
    </p:spTree>
    <p:extLst>
      <p:ext uri="{BB962C8B-B14F-4D97-AF65-F5344CB8AC3E}">
        <p14:creationId xmlns:p14="http://schemas.microsoft.com/office/powerpoint/2010/main" val="372613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3375-FF47-446F-7ABB-03A8ABF1A58F}"/>
              </a:ext>
            </a:extLst>
          </p:cNvPr>
          <p:cNvSpPr>
            <a:spLocks noGrp="1"/>
          </p:cNvSpPr>
          <p:nvPr>
            <p:ph type="title"/>
          </p:nvPr>
        </p:nvSpPr>
        <p:spPr/>
        <p:txBody>
          <a:bodyPr/>
          <a:lstStyle/>
          <a:p>
            <a:r>
              <a:rPr lang="en-US" dirty="0"/>
              <a:t>EXPOSURE </a:t>
            </a:r>
            <a:r>
              <a:rPr lang="en-US" dirty="0">
                <a:solidFill>
                  <a:srgbClr val="FF0000"/>
                </a:solidFill>
              </a:rPr>
              <a:t>FACTOR</a:t>
            </a:r>
            <a:r>
              <a:rPr lang="en-US" dirty="0"/>
              <a:t> AND </a:t>
            </a:r>
            <a:r>
              <a:rPr lang="en-US" dirty="0">
                <a:solidFill>
                  <a:srgbClr val="FF0000"/>
                </a:solidFill>
              </a:rPr>
              <a:t>IMPACT </a:t>
            </a:r>
            <a:endParaRPr lang="en-PK" dirty="0">
              <a:solidFill>
                <a:srgbClr val="FF0000"/>
              </a:solidFill>
            </a:endParaRPr>
          </a:p>
        </p:txBody>
      </p:sp>
      <p:sp>
        <p:nvSpPr>
          <p:cNvPr id="3" name="Content Placeholder 2">
            <a:extLst>
              <a:ext uri="{FF2B5EF4-FFF2-40B4-BE49-F238E27FC236}">
                <a16:creationId xmlns:a16="http://schemas.microsoft.com/office/drawing/2014/main" id="{1A61EDD5-74FB-0C74-207A-9F985B0F63B7}"/>
              </a:ext>
            </a:extLst>
          </p:cNvPr>
          <p:cNvSpPr>
            <a:spLocks noGrp="1"/>
          </p:cNvSpPr>
          <p:nvPr>
            <p:ph idx="1"/>
          </p:nvPr>
        </p:nvSpPr>
        <p:spPr/>
        <p:txBody>
          <a:bodyPr/>
          <a:lstStyle/>
          <a:p>
            <a:pPr algn="just"/>
            <a:r>
              <a:rPr lang="en-US" dirty="0"/>
              <a:t>Exposure Factor and Impact are two terms that are commonly used in the field of risk management.</a:t>
            </a:r>
          </a:p>
          <a:p>
            <a:pPr algn="just"/>
            <a:r>
              <a:rPr lang="en-US" dirty="0"/>
              <a:t>Exposure Factor refers to the percentage of loss that an asset may experience due to a specific threat. </a:t>
            </a:r>
          </a:p>
          <a:p>
            <a:pPr algn="just"/>
            <a:r>
              <a:rPr lang="en-US" dirty="0"/>
              <a:t>In other words, it represents the potential damage that a threat can cause to an asset. </a:t>
            </a:r>
          </a:p>
          <a:p>
            <a:pPr algn="just"/>
            <a:r>
              <a:rPr lang="en-US" dirty="0"/>
              <a:t>This percentage is usually estimated based on the asset's value, the likelihood of the threat occurring, and the vulnerability of the asset to the threat.</a:t>
            </a:r>
            <a:endParaRPr lang="en-PK" dirty="0"/>
          </a:p>
        </p:txBody>
      </p:sp>
    </p:spTree>
    <p:extLst>
      <p:ext uri="{BB962C8B-B14F-4D97-AF65-F5344CB8AC3E}">
        <p14:creationId xmlns:p14="http://schemas.microsoft.com/office/powerpoint/2010/main" val="2344586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32914-85B0-E845-8520-0AF6A7CC7460}"/>
              </a:ext>
            </a:extLst>
          </p:cNvPr>
          <p:cNvSpPr>
            <a:spLocks noGrp="1"/>
          </p:cNvSpPr>
          <p:nvPr>
            <p:ph type="title"/>
          </p:nvPr>
        </p:nvSpPr>
        <p:spPr/>
        <p:txBody>
          <a:bodyPr/>
          <a:lstStyle/>
          <a:p>
            <a:r>
              <a:rPr lang="en-US" dirty="0"/>
              <a:t>EXPOSURE </a:t>
            </a:r>
            <a:r>
              <a:rPr lang="en-US" dirty="0">
                <a:solidFill>
                  <a:srgbClr val="FF0000"/>
                </a:solidFill>
              </a:rPr>
              <a:t>FACTOR</a:t>
            </a:r>
            <a:r>
              <a:rPr lang="en-US" dirty="0"/>
              <a:t> AND </a:t>
            </a:r>
            <a:r>
              <a:rPr lang="en-US" dirty="0">
                <a:solidFill>
                  <a:srgbClr val="FF0000"/>
                </a:solidFill>
              </a:rPr>
              <a:t>IMPACT </a:t>
            </a:r>
            <a:r>
              <a:rPr lang="en-US" dirty="0"/>
              <a:t>(Cont.)</a:t>
            </a:r>
            <a:endParaRPr lang="en-PK" dirty="0"/>
          </a:p>
        </p:txBody>
      </p:sp>
      <p:sp>
        <p:nvSpPr>
          <p:cNvPr id="3" name="Content Placeholder 2">
            <a:extLst>
              <a:ext uri="{FF2B5EF4-FFF2-40B4-BE49-F238E27FC236}">
                <a16:creationId xmlns:a16="http://schemas.microsoft.com/office/drawing/2014/main" id="{533F0368-0EC7-29DE-C45D-CCCCB2B577AF}"/>
              </a:ext>
            </a:extLst>
          </p:cNvPr>
          <p:cNvSpPr>
            <a:spLocks noGrp="1"/>
          </p:cNvSpPr>
          <p:nvPr>
            <p:ph idx="1"/>
          </p:nvPr>
        </p:nvSpPr>
        <p:spPr/>
        <p:txBody>
          <a:bodyPr/>
          <a:lstStyle/>
          <a:p>
            <a:r>
              <a:rPr lang="en-US" dirty="0"/>
              <a:t>Impact, on the other hand, refers to the extent of damage that a threat can cause. </a:t>
            </a:r>
          </a:p>
          <a:p>
            <a:r>
              <a:rPr lang="en-US" dirty="0"/>
              <a:t>It takes into account the Exposure Factor, as well as other factors such as the duration of the impact and the availability of backup resources. </a:t>
            </a:r>
          </a:p>
          <a:p>
            <a:r>
              <a:rPr lang="en-US" dirty="0"/>
              <a:t>Impact is usually expressed in terms of a range of values, such as low, medium, or high, based on the severity of the potential damage.</a:t>
            </a:r>
            <a:endParaRPr lang="en-PK" dirty="0"/>
          </a:p>
        </p:txBody>
      </p:sp>
    </p:spTree>
    <p:extLst>
      <p:ext uri="{BB962C8B-B14F-4D97-AF65-F5344CB8AC3E}">
        <p14:creationId xmlns:p14="http://schemas.microsoft.com/office/powerpoint/2010/main" val="888338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0FFB56D-E81B-C259-CF96-B0FB3ECA61EF}"/>
              </a:ext>
            </a:extLst>
          </p:cNvPr>
          <p:cNvPicPr>
            <a:picLocks noGrp="1" noChangeAspect="1"/>
          </p:cNvPicPr>
          <p:nvPr>
            <p:ph idx="1"/>
          </p:nvPr>
        </p:nvPicPr>
        <p:blipFill>
          <a:blip r:embed="rId2"/>
          <a:stretch>
            <a:fillRect/>
          </a:stretch>
        </p:blipFill>
        <p:spPr>
          <a:xfrm>
            <a:off x="1637270" y="372730"/>
            <a:ext cx="8917459" cy="6112540"/>
          </a:xfrm>
          <a:prstGeom prst="rect">
            <a:avLst/>
          </a:prstGeom>
        </p:spPr>
      </p:pic>
    </p:spTree>
    <p:extLst>
      <p:ext uri="{BB962C8B-B14F-4D97-AF65-F5344CB8AC3E}">
        <p14:creationId xmlns:p14="http://schemas.microsoft.com/office/powerpoint/2010/main" val="2062444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6E8FD-9A64-3463-1336-5153E96EF5AF}"/>
              </a:ext>
            </a:extLst>
          </p:cNvPr>
          <p:cNvSpPr>
            <a:spLocks noGrp="1"/>
          </p:cNvSpPr>
          <p:nvPr>
            <p:ph type="title"/>
          </p:nvPr>
        </p:nvSpPr>
        <p:spPr/>
        <p:txBody>
          <a:bodyPr/>
          <a:lstStyle/>
          <a:p>
            <a:r>
              <a:rPr lang="en-US" dirty="0"/>
              <a:t>RISK REDUCTION LEVERAGE </a:t>
            </a:r>
            <a:endParaRPr lang="en-PK" dirty="0"/>
          </a:p>
        </p:txBody>
      </p:sp>
      <p:sp>
        <p:nvSpPr>
          <p:cNvPr id="4" name="Content Placeholder 3">
            <a:extLst>
              <a:ext uri="{FF2B5EF4-FFF2-40B4-BE49-F238E27FC236}">
                <a16:creationId xmlns:a16="http://schemas.microsoft.com/office/drawing/2014/main" id="{75AB9CE9-FE20-2CC9-16BC-8855443DCDF0}"/>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9522" rIns="9522" bIns="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Risk Reduction Leverage is another Quantitative means of assessing how Risks are being managed.</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Since Risk Exposure is not absolute but relative, we can compare different exposures to one another. One of the ways we can compare such exposures is to compare the Exposure of a single event BEFORE and AFTER managing the risk. We need a simple measure to assess Risk Reduction.</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b="1" i="0" u="none" strike="noStrike" cap="none" normalizeH="0" baseline="0" dirty="0">
              <a:ln>
                <a:noFill/>
              </a:ln>
              <a:solidFill>
                <a:srgbClr val="000000"/>
              </a:solidFill>
              <a:effectLst/>
              <a:latin typeface="Verdana"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rgbClr val="000000"/>
                </a:solidFill>
                <a:effectLst/>
                <a:latin typeface="Verdana" pitchFamily="34" charset="0"/>
                <a:cs typeface="Arial" pitchFamily="34" charset="0"/>
              </a:rPr>
              <a:t>20.8.1</a:t>
            </a:r>
            <a:r>
              <a:rPr kumimoji="0" lang="en-US" sz="105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b="1" i="0" u="none" strike="noStrike" cap="none" normalizeH="0" baseline="0" dirty="0">
                <a:ln>
                  <a:noFill/>
                </a:ln>
                <a:solidFill>
                  <a:srgbClr val="000000"/>
                </a:solidFill>
                <a:effectLst/>
                <a:latin typeface="Verdana" pitchFamily="34" charset="0"/>
                <a:cs typeface="Arial" pitchFamily="34" charset="0"/>
              </a:rPr>
              <a:t>Example of Risk Reduction Leverage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Let us consider a Server with some data on it. The probability of losing the data is 20%. The cost of losing such data is measured in terms of the cost of rebuilding it. This is estimated at $20,000:</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Probability of loss                         0.2               BEFORE Resolution</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Loss                                          $20,000</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Exposure to data loss                   0.2 x $20,000 = </a:t>
            </a:r>
            <a:r>
              <a:rPr kumimoji="0" lang="en-US" b="1" i="0" u="none" strike="noStrike" cap="none" normalizeH="0" baseline="0" dirty="0">
                <a:ln>
                  <a:noFill/>
                </a:ln>
                <a:solidFill>
                  <a:srgbClr val="000000"/>
                </a:solidFill>
                <a:effectLst/>
                <a:latin typeface="Verdana" pitchFamily="34" charset="0"/>
                <a:cs typeface="Arial" pitchFamily="34" charset="0"/>
              </a:rPr>
              <a:t>$4,000</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6600" b="0" i="0" u="none" strike="noStrike" cap="none" normalizeH="0" baseline="0" dirty="0">
              <a:ln>
                <a:noFill/>
              </a:ln>
              <a:solidFill>
                <a:srgbClr val="000000"/>
              </a:solidFill>
              <a:effectLst/>
              <a:latin typeface="Verdana" pitchFamily="34" charset="0"/>
              <a:cs typeface="Arial" pitchFamily="34" charset="0"/>
            </a:endParaRPr>
          </a:p>
        </p:txBody>
      </p:sp>
      <p:pic>
        <p:nvPicPr>
          <p:cNvPr id="5" name="Picture 4">
            <a:extLst>
              <a:ext uri="{FF2B5EF4-FFF2-40B4-BE49-F238E27FC236}">
                <a16:creationId xmlns:a16="http://schemas.microsoft.com/office/drawing/2014/main" id="{BF414BAC-7A00-D1EB-F684-24407600D0F4}"/>
              </a:ext>
            </a:extLst>
          </p:cNvPr>
          <p:cNvPicPr>
            <a:picLocks noChangeAspect="1"/>
          </p:cNvPicPr>
          <p:nvPr/>
        </p:nvPicPr>
        <p:blipFill>
          <a:blip r:embed="rId2"/>
          <a:stretch>
            <a:fillRect/>
          </a:stretch>
        </p:blipFill>
        <p:spPr>
          <a:xfrm>
            <a:off x="6851731" y="3236933"/>
            <a:ext cx="3974937" cy="993734"/>
          </a:xfrm>
          <a:prstGeom prst="rect">
            <a:avLst/>
          </a:prstGeom>
        </p:spPr>
      </p:pic>
    </p:spTree>
    <p:extLst>
      <p:ext uri="{BB962C8B-B14F-4D97-AF65-F5344CB8AC3E}">
        <p14:creationId xmlns:p14="http://schemas.microsoft.com/office/powerpoint/2010/main" val="1592312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F5BF9C0-E73A-0B2F-09F6-47F88FB789F8}"/>
              </a:ext>
            </a:extLst>
          </p:cNvPr>
          <p:cNvSpPr>
            <a:spLocks noGrp="1"/>
          </p:cNvSpPr>
          <p:nvPr>
            <p:ph idx="1"/>
          </p:nvPr>
        </p:nvSpPr>
        <p:spPr>
          <a:xfrm>
            <a:off x="838200" y="152400"/>
            <a:ext cx="10515600" cy="6024563"/>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dirty="0"/>
              <a:t>(</a:t>
            </a:r>
            <a:r>
              <a:rPr lang="en-US" b="1" dirty="0"/>
              <a:t>Note</a:t>
            </a:r>
            <a:r>
              <a:rPr lang="en-US" dirty="0"/>
              <a:t> that the $4000 is simply the average impact: if we have 100 days then since the probability of data loss is 20%, we expect to lose data on 20 of them. In each case, we will have a damage or impact of $20,000. Therefore, the total expected impact would be 20 x $20,000 or $400,000. Divide this over 100 days to get the average impact and you will get $4000).</a:t>
            </a:r>
          </a:p>
          <a:p>
            <a:r>
              <a:rPr lang="en-US" dirty="0"/>
              <a:t> </a:t>
            </a:r>
          </a:p>
          <a:p>
            <a:endParaRPr lang="en-US" dirty="0"/>
          </a:p>
          <a:p>
            <a:endParaRPr lang="en-US" dirty="0"/>
          </a:p>
          <a:p>
            <a:r>
              <a:rPr lang="en-US" dirty="0"/>
              <a:t>Now we provide a method of reducing the possibility of data loss (Say frequent backup or replication on another database, </a:t>
            </a:r>
            <a:r>
              <a:rPr lang="en-US" dirty="0" err="1"/>
              <a:t>etc</a:t>
            </a:r>
            <a:r>
              <a:rPr lang="en-US" dirty="0"/>
              <a:t>). This reduces the risk to 5%. The impact on losing the data is the same since we still need to rebuild the data. However, the cost of introducing the loss reduction is $2000.</a:t>
            </a:r>
          </a:p>
          <a:p>
            <a:r>
              <a:rPr lang="en-US" dirty="0"/>
              <a:t> </a:t>
            </a:r>
          </a:p>
          <a:p>
            <a:r>
              <a:rPr lang="en-US" dirty="0"/>
              <a:t>Probability of loss                         0.05             AFTER Resolution</a:t>
            </a:r>
          </a:p>
          <a:p>
            <a:r>
              <a:rPr lang="en-US" dirty="0"/>
              <a:t>Loss                                          $20,000 (Same loss in this example)</a:t>
            </a:r>
          </a:p>
          <a:p>
            <a:r>
              <a:rPr lang="en-US" dirty="0"/>
              <a:t>Exposure                                    0.05 x $20,000 = </a:t>
            </a:r>
            <a:r>
              <a:rPr lang="en-US" b="1" dirty="0"/>
              <a:t>$1000</a:t>
            </a:r>
            <a:endParaRPr lang="en-US" dirty="0"/>
          </a:p>
          <a:p>
            <a:r>
              <a:rPr lang="en-US" dirty="0"/>
              <a:t>Cost of Risk Reduction                  </a:t>
            </a:r>
            <a:r>
              <a:rPr lang="en-US" b="1" dirty="0"/>
              <a:t>$2000</a:t>
            </a:r>
            <a:endParaRPr lang="en-US" dirty="0"/>
          </a:p>
          <a:p>
            <a:r>
              <a:rPr lang="en-US" dirty="0"/>
              <a:t> </a:t>
            </a:r>
          </a:p>
          <a:p>
            <a:r>
              <a:rPr lang="en-US" dirty="0"/>
              <a:t>So using the above formula, the Risk Reduction Leverage is:</a:t>
            </a:r>
          </a:p>
          <a:p>
            <a:r>
              <a:rPr lang="en-US" dirty="0"/>
              <a:t> </a:t>
            </a:r>
          </a:p>
          <a:p>
            <a:r>
              <a:rPr lang="en-US" dirty="0"/>
              <a:t>Leverage                                    ($4000 - $1000) / $2000 = 1.5</a:t>
            </a:r>
          </a:p>
          <a:p>
            <a:r>
              <a:rPr lang="en-US" dirty="0"/>
              <a:t> </a:t>
            </a:r>
          </a:p>
          <a:p>
            <a:r>
              <a:rPr lang="en-US" dirty="0"/>
              <a:t>The higher the Leverage, the better the solution.</a:t>
            </a:r>
          </a:p>
          <a:p>
            <a:r>
              <a:rPr lang="en-US" dirty="0"/>
              <a:t> </a:t>
            </a:r>
          </a:p>
          <a:p>
            <a:r>
              <a:rPr lang="en-US" dirty="0"/>
              <a:t>The Risk Reduction Leverage gives us the following benefits:</a:t>
            </a:r>
          </a:p>
          <a:p>
            <a:r>
              <a:rPr lang="en-US" dirty="0"/>
              <a:t> </a:t>
            </a:r>
          </a:p>
          <a:p>
            <a:r>
              <a:rPr lang="en-US" dirty="0"/>
              <a:t>We can now compare different ways of reducing data loss to each other by comparing the Reduction Leverage</a:t>
            </a:r>
          </a:p>
          <a:p>
            <a:r>
              <a:rPr lang="en-US" dirty="0"/>
              <a:t>We can increase Leverage by Increasing the difference between Exposure (Before) and Exposure (After), that is by improving the solution and reducing the probability.</a:t>
            </a:r>
          </a:p>
          <a:p>
            <a:r>
              <a:rPr lang="en-US" dirty="0"/>
              <a:t>We can also increase Leverage by reducing the cost of risk reduction or by selecting better solutions.</a:t>
            </a:r>
          </a:p>
          <a:p>
            <a:r>
              <a:rPr lang="en-US" dirty="0"/>
              <a:t> </a:t>
            </a:r>
          </a:p>
          <a:p>
            <a:r>
              <a:rPr lang="en-US" dirty="0"/>
              <a:t>In conclusion, use Risk Reduction Leverage to assess different solutions to a risky event.</a:t>
            </a:r>
          </a:p>
        </p:txBody>
      </p:sp>
    </p:spTree>
    <p:extLst>
      <p:ext uri="{BB962C8B-B14F-4D97-AF65-F5344CB8AC3E}">
        <p14:creationId xmlns:p14="http://schemas.microsoft.com/office/powerpoint/2010/main" val="2597808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1584A9-C7E1-733D-2A95-1504BBEBC3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4419" y="214461"/>
            <a:ext cx="8271357" cy="6643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2869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F5E1-ACDE-DF61-95C7-5CEE111D1474}"/>
              </a:ext>
            </a:extLst>
          </p:cNvPr>
          <p:cNvSpPr>
            <a:spLocks noGrp="1"/>
          </p:cNvSpPr>
          <p:nvPr>
            <p:ph type="title"/>
          </p:nvPr>
        </p:nvSpPr>
        <p:spPr/>
        <p:txBody>
          <a:bodyPr/>
          <a:lstStyle/>
          <a:p>
            <a:r>
              <a:rPr lang="en-US" dirty="0"/>
              <a:t>Exercise</a:t>
            </a:r>
            <a:endParaRPr lang="en-PK" dirty="0"/>
          </a:p>
        </p:txBody>
      </p:sp>
      <p:sp>
        <p:nvSpPr>
          <p:cNvPr id="3" name="Content Placeholder 2">
            <a:extLst>
              <a:ext uri="{FF2B5EF4-FFF2-40B4-BE49-F238E27FC236}">
                <a16:creationId xmlns:a16="http://schemas.microsoft.com/office/drawing/2014/main" id="{4B817A9E-5B5E-C0CA-203B-65F42FE87F1C}"/>
              </a:ext>
            </a:extLst>
          </p:cNvPr>
          <p:cNvSpPr>
            <a:spLocks noGrp="1"/>
          </p:cNvSpPr>
          <p:nvPr>
            <p:ph idx="1"/>
          </p:nvPr>
        </p:nvSpPr>
        <p:spPr/>
        <p:txBody>
          <a:bodyPr>
            <a:normAutofit fontScale="92500" lnSpcReduction="10000"/>
          </a:bodyPr>
          <a:lstStyle/>
          <a:p>
            <a:pPr algn="just"/>
            <a:r>
              <a:rPr lang="en-US" dirty="0"/>
              <a:t>A company owns an asset with a total cost of </a:t>
            </a:r>
            <a:r>
              <a:rPr lang="en-US" b="1" dirty="0"/>
              <a:t>50,000 PKR</a:t>
            </a:r>
            <a:r>
              <a:rPr lang="en-US" dirty="0"/>
              <a:t>. The probability of a risk associated with the asset occurring is </a:t>
            </a:r>
            <a:r>
              <a:rPr lang="en-US" b="1" dirty="0"/>
              <a:t>70%</a:t>
            </a:r>
            <a:r>
              <a:rPr lang="en-US" dirty="0"/>
              <a:t>. Total Loss if the risk occurs is </a:t>
            </a:r>
            <a:r>
              <a:rPr lang="en-US" b="1" dirty="0"/>
              <a:t>10,000 PKR</a:t>
            </a:r>
            <a:r>
              <a:rPr lang="en-US" dirty="0"/>
              <a:t>. The company is evaluating two potential countermeasures: Countermeasure X, which reduces the probability of the risk occurring to </a:t>
            </a:r>
            <a:r>
              <a:rPr lang="en-US" b="1" dirty="0"/>
              <a:t>30% </a:t>
            </a:r>
            <a:r>
              <a:rPr lang="en-US" dirty="0"/>
              <a:t>and the total loss if the risk occurs to </a:t>
            </a:r>
            <a:r>
              <a:rPr lang="en-US" b="1" dirty="0"/>
              <a:t>2,000 PKR</a:t>
            </a:r>
            <a:r>
              <a:rPr lang="en-US" dirty="0"/>
              <a:t>, and Countermeasure Y, which reduces the probability to </a:t>
            </a:r>
            <a:r>
              <a:rPr lang="en-US" b="1" dirty="0"/>
              <a:t>15%</a:t>
            </a:r>
            <a:r>
              <a:rPr lang="en-US" dirty="0"/>
              <a:t> and the total loss if the risk occurs to </a:t>
            </a:r>
            <a:r>
              <a:rPr lang="en-US" b="1" dirty="0"/>
              <a:t>2,510 PKR</a:t>
            </a:r>
            <a:r>
              <a:rPr lang="en-US" dirty="0"/>
              <a:t>. Calculate the Risk Exposure (R.E) before and after implementing the countermeasures. Determine which countermeasure is more cost-effective, considering that Countermeasure X costs </a:t>
            </a:r>
            <a:r>
              <a:rPr lang="en-US" b="1" dirty="0"/>
              <a:t>25,000 PKR</a:t>
            </a:r>
            <a:r>
              <a:rPr lang="en-US" dirty="0"/>
              <a:t> and Countermeasure Y costs </a:t>
            </a:r>
            <a:r>
              <a:rPr lang="en-US" b="1" dirty="0"/>
              <a:t>10,000 PKR</a:t>
            </a:r>
            <a:r>
              <a:rPr lang="en-US" dirty="0"/>
              <a:t>. Which countermeasure would you recommend the company to implement based on cost-effectiveness?</a:t>
            </a:r>
            <a:endParaRPr lang="en-PK" dirty="0"/>
          </a:p>
        </p:txBody>
      </p:sp>
    </p:spTree>
    <p:extLst>
      <p:ext uri="{BB962C8B-B14F-4D97-AF65-F5344CB8AC3E}">
        <p14:creationId xmlns:p14="http://schemas.microsoft.com/office/powerpoint/2010/main" val="1302933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D2158-78AC-6BBB-9D42-9E8B6B7DB240}"/>
              </a:ext>
            </a:extLst>
          </p:cNvPr>
          <p:cNvSpPr>
            <a:spLocks noGrp="1"/>
          </p:cNvSpPr>
          <p:nvPr>
            <p:ph type="title"/>
          </p:nvPr>
        </p:nvSpPr>
        <p:spPr>
          <a:xfrm>
            <a:off x="838200" y="365125"/>
            <a:ext cx="10515600" cy="2895660"/>
          </a:xfrm>
        </p:spPr>
        <p:txBody>
          <a:bodyPr>
            <a:normAutofit/>
          </a:bodyPr>
          <a:lstStyle/>
          <a:p>
            <a:pPr algn="ctr"/>
            <a:r>
              <a:rPr lang="en-US" sz="7200" dirty="0">
                <a:solidFill>
                  <a:srgbClr val="FF0000"/>
                </a:solidFill>
              </a:rPr>
              <a:t>Solution??</a:t>
            </a:r>
            <a:endParaRPr lang="en-PK" sz="7200" dirty="0">
              <a:solidFill>
                <a:srgbClr val="FF0000"/>
              </a:solidFill>
            </a:endParaRPr>
          </a:p>
        </p:txBody>
      </p:sp>
      <p:sp>
        <p:nvSpPr>
          <p:cNvPr id="3" name="Content Placeholder 2">
            <a:extLst>
              <a:ext uri="{FF2B5EF4-FFF2-40B4-BE49-F238E27FC236}">
                <a16:creationId xmlns:a16="http://schemas.microsoft.com/office/drawing/2014/main" id="{FF44F770-38A9-E1CE-8082-E8268E15E67B}"/>
              </a:ext>
            </a:extLst>
          </p:cNvPr>
          <p:cNvSpPr>
            <a:spLocks noGrp="1"/>
          </p:cNvSpPr>
          <p:nvPr>
            <p:ph idx="1"/>
          </p:nvPr>
        </p:nvSpPr>
        <p:spPr>
          <a:xfrm>
            <a:off x="1324873" y="4347713"/>
            <a:ext cx="9542253" cy="1829250"/>
          </a:xfrm>
        </p:spPr>
        <p:txBody>
          <a:bodyPr/>
          <a:lstStyle/>
          <a:p>
            <a:r>
              <a:rPr lang="en-US" dirty="0"/>
              <a:t>Countermeasure Y is more cost effective (0.66235)</a:t>
            </a:r>
            <a:endParaRPr lang="en-PK" dirty="0"/>
          </a:p>
        </p:txBody>
      </p:sp>
    </p:spTree>
    <p:extLst>
      <p:ext uri="{BB962C8B-B14F-4D97-AF65-F5344CB8AC3E}">
        <p14:creationId xmlns:p14="http://schemas.microsoft.com/office/powerpoint/2010/main" val="4024054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069C-2847-D7EC-CC47-E705A39DBC56}"/>
              </a:ext>
            </a:extLst>
          </p:cNvPr>
          <p:cNvSpPr>
            <a:spLocks noGrp="1"/>
          </p:cNvSpPr>
          <p:nvPr>
            <p:ph type="title"/>
          </p:nvPr>
        </p:nvSpPr>
        <p:spPr/>
        <p:txBody>
          <a:bodyPr/>
          <a:lstStyle/>
          <a:p>
            <a:r>
              <a:rPr lang="en-US" dirty="0"/>
              <a:t>SECURITY </a:t>
            </a:r>
            <a:r>
              <a:rPr lang="en-US" dirty="0">
                <a:solidFill>
                  <a:srgbClr val="FF0000"/>
                </a:solidFill>
              </a:rPr>
              <a:t>CONCEPTS</a:t>
            </a:r>
            <a:endParaRPr lang="en-PK" dirty="0">
              <a:solidFill>
                <a:srgbClr val="FF0000"/>
              </a:solidFill>
            </a:endParaRPr>
          </a:p>
        </p:txBody>
      </p:sp>
      <p:sp>
        <p:nvSpPr>
          <p:cNvPr id="3" name="Content Placeholder 2">
            <a:extLst>
              <a:ext uri="{FF2B5EF4-FFF2-40B4-BE49-F238E27FC236}">
                <a16:creationId xmlns:a16="http://schemas.microsoft.com/office/drawing/2014/main" id="{1A3C1357-273E-5D30-236A-15AF531B0EAB}"/>
              </a:ext>
            </a:extLst>
          </p:cNvPr>
          <p:cNvSpPr>
            <a:spLocks noGrp="1"/>
          </p:cNvSpPr>
          <p:nvPr>
            <p:ph idx="1"/>
          </p:nvPr>
        </p:nvSpPr>
        <p:spPr/>
        <p:txBody>
          <a:bodyPr/>
          <a:lstStyle/>
          <a:p>
            <a:r>
              <a:rPr lang="en-US" dirty="0"/>
              <a:t>Assurance:</a:t>
            </a:r>
          </a:p>
          <a:p>
            <a:pPr lvl="1"/>
            <a:r>
              <a:rPr lang="en-US" dirty="0"/>
              <a:t>The level of guarantee that a security system will behave as expected</a:t>
            </a:r>
          </a:p>
          <a:p>
            <a:r>
              <a:rPr lang="en-US" dirty="0"/>
              <a:t>Countermeasure/safeguard/control:</a:t>
            </a:r>
          </a:p>
          <a:p>
            <a:pPr lvl="1"/>
            <a:r>
              <a:rPr lang="en-US" dirty="0"/>
              <a:t>A countermeasure is a way to stop a threat</a:t>
            </a:r>
          </a:p>
          <a:p>
            <a:r>
              <a:rPr lang="en-US" dirty="0"/>
              <a:t>Defense in depth:</a:t>
            </a:r>
          </a:p>
          <a:p>
            <a:pPr lvl="1"/>
            <a:r>
              <a:rPr lang="en-US" dirty="0"/>
              <a:t>Never rely on one single security measure alone</a:t>
            </a:r>
          </a:p>
          <a:p>
            <a:pPr lvl="1"/>
            <a:r>
              <a:rPr lang="en-US" dirty="0"/>
              <a:t>Take (maximum) steps to protect the system</a:t>
            </a:r>
            <a:endParaRPr lang="en-PK" dirty="0"/>
          </a:p>
        </p:txBody>
      </p:sp>
    </p:spTree>
    <p:extLst>
      <p:ext uri="{BB962C8B-B14F-4D97-AF65-F5344CB8AC3E}">
        <p14:creationId xmlns:p14="http://schemas.microsoft.com/office/powerpoint/2010/main" val="3537611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D6F5DC-360A-7965-8EAD-38D88C41638E}"/>
              </a:ext>
            </a:extLst>
          </p:cNvPr>
          <p:cNvPicPr>
            <a:picLocks noGrp="1" noChangeAspect="1"/>
          </p:cNvPicPr>
          <p:nvPr>
            <p:ph idx="1"/>
          </p:nvPr>
        </p:nvPicPr>
        <p:blipFill>
          <a:blip r:embed="rId3"/>
          <a:stretch>
            <a:fillRect/>
          </a:stretch>
        </p:blipFill>
        <p:spPr>
          <a:xfrm>
            <a:off x="2407728" y="117632"/>
            <a:ext cx="7376543" cy="6622736"/>
          </a:xfrm>
        </p:spPr>
      </p:pic>
    </p:spTree>
    <p:extLst>
      <p:ext uri="{BB962C8B-B14F-4D97-AF65-F5344CB8AC3E}">
        <p14:creationId xmlns:p14="http://schemas.microsoft.com/office/powerpoint/2010/main" val="2459484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FCB4-20F1-0B87-1CE0-1E28E7A13675}"/>
              </a:ext>
            </a:extLst>
          </p:cNvPr>
          <p:cNvSpPr>
            <a:spLocks noGrp="1"/>
          </p:cNvSpPr>
          <p:nvPr>
            <p:ph type="title"/>
          </p:nvPr>
        </p:nvSpPr>
        <p:spPr/>
        <p:txBody>
          <a:bodyPr/>
          <a:lstStyle/>
          <a:p>
            <a:r>
              <a:rPr lang="en-US" dirty="0">
                <a:solidFill>
                  <a:srgbClr val="FF0000"/>
                </a:solidFill>
              </a:rPr>
              <a:t>SECURITY</a:t>
            </a:r>
            <a:endParaRPr lang="en-PK" dirty="0">
              <a:solidFill>
                <a:srgbClr val="FF0000"/>
              </a:solidFill>
            </a:endParaRPr>
          </a:p>
        </p:txBody>
      </p:sp>
      <p:sp>
        <p:nvSpPr>
          <p:cNvPr id="3" name="Content Placeholder 2">
            <a:extLst>
              <a:ext uri="{FF2B5EF4-FFF2-40B4-BE49-F238E27FC236}">
                <a16:creationId xmlns:a16="http://schemas.microsoft.com/office/drawing/2014/main" id="{FFE83274-62FC-34B4-2861-628AF7377BCE}"/>
              </a:ext>
            </a:extLst>
          </p:cNvPr>
          <p:cNvSpPr>
            <a:spLocks noGrp="1"/>
          </p:cNvSpPr>
          <p:nvPr>
            <p:ph idx="1"/>
          </p:nvPr>
        </p:nvSpPr>
        <p:spPr/>
        <p:txBody>
          <a:bodyPr>
            <a:normAutofit/>
          </a:bodyPr>
          <a:lstStyle/>
          <a:p>
            <a:r>
              <a:rPr lang="en-US" b="1" dirty="0"/>
              <a:t>The art of war teaches us to rely:</a:t>
            </a:r>
          </a:p>
          <a:p>
            <a:pPr lvl="1"/>
            <a:r>
              <a:rPr lang="en-US" b="1" dirty="0"/>
              <a:t>Not on the </a:t>
            </a:r>
            <a:r>
              <a:rPr lang="en-US" b="1" dirty="0">
                <a:solidFill>
                  <a:srgbClr val="FF0000"/>
                </a:solidFill>
              </a:rPr>
              <a:t>likelihood</a:t>
            </a:r>
            <a:r>
              <a:rPr lang="en-US" b="1" dirty="0"/>
              <a:t> of the enemy is not coming, but on our own </a:t>
            </a:r>
            <a:r>
              <a:rPr lang="en-US" b="1" dirty="0">
                <a:solidFill>
                  <a:srgbClr val="FF0000"/>
                </a:solidFill>
              </a:rPr>
              <a:t>readiness</a:t>
            </a:r>
            <a:r>
              <a:rPr lang="en-US" b="1" dirty="0"/>
              <a:t> to receive him;</a:t>
            </a:r>
          </a:p>
          <a:p>
            <a:pPr lvl="1"/>
            <a:r>
              <a:rPr lang="en-US" b="1" dirty="0"/>
              <a:t>Not on the chance of his </a:t>
            </a:r>
            <a:r>
              <a:rPr lang="en-US" b="1" dirty="0">
                <a:solidFill>
                  <a:srgbClr val="FF0000"/>
                </a:solidFill>
              </a:rPr>
              <a:t>not </a:t>
            </a:r>
            <a:r>
              <a:rPr lang="en-US" b="1" dirty="0"/>
              <a:t>attacking, but rather on the fact that we have made our position </a:t>
            </a:r>
            <a:r>
              <a:rPr lang="en-US" b="1" dirty="0">
                <a:solidFill>
                  <a:srgbClr val="FF0000"/>
                </a:solidFill>
              </a:rPr>
              <a:t>unassailable </a:t>
            </a:r>
            <a:r>
              <a:rPr lang="en-US" b="1" dirty="0"/>
              <a:t>(impossible to challenge).</a:t>
            </a:r>
          </a:p>
          <a:p>
            <a:pPr marL="3657600" lvl="8" indent="0">
              <a:buNone/>
            </a:pPr>
            <a:r>
              <a:rPr lang="en-US" dirty="0"/>
              <a:t>			</a:t>
            </a:r>
          </a:p>
          <a:p>
            <a:pPr marL="3657600" lvl="8" indent="0">
              <a:buNone/>
            </a:pPr>
            <a:r>
              <a:rPr lang="en-US" dirty="0"/>
              <a:t>			</a:t>
            </a:r>
          </a:p>
          <a:p>
            <a:pPr marL="3657600" lvl="8" indent="0">
              <a:buNone/>
            </a:pPr>
            <a:endParaRPr lang="en-US" dirty="0"/>
          </a:p>
          <a:p>
            <a:pPr marL="3657600" lvl="8" indent="0">
              <a:buNone/>
            </a:pPr>
            <a:endParaRPr lang="en-US" dirty="0"/>
          </a:p>
          <a:p>
            <a:pPr marL="3657600" lvl="8" indent="0">
              <a:buNone/>
            </a:pPr>
            <a:r>
              <a:rPr lang="en-US" dirty="0"/>
              <a:t>			</a:t>
            </a:r>
          </a:p>
          <a:p>
            <a:pPr marL="3657600" lvl="8" indent="0">
              <a:buNone/>
            </a:pPr>
            <a:endParaRPr lang="en-US" dirty="0"/>
          </a:p>
          <a:p>
            <a:pPr marL="3657600" lvl="8" indent="0">
              <a:buNone/>
            </a:pPr>
            <a:r>
              <a:rPr lang="en-US" dirty="0"/>
              <a:t>			           —</a:t>
            </a:r>
            <a:r>
              <a:rPr lang="en-US" sz="2400" b="1" dirty="0"/>
              <a:t>The Art of War, Sun Tzu</a:t>
            </a:r>
            <a:endParaRPr lang="en-PK" sz="2400" b="1" dirty="0"/>
          </a:p>
        </p:txBody>
      </p:sp>
    </p:spTree>
    <p:extLst>
      <p:ext uri="{BB962C8B-B14F-4D97-AF65-F5344CB8AC3E}">
        <p14:creationId xmlns:p14="http://schemas.microsoft.com/office/powerpoint/2010/main" val="1610331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8319-DFCA-6013-B4A3-FB3E041BDD2E}"/>
              </a:ext>
            </a:extLst>
          </p:cNvPr>
          <p:cNvSpPr>
            <a:spLocks noGrp="1"/>
          </p:cNvSpPr>
          <p:nvPr>
            <p:ph type="title"/>
          </p:nvPr>
        </p:nvSpPr>
        <p:spPr/>
        <p:txBody>
          <a:bodyPr/>
          <a:lstStyle/>
          <a:p>
            <a:r>
              <a:rPr lang="en-US" dirty="0">
                <a:solidFill>
                  <a:srgbClr val="FF0000"/>
                </a:solidFill>
              </a:rPr>
              <a:t>SECURITY</a:t>
            </a:r>
            <a:endParaRPr lang="en-PK" dirty="0">
              <a:solidFill>
                <a:srgbClr val="FF0000"/>
              </a:solidFill>
            </a:endParaRPr>
          </a:p>
        </p:txBody>
      </p:sp>
      <p:sp>
        <p:nvSpPr>
          <p:cNvPr id="3" name="Content Placeholder 2">
            <a:extLst>
              <a:ext uri="{FF2B5EF4-FFF2-40B4-BE49-F238E27FC236}">
                <a16:creationId xmlns:a16="http://schemas.microsoft.com/office/drawing/2014/main" id="{98B14FAC-9527-0490-ABFE-17EC40ECECAF}"/>
              </a:ext>
            </a:extLst>
          </p:cNvPr>
          <p:cNvSpPr>
            <a:spLocks noGrp="1"/>
          </p:cNvSpPr>
          <p:nvPr>
            <p:ph idx="1"/>
          </p:nvPr>
        </p:nvSpPr>
        <p:spPr/>
        <p:txBody>
          <a:bodyPr>
            <a:normAutofit lnSpcReduction="10000"/>
          </a:bodyPr>
          <a:lstStyle/>
          <a:p>
            <a:r>
              <a:rPr lang="en-US" dirty="0"/>
              <a:t>Security is the </a:t>
            </a:r>
            <a:r>
              <a:rPr lang="en-US" dirty="0">
                <a:solidFill>
                  <a:schemeClr val="accent1"/>
                </a:solidFill>
              </a:rPr>
              <a:t>degree </a:t>
            </a:r>
            <a:r>
              <a:rPr lang="en-US" dirty="0"/>
              <a:t>of protection against danger, loss, and criminals.</a:t>
            </a:r>
          </a:p>
          <a:p>
            <a:r>
              <a:rPr lang="en-US" dirty="0"/>
              <a:t>The condition that prevents unauthorized persons from having access (to official information).</a:t>
            </a:r>
          </a:p>
          <a:p>
            <a:pPr marL="0" indent="0">
              <a:buNone/>
            </a:pPr>
            <a:endParaRPr lang="en-US" dirty="0"/>
          </a:p>
          <a:p>
            <a:r>
              <a:rPr lang="en-US" dirty="0"/>
              <a:t>The National Institute of Standards and Technology (NIST) defines security as: </a:t>
            </a:r>
            <a:br>
              <a:rPr lang="en-US" dirty="0"/>
            </a:br>
            <a:endParaRPr lang="en-US" dirty="0"/>
          </a:p>
          <a:p>
            <a:pPr marL="0" indent="0" algn="ctr">
              <a:buNone/>
            </a:pPr>
            <a:r>
              <a:rPr lang="en-US" dirty="0">
                <a:solidFill>
                  <a:srgbClr val="FF0000"/>
                </a:solidFill>
              </a:rPr>
              <a:t>“The preservation of </a:t>
            </a:r>
            <a:r>
              <a:rPr lang="en-US" u="sng" dirty="0">
                <a:solidFill>
                  <a:srgbClr val="FF0000"/>
                </a:solidFill>
                <a:effectLst>
                  <a:outerShdw blurRad="38100" dist="38100" dir="2700000" algn="tl">
                    <a:srgbClr val="000000">
                      <a:alpha val="43137"/>
                    </a:srgbClr>
                  </a:outerShdw>
                </a:effectLst>
              </a:rPr>
              <a:t>confidentiality</a:t>
            </a:r>
            <a:r>
              <a:rPr lang="en-US" dirty="0">
                <a:solidFill>
                  <a:srgbClr val="FF0000"/>
                </a:solidFill>
              </a:rPr>
              <a:t>, </a:t>
            </a:r>
            <a:r>
              <a:rPr lang="en-US" u="sng" dirty="0">
                <a:solidFill>
                  <a:srgbClr val="FF0000"/>
                </a:solidFill>
                <a:effectLst>
                  <a:outerShdw blurRad="38100" dist="38100" dir="2700000" algn="tl">
                    <a:srgbClr val="000000">
                      <a:alpha val="43137"/>
                    </a:srgbClr>
                  </a:outerShdw>
                </a:effectLst>
              </a:rPr>
              <a:t>integrity</a:t>
            </a:r>
            <a:r>
              <a:rPr lang="en-US" dirty="0">
                <a:solidFill>
                  <a:srgbClr val="FF0000"/>
                </a:solidFill>
              </a:rPr>
              <a:t>, and </a:t>
            </a:r>
            <a:r>
              <a:rPr lang="en-US" u="sng" dirty="0">
                <a:solidFill>
                  <a:srgbClr val="FF0000"/>
                </a:solidFill>
                <a:effectLst>
                  <a:outerShdw blurRad="38100" dist="38100" dir="2700000" algn="tl">
                    <a:srgbClr val="000000">
                      <a:alpha val="43137"/>
                    </a:srgbClr>
                  </a:outerShdw>
                </a:effectLst>
              </a:rPr>
              <a:t>availability</a:t>
            </a:r>
            <a:r>
              <a:rPr lang="en-US" dirty="0">
                <a:solidFill>
                  <a:srgbClr val="FF0000"/>
                </a:solidFill>
              </a:rPr>
              <a:t> of information.”</a:t>
            </a:r>
            <a:endParaRPr lang="en-PK" dirty="0">
              <a:solidFill>
                <a:srgbClr val="FF0000"/>
              </a:solidFill>
            </a:endParaRPr>
          </a:p>
        </p:txBody>
      </p:sp>
      <p:cxnSp>
        <p:nvCxnSpPr>
          <p:cNvPr id="5" name="Straight Connector 4">
            <a:extLst>
              <a:ext uri="{FF2B5EF4-FFF2-40B4-BE49-F238E27FC236}">
                <a16:creationId xmlns:a16="http://schemas.microsoft.com/office/drawing/2014/main" id="{4D8DCC45-BE7D-347F-8621-F6FFE1B52DDF}"/>
              </a:ext>
            </a:extLst>
          </p:cNvPr>
          <p:cNvCxnSpPr/>
          <p:nvPr/>
        </p:nvCxnSpPr>
        <p:spPr>
          <a:xfrm>
            <a:off x="838200" y="3628103"/>
            <a:ext cx="10515600" cy="0"/>
          </a:xfrm>
          <a:prstGeom prst="line">
            <a:avLst/>
          </a:prstGeom>
          <a:ln w="9525" cap="flat" cmpd="sng" algn="ctr">
            <a:solidFill>
              <a:schemeClr val="dk1"/>
            </a:solidFill>
            <a:prstDash val="solid"/>
            <a:round/>
            <a:headEnd type="arrow"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73538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4604E-7974-843F-589A-A4027484763C}"/>
              </a:ext>
            </a:extLst>
          </p:cNvPr>
          <p:cNvSpPr>
            <a:spLocks noGrp="1"/>
          </p:cNvSpPr>
          <p:nvPr>
            <p:ph type="title"/>
          </p:nvPr>
        </p:nvSpPr>
        <p:spPr/>
        <p:txBody>
          <a:bodyPr/>
          <a:lstStyle/>
          <a:p>
            <a:r>
              <a:rPr lang="en-US" dirty="0"/>
              <a:t>SECURITY </a:t>
            </a:r>
            <a:r>
              <a:rPr lang="en-US" dirty="0">
                <a:solidFill>
                  <a:srgbClr val="FF0000"/>
                </a:solidFill>
              </a:rPr>
              <a:t>CONCEPTS</a:t>
            </a:r>
            <a:endParaRPr lang="en-PK" dirty="0">
              <a:solidFill>
                <a:srgbClr val="FF0000"/>
              </a:solidFill>
            </a:endParaRPr>
          </a:p>
        </p:txBody>
      </p:sp>
      <p:sp>
        <p:nvSpPr>
          <p:cNvPr id="3" name="Content Placeholder 2">
            <a:extLst>
              <a:ext uri="{FF2B5EF4-FFF2-40B4-BE49-F238E27FC236}">
                <a16:creationId xmlns:a16="http://schemas.microsoft.com/office/drawing/2014/main" id="{71714A2A-1435-40E3-D622-D374B42A3DD2}"/>
              </a:ext>
            </a:extLst>
          </p:cNvPr>
          <p:cNvSpPr>
            <a:spLocks noGrp="1"/>
          </p:cNvSpPr>
          <p:nvPr>
            <p:ph idx="1"/>
          </p:nvPr>
        </p:nvSpPr>
        <p:spPr/>
        <p:txBody>
          <a:bodyPr/>
          <a:lstStyle/>
          <a:p>
            <a:r>
              <a:rPr lang="en-US" dirty="0"/>
              <a:t>Security Attack: Any action that compromises the security of information owned by an organization.</a:t>
            </a:r>
          </a:p>
          <a:p>
            <a:r>
              <a:rPr lang="en-US" dirty="0"/>
              <a:t>Security Mechanism: A mechanism designed to detect, prevent, or recover from a security attack</a:t>
            </a:r>
            <a:endParaRPr lang="en-PK" dirty="0"/>
          </a:p>
        </p:txBody>
      </p:sp>
    </p:spTree>
    <p:extLst>
      <p:ext uri="{BB962C8B-B14F-4D97-AF65-F5344CB8AC3E}">
        <p14:creationId xmlns:p14="http://schemas.microsoft.com/office/powerpoint/2010/main" val="3955077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BEC9-EFBD-CDC4-F89F-327363DA2330}"/>
              </a:ext>
            </a:extLst>
          </p:cNvPr>
          <p:cNvSpPr>
            <a:spLocks noGrp="1"/>
          </p:cNvSpPr>
          <p:nvPr>
            <p:ph type="title"/>
          </p:nvPr>
        </p:nvSpPr>
        <p:spPr/>
        <p:txBody>
          <a:bodyPr/>
          <a:lstStyle/>
          <a:p>
            <a:r>
              <a:rPr lang="en-US" dirty="0"/>
              <a:t>CIA MODEL / CIAA MODEL</a:t>
            </a:r>
            <a:endParaRPr lang="en-PK" dirty="0"/>
          </a:p>
        </p:txBody>
      </p:sp>
      <p:sp>
        <p:nvSpPr>
          <p:cNvPr id="3" name="Content Placeholder 2">
            <a:extLst>
              <a:ext uri="{FF2B5EF4-FFF2-40B4-BE49-F238E27FC236}">
                <a16:creationId xmlns:a16="http://schemas.microsoft.com/office/drawing/2014/main" id="{728BE7E0-CFD1-116E-8530-F6B5E40FD0C6}"/>
              </a:ext>
            </a:extLst>
          </p:cNvPr>
          <p:cNvSpPr>
            <a:spLocks noGrp="1"/>
          </p:cNvSpPr>
          <p:nvPr>
            <p:ph idx="1"/>
          </p:nvPr>
        </p:nvSpPr>
        <p:spPr>
          <a:xfrm>
            <a:off x="838200" y="1825624"/>
            <a:ext cx="10515600" cy="4885141"/>
          </a:xfrm>
        </p:spPr>
        <p:txBody>
          <a:bodyPr>
            <a:normAutofit fontScale="85000" lnSpcReduction="20000"/>
          </a:bodyPr>
          <a:lstStyle/>
          <a:p>
            <a:pPr marL="0" indent="0">
              <a:buNone/>
            </a:pPr>
            <a:endParaRPr lang="en-PK" sz="1800" b="0" i="0" u="none" strike="noStrike" baseline="0" dirty="0">
              <a:latin typeface="Wingdings 2" panose="05020102010507070707" pitchFamily="18" charset="2"/>
            </a:endParaRPr>
          </a:p>
          <a:p>
            <a:r>
              <a:rPr lang="en-US" sz="3600" b="0" i="0" u="none" strike="noStrike" baseline="0" dirty="0">
                <a:solidFill>
                  <a:srgbClr val="FF0000"/>
                </a:solidFill>
                <a:latin typeface="Verdana" panose="020B0604030504040204" pitchFamily="34" charset="0"/>
              </a:rPr>
              <a:t>C</a:t>
            </a:r>
            <a:r>
              <a:rPr lang="en-US" sz="3600" b="0" i="0" u="none" strike="noStrike" baseline="0" dirty="0">
                <a:solidFill>
                  <a:srgbClr val="000000"/>
                </a:solidFill>
                <a:latin typeface="Verdana" panose="020B0604030504040204" pitchFamily="34" charset="0"/>
              </a:rPr>
              <a:t>onfidentiality (privacy) : </a:t>
            </a:r>
          </a:p>
          <a:p>
            <a:pPr marL="457200" lvl="1" indent="0">
              <a:buNone/>
            </a:pPr>
            <a:r>
              <a:rPr lang="en-US" b="0" i="0" u="none" strike="noStrike" baseline="0" dirty="0">
                <a:solidFill>
                  <a:srgbClr val="0032CC"/>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Protection of data from unauthorized disclosure </a:t>
            </a:r>
          </a:p>
          <a:p>
            <a:r>
              <a:rPr lang="en-US" sz="3600" b="0" i="0" u="none" strike="noStrike" baseline="0" dirty="0">
                <a:solidFill>
                  <a:srgbClr val="FF0000"/>
                </a:solidFill>
                <a:latin typeface="Verdana" panose="020B0604030504040204" pitchFamily="34" charset="0"/>
              </a:rPr>
              <a:t>I</a:t>
            </a:r>
            <a:r>
              <a:rPr lang="en-US" sz="3600" b="0" i="0" u="none" strike="noStrike" baseline="0" dirty="0">
                <a:solidFill>
                  <a:srgbClr val="000000"/>
                </a:solidFill>
                <a:latin typeface="Verdana" panose="020B0604030504040204" pitchFamily="34" charset="0"/>
              </a:rPr>
              <a:t>ntegrity (has not been altered) : </a:t>
            </a:r>
          </a:p>
          <a:p>
            <a:pPr marL="457200" lvl="1" indent="0">
              <a:buNone/>
            </a:pPr>
            <a:r>
              <a:rPr lang="en-US" b="0" i="0" u="none" strike="noStrike" baseline="0" dirty="0">
                <a:solidFill>
                  <a:srgbClr val="0032CC"/>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Assurance that data received is as sent by an authorized entity </a:t>
            </a:r>
          </a:p>
          <a:p>
            <a:r>
              <a:rPr lang="en-US" sz="3600" b="0" i="0" u="none" strike="noStrike" baseline="0" dirty="0">
                <a:solidFill>
                  <a:srgbClr val="FF0000"/>
                </a:solidFill>
                <a:latin typeface="Verdana" panose="020B0604030504040204" pitchFamily="34" charset="0"/>
              </a:rPr>
              <a:t>A</a:t>
            </a:r>
            <a:r>
              <a:rPr lang="en-US" sz="3600" b="0" i="0" u="none" strike="noStrike" baseline="0" dirty="0">
                <a:solidFill>
                  <a:srgbClr val="000000"/>
                </a:solidFill>
                <a:latin typeface="Verdana" panose="020B0604030504040204" pitchFamily="34" charset="0"/>
              </a:rPr>
              <a:t>vailability (permanence, non-erasure) : </a:t>
            </a:r>
          </a:p>
          <a:p>
            <a:pPr marL="457200" lvl="1" indent="0">
              <a:buNone/>
            </a:pPr>
            <a:r>
              <a:rPr lang="en-US" b="0" i="0" u="none" strike="noStrike" baseline="0" dirty="0">
                <a:solidFill>
                  <a:srgbClr val="0000FF"/>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Denial of Service Attacks </a:t>
            </a:r>
          </a:p>
          <a:p>
            <a:pPr marL="457200" lvl="1" indent="0">
              <a:buNone/>
            </a:pPr>
            <a:r>
              <a:rPr lang="en-US" b="0" i="0" u="none" strike="noStrike" baseline="0" dirty="0">
                <a:solidFill>
                  <a:srgbClr val="0000FF"/>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Virus that deletes files </a:t>
            </a:r>
          </a:p>
          <a:p>
            <a:r>
              <a:rPr lang="en-US" sz="3600" b="0" i="0" u="none" strike="noStrike" baseline="0" dirty="0">
                <a:solidFill>
                  <a:srgbClr val="000000"/>
                </a:solidFill>
                <a:latin typeface="Verdana" panose="020B0604030504040204" pitchFamily="34" charset="0"/>
              </a:rPr>
              <a:t>Authentication (who created or sent the data): </a:t>
            </a:r>
          </a:p>
          <a:p>
            <a:pPr marL="457200" lvl="1" indent="0">
              <a:buNone/>
            </a:pPr>
            <a:r>
              <a:rPr lang="en-US" b="0" i="0" u="none" strike="noStrike" baseline="0" dirty="0">
                <a:solidFill>
                  <a:srgbClr val="0032CC"/>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Assurance that the communicating entity is the one claimed </a:t>
            </a:r>
          </a:p>
          <a:p>
            <a:r>
              <a:rPr lang="en-US" sz="3600" dirty="0">
                <a:latin typeface="Verdana" panose="020B0604030504040204" pitchFamily="34" charset="0"/>
                <a:ea typeface="Verdana" panose="020B0604030504040204" pitchFamily="34" charset="0"/>
              </a:rPr>
              <a:t>Non-repudiation</a:t>
            </a:r>
            <a:r>
              <a:rPr lang="en-US" dirty="0"/>
              <a:t> </a:t>
            </a:r>
            <a:r>
              <a:rPr lang="en-US" sz="3900" dirty="0">
                <a:latin typeface="Verdana" panose="020B0604030504040204" pitchFamily="34" charset="0"/>
                <a:ea typeface="Verdana" panose="020B0604030504040204" pitchFamily="34" charset="0"/>
              </a:rPr>
              <a:t>: </a:t>
            </a:r>
          </a:p>
          <a:p>
            <a:pPr marL="457200" lvl="1" indent="0">
              <a:buNone/>
            </a:pPr>
            <a:r>
              <a:rPr lang="en-US" b="0" i="0" u="none" strike="noStrike" baseline="0" dirty="0">
                <a:solidFill>
                  <a:srgbClr val="0032CC"/>
                </a:solidFill>
                <a:latin typeface="Wingdings 3" panose="05040102010807070707" pitchFamily="18" charset="2"/>
              </a:rPr>
              <a:t>	</a:t>
            </a:r>
            <a:r>
              <a:rPr lang="en-US" dirty="0">
                <a:solidFill>
                  <a:srgbClr val="0000FF"/>
                </a:solidFill>
                <a:latin typeface="Verdana" panose="020B0604030504040204" pitchFamily="34" charset="0"/>
                <a:ea typeface="Verdana" panose="020B0604030504040204" pitchFamily="34" charset="0"/>
              </a:rPr>
              <a:t>The ability to verify that an action or communication has been 	performed by a specific individual or entity and that it cannot be 	denied later. </a:t>
            </a:r>
          </a:p>
          <a:p>
            <a:pPr marL="0" indent="0">
              <a:buNone/>
            </a:pPr>
            <a:endParaRPr lang="en-PK" dirty="0"/>
          </a:p>
        </p:txBody>
      </p:sp>
    </p:spTree>
    <p:extLst>
      <p:ext uri="{BB962C8B-B14F-4D97-AF65-F5344CB8AC3E}">
        <p14:creationId xmlns:p14="http://schemas.microsoft.com/office/powerpoint/2010/main" val="309231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04C88-A875-AA03-1D04-8D2B71362E0B}"/>
              </a:ext>
            </a:extLst>
          </p:cNvPr>
          <p:cNvSpPr>
            <a:spLocks noGrp="1"/>
          </p:cNvSpPr>
          <p:nvPr>
            <p:ph type="title"/>
          </p:nvPr>
        </p:nvSpPr>
        <p:spPr>
          <a:xfrm>
            <a:off x="838200" y="23274"/>
            <a:ext cx="10515600" cy="657763"/>
          </a:xfrm>
        </p:spPr>
        <p:txBody>
          <a:bodyPr>
            <a:normAutofit fontScale="90000"/>
          </a:bodyPr>
          <a:lstStyle/>
          <a:p>
            <a:r>
              <a:rPr lang="en-US" dirty="0"/>
              <a:t>SECURITY</a:t>
            </a:r>
            <a:r>
              <a:rPr lang="en-US" dirty="0">
                <a:solidFill>
                  <a:srgbClr val="FF0000"/>
                </a:solidFill>
              </a:rPr>
              <a:t> LEVELS</a:t>
            </a:r>
            <a:endParaRPr lang="en-PK" dirty="0">
              <a:solidFill>
                <a:srgbClr val="FF0000"/>
              </a:solidFill>
            </a:endParaRPr>
          </a:p>
        </p:txBody>
      </p:sp>
      <p:pic>
        <p:nvPicPr>
          <p:cNvPr id="5" name="Content Placeholder 4">
            <a:extLst>
              <a:ext uri="{FF2B5EF4-FFF2-40B4-BE49-F238E27FC236}">
                <a16:creationId xmlns:a16="http://schemas.microsoft.com/office/drawing/2014/main" id="{75BE43A6-4E67-4A6F-6E63-88873D872293}"/>
              </a:ext>
            </a:extLst>
          </p:cNvPr>
          <p:cNvPicPr>
            <a:picLocks noGrp="1" noChangeAspect="1"/>
          </p:cNvPicPr>
          <p:nvPr>
            <p:ph idx="1"/>
          </p:nvPr>
        </p:nvPicPr>
        <p:blipFill rotWithShape="1">
          <a:blip r:embed="rId2"/>
          <a:srcRect l="23470" t="25114" r="25320" b="11719"/>
          <a:stretch/>
        </p:blipFill>
        <p:spPr>
          <a:xfrm>
            <a:off x="1641529" y="656389"/>
            <a:ext cx="8908942" cy="6178337"/>
          </a:xfrm>
        </p:spPr>
      </p:pic>
    </p:spTree>
    <p:extLst>
      <p:ext uri="{BB962C8B-B14F-4D97-AF65-F5344CB8AC3E}">
        <p14:creationId xmlns:p14="http://schemas.microsoft.com/office/powerpoint/2010/main" val="557104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A6CDEE-57F3-A94E-CAED-F160C7B1F4F2}"/>
              </a:ext>
            </a:extLst>
          </p:cNvPr>
          <p:cNvPicPr>
            <a:picLocks noGrp="1" noChangeAspect="1"/>
          </p:cNvPicPr>
          <p:nvPr>
            <p:ph idx="1"/>
          </p:nvPr>
        </p:nvPicPr>
        <p:blipFill>
          <a:blip r:embed="rId3"/>
          <a:stretch>
            <a:fillRect/>
          </a:stretch>
        </p:blipFill>
        <p:spPr>
          <a:xfrm>
            <a:off x="2364932" y="1223010"/>
            <a:ext cx="8932636" cy="5208819"/>
          </a:xfrm>
        </p:spPr>
      </p:pic>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pic>
        <p:nvPicPr>
          <p:cNvPr id="10" name="Picture 9">
            <a:extLst>
              <a:ext uri="{FF2B5EF4-FFF2-40B4-BE49-F238E27FC236}">
                <a16:creationId xmlns:a16="http://schemas.microsoft.com/office/drawing/2014/main" id="{FF8218BF-FABA-0F52-7ED0-6A5BB15530A0}"/>
              </a:ext>
            </a:extLst>
          </p:cNvPr>
          <p:cNvPicPr>
            <a:picLocks noChangeAspect="1"/>
          </p:cNvPicPr>
          <p:nvPr/>
        </p:nvPicPr>
        <p:blipFill>
          <a:blip r:embed="rId4"/>
          <a:stretch>
            <a:fillRect/>
          </a:stretch>
        </p:blipFill>
        <p:spPr>
          <a:xfrm>
            <a:off x="172097" y="2771751"/>
            <a:ext cx="2936643" cy="1314497"/>
          </a:xfrm>
          <a:prstGeom prst="rect">
            <a:avLst/>
          </a:prstGeom>
        </p:spPr>
      </p:pic>
    </p:spTree>
    <p:extLst>
      <p:ext uri="{BB962C8B-B14F-4D97-AF65-F5344CB8AC3E}">
        <p14:creationId xmlns:p14="http://schemas.microsoft.com/office/powerpoint/2010/main" val="108376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sp>
        <p:nvSpPr>
          <p:cNvPr id="3" name="Content Placeholder 2">
            <a:extLst>
              <a:ext uri="{FF2B5EF4-FFF2-40B4-BE49-F238E27FC236}">
                <a16:creationId xmlns:a16="http://schemas.microsoft.com/office/drawing/2014/main" id="{031A8786-FC55-DC80-8BF0-2BA5BBFD420A}"/>
              </a:ext>
            </a:extLst>
          </p:cNvPr>
          <p:cNvSpPr>
            <a:spLocks noGrp="1"/>
          </p:cNvSpPr>
          <p:nvPr>
            <p:ph idx="1"/>
          </p:nvPr>
        </p:nvSpPr>
        <p:spPr/>
        <p:txBody>
          <a:bodyPr/>
          <a:lstStyle/>
          <a:p>
            <a:r>
              <a:rPr lang="en-US" dirty="0"/>
              <a:t>Passive attacks involve:</a:t>
            </a:r>
          </a:p>
          <a:p>
            <a:pPr lvl="1">
              <a:buFont typeface="Wingdings" panose="05000000000000000000" pitchFamily="2" charset="2"/>
              <a:buChar char="v"/>
            </a:pPr>
            <a:r>
              <a:rPr lang="en-US" dirty="0"/>
              <a:t>Eavesdropping on or monitoring transmissions to obtain message contents or monitor traffic flows.</a:t>
            </a:r>
          </a:p>
          <a:p>
            <a:pPr marL="0" indent="0">
              <a:buNone/>
            </a:pPr>
            <a:endParaRPr lang="en-US" dirty="0"/>
          </a:p>
        </p:txBody>
      </p:sp>
      <p:pic>
        <p:nvPicPr>
          <p:cNvPr id="2" name="Picture 2">
            <a:extLst>
              <a:ext uri="{FF2B5EF4-FFF2-40B4-BE49-F238E27FC236}">
                <a16:creationId xmlns:a16="http://schemas.microsoft.com/office/drawing/2014/main" id="{A903864D-0106-3B57-DB36-93E2F255A2C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390276" y="2686538"/>
            <a:ext cx="6840432" cy="3968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3496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sp>
        <p:nvSpPr>
          <p:cNvPr id="3" name="Content Placeholder 2">
            <a:extLst>
              <a:ext uri="{FF2B5EF4-FFF2-40B4-BE49-F238E27FC236}">
                <a16:creationId xmlns:a16="http://schemas.microsoft.com/office/drawing/2014/main" id="{031A8786-FC55-DC80-8BF0-2BA5BBFD420A}"/>
              </a:ext>
            </a:extLst>
          </p:cNvPr>
          <p:cNvSpPr>
            <a:spLocks noGrp="1"/>
          </p:cNvSpPr>
          <p:nvPr>
            <p:ph idx="1"/>
          </p:nvPr>
        </p:nvSpPr>
        <p:spPr/>
        <p:txBody>
          <a:bodyPr/>
          <a:lstStyle/>
          <a:p>
            <a:r>
              <a:rPr lang="en-US" dirty="0"/>
              <a:t>Active attacks include:</a:t>
            </a:r>
          </a:p>
          <a:p>
            <a:pPr lvl="1">
              <a:buFont typeface="Wingdings" panose="05000000000000000000" pitchFamily="2" charset="2"/>
              <a:buChar char="v"/>
            </a:pPr>
            <a:r>
              <a:rPr lang="en-US" dirty="0"/>
              <a:t>Modification of the data stream to masquerade as one entity, replay previous messages, modify messages in transit, or deny service. Additionally, fabrication may occur.</a:t>
            </a:r>
          </a:p>
        </p:txBody>
      </p:sp>
      <p:pic>
        <p:nvPicPr>
          <p:cNvPr id="2" name="Picture 2">
            <a:extLst>
              <a:ext uri="{FF2B5EF4-FFF2-40B4-BE49-F238E27FC236}">
                <a16:creationId xmlns:a16="http://schemas.microsoft.com/office/drawing/2014/main" id="{7DAAF798-4F71-CAF7-302F-E041538CAD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586807" y="3021581"/>
            <a:ext cx="7011224" cy="3741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3239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pic>
        <p:nvPicPr>
          <p:cNvPr id="4" name="Content Placeholder 3">
            <a:extLst>
              <a:ext uri="{FF2B5EF4-FFF2-40B4-BE49-F238E27FC236}">
                <a16:creationId xmlns:a16="http://schemas.microsoft.com/office/drawing/2014/main" id="{9BA7298E-AB75-76E7-EFE3-806D75E58C78}"/>
              </a:ext>
            </a:extLst>
          </p:cNvPr>
          <p:cNvPicPr>
            <a:picLocks noGrp="1" noChangeAspect="1"/>
          </p:cNvPicPr>
          <p:nvPr>
            <p:ph idx="1"/>
          </p:nvPr>
        </p:nvPicPr>
        <p:blipFill>
          <a:blip r:embed="rId3"/>
          <a:stretch>
            <a:fillRect/>
          </a:stretch>
        </p:blipFill>
        <p:spPr>
          <a:xfrm>
            <a:off x="1811206" y="791285"/>
            <a:ext cx="8569587" cy="5275429"/>
          </a:xfrm>
        </p:spPr>
      </p:pic>
    </p:spTree>
    <p:extLst>
      <p:ext uri="{BB962C8B-B14F-4D97-AF65-F5344CB8AC3E}">
        <p14:creationId xmlns:p14="http://schemas.microsoft.com/office/powerpoint/2010/main" val="3410103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pic>
        <p:nvPicPr>
          <p:cNvPr id="6" name="Content Placeholder 5">
            <a:extLst>
              <a:ext uri="{FF2B5EF4-FFF2-40B4-BE49-F238E27FC236}">
                <a16:creationId xmlns:a16="http://schemas.microsoft.com/office/drawing/2014/main" id="{65459E55-2E92-2919-0DEB-A8720949D1ED}"/>
              </a:ext>
            </a:extLst>
          </p:cNvPr>
          <p:cNvPicPr>
            <a:picLocks noGrp="1" noChangeAspect="1"/>
          </p:cNvPicPr>
          <p:nvPr>
            <p:ph idx="1"/>
          </p:nvPr>
        </p:nvPicPr>
        <p:blipFill>
          <a:blip r:embed="rId3"/>
          <a:stretch>
            <a:fillRect/>
          </a:stretch>
        </p:blipFill>
        <p:spPr>
          <a:xfrm>
            <a:off x="1311412" y="644235"/>
            <a:ext cx="9569175" cy="5614140"/>
          </a:xfrm>
        </p:spPr>
      </p:pic>
    </p:spTree>
    <p:extLst>
      <p:ext uri="{BB962C8B-B14F-4D97-AF65-F5344CB8AC3E}">
        <p14:creationId xmlns:p14="http://schemas.microsoft.com/office/powerpoint/2010/main" val="904226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23DC-EE46-FBE2-F381-49D2CE03F606}"/>
              </a:ext>
            </a:extLst>
          </p:cNvPr>
          <p:cNvSpPr>
            <a:spLocks noGrp="1"/>
          </p:cNvSpPr>
          <p:nvPr>
            <p:ph type="title"/>
          </p:nvPr>
        </p:nvSpPr>
        <p:spPr>
          <a:xfrm>
            <a:off x="838200" y="140399"/>
            <a:ext cx="10515600" cy="983228"/>
          </a:xfrm>
        </p:spPr>
        <p:txBody>
          <a:bodyPr/>
          <a:lstStyle/>
          <a:p>
            <a:r>
              <a:rPr lang="en-US" dirty="0"/>
              <a:t>SECURITY </a:t>
            </a:r>
            <a:r>
              <a:rPr lang="en-US" dirty="0">
                <a:solidFill>
                  <a:srgbClr val="FF0000"/>
                </a:solidFill>
              </a:rPr>
              <a:t>CONTROLS</a:t>
            </a:r>
            <a:endParaRPr lang="en-PK" dirty="0">
              <a:solidFill>
                <a:srgbClr val="FF0000"/>
              </a:solidFill>
            </a:endParaRPr>
          </a:p>
        </p:txBody>
      </p:sp>
      <p:pic>
        <p:nvPicPr>
          <p:cNvPr id="5" name="Content Placeholder 4">
            <a:extLst>
              <a:ext uri="{FF2B5EF4-FFF2-40B4-BE49-F238E27FC236}">
                <a16:creationId xmlns:a16="http://schemas.microsoft.com/office/drawing/2014/main" id="{67F5A02D-085C-9E28-F75C-AD6409C10F61}"/>
              </a:ext>
            </a:extLst>
          </p:cNvPr>
          <p:cNvPicPr>
            <a:picLocks noGrp="1" noChangeAspect="1"/>
          </p:cNvPicPr>
          <p:nvPr>
            <p:ph idx="1"/>
          </p:nvPr>
        </p:nvPicPr>
        <p:blipFill rotWithShape="1">
          <a:blip r:embed="rId2"/>
          <a:srcRect l="20897" t="25361" r="22633" b="8747"/>
          <a:stretch/>
        </p:blipFill>
        <p:spPr>
          <a:xfrm>
            <a:off x="2014780" y="1123627"/>
            <a:ext cx="8741043" cy="5734373"/>
          </a:xfrm>
        </p:spPr>
      </p:pic>
    </p:spTree>
    <p:extLst>
      <p:ext uri="{BB962C8B-B14F-4D97-AF65-F5344CB8AC3E}">
        <p14:creationId xmlns:p14="http://schemas.microsoft.com/office/powerpoint/2010/main" val="3520492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51A9AB-B8CB-1711-E239-C62B06FFFF4F}"/>
              </a:ext>
            </a:extLst>
          </p:cNvPr>
          <p:cNvPicPr>
            <a:picLocks noGrp="1" noChangeAspect="1"/>
          </p:cNvPicPr>
          <p:nvPr>
            <p:ph idx="1"/>
          </p:nvPr>
        </p:nvPicPr>
        <p:blipFill rotWithShape="1">
          <a:blip r:embed="rId2"/>
          <a:srcRect l="20697" t="17170" r="21831" b="7322"/>
          <a:stretch/>
        </p:blipFill>
        <p:spPr>
          <a:xfrm>
            <a:off x="2169763" y="232368"/>
            <a:ext cx="8260597" cy="6101901"/>
          </a:xfrm>
        </p:spPr>
      </p:pic>
    </p:spTree>
    <p:extLst>
      <p:ext uri="{BB962C8B-B14F-4D97-AF65-F5344CB8AC3E}">
        <p14:creationId xmlns:p14="http://schemas.microsoft.com/office/powerpoint/2010/main" val="22606173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6C0C38-4A24-BD47-8CF6-15CE46CD1F59}"/>
              </a:ext>
            </a:extLst>
          </p:cNvPr>
          <p:cNvPicPr>
            <a:picLocks noGrp="1" noChangeAspect="1"/>
          </p:cNvPicPr>
          <p:nvPr>
            <p:ph idx="1"/>
          </p:nvPr>
        </p:nvPicPr>
        <p:blipFill rotWithShape="1">
          <a:blip r:embed="rId2"/>
          <a:srcRect l="20697" t="17526" r="22232" b="13021"/>
          <a:stretch/>
        </p:blipFill>
        <p:spPr>
          <a:xfrm>
            <a:off x="1748725" y="454549"/>
            <a:ext cx="8694549" cy="5948901"/>
          </a:xfrm>
        </p:spPr>
      </p:pic>
    </p:spTree>
    <p:extLst>
      <p:ext uri="{BB962C8B-B14F-4D97-AF65-F5344CB8AC3E}">
        <p14:creationId xmlns:p14="http://schemas.microsoft.com/office/powerpoint/2010/main" val="40505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E05A6E4-F9AE-0C0D-74AE-AF6978045523}"/>
              </a:ext>
            </a:extLst>
          </p:cNvPr>
          <p:cNvPicPr>
            <a:picLocks noGrp="1" noChangeAspect="1"/>
          </p:cNvPicPr>
          <p:nvPr>
            <p:ph idx="1"/>
          </p:nvPr>
        </p:nvPicPr>
        <p:blipFill rotWithShape="1">
          <a:blip r:embed="rId2"/>
          <a:srcRect l="20296" t="17882" r="21831" b="7322"/>
          <a:stretch/>
        </p:blipFill>
        <p:spPr>
          <a:xfrm>
            <a:off x="2182677" y="585410"/>
            <a:ext cx="7826645" cy="5687180"/>
          </a:xfrm>
        </p:spPr>
      </p:pic>
    </p:spTree>
    <p:extLst>
      <p:ext uri="{BB962C8B-B14F-4D97-AF65-F5344CB8AC3E}">
        <p14:creationId xmlns:p14="http://schemas.microsoft.com/office/powerpoint/2010/main" val="32874481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C852-4230-ED56-723E-A8F262FFA900}"/>
              </a:ext>
            </a:extLst>
          </p:cNvPr>
          <p:cNvSpPr>
            <a:spLocks noGrp="1"/>
          </p:cNvSpPr>
          <p:nvPr>
            <p:ph type="title"/>
          </p:nvPr>
        </p:nvSpPr>
        <p:spPr/>
        <p:txBody>
          <a:bodyPr/>
          <a:lstStyle/>
          <a:p>
            <a:r>
              <a:rPr lang="en-US" dirty="0"/>
              <a:t>SOCIAL </a:t>
            </a:r>
            <a:r>
              <a:rPr lang="en-US" dirty="0">
                <a:solidFill>
                  <a:srgbClr val="FF0000"/>
                </a:solidFill>
              </a:rPr>
              <a:t>ENGINEERING</a:t>
            </a:r>
            <a:endParaRPr lang="en-PK" dirty="0">
              <a:solidFill>
                <a:srgbClr val="FF0000"/>
              </a:solidFill>
            </a:endParaRPr>
          </a:p>
        </p:txBody>
      </p:sp>
      <p:sp>
        <p:nvSpPr>
          <p:cNvPr id="3" name="Content Placeholder 2">
            <a:extLst>
              <a:ext uri="{FF2B5EF4-FFF2-40B4-BE49-F238E27FC236}">
                <a16:creationId xmlns:a16="http://schemas.microsoft.com/office/drawing/2014/main" id="{4F9EBA7B-2B7F-C9E5-3972-7B9D4C34C0C2}"/>
              </a:ext>
            </a:extLst>
          </p:cNvPr>
          <p:cNvSpPr>
            <a:spLocks noGrp="1"/>
          </p:cNvSpPr>
          <p:nvPr>
            <p:ph idx="1"/>
          </p:nvPr>
        </p:nvSpPr>
        <p:spPr/>
        <p:txBody>
          <a:bodyPr/>
          <a:lstStyle/>
          <a:p>
            <a:r>
              <a:rPr lang="en-US" dirty="0"/>
              <a:t>Malicious activities accomplished through human interaction.</a:t>
            </a:r>
          </a:p>
          <a:p>
            <a:r>
              <a:rPr lang="en-US" dirty="0"/>
              <a:t>“Cyber criminals use social engineering to heck our minds”.</a:t>
            </a:r>
          </a:p>
          <a:p>
            <a:r>
              <a:rPr lang="en-US" dirty="0"/>
              <a:t>They use our emotions - To make us stop thinking rationally.</a:t>
            </a:r>
            <a:endParaRPr lang="en-PK" dirty="0"/>
          </a:p>
        </p:txBody>
      </p:sp>
    </p:spTree>
    <p:extLst>
      <p:ext uri="{BB962C8B-B14F-4D97-AF65-F5344CB8AC3E}">
        <p14:creationId xmlns:p14="http://schemas.microsoft.com/office/powerpoint/2010/main" val="1160674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0210745-C090-7EAF-01B9-CAD40F9D8A7E}"/>
              </a:ext>
            </a:extLst>
          </p:cNvPr>
          <p:cNvPicPr>
            <a:picLocks noGrp="1" noChangeAspect="1"/>
          </p:cNvPicPr>
          <p:nvPr>
            <p:ph idx="1"/>
          </p:nvPr>
        </p:nvPicPr>
        <p:blipFill>
          <a:blip r:embed="rId2"/>
          <a:stretch>
            <a:fillRect/>
          </a:stretch>
        </p:blipFill>
        <p:spPr>
          <a:xfrm>
            <a:off x="1200499" y="472254"/>
            <a:ext cx="9791002" cy="5913492"/>
          </a:xfrm>
        </p:spPr>
      </p:pic>
    </p:spTree>
    <p:extLst>
      <p:ext uri="{BB962C8B-B14F-4D97-AF65-F5344CB8AC3E}">
        <p14:creationId xmlns:p14="http://schemas.microsoft.com/office/powerpoint/2010/main" val="5161545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4321-F1D1-23C7-DB8A-0F74B3A4BD76}"/>
              </a:ext>
            </a:extLst>
          </p:cNvPr>
          <p:cNvSpPr>
            <a:spLocks noGrp="1"/>
          </p:cNvSpPr>
          <p:nvPr>
            <p:ph type="title"/>
          </p:nvPr>
        </p:nvSpPr>
        <p:spPr/>
        <p:txBody>
          <a:bodyPr/>
          <a:lstStyle/>
          <a:p>
            <a:r>
              <a:rPr lang="en-US" dirty="0"/>
              <a:t>EXAMPLES</a:t>
            </a:r>
            <a:endParaRPr lang="en-PK" dirty="0"/>
          </a:p>
        </p:txBody>
      </p:sp>
      <p:sp>
        <p:nvSpPr>
          <p:cNvPr id="3" name="Content Placeholder 2">
            <a:extLst>
              <a:ext uri="{FF2B5EF4-FFF2-40B4-BE49-F238E27FC236}">
                <a16:creationId xmlns:a16="http://schemas.microsoft.com/office/drawing/2014/main" id="{033C16E7-3028-A064-78CB-3772B5FCEFA8}"/>
              </a:ext>
            </a:extLst>
          </p:cNvPr>
          <p:cNvSpPr>
            <a:spLocks noGrp="1"/>
          </p:cNvSpPr>
          <p:nvPr>
            <p:ph idx="1"/>
          </p:nvPr>
        </p:nvSpPr>
        <p:spPr/>
        <p:txBody>
          <a:bodyPr/>
          <a:lstStyle/>
          <a:p>
            <a:r>
              <a:rPr lang="en-US" dirty="0"/>
              <a:t>Giving up username, password or pin.</a:t>
            </a:r>
          </a:p>
          <a:p>
            <a:r>
              <a:rPr lang="en-US" dirty="0"/>
              <a:t>Sending money via electronic funds.</a:t>
            </a:r>
          </a:p>
          <a:p>
            <a:r>
              <a:rPr lang="en-US" dirty="0"/>
              <a:t>Unintentionally acting as a money mule for purpose of laundering.</a:t>
            </a:r>
          </a:p>
          <a:p>
            <a:r>
              <a:rPr lang="en-US" dirty="0"/>
              <a:t>Nigerian Prince Fraud (early </a:t>
            </a:r>
            <a:r>
              <a:rPr lang="en-US" dirty="0">
                <a:solidFill>
                  <a:schemeClr val="accent1"/>
                </a:solidFill>
              </a:rPr>
              <a:t>2000</a:t>
            </a:r>
            <a:r>
              <a:rPr lang="en-US" dirty="0"/>
              <a:t>s).</a:t>
            </a:r>
          </a:p>
          <a:p>
            <a:pPr lvl="1"/>
            <a:r>
              <a:rPr lang="en-US" dirty="0"/>
              <a:t>Linked to human </a:t>
            </a:r>
            <a:r>
              <a:rPr lang="en-US" dirty="0">
                <a:solidFill>
                  <a:srgbClr val="FF0000"/>
                </a:solidFill>
              </a:rPr>
              <a:t>greed</a:t>
            </a:r>
            <a:r>
              <a:rPr lang="en-US" dirty="0"/>
              <a:t>.</a:t>
            </a:r>
            <a:endParaRPr lang="en-PK" dirty="0"/>
          </a:p>
        </p:txBody>
      </p:sp>
    </p:spTree>
    <p:extLst>
      <p:ext uri="{BB962C8B-B14F-4D97-AF65-F5344CB8AC3E}">
        <p14:creationId xmlns:p14="http://schemas.microsoft.com/office/powerpoint/2010/main" val="4130109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E5EFD-D1A0-C737-D182-90346F9CA42B}"/>
              </a:ext>
            </a:extLst>
          </p:cNvPr>
          <p:cNvSpPr>
            <a:spLocks noGrp="1"/>
          </p:cNvSpPr>
          <p:nvPr>
            <p:ph type="title"/>
          </p:nvPr>
        </p:nvSpPr>
        <p:spPr/>
        <p:txBody>
          <a:bodyPr>
            <a:normAutofit/>
          </a:bodyPr>
          <a:lstStyle/>
          <a:p>
            <a:r>
              <a:rPr lang="en-US" dirty="0"/>
              <a:t>PRINCIPLES ON WHICH SOCIAL ENGINEERING TECHNIQUES ARE BASED:</a:t>
            </a:r>
            <a:endParaRPr lang="en-PK" dirty="0"/>
          </a:p>
        </p:txBody>
      </p:sp>
      <p:sp>
        <p:nvSpPr>
          <p:cNvPr id="3" name="Content Placeholder 2">
            <a:extLst>
              <a:ext uri="{FF2B5EF4-FFF2-40B4-BE49-F238E27FC236}">
                <a16:creationId xmlns:a16="http://schemas.microsoft.com/office/drawing/2014/main" id="{F6202351-F59A-6631-E808-9E03A7195CCA}"/>
              </a:ext>
            </a:extLst>
          </p:cNvPr>
          <p:cNvSpPr>
            <a:spLocks noGrp="1"/>
          </p:cNvSpPr>
          <p:nvPr>
            <p:ph idx="1"/>
          </p:nvPr>
        </p:nvSpPr>
        <p:spPr/>
        <p:txBody>
          <a:bodyPr>
            <a:normAutofit/>
          </a:bodyPr>
          <a:lstStyle/>
          <a:p>
            <a:r>
              <a:rPr lang="en-US" dirty="0"/>
              <a:t>Dr. Robert Cialdini breaks the techniques of social engineering down in to six principles:</a:t>
            </a:r>
          </a:p>
          <a:p>
            <a:pPr lvl="1"/>
            <a:r>
              <a:rPr lang="en-US" dirty="0"/>
              <a:t>RECIPROCITY</a:t>
            </a:r>
          </a:p>
          <a:p>
            <a:pPr lvl="1"/>
            <a:r>
              <a:rPr lang="en-US" dirty="0"/>
              <a:t>SCARCITY</a:t>
            </a:r>
          </a:p>
          <a:p>
            <a:pPr lvl="1"/>
            <a:r>
              <a:rPr lang="en-US" dirty="0"/>
              <a:t>AUTHORITY</a:t>
            </a:r>
          </a:p>
          <a:p>
            <a:pPr lvl="1"/>
            <a:r>
              <a:rPr lang="en-US" dirty="0"/>
              <a:t>CONSISTENCY</a:t>
            </a:r>
          </a:p>
          <a:p>
            <a:pPr lvl="1"/>
            <a:r>
              <a:rPr lang="en-US" dirty="0"/>
              <a:t>LIKING</a:t>
            </a:r>
          </a:p>
          <a:p>
            <a:pPr lvl="1"/>
            <a:r>
              <a:rPr lang="en-US" dirty="0"/>
              <a:t>CONSENSUS</a:t>
            </a:r>
            <a:endParaRPr lang="en-PK" dirty="0"/>
          </a:p>
        </p:txBody>
      </p:sp>
    </p:spTree>
    <p:extLst>
      <p:ext uri="{BB962C8B-B14F-4D97-AF65-F5344CB8AC3E}">
        <p14:creationId xmlns:p14="http://schemas.microsoft.com/office/powerpoint/2010/main" val="1969118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A6DA6-B742-C02D-BD10-0ECF5C688C53}"/>
              </a:ext>
            </a:extLst>
          </p:cNvPr>
          <p:cNvSpPr>
            <a:spLocks noGrp="1"/>
          </p:cNvSpPr>
          <p:nvPr>
            <p:ph type="title"/>
          </p:nvPr>
        </p:nvSpPr>
        <p:spPr/>
        <p:txBody>
          <a:bodyPr/>
          <a:lstStyle/>
          <a:p>
            <a:r>
              <a:rPr lang="en-US" dirty="0"/>
              <a:t>SOCIAL ENGINEERING ATTACKS</a:t>
            </a:r>
            <a:endParaRPr lang="en-PK" dirty="0"/>
          </a:p>
        </p:txBody>
      </p:sp>
      <p:sp>
        <p:nvSpPr>
          <p:cNvPr id="3" name="Content Placeholder 2">
            <a:extLst>
              <a:ext uri="{FF2B5EF4-FFF2-40B4-BE49-F238E27FC236}">
                <a16:creationId xmlns:a16="http://schemas.microsoft.com/office/drawing/2014/main" id="{16E05EB9-6C23-6C6D-8F0D-0AC4017A8F0E}"/>
              </a:ext>
            </a:extLst>
          </p:cNvPr>
          <p:cNvSpPr>
            <a:spLocks noGrp="1"/>
          </p:cNvSpPr>
          <p:nvPr>
            <p:ph idx="1"/>
          </p:nvPr>
        </p:nvSpPr>
        <p:spPr/>
        <p:txBody>
          <a:bodyPr/>
          <a:lstStyle/>
          <a:p>
            <a:r>
              <a:rPr lang="en-US" dirty="0"/>
              <a:t>BAITING (Deceptive Promises)</a:t>
            </a:r>
          </a:p>
          <a:p>
            <a:r>
              <a:rPr lang="en-US" dirty="0"/>
              <a:t>SCAREWARE</a:t>
            </a:r>
          </a:p>
          <a:p>
            <a:r>
              <a:rPr lang="en-US" dirty="0"/>
              <a:t>PRETEXTING</a:t>
            </a:r>
          </a:p>
          <a:p>
            <a:r>
              <a:rPr lang="en-US" dirty="0"/>
              <a:t>PHISHING (</a:t>
            </a:r>
            <a:r>
              <a:rPr lang="en-US" dirty="0" err="1"/>
              <a:t>BeEF</a:t>
            </a:r>
            <a:r>
              <a:rPr lang="en-US" dirty="0"/>
              <a:t>, Vishing, Smishing)</a:t>
            </a:r>
          </a:p>
          <a:p>
            <a:r>
              <a:rPr lang="en-US" dirty="0"/>
              <a:t>SPEAR PHISHING</a:t>
            </a:r>
            <a:endParaRPr lang="en-PK" dirty="0"/>
          </a:p>
        </p:txBody>
      </p:sp>
      <p:pic>
        <p:nvPicPr>
          <p:cNvPr id="1028" name="Picture 4" descr="Pretexting - an overview | ScienceDirect Topics">
            <a:extLst>
              <a:ext uri="{FF2B5EF4-FFF2-40B4-BE49-F238E27FC236}">
                <a16:creationId xmlns:a16="http://schemas.microsoft.com/office/drawing/2014/main" id="{A3C339DC-55B1-DCDE-08F3-2497015BB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0983" y="1425335"/>
            <a:ext cx="4592817" cy="40073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B31E53-3B44-5FF8-0184-E3BA0B110415}"/>
              </a:ext>
            </a:extLst>
          </p:cNvPr>
          <p:cNvSpPr txBox="1"/>
          <p:nvPr/>
        </p:nvSpPr>
        <p:spPr>
          <a:xfrm>
            <a:off x="8367624" y="3228945"/>
            <a:ext cx="1587888" cy="400110"/>
          </a:xfrm>
          <a:prstGeom prst="rect">
            <a:avLst/>
          </a:prstGeom>
          <a:noFill/>
        </p:spPr>
        <p:txBody>
          <a:bodyPr wrap="square" rtlCol="0">
            <a:spAutoFit/>
          </a:bodyPr>
          <a:lstStyle/>
          <a:p>
            <a:r>
              <a:rPr lang="en-US" sz="2000" b="1" dirty="0"/>
              <a:t>Pretexting</a:t>
            </a:r>
            <a:endParaRPr lang="en-PK" sz="2000" b="1" dirty="0"/>
          </a:p>
        </p:txBody>
      </p:sp>
    </p:spTree>
    <p:extLst>
      <p:ext uri="{BB962C8B-B14F-4D97-AF65-F5344CB8AC3E}">
        <p14:creationId xmlns:p14="http://schemas.microsoft.com/office/powerpoint/2010/main" val="3494536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B928-52C5-7715-844E-512C03946BFE}"/>
              </a:ext>
            </a:extLst>
          </p:cNvPr>
          <p:cNvSpPr>
            <a:spLocks noGrp="1"/>
          </p:cNvSpPr>
          <p:nvPr>
            <p:ph type="title"/>
          </p:nvPr>
        </p:nvSpPr>
        <p:spPr/>
        <p:txBody>
          <a:bodyPr/>
          <a:lstStyle/>
          <a:p>
            <a:r>
              <a:rPr lang="en-US" dirty="0"/>
              <a:t>PREVENTION</a:t>
            </a:r>
            <a:br>
              <a:rPr lang="en-US" dirty="0"/>
            </a:br>
            <a:endParaRPr lang="en-PK" dirty="0"/>
          </a:p>
        </p:txBody>
      </p:sp>
      <p:sp>
        <p:nvSpPr>
          <p:cNvPr id="3" name="Content Placeholder 2">
            <a:extLst>
              <a:ext uri="{FF2B5EF4-FFF2-40B4-BE49-F238E27FC236}">
                <a16:creationId xmlns:a16="http://schemas.microsoft.com/office/drawing/2014/main" id="{93C5A543-FF8D-CADA-3432-1BFC4CFB3CB2}"/>
              </a:ext>
            </a:extLst>
          </p:cNvPr>
          <p:cNvSpPr>
            <a:spLocks noGrp="1"/>
          </p:cNvSpPr>
          <p:nvPr>
            <p:ph idx="1"/>
          </p:nvPr>
        </p:nvSpPr>
        <p:spPr/>
        <p:txBody>
          <a:bodyPr/>
          <a:lstStyle/>
          <a:p>
            <a:r>
              <a:rPr lang="en-US" dirty="0"/>
              <a:t>DON’T OPEN EMAILS &amp; ATTACHMENTS FROM SUSPICIOUS SOURCES.</a:t>
            </a:r>
          </a:p>
          <a:p>
            <a:r>
              <a:rPr lang="en-US" dirty="0"/>
              <a:t>USE MULTIFACTOR AUTHENTICATION.</a:t>
            </a:r>
          </a:p>
          <a:p>
            <a:r>
              <a:rPr lang="en-US" dirty="0"/>
              <a:t>BEWARY OF TEMPTING OFFERS.</a:t>
            </a:r>
          </a:p>
          <a:p>
            <a:r>
              <a:rPr lang="en-US" dirty="0"/>
              <a:t>KEEP ANTIVIRUS/ANTIMALWARE RUNNING AND UP-TO-DATE.</a:t>
            </a:r>
            <a:endParaRPr lang="en-PK" dirty="0"/>
          </a:p>
        </p:txBody>
      </p:sp>
    </p:spTree>
    <p:extLst>
      <p:ext uri="{BB962C8B-B14F-4D97-AF65-F5344CB8AC3E}">
        <p14:creationId xmlns:p14="http://schemas.microsoft.com/office/powerpoint/2010/main" val="2132307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3510</TotalTime>
  <Words>3109</Words>
  <Application>Microsoft Office PowerPoint</Application>
  <PresentationFormat>Widescreen</PresentationFormat>
  <Paragraphs>252</Paragraphs>
  <Slides>43</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Aldhabi</vt:lpstr>
      <vt:lpstr>Arial</vt:lpstr>
      <vt:lpstr>Calibri</vt:lpstr>
      <vt:lpstr>Calibri Light</vt:lpstr>
      <vt:lpstr>Courier New</vt:lpstr>
      <vt:lpstr>Times New Roman</vt:lpstr>
      <vt:lpstr>Verdana</vt:lpstr>
      <vt:lpstr>Wingdings</vt:lpstr>
      <vt:lpstr>Wingdings 2</vt:lpstr>
      <vt:lpstr>Wingdings 3</vt:lpstr>
      <vt:lpstr>Office Theme</vt:lpstr>
      <vt:lpstr>Information Security (CSNC3413)   Lecture 1</vt:lpstr>
      <vt:lpstr>Contents</vt:lpstr>
      <vt:lpstr>PowerPoint Presentation</vt:lpstr>
      <vt:lpstr>WHAT IS DATA?</vt:lpstr>
      <vt:lpstr>WHAT IS INFORMATION?</vt:lpstr>
      <vt:lpstr>PowerPoint Presentation</vt:lpstr>
      <vt:lpstr>DIKIW - MODEL</vt:lpstr>
      <vt:lpstr>WHAT IS AN ASSET?</vt:lpstr>
      <vt:lpstr>WHAT IS A THREAT?</vt:lpstr>
      <vt:lpstr>WHAT IS A VULNERABILITY?</vt:lpstr>
      <vt:lpstr>WHAT IS RISK?</vt:lpstr>
      <vt:lpstr>PowerPoint Presentation</vt:lpstr>
      <vt:lpstr>PowerPoint Presentation</vt:lpstr>
      <vt:lpstr>EXPOSURE FACTOR AND IMPACT </vt:lpstr>
      <vt:lpstr>EXPOSURE FACTOR AND IMPACT (Cont.)</vt:lpstr>
      <vt:lpstr>PowerPoint Presentation</vt:lpstr>
      <vt:lpstr>RISK REDUCTION LEVERAGE </vt:lpstr>
      <vt:lpstr>PowerPoint Presentation</vt:lpstr>
      <vt:lpstr>PowerPoint Presentation</vt:lpstr>
      <vt:lpstr>Exercise</vt:lpstr>
      <vt:lpstr>Solution??</vt:lpstr>
      <vt:lpstr>SECURITY CONCEPTS</vt:lpstr>
      <vt:lpstr>PowerPoint Presentation</vt:lpstr>
      <vt:lpstr>SECURITY</vt:lpstr>
      <vt:lpstr>SECURITY</vt:lpstr>
      <vt:lpstr>SECURITY CONCEPTS</vt:lpstr>
      <vt:lpstr>CIA MODEL / CIAA MODEL</vt:lpstr>
      <vt:lpstr>SECURITY LEVELS</vt:lpstr>
      <vt:lpstr>PowerPoint Presentation</vt:lpstr>
      <vt:lpstr>PowerPoint Presentation</vt:lpstr>
      <vt:lpstr>PowerPoint Presentation</vt:lpstr>
      <vt:lpstr>PowerPoint Presentation</vt:lpstr>
      <vt:lpstr>PowerPoint Presentation</vt:lpstr>
      <vt:lpstr>SECURITY CONTROLS</vt:lpstr>
      <vt:lpstr>PowerPoint Presentation</vt:lpstr>
      <vt:lpstr>PowerPoint Presentation</vt:lpstr>
      <vt:lpstr>PowerPoint Presentation</vt:lpstr>
      <vt:lpstr>SOCIAL ENGINEERING</vt:lpstr>
      <vt:lpstr>PowerPoint Presentation</vt:lpstr>
      <vt:lpstr>EXAMPLES</vt:lpstr>
      <vt:lpstr>PRINCIPLES ON WHICH SOCIAL ENGINEERING TECHNIQUES ARE BASED:</vt:lpstr>
      <vt:lpstr>SOCIAL ENGINEERING ATTACKS</vt:lpstr>
      <vt:lpstr>PREVENTION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 1</dc:title>
  <dc:creator>Annas Malik</dc:creator>
  <cp:lastModifiedBy>Mahek Kausar</cp:lastModifiedBy>
  <cp:revision>93</cp:revision>
  <dcterms:created xsi:type="dcterms:W3CDTF">2023-03-13T17:29:03Z</dcterms:created>
  <dcterms:modified xsi:type="dcterms:W3CDTF">2026-09-29T07:43:41Z</dcterms:modified>
</cp:coreProperties>
</file>