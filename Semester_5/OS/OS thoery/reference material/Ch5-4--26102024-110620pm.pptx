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469" r:id="rId2"/>
    <p:sldId id="472" r:id="rId3"/>
    <p:sldId id="470" r:id="rId4"/>
    <p:sldId id="471" r:id="rId5"/>
    <p:sldId id="28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233C"/>
    <a:srgbClr val="137547"/>
    <a:srgbClr val="054A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4" autoAdjust="0"/>
    <p:restoredTop sz="93295" autoAdjust="0"/>
  </p:normalViewPr>
  <p:slideViewPr>
    <p:cSldViewPr snapToGrid="0">
      <p:cViewPr varScale="1">
        <p:scale>
          <a:sx n="65" d="100"/>
          <a:sy n="65" d="100"/>
        </p:scale>
        <p:origin x="11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FFBA9-BF4D-4A6A-A8A8-E1FCE48E4F7B}" type="datetimeFigureOut">
              <a:rPr lang="en-GB" smtClean="0"/>
              <a:t>26/10/2024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9DB7D-7171-4B15-88A3-B8FB10A0EF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441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9285CF-9147-4C86-BFB0-5537E5985403}" type="slidenum">
              <a:rPr lang="en-US"/>
              <a:pPr/>
              <a:t>5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E61E8-5EB5-D04C-D430-7EE0FD55C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D7653-AFD3-AAF7-6B25-034F34D73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4D7D6-6AC6-0177-1AD4-272B755BC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67D0-9FB7-45D7-9A82-D0AEBEEBFE37}" type="datetimeFigureOut">
              <a:rPr lang="en-GB" smtClean="0"/>
              <a:t>26/10/2024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C7B68-6229-6FAB-7941-80D579F55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F0F8A-5C64-782C-3459-1A1A3EA24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F7DFE-9557-4DFE-8C7B-C7AF859E4D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463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03670-8884-9A82-2FD0-43D40EA5C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4930C-A8D0-4048-84BB-17CDBF0CF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808C8-709D-F30F-1844-0D407CD9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67D0-9FB7-45D7-9A82-D0AEBEEBFE37}" type="datetimeFigureOut">
              <a:rPr lang="en-GB" smtClean="0"/>
              <a:t>26/10/2024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9334B-7EB1-D693-91B8-73BE3356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E529A-7BC7-FE71-755E-4D3A75C3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F7DFE-9557-4DFE-8C7B-C7AF859E4D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83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5A694-7884-8F00-5FBE-0E1C19DB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315E2-33C4-EC34-0142-0D2416BBD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DBACB-8696-2C6C-1E54-0C859F57F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67D0-9FB7-45D7-9A82-D0AEBEEBFE37}" type="datetimeFigureOut">
              <a:rPr lang="en-GB" smtClean="0"/>
              <a:t>26/10/2024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94079-2010-6576-AFDF-AA3B22B43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40268-5030-E8EF-F0F0-C1C29D90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F7DFE-9557-4DFE-8C7B-C7AF859E4D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950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92D7-6587-7CDE-AE45-05D2DCEB7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4F79D-C9AD-DC32-1AAA-BA7F65442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55C09-0045-5F6B-20EE-CB2C19C66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934B1-8CB0-3F30-76D6-A97B28F74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67D0-9FB7-45D7-9A82-D0AEBEEBFE37}" type="datetimeFigureOut">
              <a:rPr lang="en-GB" smtClean="0"/>
              <a:t>26/10/2024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F46E3-99DC-910A-FEE5-3A02AAFFF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76D06-CC62-0A25-94B1-9B0704388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F7DFE-9557-4DFE-8C7B-C7AF859E4D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978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6305D-A2AA-6992-4458-540D8E36B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4E611-8242-467D-1B2E-915A7C8C2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CED66-4AAE-924E-3CB5-ED98E8960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5DF88D-EA85-21B9-FBE6-6575E95BF8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3CB78A-6901-6C61-B278-64085B40A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7806D2-498C-316F-7F0C-DBE0BE368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67D0-9FB7-45D7-9A82-D0AEBEEBFE37}" type="datetimeFigureOut">
              <a:rPr lang="en-GB" smtClean="0"/>
              <a:t>26/10/2024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B9C37D-4113-04AD-7996-6A416FF53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510B95-CF5D-19F6-9DA6-26D24B61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F7DFE-9557-4DFE-8C7B-C7AF859E4D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40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39673-0D62-B5E9-2A24-5C424198B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873A1-E01F-0C15-FDE4-BED9669D0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67D0-9FB7-45D7-9A82-D0AEBEEBFE37}" type="datetimeFigureOut">
              <a:rPr lang="en-GB" smtClean="0"/>
              <a:t>26/10/2024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52A46-5936-E885-395F-59DA83FC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BF0B9-81C2-9B83-3B98-DFDB6C61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F7DFE-9557-4DFE-8C7B-C7AF859E4D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930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7B4A2D-728A-90B0-F5AC-CDEB82DFB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67D0-9FB7-45D7-9A82-D0AEBEEBFE37}" type="datetimeFigureOut">
              <a:rPr lang="en-GB" smtClean="0"/>
              <a:t>26/10/2024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05FF3-F53C-F496-3A4A-75A286139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4CF9D-76A9-1376-0E13-37C6ACBC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F7DFE-9557-4DFE-8C7B-C7AF859E4D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688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3FFD8-9F91-D479-48F9-C3771FB8A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531D9-B3FE-4E6D-7B69-AB5D06BF0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C187DE-30F2-2458-34F1-668DA51EE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7A045-DFC8-BBFC-DD0F-ABD87B73E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67D0-9FB7-45D7-9A82-D0AEBEEBFE37}" type="datetimeFigureOut">
              <a:rPr lang="en-GB" smtClean="0"/>
              <a:t>26/10/2024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5E336-8C39-F194-3BED-F2A66B2E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6AB53-5FDC-2F00-981B-5AC88CA65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F7DFE-9557-4DFE-8C7B-C7AF859E4D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75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FDC1-C19E-82EE-DF7F-7B327D9B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7FECBA-B2E2-8BAC-B13C-6587C070E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59331-3CB4-B173-713D-50E73A615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7AE8E-6BC4-C15D-C845-FEFE95994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67D0-9FB7-45D7-9A82-D0AEBEEBFE37}" type="datetimeFigureOut">
              <a:rPr lang="en-GB" smtClean="0"/>
              <a:t>26/10/2024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A4193-97A0-E024-9691-1802D9A14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E5869-673C-C807-2F5C-CBD44FB14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F7DFE-9557-4DFE-8C7B-C7AF859E4D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7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476E0-065C-421A-98D4-0203B89F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2B3A3-A6E3-8A17-15BE-D93D7F0DA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F0916-8039-4727-F34B-B7F355889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67D0-9FB7-45D7-9A82-D0AEBEEBFE37}" type="datetimeFigureOut">
              <a:rPr lang="en-GB" smtClean="0"/>
              <a:t>26/10/2024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B52FE-637D-4AD1-7C5B-FAE77EF7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FCDC4-E570-EB23-5C65-ACDED19A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F7DFE-9557-4DFE-8C7B-C7AF859E4D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398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F984D4-D45D-26FC-348E-24B620C7B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6DFC5A-6409-4F10-80B2-1FF358258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5B94B-8200-C1E1-673E-503CE4238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67D0-9FB7-45D7-9A82-D0AEBEEBFE37}" type="datetimeFigureOut">
              <a:rPr lang="en-GB" smtClean="0"/>
              <a:t>26/10/2024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610EC-0A94-AB67-72C2-E079DCA8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B43FD-61A9-6A70-2EE6-87E584CCF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F7DFE-9557-4DFE-8C7B-C7AF859E4D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0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6C1865-D111-2D28-A0D5-8DC81405B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8A9E1-CE25-4316-EF5C-F756B6308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9674D-AA15-6733-B81A-F757F14087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C67D0-9FB7-45D7-9A82-D0AEBEEBFE37}" type="datetimeFigureOut">
              <a:rPr lang="en-GB" smtClean="0"/>
              <a:t>26/10/2024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D5055-E39F-F071-5D20-CE1651A56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988D8-3018-86FC-4B0E-9213497A95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F7DFE-9557-4DFE-8C7B-C7AF859E4D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9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E4DB5-5623-4AD4-EC07-A0D2154B3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A8C7DE-3252-F6C0-82BC-37DE42AAA762}"/>
              </a:ext>
            </a:extLst>
          </p:cNvPr>
          <p:cNvSpPr txBox="1"/>
          <p:nvPr/>
        </p:nvSpPr>
        <p:spPr>
          <a:xfrm>
            <a:off x="629879" y="776291"/>
            <a:ext cx="109322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</a:rPr>
              <a:t>Round Robin is a CPU scheduling algorithm where each process is assigned a fixed time slot in a cyclic way.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</a:rPr>
              <a:t>Algorithm comes from the round-robin principle, where each process gets an equal share of time in turns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</a:rPr>
              <a:t>It is simple, easy to implement, and </a:t>
            </a:r>
            <a:r>
              <a:rPr lang="en-GB" sz="2000" dirty="0">
                <a:solidFill>
                  <a:srgbClr val="FFFF00"/>
                </a:solidFill>
              </a:rPr>
              <a:t>starvation-free</a:t>
            </a:r>
            <a:r>
              <a:rPr lang="en-GB" sz="2000" dirty="0">
                <a:solidFill>
                  <a:schemeClr val="bg1"/>
                </a:solidFill>
              </a:rPr>
              <a:t> as all processes get fair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</a:rPr>
              <a:t>share of CPU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</a:rPr>
              <a:t>It is </a:t>
            </a:r>
            <a:r>
              <a:rPr lang="en-GB" sz="2000" dirty="0" err="1">
                <a:solidFill>
                  <a:srgbClr val="FFFF00"/>
                </a:solidFill>
              </a:rPr>
              <a:t>preemptive</a:t>
            </a:r>
            <a:r>
              <a:rPr lang="en-GB" sz="2000" dirty="0">
                <a:solidFill>
                  <a:schemeClr val="bg1"/>
                </a:solidFill>
              </a:rPr>
              <a:t> as processes are assigned </a:t>
            </a:r>
            <a:r>
              <a:rPr lang="en-GB" sz="2000" dirty="0">
                <a:solidFill>
                  <a:srgbClr val="FFFF00"/>
                </a:solidFill>
              </a:rPr>
              <a:t>CPU only for a fixed slice of time</a:t>
            </a:r>
            <a:r>
              <a:rPr lang="en-GB" sz="2000" dirty="0">
                <a:solidFill>
                  <a:schemeClr val="bg1"/>
                </a:solidFill>
              </a:rPr>
              <a:t> at most. Fix time slice to execute, is called a Quantum. Mostly used for multitasking.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</a:rPr>
              <a:t>The </a:t>
            </a:r>
            <a:r>
              <a:rPr lang="en-GB" sz="2000" dirty="0">
                <a:solidFill>
                  <a:srgbClr val="FFFF00"/>
                </a:solidFill>
              </a:rPr>
              <a:t>disadvantage of it is more overhead of context switching</a:t>
            </a:r>
            <a:r>
              <a:rPr lang="en-GB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0B8D231-C0AF-C4D6-0E7C-1BB76783CA63}"/>
              </a:ext>
            </a:extLst>
          </p:cNvPr>
          <p:cNvSpPr txBox="1">
            <a:spLocks/>
          </p:cNvSpPr>
          <p:nvPr/>
        </p:nvSpPr>
        <p:spPr>
          <a:xfrm>
            <a:off x="822222" y="-324462"/>
            <a:ext cx="10515600" cy="1100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bg1">
                    <a:lumMod val="95000"/>
                  </a:schemeClr>
                </a:solidFill>
              </a:rPr>
              <a:t>Round Robin Scheduling  Algorithm</a:t>
            </a:r>
          </a:p>
        </p:txBody>
      </p:sp>
      <p:pic>
        <p:nvPicPr>
          <p:cNvPr id="10" name="Picture 9" descr="A diagram of a process&#10;&#10;Description automatically generated">
            <a:extLst>
              <a:ext uri="{FF2B5EF4-FFF2-40B4-BE49-F238E27FC236}">
                <a16:creationId xmlns:a16="http://schemas.microsoft.com/office/drawing/2014/main" id="{BE6C38D8-5103-6293-4AFF-11D0AC8F4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699" y="3764192"/>
            <a:ext cx="6283427" cy="28413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3A773DB-194A-E187-8374-5C15FCC20443}"/>
              </a:ext>
            </a:extLst>
          </p:cNvPr>
          <p:cNvSpPr txBox="1"/>
          <p:nvPr/>
        </p:nvSpPr>
        <p:spPr>
          <a:xfrm>
            <a:off x="6575322" y="4637121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P1</a:t>
            </a:r>
            <a:endParaRPr lang="en-GB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D7D2BE-E611-1CFE-C29E-6D2D8BF8D79F}"/>
              </a:ext>
            </a:extLst>
          </p:cNvPr>
          <p:cNvSpPr txBox="1"/>
          <p:nvPr/>
        </p:nvSpPr>
        <p:spPr>
          <a:xfrm>
            <a:off x="6096000" y="4637120"/>
            <a:ext cx="389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P3</a:t>
            </a:r>
            <a:endParaRPr lang="en-GB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D201D5-6574-E504-9135-7EADB876FE03}"/>
              </a:ext>
            </a:extLst>
          </p:cNvPr>
          <p:cNvSpPr txBox="1"/>
          <p:nvPr/>
        </p:nvSpPr>
        <p:spPr>
          <a:xfrm>
            <a:off x="6335661" y="4637120"/>
            <a:ext cx="389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P2</a:t>
            </a:r>
            <a:endParaRPr lang="en-GB" sz="1400" b="1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10594FD-CBDF-E2C1-F0EE-A42435041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730299"/>
              </p:ext>
            </p:extLst>
          </p:nvPr>
        </p:nvGraphicFramePr>
        <p:xfrm>
          <a:off x="98119" y="3998528"/>
          <a:ext cx="5492749" cy="1584960"/>
        </p:xfrm>
        <a:graphic>
          <a:graphicData uri="http://schemas.openxmlformats.org/drawingml/2006/table">
            <a:tbl>
              <a:tblPr firstRow="1" bandRow="1"/>
              <a:tblGrid>
                <a:gridCol w="1261543">
                  <a:extLst>
                    <a:ext uri="{9D8B030D-6E8A-4147-A177-3AD203B41FA5}">
                      <a16:colId xmlns:a16="http://schemas.microsoft.com/office/drawing/2014/main" val="3563464273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2660199272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2548033332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501443467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2134066396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3429849844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3717206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Process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BT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CT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TAT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WT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863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P1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0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5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806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P2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7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10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P3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3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4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381447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A330247-7A8C-E462-C50B-C6807E3210D0}"/>
              </a:ext>
            </a:extLst>
          </p:cNvPr>
          <p:cNvSpPr txBox="1"/>
          <p:nvPr/>
        </p:nvSpPr>
        <p:spPr>
          <a:xfrm>
            <a:off x="1182474" y="6245767"/>
            <a:ext cx="3640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0" i="0" u="none" strike="noStrike" baseline="0" dirty="0">
                <a:solidFill>
                  <a:schemeClr val="bg1"/>
                </a:solidFill>
              </a:rPr>
              <a:t>time quantum = 2 unit </a:t>
            </a:r>
            <a:endParaRPr lang="en-GB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603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03CED6-6EAA-3EEC-CAA3-3F4B2C0F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84E2C6F-4813-D352-C454-E42EBABB444E}"/>
              </a:ext>
            </a:extLst>
          </p:cNvPr>
          <p:cNvSpPr txBox="1">
            <a:spLocks/>
          </p:cNvSpPr>
          <p:nvPr/>
        </p:nvSpPr>
        <p:spPr>
          <a:xfrm>
            <a:off x="822222" y="-324462"/>
            <a:ext cx="10515600" cy="1100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bg1">
                    <a:lumMod val="95000"/>
                  </a:schemeClr>
                </a:solidFill>
              </a:rPr>
              <a:t>Round Robin Scheduling  Algorithm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BE74238-D76A-335B-B2D0-B52EF4E9C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767410"/>
              </p:ext>
            </p:extLst>
          </p:nvPr>
        </p:nvGraphicFramePr>
        <p:xfrm>
          <a:off x="603251" y="1299573"/>
          <a:ext cx="5492749" cy="1584960"/>
        </p:xfrm>
        <a:graphic>
          <a:graphicData uri="http://schemas.openxmlformats.org/drawingml/2006/table">
            <a:tbl>
              <a:tblPr firstRow="1" bandRow="1"/>
              <a:tblGrid>
                <a:gridCol w="1261543">
                  <a:extLst>
                    <a:ext uri="{9D8B030D-6E8A-4147-A177-3AD203B41FA5}">
                      <a16:colId xmlns:a16="http://schemas.microsoft.com/office/drawing/2014/main" val="3563464273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2660199272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2548033332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501443467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2134066396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3429849844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3717206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Process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BT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CT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TAT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WT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863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P1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0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5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11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806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P2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7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16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10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P3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3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4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13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381447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DE5E089-581E-07ED-FD1A-3137446CA48E}"/>
              </a:ext>
            </a:extLst>
          </p:cNvPr>
          <p:cNvSpPr txBox="1"/>
          <p:nvPr/>
        </p:nvSpPr>
        <p:spPr>
          <a:xfrm>
            <a:off x="6290925" y="1299573"/>
            <a:ext cx="36402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0" i="0" u="none" strike="noStrike" baseline="0" dirty="0">
                <a:solidFill>
                  <a:schemeClr val="bg1"/>
                </a:solidFill>
              </a:rPr>
              <a:t>time quantum = 2 unit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b="0" i="0" u="none" strike="noStrike" baseline="0" dirty="0" err="1">
                <a:solidFill>
                  <a:schemeClr val="bg1"/>
                </a:solidFill>
              </a:rPr>
              <a:t>Avg</a:t>
            </a:r>
            <a:r>
              <a:rPr lang="en-GB" sz="2000" b="0" i="0" u="none" strike="noStrike" baseline="0" dirty="0">
                <a:solidFill>
                  <a:schemeClr val="bg1"/>
                </a:solidFill>
              </a:rPr>
              <a:t> W.T = </a:t>
            </a:r>
          </a:p>
          <a:p>
            <a:r>
              <a:rPr lang="en-GB" sz="2000" dirty="0" err="1">
                <a:solidFill>
                  <a:schemeClr val="bg1"/>
                </a:solidFill>
              </a:rPr>
              <a:t>Avd</a:t>
            </a:r>
            <a:r>
              <a:rPr lang="en-GB" sz="2000" dirty="0">
                <a:solidFill>
                  <a:schemeClr val="bg1"/>
                </a:solidFill>
              </a:rPr>
              <a:t> TAT = </a:t>
            </a:r>
          </a:p>
          <a:p>
            <a:r>
              <a:rPr lang="en-GB" sz="2000" b="0" i="0" u="none" strike="noStrike" baseline="0" dirty="0" err="1">
                <a:solidFill>
                  <a:schemeClr val="bg1"/>
                </a:solidFill>
              </a:rPr>
              <a:t>Avg</a:t>
            </a:r>
            <a:r>
              <a:rPr lang="en-GB" sz="2000" b="0" i="0" u="none" strike="noStrike" baseline="0" dirty="0">
                <a:solidFill>
                  <a:schemeClr val="bg1"/>
                </a:solidFill>
              </a:rPr>
              <a:t> RT =  </a:t>
            </a:r>
            <a:endParaRPr lang="en-GB" sz="20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39757E-B0F5-14EB-1E91-C086759F1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777719"/>
              </p:ext>
            </p:extLst>
          </p:nvPr>
        </p:nvGraphicFramePr>
        <p:xfrm>
          <a:off x="2050766" y="3576065"/>
          <a:ext cx="8480318" cy="396240"/>
        </p:xfrm>
        <a:graphic>
          <a:graphicData uri="http://schemas.openxmlformats.org/drawingml/2006/table">
            <a:tbl>
              <a:tblPr firstRow="1" bandRow="1"/>
              <a:tblGrid>
                <a:gridCol w="770938">
                  <a:extLst>
                    <a:ext uri="{9D8B030D-6E8A-4147-A177-3AD203B41FA5}">
                      <a16:colId xmlns:a16="http://schemas.microsoft.com/office/drawing/2014/main" val="3563464273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2660199272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2548033332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501443467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2134066396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3429849844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3717206611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983520539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3085746186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1917629564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1851989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P1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P2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P1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P3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P2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P1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P3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P2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8067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5F5558-2FC1-29A6-8063-9DF06ED8EFBF}"/>
              </a:ext>
            </a:extLst>
          </p:cNvPr>
          <p:cNvSpPr txBox="1"/>
          <p:nvPr/>
        </p:nvSpPr>
        <p:spPr>
          <a:xfrm>
            <a:off x="472686" y="3610288"/>
            <a:ext cx="1872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Ready Queue</a:t>
            </a:r>
            <a:endParaRPr lang="en-GB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52EB1-5EE0-8939-6969-7C1EE43C08EB}"/>
              </a:ext>
            </a:extLst>
          </p:cNvPr>
          <p:cNvSpPr txBox="1"/>
          <p:nvPr/>
        </p:nvSpPr>
        <p:spPr>
          <a:xfrm>
            <a:off x="1954957" y="3189344"/>
            <a:ext cx="273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0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648673-87DD-8CDD-4D73-4AE49E5B6919}"/>
              </a:ext>
            </a:extLst>
          </p:cNvPr>
          <p:cNvSpPr txBox="1"/>
          <p:nvPr/>
        </p:nvSpPr>
        <p:spPr>
          <a:xfrm>
            <a:off x="2694097" y="3189344"/>
            <a:ext cx="273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1</a:t>
            </a:r>
            <a:endParaRPr lang="en-GB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5FC9CB-E23E-20F2-C83B-2DE9DBE998D2}"/>
              </a:ext>
            </a:extLst>
          </p:cNvPr>
          <p:cNvSpPr txBox="1"/>
          <p:nvPr/>
        </p:nvSpPr>
        <p:spPr>
          <a:xfrm>
            <a:off x="3433237" y="3189344"/>
            <a:ext cx="273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2</a:t>
            </a:r>
            <a:endParaRPr lang="en-GB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C4D202-6F70-92AF-20D7-5EB877759BF0}"/>
              </a:ext>
            </a:extLst>
          </p:cNvPr>
          <p:cNvSpPr txBox="1"/>
          <p:nvPr/>
        </p:nvSpPr>
        <p:spPr>
          <a:xfrm>
            <a:off x="4172377" y="3189344"/>
            <a:ext cx="273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3</a:t>
            </a:r>
            <a:endParaRPr lang="en-GB" b="1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5EA1488-4448-FA1B-E607-E58022991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244885"/>
              </p:ext>
            </p:extLst>
          </p:nvPr>
        </p:nvGraphicFramePr>
        <p:xfrm>
          <a:off x="2050766" y="4914753"/>
          <a:ext cx="8480318" cy="396240"/>
        </p:xfrm>
        <a:graphic>
          <a:graphicData uri="http://schemas.openxmlformats.org/drawingml/2006/table">
            <a:tbl>
              <a:tblPr firstRow="1" bandRow="1"/>
              <a:tblGrid>
                <a:gridCol w="770938">
                  <a:extLst>
                    <a:ext uri="{9D8B030D-6E8A-4147-A177-3AD203B41FA5}">
                      <a16:colId xmlns:a16="http://schemas.microsoft.com/office/drawing/2014/main" val="3563464273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2660199272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2548033332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501443467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2134066396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3429849844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3717206611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983520539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3085746186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1917629564"/>
                    </a:ext>
                  </a:extLst>
                </a:gridCol>
                <a:gridCol w="770938">
                  <a:extLst>
                    <a:ext uri="{9D8B030D-6E8A-4147-A177-3AD203B41FA5}">
                      <a16:colId xmlns:a16="http://schemas.microsoft.com/office/drawing/2014/main" val="1851989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P1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P2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P1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P3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P2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P1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P3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P2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80670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5491A8F-FB47-AF1F-4DFD-F694A1D35308}"/>
              </a:ext>
            </a:extLst>
          </p:cNvPr>
          <p:cNvSpPr txBox="1"/>
          <p:nvPr/>
        </p:nvSpPr>
        <p:spPr>
          <a:xfrm>
            <a:off x="472686" y="4948976"/>
            <a:ext cx="1872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Gantt Chart</a:t>
            </a:r>
            <a:endParaRPr lang="en-GB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83BE8F-84E1-152E-823D-4890294F2020}"/>
              </a:ext>
            </a:extLst>
          </p:cNvPr>
          <p:cNvSpPr txBox="1"/>
          <p:nvPr/>
        </p:nvSpPr>
        <p:spPr>
          <a:xfrm>
            <a:off x="1954957" y="4554447"/>
            <a:ext cx="273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0</a:t>
            </a:r>
            <a:endParaRPr lang="en-GB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3F4598-DA59-E39F-1B74-09B971C892C6}"/>
              </a:ext>
            </a:extLst>
          </p:cNvPr>
          <p:cNvSpPr txBox="1"/>
          <p:nvPr/>
        </p:nvSpPr>
        <p:spPr>
          <a:xfrm>
            <a:off x="2694096" y="4554447"/>
            <a:ext cx="273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2</a:t>
            </a:r>
            <a:endParaRPr lang="en-GB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7952C9-43D7-6E79-2432-9B00A5E75D7F}"/>
              </a:ext>
            </a:extLst>
          </p:cNvPr>
          <p:cNvSpPr txBox="1"/>
          <p:nvPr/>
        </p:nvSpPr>
        <p:spPr>
          <a:xfrm>
            <a:off x="3433235" y="4554447"/>
            <a:ext cx="273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4</a:t>
            </a:r>
            <a:endParaRPr lang="en-GB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EF7D8F-9697-1341-287E-84A5D1D10815}"/>
              </a:ext>
            </a:extLst>
          </p:cNvPr>
          <p:cNvSpPr txBox="1"/>
          <p:nvPr/>
        </p:nvSpPr>
        <p:spPr>
          <a:xfrm>
            <a:off x="4210474" y="4554447"/>
            <a:ext cx="273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6</a:t>
            </a:r>
            <a:endParaRPr lang="en-GB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49A2EF-0C80-E733-0541-471EBD17AB49}"/>
              </a:ext>
            </a:extLst>
          </p:cNvPr>
          <p:cNvSpPr txBox="1"/>
          <p:nvPr/>
        </p:nvSpPr>
        <p:spPr>
          <a:xfrm>
            <a:off x="4968663" y="4554447"/>
            <a:ext cx="273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8</a:t>
            </a:r>
            <a:endParaRPr lang="en-GB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743249-15A7-C688-32A4-AAD6C55BBBB9}"/>
              </a:ext>
            </a:extLst>
          </p:cNvPr>
          <p:cNvSpPr txBox="1"/>
          <p:nvPr/>
        </p:nvSpPr>
        <p:spPr>
          <a:xfrm>
            <a:off x="5745902" y="4554447"/>
            <a:ext cx="435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10</a:t>
            </a:r>
            <a:endParaRPr lang="en-GB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956FB-8D96-C47C-DAB2-338C77DF78B5}"/>
              </a:ext>
            </a:extLst>
          </p:cNvPr>
          <p:cNvSpPr txBox="1"/>
          <p:nvPr/>
        </p:nvSpPr>
        <p:spPr>
          <a:xfrm>
            <a:off x="6513623" y="4554447"/>
            <a:ext cx="435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11</a:t>
            </a:r>
            <a:endParaRPr lang="en-GB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63543E-15C4-1180-FF5A-46945FE7AF7A}"/>
              </a:ext>
            </a:extLst>
          </p:cNvPr>
          <p:cNvSpPr txBox="1"/>
          <p:nvPr/>
        </p:nvSpPr>
        <p:spPr>
          <a:xfrm>
            <a:off x="7281344" y="4554447"/>
            <a:ext cx="435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13</a:t>
            </a:r>
            <a:endParaRPr lang="en-GB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AA4BB6-69A5-7782-AEDD-C093CAF39EEC}"/>
              </a:ext>
            </a:extLst>
          </p:cNvPr>
          <p:cNvSpPr txBox="1"/>
          <p:nvPr/>
        </p:nvSpPr>
        <p:spPr>
          <a:xfrm>
            <a:off x="8049065" y="4554447"/>
            <a:ext cx="435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16</a:t>
            </a:r>
            <a:endParaRPr lang="en-GB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930F37-60A3-D3FF-91A3-9AAE7958DED6}"/>
              </a:ext>
            </a:extLst>
          </p:cNvPr>
          <p:cNvSpPr txBox="1"/>
          <p:nvPr/>
        </p:nvSpPr>
        <p:spPr>
          <a:xfrm>
            <a:off x="8816786" y="4554447"/>
            <a:ext cx="435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18</a:t>
            </a:r>
            <a:endParaRPr lang="en-GB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1355CD-CADD-73FB-B6DC-BD262B9E0D8C}"/>
              </a:ext>
            </a:extLst>
          </p:cNvPr>
          <p:cNvSpPr txBox="1"/>
          <p:nvPr/>
        </p:nvSpPr>
        <p:spPr>
          <a:xfrm>
            <a:off x="9584507" y="4554447"/>
            <a:ext cx="435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20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751521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C2396-3B2A-7458-A3EA-2A869F1F4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A32635-3852-DD00-D367-3F0D3686D8C0}"/>
              </a:ext>
            </a:extLst>
          </p:cNvPr>
          <p:cNvSpPr txBox="1"/>
          <p:nvPr/>
        </p:nvSpPr>
        <p:spPr>
          <a:xfrm>
            <a:off x="3826328" y="3572517"/>
            <a:ext cx="68865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Average Turn Around time =   </a:t>
            </a:r>
          </a:p>
          <a:p>
            <a:r>
              <a:rPr lang="en-US" sz="24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Average waiting time = 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B209920-9707-43AF-8056-B1D39548C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517895"/>
              </p:ext>
            </p:extLst>
          </p:nvPr>
        </p:nvGraphicFramePr>
        <p:xfrm>
          <a:off x="2970193" y="671050"/>
          <a:ext cx="5492749" cy="2377440"/>
        </p:xfrm>
        <a:graphic>
          <a:graphicData uri="http://schemas.openxmlformats.org/drawingml/2006/table">
            <a:tbl>
              <a:tblPr firstRow="1" bandRow="1"/>
              <a:tblGrid>
                <a:gridCol w="1261543">
                  <a:extLst>
                    <a:ext uri="{9D8B030D-6E8A-4147-A177-3AD203B41FA5}">
                      <a16:colId xmlns:a16="http://schemas.microsoft.com/office/drawing/2014/main" val="3563464273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2660199272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2548033332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501443467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2134066396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3429849844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3717206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Process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BT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CT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TAT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WT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RT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863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P1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0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5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806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P2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3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10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P3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2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381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P4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3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2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061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P5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4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3</a:t>
                      </a:r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2553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700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4B4E12-2DBF-E071-D092-F9FBE1FF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EA83A8-2CBB-D57C-5184-D3E35EFD5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001" y="3622792"/>
            <a:ext cx="9153998" cy="11133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E8F664-39EF-6E08-F8E6-EC767413032A}"/>
              </a:ext>
            </a:extLst>
          </p:cNvPr>
          <p:cNvSpPr txBox="1"/>
          <p:nvPr/>
        </p:nvSpPr>
        <p:spPr>
          <a:xfrm>
            <a:off x="2273300" y="5096517"/>
            <a:ext cx="68865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Average Turn Around time =  8.6 unit </a:t>
            </a:r>
          </a:p>
          <a:p>
            <a:r>
              <a:rPr lang="en-US" sz="24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Average waiting time =  5.8 unit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4A6BC20-540F-E429-16D0-F4AF387A4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507130"/>
              </p:ext>
            </p:extLst>
          </p:nvPr>
        </p:nvGraphicFramePr>
        <p:xfrm>
          <a:off x="2970193" y="671050"/>
          <a:ext cx="5492749" cy="2377440"/>
        </p:xfrm>
        <a:graphic>
          <a:graphicData uri="http://schemas.openxmlformats.org/drawingml/2006/table">
            <a:tbl>
              <a:tblPr firstRow="1" bandRow="1"/>
              <a:tblGrid>
                <a:gridCol w="1261543">
                  <a:extLst>
                    <a:ext uri="{9D8B030D-6E8A-4147-A177-3AD203B41FA5}">
                      <a16:colId xmlns:a16="http://schemas.microsoft.com/office/drawing/2014/main" val="3563464273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2660199272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2548033332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501443467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2134066396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3429849844"/>
                    </a:ext>
                  </a:extLst>
                </a:gridCol>
                <a:gridCol w="705201">
                  <a:extLst>
                    <a:ext uri="{9D8B030D-6E8A-4147-A177-3AD203B41FA5}">
                      <a16:colId xmlns:a16="http://schemas.microsoft.com/office/drawing/2014/main" val="3717206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Process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AT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BT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CT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TAT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WT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RT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863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P1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806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P2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10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P3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381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P4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061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P5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2553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2224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572" name="Rectangle 6657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04777" y="264602"/>
            <a:ext cx="10515600" cy="18604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000" b="1" dirty="0"/>
              <a:t>Multilevel Queue Scheduling </a:t>
            </a:r>
            <a:r>
              <a:rPr lang="en-US" sz="4000" b="1" dirty="0">
                <a:solidFill>
                  <a:srgbClr val="00B0F0"/>
                </a:solidFill>
              </a:rPr>
              <a:t>VS</a:t>
            </a:r>
            <a:r>
              <a:rPr lang="en-US" sz="4000" b="1" dirty="0"/>
              <a:t> </a:t>
            </a:r>
            <a:br>
              <a:rPr lang="en-US" sz="4000" b="1" dirty="0"/>
            </a:br>
            <a:r>
              <a:rPr lang="en-GB" sz="4000" b="1" dirty="0"/>
              <a:t>Multilevel </a:t>
            </a:r>
            <a:r>
              <a:rPr lang="en-GB" sz="4000" b="1" dirty="0">
                <a:solidFill>
                  <a:srgbClr val="00B0F0"/>
                </a:solidFill>
              </a:rPr>
              <a:t>Feedback-Queue</a:t>
            </a:r>
            <a:r>
              <a:rPr lang="en-GB" sz="4000" b="1" dirty="0"/>
              <a:t> Scheduling</a:t>
            </a:r>
            <a:r>
              <a:rPr lang="en-US" sz="4000" b="1" dirty="0"/>
              <a:t>    </a:t>
            </a:r>
          </a:p>
        </p:txBody>
      </p:sp>
      <p:pic>
        <p:nvPicPr>
          <p:cNvPr id="5" name="Picture 4" descr="A diagram of a few different steps&#10;&#10;Description automatically generated with medium confidence">
            <a:extLst>
              <a:ext uri="{FF2B5EF4-FFF2-40B4-BE49-F238E27FC236}">
                <a16:creationId xmlns:a16="http://schemas.microsoft.com/office/drawing/2014/main" id="{427F75C5-C525-8A8B-FCB4-FEF58CCD19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570" y="2590650"/>
            <a:ext cx="4701344" cy="4189552"/>
          </a:xfrm>
          <a:prstGeom prst="rect">
            <a:avLst/>
          </a:prstGeom>
        </p:spPr>
      </p:pic>
      <p:pic>
        <p:nvPicPr>
          <p:cNvPr id="3" name="Picture 2" descr="A diagram of a process&#10;&#10;Description automatically generated">
            <a:extLst>
              <a:ext uri="{FF2B5EF4-FFF2-40B4-BE49-F238E27FC236}">
                <a16:creationId xmlns:a16="http://schemas.microsoft.com/office/drawing/2014/main" id="{9358D9C8-7E1C-AD9F-83D9-E2DF684751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77" y="2554119"/>
            <a:ext cx="5526015" cy="39387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2442</TotalTime>
  <Words>289</Words>
  <Application>Microsoft Office PowerPoint</Application>
  <PresentationFormat>Widescreen</PresentationFormat>
  <Paragraphs>145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Multilevel Queue Scheduling VS  Multilevel Feedback-Queue Scheduling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RAHEEM ALEEM</dc:creator>
  <cp:lastModifiedBy>ABDUL RAHEEM ALEEM</cp:lastModifiedBy>
  <cp:revision>111</cp:revision>
  <dcterms:created xsi:type="dcterms:W3CDTF">2024-10-20T09:00:03Z</dcterms:created>
  <dcterms:modified xsi:type="dcterms:W3CDTF">2024-10-26T17:56:50Z</dcterms:modified>
</cp:coreProperties>
</file>