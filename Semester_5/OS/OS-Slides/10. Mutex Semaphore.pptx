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48" r:id="rId2"/>
    <p:sldMasterId id="2147483658" r:id="rId3"/>
  </p:sldMasterIdLst>
  <p:notesMasterIdLst>
    <p:notesMasterId r:id="rId47"/>
  </p:notesMasterIdLst>
  <p:handoutMasterIdLst>
    <p:handoutMasterId r:id="rId48"/>
  </p:handoutMasterIdLst>
  <p:sldIdLst>
    <p:sldId id="256" r:id="rId4"/>
    <p:sldId id="257" r:id="rId5"/>
    <p:sldId id="258" r:id="rId6"/>
    <p:sldId id="259" r:id="rId7"/>
    <p:sldId id="382" r:id="rId8"/>
    <p:sldId id="364" r:id="rId9"/>
    <p:sldId id="365" r:id="rId10"/>
    <p:sldId id="366" r:id="rId11"/>
    <p:sldId id="367" r:id="rId12"/>
    <p:sldId id="368" r:id="rId13"/>
    <p:sldId id="369" r:id="rId14"/>
    <p:sldId id="370" r:id="rId15"/>
    <p:sldId id="371" r:id="rId16"/>
    <p:sldId id="372" r:id="rId17"/>
    <p:sldId id="373" r:id="rId18"/>
    <p:sldId id="374" r:id="rId19"/>
    <p:sldId id="375" r:id="rId20"/>
    <p:sldId id="376" r:id="rId21"/>
    <p:sldId id="377" r:id="rId22"/>
    <p:sldId id="378" r:id="rId23"/>
    <p:sldId id="379" r:id="rId24"/>
    <p:sldId id="380" r:id="rId25"/>
    <p:sldId id="381" r:id="rId26"/>
    <p:sldId id="383" r:id="rId27"/>
    <p:sldId id="384" r:id="rId28"/>
    <p:sldId id="385" r:id="rId29"/>
    <p:sldId id="386" r:id="rId30"/>
    <p:sldId id="387" r:id="rId31"/>
    <p:sldId id="388" r:id="rId32"/>
    <p:sldId id="389" r:id="rId33"/>
    <p:sldId id="390" r:id="rId34"/>
    <p:sldId id="391" r:id="rId35"/>
    <p:sldId id="392" r:id="rId36"/>
    <p:sldId id="393" r:id="rId37"/>
    <p:sldId id="394" r:id="rId38"/>
    <p:sldId id="395" r:id="rId39"/>
    <p:sldId id="396" r:id="rId40"/>
    <p:sldId id="397" r:id="rId41"/>
    <p:sldId id="398" r:id="rId42"/>
    <p:sldId id="399" r:id="rId43"/>
    <p:sldId id="400" r:id="rId44"/>
    <p:sldId id="401" r:id="rId45"/>
    <p:sldId id="282" r:id="rId46"/>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D9A"/>
    <a:srgbClr val="A2C7A2"/>
    <a:srgbClr val="99CCFF"/>
    <a:srgbClr val="FFFFFF"/>
    <a:srgbClr val="3399FF"/>
    <a:srgbClr val="0066CC"/>
    <a:srgbClr val="33CCFF"/>
    <a:srgbClr val="76B1D1"/>
    <a:srgbClr val="F3C04A"/>
    <a:srgbClr val="A0C4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24" autoAdjust="0"/>
    <p:restoredTop sz="93824" autoAdjust="0"/>
  </p:normalViewPr>
  <p:slideViewPr>
    <p:cSldViewPr showGuides="1">
      <p:cViewPr varScale="1">
        <p:scale>
          <a:sx n="97" d="100"/>
          <a:sy n="97" d="100"/>
        </p:scale>
        <p:origin x="590" y="72"/>
      </p:cViewPr>
      <p:guideLst>
        <p:guide orient="horz" pos="1801"/>
        <p:guide pos="2880"/>
      </p:guideLst>
    </p:cSldViewPr>
  </p:slideViewPr>
  <p:notesTextViewPr>
    <p:cViewPr>
      <p:scale>
        <a:sx n="1" d="1"/>
        <a:sy n="1" d="1"/>
      </p:scale>
      <p:origin x="0" y="0"/>
    </p:cViewPr>
  </p:notesTextViewPr>
  <p:notesViewPr>
    <p:cSldViewPr showGuides="1">
      <p:cViewPr varScale="1">
        <p:scale>
          <a:sx n="83" d="100"/>
          <a:sy n="83" d="100"/>
        </p:scale>
        <p:origin x="585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387649-87BE-48A6-AB38-3A28AD0FAB86}" type="datetimeFigureOut">
              <a:rPr lang="ko-KR" altLang="en-US" smtClean="0"/>
              <a:t>2025-12-20</a:t>
            </a:fld>
            <a:endParaRPr lang="ko-KR"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DE6650-FA3D-4205-A4D4-AA0375A1773D}" type="slidenum">
              <a:rPr lang="ko-KR" altLang="en-US" smtClean="0"/>
              <a:t>‹#›</a:t>
            </a:fld>
            <a:endParaRPr lang="ko-KR" altLang="en-US"/>
          </a:p>
        </p:txBody>
      </p:sp>
    </p:spTree>
    <p:extLst>
      <p:ext uri="{BB962C8B-B14F-4D97-AF65-F5344CB8AC3E}">
        <p14:creationId xmlns:p14="http://schemas.microsoft.com/office/powerpoint/2010/main" val="29291151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04DDF7-921D-4AC8-B946-4DD615DDC886}" type="datetimeFigureOut">
              <a:rPr lang="ko-KR" altLang="en-US" smtClean="0"/>
              <a:t>2025-12-20</a:t>
            </a:fld>
            <a:endParaRPr lang="ko-KR"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0042B24-5628-4EE2-A5C0-B4E095A44801}" type="slidenum">
              <a:rPr lang="ko-KR" altLang="en-US" smtClean="0"/>
              <a:t>‹#›</a:t>
            </a:fld>
            <a:endParaRPr lang="ko-KR" altLang="en-US"/>
          </a:p>
        </p:txBody>
      </p:sp>
    </p:spTree>
    <p:extLst>
      <p:ext uri="{BB962C8B-B14F-4D97-AF65-F5344CB8AC3E}">
        <p14:creationId xmlns:p14="http://schemas.microsoft.com/office/powerpoint/2010/main" val="212544470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0042B24-5628-4EE2-A5C0-B4E095A44801}" type="slidenum">
              <a:rPr lang="ko-KR" altLang="en-US" smtClean="0"/>
              <a:t>1</a:t>
            </a:fld>
            <a:endParaRPr lang="ko-KR" altLang="en-US"/>
          </a:p>
        </p:txBody>
      </p:sp>
    </p:spTree>
    <p:extLst>
      <p:ext uri="{BB962C8B-B14F-4D97-AF65-F5344CB8AC3E}">
        <p14:creationId xmlns:p14="http://schemas.microsoft.com/office/powerpoint/2010/main" val="2979274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fld id="{A0042B24-5628-4EE2-A5C0-B4E095A44801}" type="slidenum">
              <a:rPr lang="ko-KR" altLang="en-US" smtClean="0"/>
              <a:t>2</a:t>
            </a:fld>
            <a:endParaRPr lang="ko-KR" altLang="en-US"/>
          </a:p>
        </p:txBody>
      </p:sp>
    </p:spTree>
    <p:extLst>
      <p:ext uri="{BB962C8B-B14F-4D97-AF65-F5344CB8AC3E}">
        <p14:creationId xmlns:p14="http://schemas.microsoft.com/office/powerpoint/2010/main" val="3021824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0042B24-5628-4EE2-A5C0-B4E095A44801}" type="slidenum">
              <a:rPr lang="ko-KR" altLang="en-US" smtClean="0"/>
              <a:t>4</a:t>
            </a:fld>
            <a:endParaRPr lang="ko-KR" altLang="en-US"/>
          </a:p>
        </p:txBody>
      </p:sp>
    </p:spTree>
    <p:extLst>
      <p:ext uri="{BB962C8B-B14F-4D97-AF65-F5344CB8AC3E}">
        <p14:creationId xmlns:p14="http://schemas.microsoft.com/office/powerpoint/2010/main" val="1434541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0042B24-5628-4EE2-A5C0-B4E095A44801}" type="slidenum">
              <a:rPr lang="ko-KR" altLang="en-US" smtClean="0"/>
              <a:t>6</a:t>
            </a:fld>
            <a:endParaRPr lang="ko-KR" altLang="en-US"/>
          </a:p>
        </p:txBody>
      </p:sp>
    </p:spTree>
    <p:extLst>
      <p:ext uri="{BB962C8B-B14F-4D97-AF65-F5344CB8AC3E}">
        <p14:creationId xmlns:p14="http://schemas.microsoft.com/office/powerpoint/2010/main" val="864791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A7B42F46-D5FE-4621-ADF1-1BA6994F2412}" type="slidenum">
              <a:rPr lang="en-US" altLang="en-US" smtClean="0">
                <a:latin typeface="Times New Roman" pitchFamily="18" charset="0"/>
              </a:rPr>
              <a:pPr/>
              <a:t>27</a:t>
            </a:fld>
            <a:endParaRPr lang="en-US" altLang="en-US" smtClean="0">
              <a:latin typeface="Times New Roman"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427302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22117CD4-FECC-4E72-AC3E-72DE8EFABA7D}" type="slidenum">
              <a:rPr lang="en-US" altLang="en-US" smtClean="0">
                <a:latin typeface="Times New Roman" pitchFamily="18" charset="0"/>
              </a:rPr>
              <a:pPr/>
              <a:t>28</a:t>
            </a:fld>
            <a:endParaRPr lang="en-US" altLang="en-US" smtClean="0">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589885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DE4C69D3-A7B5-4469-A54B-E4B02214912C}" type="slidenum">
              <a:rPr lang="en-US" altLang="en-US" smtClean="0">
                <a:latin typeface="Times New Roman" pitchFamily="18" charset="0"/>
              </a:rPr>
              <a:pPr/>
              <a:t>29</a:t>
            </a:fld>
            <a:endParaRPr lang="en-US" altLang="en-US" smtClean="0">
              <a:latin typeface="Times New Roman"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4263120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A2356646-4EF5-46FD-AC57-C692789AFA46}" type="slidenum">
              <a:rPr lang="en-US" altLang="en-US" smtClean="0">
                <a:latin typeface="Times New Roman" pitchFamily="18" charset="0"/>
              </a:rPr>
              <a:pPr/>
              <a:t>30</a:t>
            </a:fld>
            <a:endParaRPr lang="en-US" altLang="en-US" smtClean="0">
              <a:latin typeface="Times New Roman"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553997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34B1D7A-4BC7-4B35-B3BB-533B9E6D2429}" type="slidenum">
              <a:rPr lang="en-US" altLang="en-US" smtClean="0">
                <a:latin typeface="Times New Roman" pitchFamily="18" charset="0"/>
              </a:rPr>
              <a:pPr/>
              <a:t>31</a:t>
            </a:fld>
            <a:endParaRPr lang="en-US" altLang="en-US" smtClean="0">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508313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3757491-4695-4F0A-88E8-0B8521ABEAA5}" type="slidenum">
              <a:rPr lang="en-US" altLang="en-US" smtClean="0">
                <a:latin typeface="Times New Roman" pitchFamily="18" charset="0"/>
              </a:rPr>
              <a:pPr/>
              <a:t>32</a:t>
            </a:fld>
            <a:endParaRPr lang="en-US" altLang="en-US" smtClean="0">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253326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382BE559-C262-4E32-99D7-AB253F1D93C8}" type="slidenum">
              <a:rPr lang="en-US" altLang="en-US" smtClean="0">
                <a:latin typeface="Times New Roman" pitchFamily="18" charset="0"/>
              </a:rPr>
              <a:pPr/>
              <a:t>33</a:t>
            </a:fld>
            <a:endParaRPr lang="en-US" altLang="en-US" smtClean="0">
              <a:latin typeface="Times New Roman"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685484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BA8673A-CEC3-40C0-A501-4F8B85AB9024}" type="slidenum">
              <a:rPr lang="en-US" altLang="en-US" smtClean="0">
                <a:latin typeface="Times New Roman" pitchFamily="18" charset="0"/>
              </a:rPr>
              <a:pPr/>
              <a:t>34</a:t>
            </a:fld>
            <a:endParaRPr lang="en-US" altLang="en-US" smtClean="0">
              <a:latin typeface="Times New Roman"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4222333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2A1712D-35DA-49DA-B227-8566FBC825FC}" type="slidenum">
              <a:rPr lang="en-US" altLang="en-US" smtClean="0">
                <a:latin typeface="Times New Roman" pitchFamily="18" charset="0"/>
              </a:rPr>
              <a:pPr/>
              <a:t>35</a:t>
            </a:fld>
            <a:endParaRPr lang="en-US" altLang="en-US" smtClean="0">
              <a:latin typeface="Times New Roman"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477260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A6A0D04E-30C7-4F85-BDB9-E7C4D000B668}" type="slidenum">
              <a:rPr lang="en-US" altLang="en-US" smtClean="0">
                <a:latin typeface="Times New Roman" pitchFamily="18" charset="0"/>
              </a:rPr>
              <a:pPr/>
              <a:t>36</a:t>
            </a:fld>
            <a:endParaRPr lang="en-US" altLang="en-US" smtClean="0">
              <a:latin typeface="Times New Roman"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1863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2F51A222-8990-4541-896B-5B2508C999A4}" type="slidenum">
              <a:rPr lang="en-US" altLang="en-US" smtClean="0">
                <a:latin typeface="Times New Roman" pitchFamily="18" charset="0"/>
              </a:rPr>
              <a:pPr/>
              <a:t>37</a:t>
            </a:fld>
            <a:endParaRPr lang="en-US" altLang="en-US" smtClean="0">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7289332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16C0A399-51CB-464C-B53F-7E22A64D2057}" type="slidenum">
              <a:rPr lang="en-US" altLang="en-US" smtClean="0">
                <a:latin typeface="Times New Roman" pitchFamily="18" charset="0"/>
              </a:rPr>
              <a:pPr/>
              <a:t>38</a:t>
            </a:fld>
            <a:endParaRPr lang="en-US" altLang="en-US" smtClean="0">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1616232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3DF0C88-9FAC-4F14-9158-79DB3019CEA9}" type="slidenum">
              <a:rPr lang="en-US" altLang="en-US" smtClean="0">
                <a:latin typeface="Times New Roman" pitchFamily="18" charset="0"/>
              </a:rPr>
              <a:pPr/>
              <a:t>39</a:t>
            </a:fld>
            <a:endParaRPr lang="en-US" altLang="en-US" smtClean="0">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9212448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1EA1D9A9-2F29-4914-BFBA-7719BDA6EB00}" type="slidenum">
              <a:rPr lang="en-US" altLang="en-US" smtClean="0">
                <a:latin typeface="Times New Roman" pitchFamily="18" charset="0"/>
              </a:rPr>
              <a:pPr/>
              <a:t>40</a:t>
            </a:fld>
            <a:endParaRPr lang="en-US" altLang="en-US" smtClean="0">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789234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D6485E2-A318-476C-8D52-CABA556BE7FE}" type="slidenum">
              <a:rPr lang="en-US" altLang="en-US" smtClean="0">
                <a:latin typeface="Times New Roman" pitchFamily="18" charset="0"/>
              </a:rPr>
              <a:pPr/>
              <a:t>41</a:t>
            </a:fld>
            <a:endParaRPr lang="en-US" altLang="en-US" smtClean="0">
              <a:latin typeface="Times New Roman"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441720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1668370D-D6E9-4DC6-95FF-4ECBC27EF75D}" type="slidenum">
              <a:rPr lang="en-US" altLang="en-US" smtClean="0">
                <a:latin typeface="Times New Roman" pitchFamily="18" charset="0"/>
              </a:rPr>
              <a:pPr/>
              <a:t>42</a:t>
            </a:fld>
            <a:endParaRPr lang="en-US" altLang="en-US" smtClean="0">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0919299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descr="E:\002-KIMS BUSINESS\007-bizdesign.tv\000-PPT FOR KMONG\PSD\13-05-14\모니터.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83637" y="646773"/>
            <a:ext cx="3420164" cy="2989145"/>
          </a:xfrm>
          <a:prstGeom prst="rect">
            <a:avLst/>
          </a:prstGeom>
          <a:noFill/>
          <a:extLst>
            <a:ext uri="{909E8E84-426E-40DD-AFC4-6F175D3DCCD1}">
              <a14:hiddenFill xmlns:a14="http://schemas.microsoft.com/office/drawing/2010/main">
                <a:solidFill>
                  <a:srgbClr val="FFFFFF"/>
                </a:solidFill>
              </a14:hiddenFill>
            </a:ext>
          </a:extLst>
        </p:spPr>
      </p:pic>
      <p:sp>
        <p:nvSpPr>
          <p:cNvPr id="4" name="Picture Placeholder 2"/>
          <p:cNvSpPr>
            <a:spLocks noGrp="1"/>
          </p:cNvSpPr>
          <p:nvPr>
            <p:ph type="pic" idx="1" hasCustomPrompt="1"/>
          </p:nvPr>
        </p:nvSpPr>
        <p:spPr>
          <a:xfrm>
            <a:off x="2920519" y="744654"/>
            <a:ext cx="3146400" cy="1944000"/>
          </a:xfrm>
          <a:prstGeom prst="rect">
            <a:avLst/>
          </a:prstGeom>
          <a:solidFill>
            <a:schemeClr val="bg1">
              <a:lumMod val="95000"/>
            </a:schemeClr>
          </a:solidFill>
        </p:spPr>
        <p:txBody>
          <a:bodyPr anchor="ctr"/>
          <a:lstStyle>
            <a:lvl1pPr marL="0" indent="0" algn="ctr">
              <a:buNone/>
              <a:defRPr sz="28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7" name="Text Placeholder 9">
            <a:extLst>
              <a:ext uri="{FF2B5EF4-FFF2-40B4-BE49-F238E27FC236}">
                <a16:creationId xmlns:a16="http://schemas.microsoft.com/office/drawing/2014/main" id="{120A1E39-4EAE-4670-B341-E87651138888}"/>
              </a:ext>
            </a:extLst>
          </p:cNvPr>
          <p:cNvSpPr>
            <a:spLocks noGrp="1"/>
          </p:cNvSpPr>
          <p:nvPr>
            <p:ph type="body" sz="quarter" idx="11" hasCustomPrompt="1"/>
          </p:nvPr>
        </p:nvSpPr>
        <p:spPr>
          <a:xfrm>
            <a:off x="0" y="4203515"/>
            <a:ext cx="9143999" cy="207553"/>
          </a:xfrm>
          <a:prstGeom prst="rect">
            <a:avLst/>
          </a:prstGeom>
        </p:spPr>
        <p:txBody>
          <a:bodyPr lIns="108000" anchor="ctr"/>
          <a:lstStyle>
            <a:lvl1pPr marL="0" indent="0" algn="ctr">
              <a:buNone/>
              <a:defRPr sz="1200" b="1" baseline="0">
                <a:solidFill>
                  <a:schemeClr val="tx1"/>
                </a:solidFill>
                <a:effectLst/>
                <a:latin typeface="+mn-lt"/>
                <a:cs typeface="Arial" pitchFamily="34" charset="0"/>
              </a:defRPr>
            </a:lvl1pPr>
          </a:lstStyle>
          <a:p>
            <a:pPr lvl="0"/>
            <a:r>
              <a:rPr lang="en-US" altLang="ko-KR" dirty="0"/>
              <a:t>INSTERT THE TITLE OF YOUR PRESENTATION HERE</a:t>
            </a:r>
            <a:endParaRPr lang="ko-KR" altLang="en-US" dirty="0"/>
          </a:p>
        </p:txBody>
      </p:sp>
      <p:sp>
        <p:nvSpPr>
          <p:cNvPr id="8" name="제목 1">
            <a:extLst>
              <a:ext uri="{FF2B5EF4-FFF2-40B4-BE49-F238E27FC236}">
                <a16:creationId xmlns:a16="http://schemas.microsoft.com/office/drawing/2014/main" id="{3DAC9DBF-2FD4-4775-8F53-02C2F29CA84A}"/>
              </a:ext>
            </a:extLst>
          </p:cNvPr>
          <p:cNvSpPr>
            <a:spLocks noGrp="1"/>
          </p:cNvSpPr>
          <p:nvPr>
            <p:ph type="title" hasCustomPrompt="1"/>
          </p:nvPr>
        </p:nvSpPr>
        <p:spPr>
          <a:xfrm>
            <a:off x="0" y="3651870"/>
            <a:ext cx="9143998" cy="540000"/>
          </a:xfrm>
          <a:prstGeom prst="rect">
            <a:avLst/>
          </a:prstGeom>
        </p:spPr>
        <p:txBody>
          <a:bodyPr anchor="ctr">
            <a:noAutofit/>
          </a:bodyPr>
          <a:lstStyle>
            <a:lvl1pPr algn="ctr">
              <a:defRPr sz="3600" b="1" baseline="0">
                <a:solidFill>
                  <a:schemeClr val="tx1">
                    <a:lumMod val="75000"/>
                    <a:lumOff val="25000"/>
                  </a:schemeClr>
                </a:solidFill>
                <a:effectLst/>
                <a:latin typeface="+mj-lt"/>
                <a:cs typeface="Arial" pitchFamily="34" charset="0"/>
              </a:defRPr>
            </a:lvl1pPr>
          </a:lstStyle>
          <a:p>
            <a:r>
              <a:rPr lang="en-US" altLang="ko-KR" dirty="0"/>
              <a:t>FREE PPT TEMPLATES</a:t>
            </a:r>
            <a:endParaRPr lang="ko-KR" altLang="en-US" dirty="0"/>
          </a:p>
        </p:txBody>
      </p:sp>
    </p:spTree>
    <p:extLst>
      <p:ext uri="{BB962C8B-B14F-4D97-AF65-F5344CB8AC3E}">
        <p14:creationId xmlns:p14="http://schemas.microsoft.com/office/powerpoint/2010/main" val="1070206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pic>
        <p:nvPicPr>
          <p:cNvPr id="5122" name="Picture 2" descr="D:\KBM-정애\014-Fullppt\PNG이미지\탭.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12052" y="483518"/>
            <a:ext cx="2049645" cy="2524422"/>
          </a:xfrm>
          <a:prstGeom prst="rect">
            <a:avLst/>
          </a:prstGeom>
          <a:noFill/>
          <a:extLst>
            <a:ext uri="{909E8E84-426E-40DD-AFC4-6F175D3DCCD1}">
              <a14:hiddenFill xmlns:a14="http://schemas.microsoft.com/office/drawing/2010/main">
                <a:solidFill>
                  <a:srgbClr val="FFFFFF"/>
                </a:solidFill>
              </a14:hiddenFill>
            </a:ext>
          </a:extLst>
        </p:spPr>
      </p:pic>
      <p:sp>
        <p:nvSpPr>
          <p:cNvPr id="2" name="Picture Placeholder 2"/>
          <p:cNvSpPr>
            <a:spLocks noGrp="1"/>
          </p:cNvSpPr>
          <p:nvPr>
            <p:ph type="pic" idx="1" hasCustomPrompt="1"/>
          </p:nvPr>
        </p:nvSpPr>
        <p:spPr>
          <a:xfrm>
            <a:off x="3836710" y="731206"/>
            <a:ext cx="1440672" cy="1803564"/>
          </a:xfrm>
          <a:prstGeom prst="rect">
            <a:avLst/>
          </a:prstGeom>
          <a:solidFill>
            <a:schemeClr val="bg1">
              <a:lumMod val="95000"/>
            </a:schemeClr>
          </a:solidFill>
          <a:ln w="38100">
            <a:noFill/>
          </a:ln>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2328993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descr="E:\002-KIMS BUSINESS\007-bizdesign.tv\000-PPT FOR KMONG\PSD\13-05-14\모니터.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83637" y="646773"/>
            <a:ext cx="3420164" cy="2989145"/>
          </a:xfrm>
          <a:prstGeom prst="rect">
            <a:avLst/>
          </a:prstGeom>
          <a:noFill/>
          <a:extLst>
            <a:ext uri="{909E8E84-426E-40DD-AFC4-6F175D3DCCD1}">
              <a14:hiddenFill xmlns:a14="http://schemas.microsoft.com/office/drawing/2010/main">
                <a:solidFill>
                  <a:srgbClr val="FFFFFF"/>
                </a:solidFill>
              </a14:hiddenFill>
            </a:ext>
          </a:extLst>
        </p:spPr>
      </p:pic>
      <p:sp>
        <p:nvSpPr>
          <p:cNvPr id="3" name="Picture Placeholder 2"/>
          <p:cNvSpPr>
            <a:spLocks noGrp="1"/>
          </p:cNvSpPr>
          <p:nvPr>
            <p:ph type="pic" idx="1" hasCustomPrompt="1"/>
          </p:nvPr>
        </p:nvSpPr>
        <p:spPr>
          <a:xfrm>
            <a:off x="2920519" y="744654"/>
            <a:ext cx="3146400" cy="1944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285397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37837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47664" y="25735"/>
            <a:ext cx="7596336" cy="776530"/>
          </a:xfrm>
          <a:prstGeom prst="rect">
            <a:avLst/>
          </a:prstGeom>
        </p:spPr>
        <p:txBody>
          <a:bodyPr anchor="ctr"/>
          <a:lstStyle>
            <a:lvl1pPr algn="l">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375772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blipFill>
          <a:blip r:embed="rId2"/>
          <a:stretch>
            <a:fillRect/>
          </a:stretch>
        </a:blipFill>
        <a:effectLst/>
      </p:bgPr>
    </p:bg>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683568" y="1189414"/>
            <a:ext cx="1728192" cy="19584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9" name="Picture Placeholder 2"/>
          <p:cNvSpPr>
            <a:spLocks noGrp="1"/>
          </p:cNvSpPr>
          <p:nvPr>
            <p:ph type="pic" idx="10" hasCustomPrompt="1"/>
          </p:nvPr>
        </p:nvSpPr>
        <p:spPr>
          <a:xfrm>
            <a:off x="2710172" y="1189414"/>
            <a:ext cx="1728192" cy="19584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0" name="Picture Placeholder 2"/>
          <p:cNvSpPr>
            <a:spLocks noGrp="1"/>
          </p:cNvSpPr>
          <p:nvPr>
            <p:ph type="pic" idx="11" hasCustomPrompt="1"/>
          </p:nvPr>
        </p:nvSpPr>
        <p:spPr>
          <a:xfrm>
            <a:off x="4736776" y="1189414"/>
            <a:ext cx="1728192" cy="19584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1" name="Picture Placeholder 2"/>
          <p:cNvSpPr>
            <a:spLocks noGrp="1"/>
          </p:cNvSpPr>
          <p:nvPr>
            <p:ph type="pic" idx="12" hasCustomPrompt="1"/>
          </p:nvPr>
        </p:nvSpPr>
        <p:spPr>
          <a:xfrm>
            <a:off x="6763380" y="1189414"/>
            <a:ext cx="1728192" cy="19584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2"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1839587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4572000" y="0"/>
            <a:ext cx="4572000" cy="51435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3" name="Rectangle 2"/>
          <p:cNvSpPr/>
          <p:nvPr userDrawn="1"/>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Picture Placeholder 2"/>
          <p:cNvSpPr>
            <a:spLocks noGrp="1"/>
          </p:cNvSpPr>
          <p:nvPr>
            <p:ph type="pic" idx="10" hasCustomPrompt="1"/>
          </p:nvPr>
        </p:nvSpPr>
        <p:spPr>
          <a:xfrm>
            <a:off x="3225800" y="1183642"/>
            <a:ext cx="3146400" cy="1944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2504851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0" y="1200786"/>
            <a:ext cx="4572000" cy="169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3"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
        <p:nvSpPr>
          <p:cNvPr id="4" name="Picture Placeholder 2"/>
          <p:cNvSpPr>
            <a:spLocks noGrp="1"/>
          </p:cNvSpPr>
          <p:nvPr>
            <p:ph type="pic" idx="10" hasCustomPrompt="1"/>
          </p:nvPr>
        </p:nvSpPr>
        <p:spPr>
          <a:xfrm>
            <a:off x="4572000" y="2892706"/>
            <a:ext cx="4572000" cy="169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9" name="Rectangle 8"/>
          <p:cNvSpPr/>
          <p:nvPr userDrawn="1"/>
        </p:nvSpPr>
        <p:spPr>
          <a:xfrm>
            <a:off x="4568305" y="1200090"/>
            <a:ext cx="1416959" cy="169269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Rectangle 9"/>
          <p:cNvSpPr/>
          <p:nvPr userDrawn="1"/>
        </p:nvSpPr>
        <p:spPr>
          <a:xfrm>
            <a:off x="3156888" y="2892706"/>
            <a:ext cx="1416959" cy="16926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Tree>
    <p:extLst>
      <p:ext uri="{BB962C8B-B14F-4D97-AF65-F5344CB8AC3E}">
        <p14:creationId xmlns:p14="http://schemas.microsoft.com/office/powerpoint/2010/main" val="286370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4139952" y="555525"/>
            <a:ext cx="1650297" cy="404842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7" name="Picture Placeholder 2"/>
          <p:cNvSpPr>
            <a:spLocks noGrp="1"/>
          </p:cNvSpPr>
          <p:nvPr>
            <p:ph type="pic" idx="10" hasCustomPrompt="1"/>
          </p:nvPr>
        </p:nvSpPr>
        <p:spPr>
          <a:xfrm>
            <a:off x="2339752" y="555525"/>
            <a:ext cx="1650297" cy="404842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8" name="Picture Placeholder 2"/>
          <p:cNvSpPr>
            <a:spLocks noGrp="1"/>
          </p:cNvSpPr>
          <p:nvPr>
            <p:ph type="pic" idx="11" hasCustomPrompt="1"/>
          </p:nvPr>
        </p:nvSpPr>
        <p:spPr>
          <a:xfrm>
            <a:off x="539552" y="555525"/>
            <a:ext cx="1650297" cy="404842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395997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539552" y="539550"/>
            <a:ext cx="3528392" cy="4068000"/>
          </a:xfrm>
          <a:prstGeom prst="rect">
            <a:avLst/>
          </a:prstGeom>
          <a:solidFill>
            <a:schemeClr val="bg1">
              <a:lumMod val="7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1460432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1" y="0"/>
            <a:ext cx="9138113" cy="2571750"/>
          </a:xfrm>
          <a:prstGeom prst="rect">
            <a:avLst/>
          </a:prstGeom>
          <a:solidFill>
            <a:schemeClr val="bg1">
              <a:lumMod val="75000"/>
            </a:schemeClr>
          </a:solidFill>
        </p:spPr>
        <p:txBody>
          <a:bodyPr tIns="540000" anchor="t"/>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9" name="Picture Placeholder 2"/>
          <p:cNvSpPr>
            <a:spLocks noGrp="1"/>
          </p:cNvSpPr>
          <p:nvPr>
            <p:ph type="pic" idx="10" hasCustomPrompt="1"/>
          </p:nvPr>
        </p:nvSpPr>
        <p:spPr>
          <a:xfrm>
            <a:off x="4977152" y="1491630"/>
            <a:ext cx="1390030" cy="198443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0" name="Picture Placeholder 2"/>
          <p:cNvSpPr>
            <a:spLocks noGrp="1"/>
          </p:cNvSpPr>
          <p:nvPr>
            <p:ph type="pic" idx="11" hasCustomPrompt="1"/>
          </p:nvPr>
        </p:nvSpPr>
        <p:spPr>
          <a:xfrm>
            <a:off x="6889704" y="1491630"/>
            <a:ext cx="1390030" cy="198443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2426582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0" y="0"/>
            <a:ext cx="9144000" cy="278777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1903995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0" y="0"/>
            <a:ext cx="9144000" cy="5143500"/>
          </a:xfrm>
          <a:prstGeom prst="rect">
            <a:avLst/>
          </a:prstGeom>
          <a:solidFill>
            <a:schemeClr val="bg1">
              <a:lumMod val="75000"/>
            </a:schemeClr>
          </a:solidFill>
        </p:spPr>
        <p:txBody>
          <a:bodyPr lIns="1260000" anchor="ctr"/>
          <a:lstStyle>
            <a:lvl1pPr marL="0" indent="0" algn="l">
              <a:buNone/>
              <a:defRPr sz="18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685398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546042" y="1171934"/>
            <a:ext cx="1944000" cy="10436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3"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n-lt"/>
                <a:cs typeface="Arial" pitchFamily="34" charset="0"/>
              </a:defRPr>
            </a:lvl1pPr>
          </a:lstStyle>
          <a:p>
            <a:r>
              <a:rPr lang="en-US" altLang="ko-KR" dirty="0"/>
              <a:t> Free PPT _ Click to add title</a:t>
            </a:r>
            <a:endParaRPr lang="ko-KR" altLang="en-US" dirty="0"/>
          </a:p>
        </p:txBody>
      </p:sp>
      <p:sp>
        <p:nvSpPr>
          <p:cNvPr id="8" name="Picture Placeholder 2"/>
          <p:cNvSpPr>
            <a:spLocks noGrp="1"/>
          </p:cNvSpPr>
          <p:nvPr>
            <p:ph type="pic" idx="10" hasCustomPrompt="1"/>
          </p:nvPr>
        </p:nvSpPr>
        <p:spPr>
          <a:xfrm>
            <a:off x="546042" y="2862166"/>
            <a:ext cx="1944000" cy="122413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9" name="Rectangle 8"/>
          <p:cNvSpPr/>
          <p:nvPr userDrawn="1"/>
        </p:nvSpPr>
        <p:spPr>
          <a:xfrm>
            <a:off x="546042" y="2217207"/>
            <a:ext cx="1944000" cy="5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0" name="Rectangle 9"/>
          <p:cNvSpPr/>
          <p:nvPr userDrawn="1"/>
        </p:nvSpPr>
        <p:spPr>
          <a:xfrm>
            <a:off x="546042" y="4085904"/>
            <a:ext cx="1944000" cy="5309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1" name="Picture Placeholder 2"/>
          <p:cNvSpPr>
            <a:spLocks noGrp="1"/>
          </p:cNvSpPr>
          <p:nvPr>
            <p:ph type="pic" idx="11" hasCustomPrompt="1"/>
          </p:nvPr>
        </p:nvSpPr>
        <p:spPr>
          <a:xfrm>
            <a:off x="2583307" y="1171934"/>
            <a:ext cx="1944000" cy="10436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2" name="Picture Placeholder 2"/>
          <p:cNvSpPr>
            <a:spLocks noGrp="1"/>
          </p:cNvSpPr>
          <p:nvPr>
            <p:ph type="pic" idx="12" hasCustomPrompt="1"/>
          </p:nvPr>
        </p:nvSpPr>
        <p:spPr>
          <a:xfrm>
            <a:off x="2582971" y="2862166"/>
            <a:ext cx="1944000" cy="122413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3" name="Rectangle 12"/>
          <p:cNvSpPr/>
          <p:nvPr userDrawn="1"/>
        </p:nvSpPr>
        <p:spPr>
          <a:xfrm>
            <a:off x="2582971" y="2217207"/>
            <a:ext cx="1944000" cy="530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4" name="Rectangle 13"/>
          <p:cNvSpPr/>
          <p:nvPr userDrawn="1"/>
        </p:nvSpPr>
        <p:spPr>
          <a:xfrm>
            <a:off x="2582635" y="4085904"/>
            <a:ext cx="1944000" cy="5309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5" name="Picture Placeholder 2"/>
          <p:cNvSpPr>
            <a:spLocks noGrp="1"/>
          </p:cNvSpPr>
          <p:nvPr>
            <p:ph type="pic" idx="13" hasCustomPrompt="1"/>
          </p:nvPr>
        </p:nvSpPr>
        <p:spPr>
          <a:xfrm>
            <a:off x="4619900" y="1171934"/>
            <a:ext cx="1944000" cy="10436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6" name="Picture Placeholder 2"/>
          <p:cNvSpPr>
            <a:spLocks noGrp="1"/>
          </p:cNvSpPr>
          <p:nvPr>
            <p:ph type="pic" idx="14" hasCustomPrompt="1"/>
          </p:nvPr>
        </p:nvSpPr>
        <p:spPr>
          <a:xfrm>
            <a:off x="4619564" y="2862166"/>
            <a:ext cx="1944000" cy="122413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7" name="Rectangle 16"/>
          <p:cNvSpPr/>
          <p:nvPr userDrawn="1"/>
        </p:nvSpPr>
        <p:spPr>
          <a:xfrm>
            <a:off x="4619564" y="2217207"/>
            <a:ext cx="1944000" cy="5309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8" name="Rectangle 17"/>
          <p:cNvSpPr/>
          <p:nvPr userDrawn="1"/>
        </p:nvSpPr>
        <p:spPr>
          <a:xfrm>
            <a:off x="4619228" y="4085904"/>
            <a:ext cx="1944000" cy="530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9" name="Picture Placeholder 2"/>
          <p:cNvSpPr>
            <a:spLocks noGrp="1"/>
          </p:cNvSpPr>
          <p:nvPr>
            <p:ph type="pic" idx="15" hasCustomPrompt="1"/>
          </p:nvPr>
        </p:nvSpPr>
        <p:spPr>
          <a:xfrm>
            <a:off x="6656494" y="1171934"/>
            <a:ext cx="1944000" cy="10436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20" name="Picture Placeholder 2"/>
          <p:cNvSpPr>
            <a:spLocks noGrp="1"/>
          </p:cNvSpPr>
          <p:nvPr>
            <p:ph type="pic" idx="16" hasCustomPrompt="1"/>
          </p:nvPr>
        </p:nvSpPr>
        <p:spPr>
          <a:xfrm>
            <a:off x="6656494" y="2862166"/>
            <a:ext cx="1944000" cy="122413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21" name="Rectangle 20"/>
          <p:cNvSpPr/>
          <p:nvPr userDrawn="1"/>
        </p:nvSpPr>
        <p:spPr>
          <a:xfrm>
            <a:off x="6656494" y="2217207"/>
            <a:ext cx="1944000" cy="5309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22" name="Rectangle 21"/>
          <p:cNvSpPr/>
          <p:nvPr userDrawn="1"/>
        </p:nvSpPr>
        <p:spPr>
          <a:xfrm>
            <a:off x="6656494" y="4085904"/>
            <a:ext cx="1944000" cy="5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Tree>
    <p:extLst>
      <p:ext uri="{BB962C8B-B14F-4D97-AF65-F5344CB8AC3E}">
        <p14:creationId xmlns:p14="http://schemas.microsoft.com/office/powerpoint/2010/main" val="22277122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Rectangle 2"/>
          <p:cNvSpPr/>
          <p:nvPr userDrawn="1"/>
        </p:nvSpPr>
        <p:spPr>
          <a:xfrm>
            <a:off x="0" y="1239542"/>
            <a:ext cx="9144000" cy="3348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pic>
        <p:nvPicPr>
          <p:cNvPr id="4098" name="Picture 2" descr="D:\KBM-정애\014-Fullppt\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6568" y="1419622"/>
            <a:ext cx="5760640" cy="292995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n-lt"/>
                <a:cs typeface="Arial" pitchFamily="34" charset="0"/>
              </a:defRPr>
            </a:lvl1pPr>
          </a:lstStyle>
          <a:p>
            <a:r>
              <a:rPr lang="en-US" altLang="ko-KR" dirty="0"/>
              <a:t> Free PPT _ Click to add title</a:t>
            </a:r>
            <a:endParaRPr lang="ko-KR" altLang="en-US" dirty="0"/>
          </a:p>
        </p:txBody>
      </p:sp>
      <p:sp>
        <p:nvSpPr>
          <p:cNvPr id="2" name="Picture Placeholder 2"/>
          <p:cNvSpPr>
            <a:spLocks noGrp="1"/>
          </p:cNvSpPr>
          <p:nvPr>
            <p:ph type="pic" idx="1" hasCustomPrompt="1"/>
          </p:nvPr>
        </p:nvSpPr>
        <p:spPr>
          <a:xfrm>
            <a:off x="1070504" y="1806558"/>
            <a:ext cx="2701398" cy="198941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2349382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3075" name="Picture 3" descr="D:\KBM-정애\014-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8852" y="1203598"/>
            <a:ext cx="2497429" cy="302433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D:\KBM-정애\014-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33128" y="1203598"/>
            <a:ext cx="2497429" cy="302433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descr="D:\KBM-정애\014-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717404" y="1203598"/>
            <a:ext cx="2497429" cy="3024336"/>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
        <p:nvSpPr>
          <p:cNvPr id="3" name="Picture Placeholder 2"/>
          <p:cNvSpPr>
            <a:spLocks noGrp="1"/>
          </p:cNvSpPr>
          <p:nvPr>
            <p:ph type="pic" idx="1" hasCustomPrompt="1"/>
          </p:nvPr>
        </p:nvSpPr>
        <p:spPr>
          <a:xfrm>
            <a:off x="1351812" y="1311088"/>
            <a:ext cx="1448000" cy="221204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3" name="Picture Placeholder 2"/>
          <p:cNvSpPr>
            <a:spLocks noGrp="1"/>
          </p:cNvSpPr>
          <p:nvPr>
            <p:ph type="pic" idx="10" hasCustomPrompt="1"/>
          </p:nvPr>
        </p:nvSpPr>
        <p:spPr>
          <a:xfrm>
            <a:off x="3841834" y="1311088"/>
            <a:ext cx="1448000" cy="221204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4" name="Picture Placeholder 2"/>
          <p:cNvSpPr>
            <a:spLocks noGrp="1"/>
          </p:cNvSpPr>
          <p:nvPr>
            <p:ph type="pic" idx="11" hasCustomPrompt="1"/>
          </p:nvPr>
        </p:nvSpPr>
        <p:spPr>
          <a:xfrm>
            <a:off x="6331856" y="1311088"/>
            <a:ext cx="1448000" cy="221204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1849330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40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12" name="Rounded Rectangle 11"/>
          <p:cNvSpPr/>
          <p:nvPr userDrawn="1"/>
        </p:nvSpPr>
        <p:spPr>
          <a:xfrm>
            <a:off x="354008" y="1131589"/>
            <a:ext cx="2849840" cy="364917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ounded Rectangle 14"/>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latin typeface="+mn-lt"/>
            </a:endParaRPr>
          </a:p>
        </p:txBody>
      </p:sp>
      <p:sp>
        <p:nvSpPr>
          <p:cNvPr id="16" name="Half Frame 15"/>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mn-lt"/>
            </a:endParaRPr>
          </a:p>
        </p:txBody>
      </p:sp>
    </p:spTree>
    <p:extLst>
      <p:ext uri="{BB962C8B-B14F-4D97-AF65-F5344CB8AC3E}">
        <p14:creationId xmlns:p14="http://schemas.microsoft.com/office/powerpoint/2010/main" val="174124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479028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703083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8"/>
          <p:cNvSpPr>
            <a:spLocks noGrp="1"/>
          </p:cNvSpPr>
          <p:nvPr>
            <p:ph type="title" hasCustomPrompt="1"/>
          </p:nvPr>
        </p:nvSpPr>
        <p:spPr>
          <a:xfrm>
            <a:off x="3671392" y="2181756"/>
            <a:ext cx="5472608" cy="542078"/>
          </a:xfrm>
          <a:prstGeom prst="rect">
            <a:avLst/>
          </a:prstGeom>
        </p:spPr>
        <p:txBody>
          <a:bodyPr anchor="ctr"/>
          <a:lstStyle>
            <a:lvl1pPr algn="l">
              <a:defRPr sz="3600">
                <a:latin typeface="+mj-lt"/>
                <a:cs typeface="Arial" pitchFamily="34" charset="0"/>
              </a:defRPr>
            </a:lvl1pPr>
          </a:lstStyle>
          <a:p>
            <a:r>
              <a:rPr lang="en-US" altLang="ko-KR" dirty="0"/>
              <a:t>Section Break</a:t>
            </a:r>
            <a:endParaRPr lang="ko-KR" altLang="en-US" dirty="0"/>
          </a:p>
        </p:txBody>
      </p:sp>
      <p:sp>
        <p:nvSpPr>
          <p:cNvPr id="5" name="Text Placeholder 9">
            <a:extLst>
              <a:ext uri="{FF2B5EF4-FFF2-40B4-BE49-F238E27FC236}">
                <a16:creationId xmlns:a16="http://schemas.microsoft.com/office/drawing/2014/main" id="{39315AC1-362C-42C8-AC5D-93231CD5493C}"/>
              </a:ext>
            </a:extLst>
          </p:cNvPr>
          <p:cNvSpPr>
            <a:spLocks noGrp="1"/>
          </p:cNvSpPr>
          <p:nvPr>
            <p:ph type="body" sz="quarter" idx="11" hasCustomPrompt="1"/>
          </p:nvPr>
        </p:nvSpPr>
        <p:spPr>
          <a:xfrm>
            <a:off x="3671392" y="2734184"/>
            <a:ext cx="5472608" cy="197606"/>
          </a:xfrm>
          <a:prstGeom prst="rect">
            <a:avLst/>
          </a:prstGeom>
        </p:spPr>
        <p:txBody>
          <a:bodyPr lIns="108000" anchor="ctr"/>
          <a:lstStyle>
            <a:lvl1pPr marL="0" indent="0" algn="l">
              <a:buNone/>
              <a:defRPr sz="1200" baseline="0">
                <a:solidFill>
                  <a:schemeClr val="tx1">
                    <a:lumMod val="75000"/>
                    <a:lumOff val="25000"/>
                  </a:schemeClr>
                </a:solidFill>
                <a:effectLst/>
                <a:latin typeface="+mn-lt"/>
                <a:cs typeface="Arial" pitchFamily="34" charset="0"/>
              </a:defRPr>
            </a:lvl1pPr>
          </a:lstStyle>
          <a:p>
            <a:pPr lvl="0"/>
            <a:r>
              <a:rPr lang="en-US" altLang="ko-KR" dirty="0"/>
              <a:t>This text can be replaced with your own text</a:t>
            </a:r>
            <a:endParaRPr lang="ko-KR" altLang="en-US" dirty="0"/>
          </a:p>
        </p:txBody>
      </p:sp>
    </p:spTree>
    <p:extLst>
      <p:ext uri="{BB962C8B-B14F-4D97-AF65-F5344CB8AC3E}">
        <p14:creationId xmlns:p14="http://schemas.microsoft.com/office/powerpoint/2010/main" val="67150585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theme" Target="../theme/theme2.xml"/><Relationship Id="rId2" Type="http://schemas.openxmlformats.org/officeDocument/2006/relationships/slideLayout" Target="../slideLayouts/slideLayout5.xml"/><Relationship Id="rId16" Type="http://schemas.openxmlformats.org/officeDocument/2006/relationships/slideLayout" Target="../slideLayouts/slideLayout19.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0478714"/>
      </p:ext>
    </p:extLst>
  </p:cSld>
  <p:clrMap bg1="lt1" tx1="dk1" bg2="lt2" tx2="dk2" accent1="accent1" accent2="accent2" accent3="accent3" accent4="accent4" accent5="accent5" accent6="accent6" hlink="hlink" folHlink="folHlink"/>
  <p:sldLayoutIdLst>
    <p:sldLayoutId id="2147483662" r:id="rId1"/>
    <p:sldLayoutId id="2147483673" r:id="rId2"/>
    <p:sldLayoutId id="2147483663" r:id="rId3"/>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28147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8" r:id="rId3"/>
    <p:sldLayoutId id="2147483665" r:id="rId4"/>
    <p:sldLayoutId id="2147483667" r:id="rId5"/>
    <p:sldLayoutId id="2147483669" r:id="rId6"/>
    <p:sldLayoutId id="2147483670" r:id="rId7"/>
    <p:sldLayoutId id="2147483671" r:id="rId8"/>
    <p:sldLayoutId id="2147483672" r:id="rId9"/>
    <p:sldLayoutId id="2147483675" r:id="rId10"/>
    <p:sldLayoutId id="2147483674" r:id="rId11"/>
    <p:sldLayoutId id="2147483666" r:id="rId12"/>
    <p:sldLayoutId id="2147483657" r:id="rId13"/>
    <p:sldLayoutId id="2147483676" r:id="rId14"/>
    <p:sldLayoutId id="2147483677" r:id="rId15"/>
    <p:sldLayoutId id="2147483678" r:id="rId16"/>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9947127"/>
      </p:ext>
    </p:extLst>
  </p:cSld>
  <p:clrMap bg1="lt1" tx1="dk1" bg2="lt2" tx2="dk2" accent1="accent1" accent2="accent2" accent3="accent3" accent4="accent4" accent5="accent5" accent6="accent6" hlink="hlink" folHlink="folHlink"/>
  <p:sldLayoutIdLst>
    <p:sldLayoutId id="2147483659"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0.xml"/><Relationship Id="rId1" Type="http://schemas.openxmlformats.org/officeDocument/2006/relationships/vmlDrawing" Target="../drawings/vmlDrawing2.vml"/><Relationship Id="rId5" Type="http://schemas.openxmlformats.org/officeDocument/2006/relationships/image" Target="../media/image9.png"/><Relationship Id="rId4" Type="http://schemas.openxmlformats.org/officeDocument/2006/relationships/image" Target="../media/image8.w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10.w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2.wmf"/><Relationship Id="rId5" Type="http://schemas.openxmlformats.org/officeDocument/2006/relationships/oleObject" Target="../embeddings/oleObject6.bin"/><Relationship Id="rId4" Type="http://schemas.openxmlformats.org/officeDocument/2006/relationships/image" Target="../media/image11.wmf"/></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hyperlink" Target="https://www.geeksforgeeks.org/semaphores-in-process-synchronization/" TargetMode="Externa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5.vml"/><Relationship Id="rId4" Type="http://schemas.openxmlformats.org/officeDocument/2006/relationships/image" Target="../media/image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그림 개체 틀 5">
            <a:extLst>
              <a:ext uri="{FF2B5EF4-FFF2-40B4-BE49-F238E27FC236}">
                <a16:creationId xmlns:a16="http://schemas.microsoft.com/office/drawing/2014/main" id="{851939D0-0950-49D5-964E-AF7DFAADC12E}"/>
              </a:ext>
            </a:extLst>
          </p:cNvPr>
          <p:cNvSpPr>
            <a:spLocks noGrp="1"/>
          </p:cNvSpPr>
          <p:nvPr>
            <p:ph type="pic" idx="1"/>
          </p:nvPr>
        </p:nvSpPr>
        <p:spPr/>
      </p:sp>
      <p:sp>
        <p:nvSpPr>
          <p:cNvPr id="9" name="Text Placeholder 8"/>
          <p:cNvSpPr>
            <a:spLocks noGrp="1"/>
          </p:cNvSpPr>
          <p:nvPr>
            <p:ph type="body" sz="quarter" idx="11"/>
          </p:nvPr>
        </p:nvSpPr>
        <p:spPr>
          <a:prstGeom prst="rect">
            <a:avLst/>
          </a:prstGeom>
        </p:spPr>
        <p:txBody>
          <a:bodyPr/>
          <a:lstStyle/>
          <a:p>
            <a:pPr algn="ctr" fontAlgn="auto">
              <a:spcBef>
                <a:spcPts val="0"/>
              </a:spcBef>
              <a:spcAft>
                <a:spcPts val="0"/>
              </a:spcAft>
              <a:defRPr/>
            </a:pPr>
            <a:r>
              <a:rPr lang="en-US" altLang="ko-KR" b="1" dirty="0" err="1" smtClean="0">
                <a:solidFill>
                  <a:schemeClr val="tx1">
                    <a:lumMod val="75000"/>
                    <a:lumOff val="25000"/>
                  </a:schemeClr>
                </a:solidFill>
                <a:cs typeface="Arial" pitchFamily="34" charset="0"/>
              </a:rPr>
              <a:t>Mutex</a:t>
            </a:r>
            <a:r>
              <a:rPr lang="en-US" altLang="ko-KR" b="1" dirty="0" smtClean="0">
                <a:solidFill>
                  <a:schemeClr val="tx1">
                    <a:lumMod val="75000"/>
                    <a:lumOff val="25000"/>
                  </a:schemeClr>
                </a:solidFill>
                <a:cs typeface="Arial" pitchFamily="34" charset="0"/>
              </a:rPr>
              <a:t>,  Semaphore</a:t>
            </a:r>
            <a:endParaRPr lang="en-US" altLang="ko-KR" b="1" dirty="0">
              <a:solidFill>
                <a:schemeClr val="tx1">
                  <a:lumMod val="75000"/>
                  <a:lumOff val="25000"/>
                </a:schemeClr>
              </a:solidFill>
              <a:cs typeface="Arial" pitchFamily="34" charset="0"/>
            </a:endParaRPr>
          </a:p>
        </p:txBody>
      </p:sp>
      <p:sp>
        <p:nvSpPr>
          <p:cNvPr id="3" name="Title 2"/>
          <p:cNvSpPr>
            <a:spLocks noGrp="1"/>
          </p:cNvSpPr>
          <p:nvPr>
            <p:ph type="title"/>
          </p:nvPr>
        </p:nvSpPr>
        <p:spPr>
          <a:prstGeom prst="rect">
            <a:avLst/>
          </a:prstGeom>
        </p:spPr>
        <p:txBody>
          <a:bodyPr/>
          <a:lstStyle/>
          <a:p>
            <a:r>
              <a:rPr lang="en-US" altLang="ko-KR" dirty="0" smtClean="0">
                <a:ea typeface="맑은 고딕" pitchFamily="50" charset="-127"/>
              </a:rPr>
              <a:t>Operating systems</a:t>
            </a:r>
            <a:endParaRPr lang="ko-KR" altLang="en-US" dirty="0"/>
          </a:p>
        </p:txBody>
      </p:sp>
      <p:graphicFrame>
        <p:nvGraphicFramePr>
          <p:cNvPr id="2" name="Object 1"/>
          <p:cNvGraphicFramePr>
            <a:graphicFrameLocks noChangeAspect="1"/>
          </p:cNvGraphicFramePr>
          <p:nvPr>
            <p:extLst>
              <p:ext uri="{D42A27DB-BD31-4B8C-83A1-F6EECF244321}">
                <p14:modId xmlns:p14="http://schemas.microsoft.com/office/powerpoint/2010/main" val="2209505875"/>
              </p:ext>
            </p:extLst>
          </p:nvPr>
        </p:nvGraphicFramePr>
        <p:xfrm>
          <a:off x="2920519" y="744654"/>
          <a:ext cx="3146399" cy="1944000"/>
        </p:xfrm>
        <a:graphic>
          <a:graphicData uri="http://schemas.openxmlformats.org/presentationml/2006/ole">
            <mc:AlternateContent xmlns:mc="http://schemas.openxmlformats.org/markup-compatibility/2006">
              <mc:Choice xmlns:v="urn:schemas-microsoft-com:vml" Requires="v">
                <p:oleObj spid="_x0000_s1379" name="Bitmap Image" r:id="rId4" imgW="2286000" imgH="1280160" progId="PBrush">
                  <p:embed/>
                </p:oleObj>
              </mc:Choice>
              <mc:Fallback>
                <p:oleObj name="Bitmap Image" r:id="rId4" imgW="2286000" imgH="1280160" progId="PBrush">
                  <p:embed/>
                  <p:pic>
                    <p:nvPicPr>
                      <p:cNvPr id="0" name=""/>
                      <p:cNvPicPr/>
                      <p:nvPr/>
                    </p:nvPicPr>
                    <p:blipFill>
                      <a:blip r:embed="rId5"/>
                      <a:stretch>
                        <a:fillRect/>
                      </a:stretch>
                    </p:blipFill>
                    <p:spPr>
                      <a:xfrm>
                        <a:off x="2920519" y="744654"/>
                        <a:ext cx="3146399" cy="1944000"/>
                      </a:xfrm>
                      <a:prstGeom prst="rect">
                        <a:avLst/>
                      </a:prstGeom>
                    </p:spPr>
                  </p:pic>
                </p:oleObj>
              </mc:Fallback>
            </mc:AlternateContent>
          </a:graphicData>
        </a:graphic>
      </p:graphicFrame>
    </p:spTree>
    <p:extLst>
      <p:ext uri="{BB962C8B-B14F-4D97-AF65-F5344CB8AC3E}">
        <p14:creationId xmlns:p14="http://schemas.microsoft.com/office/powerpoint/2010/main" val="27423317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527165" y="862628"/>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10"/>
          <p:cNvSpPr/>
          <p:nvPr/>
        </p:nvSpPr>
        <p:spPr>
          <a:xfrm>
            <a:off x="2327140" y="934628"/>
            <a:ext cx="6116031" cy="2793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ltLang="ko-KR" dirty="0" err="1" smtClean="0">
                <a:latin typeface="Courier New" panose="02070309020205020404" pitchFamily="49" charset="0"/>
                <a:cs typeface="Courier New" panose="02070309020205020404" pitchFamily="49" charset="0"/>
              </a:rPr>
              <a:t>Mutex</a:t>
            </a:r>
            <a:endParaRPr lang="ko-KR" altLang="en-US" dirty="0">
              <a:solidFill>
                <a:schemeClr val="bg1"/>
              </a:solidFill>
              <a:latin typeface="Arial" pitchFamily="34" charset="0"/>
              <a:cs typeface="Arial" pitchFamily="34" charset="0"/>
            </a:endParaRPr>
          </a:p>
        </p:txBody>
      </p:sp>
      <p:sp>
        <p:nvSpPr>
          <p:cNvPr id="10" name="Rectangle 9"/>
          <p:cNvSpPr/>
          <p:nvPr/>
        </p:nvSpPr>
        <p:spPr>
          <a:xfrm>
            <a:off x="1619505" y="934628"/>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p:cNvSpPr txBox="1"/>
          <p:nvPr/>
        </p:nvSpPr>
        <p:spPr>
          <a:xfrm>
            <a:off x="1626224" y="884746"/>
            <a:ext cx="605282" cy="338554"/>
          </a:xfrm>
          <a:prstGeom prst="rect">
            <a:avLst/>
          </a:prstGeom>
          <a:noFill/>
        </p:spPr>
        <p:txBody>
          <a:bodyPr wrap="square" rtlCol="0" anchor="ctr">
            <a:spAutoFit/>
          </a:bodyPr>
          <a:lstStyle/>
          <a:p>
            <a:pPr algn="ctr"/>
            <a:r>
              <a:rPr lang="en-US" altLang="ko-KR" sz="1600" b="1" dirty="0">
                <a:solidFill>
                  <a:schemeClr val="accent1"/>
                </a:solidFill>
                <a:latin typeface="Arial" pitchFamily="34" charset="0"/>
                <a:cs typeface="Arial" pitchFamily="34" charset="0"/>
              </a:rPr>
              <a:t>01</a:t>
            </a:r>
            <a:endParaRPr lang="ko-KR" altLang="en-US" sz="1600" b="1" dirty="0">
              <a:solidFill>
                <a:schemeClr val="accent1"/>
              </a:solidFill>
              <a:latin typeface="Arial" pitchFamily="34" charset="0"/>
              <a:cs typeface="Arial" pitchFamily="34" charset="0"/>
            </a:endParaRPr>
          </a:p>
        </p:txBody>
      </p:sp>
      <p:sp>
        <p:nvSpPr>
          <p:cNvPr id="27" name="Rectangle 26"/>
          <p:cNvSpPr/>
          <p:nvPr/>
        </p:nvSpPr>
        <p:spPr>
          <a:xfrm>
            <a:off x="1527165" y="1283348"/>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Rectangle 27"/>
          <p:cNvSpPr/>
          <p:nvPr/>
        </p:nvSpPr>
        <p:spPr>
          <a:xfrm>
            <a:off x="2327140" y="1355348"/>
            <a:ext cx="6116031" cy="2793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ltLang="ko-KR" dirty="0" smtClean="0">
                <a:solidFill>
                  <a:schemeClr val="bg1"/>
                </a:solidFill>
                <a:latin typeface="Arial" pitchFamily="34" charset="0"/>
                <a:cs typeface="Arial" pitchFamily="34" charset="0"/>
              </a:rPr>
              <a:t>Semaphore</a:t>
            </a:r>
            <a:endParaRPr lang="ko-KR" altLang="en-US" dirty="0">
              <a:solidFill>
                <a:schemeClr val="bg1"/>
              </a:solidFill>
              <a:latin typeface="Arial" pitchFamily="34" charset="0"/>
              <a:cs typeface="Arial" pitchFamily="34" charset="0"/>
            </a:endParaRPr>
          </a:p>
        </p:txBody>
      </p:sp>
      <p:sp>
        <p:nvSpPr>
          <p:cNvPr id="29" name="Rectangle 28"/>
          <p:cNvSpPr/>
          <p:nvPr/>
        </p:nvSpPr>
        <p:spPr>
          <a:xfrm>
            <a:off x="1619505" y="1355348"/>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TextBox 29"/>
          <p:cNvSpPr txBox="1"/>
          <p:nvPr/>
        </p:nvSpPr>
        <p:spPr>
          <a:xfrm>
            <a:off x="1626224" y="1305466"/>
            <a:ext cx="605282" cy="338554"/>
          </a:xfrm>
          <a:prstGeom prst="rect">
            <a:avLst/>
          </a:prstGeom>
          <a:noFill/>
        </p:spPr>
        <p:txBody>
          <a:bodyPr wrap="square" rtlCol="0" anchor="ctr">
            <a:spAutoFit/>
          </a:bodyPr>
          <a:lstStyle/>
          <a:p>
            <a:pPr algn="ctr"/>
            <a:r>
              <a:rPr lang="en-US" altLang="ko-KR" sz="1600" b="1" dirty="0">
                <a:solidFill>
                  <a:schemeClr val="accent2"/>
                </a:solidFill>
                <a:latin typeface="Arial" pitchFamily="34" charset="0"/>
                <a:cs typeface="Arial" pitchFamily="34" charset="0"/>
              </a:rPr>
              <a:t>02</a:t>
            </a:r>
            <a:endParaRPr lang="ko-KR" altLang="en-US" sz="1600" b="1" dirty="0">
              <a:solidFill>
                <a:schemeClr val="accent2"/>
              </a:solidFill>
              <a:latin typeface="Arial" pitchFamily="34" charset="0"/>
              <a:cs typeface="Arial" pitchFamily="34" charset="0"/>
            </a:endParaRPr>
          </a:p>
        </p:txBody>
      </p:sp>
      <p:sp>
        <p:nvSpPr>
          <p:cNvPr id="34" name="Rectangle 33"/>
          <p:cNvSpPr/>
          <p:nvPr/>
        </p:nvSpPr>
        <p:spPr>
          <a:xfrm>
            <a:off x="1527165" y="1715396"/>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Rectangle 34"/>
          <p:cNvSpPr/>
          <p:nvPr/>
        </p:nvSpPr>
        <p:spPr>
          <a:xfrm>
            <a:off x="2327140" y="1787396"/>
            <a:ext cx="6116031" cy="2793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ltLang="ko-KR" dirty="0" smtClean="0"/>
              <a:t>C</a:t>
            </a:r>
            <a:endParaRPr lang="ko-KR" altLang="en-US" dirty="0">
              <a:solidFill>
                <a:schemeClr val="bg1"/>
              </a:solidFill>
              <a:latin typeface="Arial" pitchFamily="34" charset="0"/>
              <a:cs typeface="Arial" pitchFamily="34" charset="0"/>
            </a:endParaRPr>
          </a:p>
        </p:txBody>
      </p:sp>
      <p:sp>
        <p:nvSpPr>
          <p:cNvPr id="36" name="Rectangle 35"/>
          <p:cNvSpPr/>
          <p:nvPr/>
        </p:nvSpPr>
        <p:spPr>
          <a:xfrm>
            <a:off x="1619505" y="1787396"/>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TextBox 36"/>
          <p:cNvSpPr txBox="1"/>
          <p:nvPr/>
        </p:nvSpPr>
        <p:spPr>
          <a:xfrm>
            <a:off x="1626224" y="1737514"/>
            <a:ext cx="605282" cy="338554"/>
          </a:xfrm>
          <a:prstGeom prst="rect">
            <a:avLst/>
          </a:prstGeom>
          <a:noFill/>
        </p:spPr>
        <p:txBody>
          <a:bodyPr wrap="square" rtlCol="0" anchor="ctr">
            <a:spAutoFit/>
          </a:bodyPr>
          <a:lstStyle/>
          <a:p>
            <a:pPr algn="ctr"/>
            <a:r>
              <a:rPr lang="en-US" altLang="ko-KR" sz="1600" b="1" dirty="0">
                <a:solidFill>
                  <a:schemeClr val="accent3"/>
                </a:solidFill>
                <a:latin typeface="Arial" pitchFamily="34" charset="0"/>
                <a:cs typeface="Arial" pitchFamily="34" charset="0"/>
              </a:rPr>
              <a:t>03</a:t>
            </a:r>
            <a:endParaRPr lang="ko-KR" altLang="en-US" sz="1600" b="1" dirty="0">
              <a:solidFill>
                <a:schemeClr val="accent3"/>
              </a:solidFill>
              <a:latin typeface="Arial" pitchFamily="34" charset="0"/>
              <a:cs typeface="Arial" pitchFamily="34" charset="0"/>
            </a:endParaRPr>
          </a:p>
        </p:txBody>
      </p:sp>
      <p:sp>
        <p:nvSpPr>
          <p:cNvPr id="40" name="Rectangle 39"/>
          <p:cNvSpPr/>
          <p:nvPr/>
        </p:nvSpPr>
        <p:spPr>
          <a:xfrm>
            <a:off x="1527165" y="2147444"/>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Rectangle 40"/>
          <p:cNvSpPr/>
          <p:nvPr/>
        </p:nvSpPr>
        <p:spPr>
          <a:xfrm>
            <a:off x="2327140" y="2219444"/>
            <a:ext cx="6116031" cy="27933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ltLang="ko-KR" dirty="0" smtClean="0"/>
              <a:t>S</a:t>
            </a:r>
            <a:endParaRPr lang="ko-KR" altLang="en-US" dirty="0">
              <a:solidFill>
                <a:schemeClr val="bg1"/>
              </a:solidFill>
              <a:latin typeface="Arial" pitchFamily="34" charset="0"/>
              <a:cs typeface="Arial" pitchFamily="34" charset="0"/>
            </a:endParaRPr>
          </a:p>
        </p:txBody>
      </p:sp>
      <p:sp>
        <p:nvSpPr>
          <p:cNvPr id="42" name="Rectangle 41"/>
          <p:cNvSpPr/>
          <p:nvPr/>
        </p:nvSpPr>
        <p:spPr>
          <a:xfrm>
            <a:off x="1619505" y="2219444"/>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TextBox 42"/>
          <p:cNvSpPr txBox="1"/>
          <p:nvPr/>
        </p:nvSpPr>
        <p:spPr>
          <a:xfrm>
            <a:off x="1626224" y="2169562"/>
            <a:ext cx="605282" cy="338554"/>
          </a:xfrm>
          <a:prstGeom prst="rect">
            <a:avLst/>
          </a:prstGeom>
          <a:noFill/>
        </p:spPr>
        <p:txBody>
          <a:bodyPr wrap="square" rtlCol="0" anchor="ctr">
            <a:spAutoFit/>
          </a:bodyPr>
          <a:lstStyle/>
          <a:p>
            <a:pPr algn="ctr"/>
            <a:r>
              <a:rPr lang="en-US" altLang="ko-KR" sz="1600" b="1" dirty="0">
                <a:solidFill>
                  <a:schemeClr val="accent4"/>
                </a:solidFill>
                <a:latin typeface="Arial" pitchFamily="34" charset="0"/>
                <a:cs typeface="Arial" pitchFamily="34" charset="0"/>
              </a:rPr>
              <a:t>04</a:t>
            </a:r>
            <a:endParaRPr lang="ko-KR" altLang="en-US" sz="1600" b="1" dirty="0">
              <a:solidFill>
                <a:schemeClr val="accent4"/>
              </a:solidFill>
              <a:latin typeface="Arial" pitchFamily="34" charset="0"/>
              <a:cs typeface="Arial" pitchFamily="34" charset="0"/>
            </a:endParaRPr>
          </a:p>
        </p:txBody>
      </p:sp>
      <p:sp>
        <p:nvSpPr>
          <p:cNvPr id="24" name="Rectangle 23"/>
          <p:cNvSpPr/>
          <p:nvPr/>
        </p:nvSpPr>
        <p:spPr>
          <a:xfrm>
            <a:off x="1527165" y="2549875"/>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p:cNvSpPr/>
          <p:nvPr/>
        </p:nvSpPr>
        <p:spPr>
          <a:xfrm>
            <a:off x="2327140" y="2621875"/>
            <a:ext cx="6116031" cy="279339"/>
          </a:xfrm>
          <a:prstGeom prst="rect">
            <a:avLst/>
          </a:prstGeom>
          <a:solidFill>
            <a:srgbClr val="99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dirty="0" smtClean="0"/>
              <a:t>I</a:t>
            </a:r>
            <a:endParaRPr lang="en-US" dirty="0"/>
          </a:p>
        </p:txBody>
      </p:sp>
      <p:sp>
        <p:nvSpPr>
          <p:cNvPr id="26" name="TextBox 25"/>
          <p:cNvSpPr txBox="1"/>
          <p:nvPr/>
        </p:nvSpPr>
        <p:spPr>
          <a:xfrm>
            <a:off x="1626224" y="2571993"/>
            <a:ext cx="605282" cy="338554"/>
          </a:xfrm>
          <a:prstGeom prst="rect">
            <a:avLst/>
          </a:prstGeom>
          <a:solidFill>
            <a:schemeClr val="bg1"/>
          </a:solidFill>
        </p:spPr>
        <p:txBody>
          <a:bodyPr wrap="square" rtlCol="0" anchor="ctr">
            <a:spAutoFit/>
          </a:bodyPr>
          <a:lstStyle/>
          <a:p>
            <a:pPr algn="ctr"/>
            <a:r>
              <a:rPr lang="en-US" altLang="ko-KR" sz="1600" b="1" dirty="0" smtClean="0">
                <a:solidFill>
                  <a:srgbClr val="99CCFF"/>
                </a:solidFill>
                <a:latin typeface="Arial" pitchFamily="34" charset="0"/>
                <a:cs typeface="Arial" pitchFamily="34" charset="0"/>
              </a:rPr>
              <a:t>05</a:t>
            </a:r>
            <a:endParaRPr lang="ko-KR" altLang="en-US" sz="1600" b="1" dirty="0">
              <a:solidFill>
                <a:srgbClr val="99CCFF"/>
              </a:solidFill>
              <a:latin typeface="Arial" pitchFamily="34" charset="0"/>
              <a:cs typeface="Arial" pitchFamily="34" charset="0"/>
            </a:endParaRPr>
          </a:p>
        </p:txBody>
      </p:sp>
      <p:sp>
        <p:nvSpPr>
          <p:cNvPr id="3" name="Title 2"/>
          <p:cNvSpPr>
            <a:spLocks noGrp="1"/>
          </p:cNvSpPr>
          <p:nvPr>
            <p:ph type="title"/>
          </p:nvPr>
        </p:nvSpPr>
        <p:spPr>
          <a:xfrm>
            <a:off x="1547664" y="25735"/>
            <a:ext cx="7596336" cy="430387"/>
          </a:xfrm>
        </p:spPr>
        <p:txBody>
          <a:bodyPr/>
          <a:lstStyle/>
          <a:p>
            <a:r>
              <a:rPr lang="en-US" dirty="0" smtClean="0"/>
              <a:t>Content Lecture#9</a:t>
            </a:r>
            <a:endParaRPr lang="en-US" dirty="0"/>
          </a:p>
        </p:txBody>
      </p:sp>
    </p:spTree>
    <p:extLst>
      <p:ext uri="{BB962C8B-B14F-4D97-AF65-F5344CB8AC3E}">
        <p14:creationId xmlns:p14="http://schemas.microsoft.com/office/powerpoint/2010/main" val="7034461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380389" y="555526"/>
            <a:ext cx="4861048" cy="542078"/>
          </a:xfrm>
        </p:spPr>
        <p:txBody>
          <a:bodyPr/>
          <a:lstStyle/>
          <a:p>
            <a:r>
              <a:rPr lang="en-US" altLang="ko-KR" b="1" dirty="0" smtClean="0">
                <a:solidFill>
                  <a:schemeClr val="tx1">
                    <a:lumMod val="75000"/>
                    <a:lumOff val="25000"/>
                  </a:schemeClr>
                </a:solidFill>
              </a:rPr>
              <a:t>Lets take a Break</a:t>
            </a:r>
            <a:endParaRPr lang="ko-KR" altLang="en-US" b="1" dirty="0">
              <a:solidFill>
                <a:schemeClr val="tx1">
                  <a:lumMod val="75000"/>
                  <a:lumOff val="25000"/>
                </a:schemeClr>
              </a:solidFill>
            </a:endParaRPr>
          </a:p>
        </p:txBody>
      </p:sp>
      <p:grpSp>
        <p:nvGrpSpPr>
          <p:cNvPr id="6" name="Group 5"/>
          <p:cNvGrpSpPr/>
          <p:nvPr/>
        </p:nvGrpSpPr>
        <p:grpSpPr>
          <a:xfrm>
            <a:off x="2576557" y="2214190"/>
            <a:ext cx="142590" cy="676613"/>
            <a:chOff x="1" y="1321321"/>
            <a:chExt cx="2051719" cy="2469467"/>
          </a:xfrm>
        </p:grpSpPr>
        <p:sp>
          <p:nvSpPr>
            <p:cNvPr id="7" name="Rectangle 6"/>
            <p:cNvSpPr/>
            <p:nvPr/>
          </p:nvSpPr>
          <p:spPr>
            <a:xfrm>
              <a:off x="1" y="1321321"/>
              <a:ext cx="2051719"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Rectangle 7"/>
            <p:cNvSpPr/>
            <p:nvPr/>
          </p:nvSpPr>
          <p:spPr>
            <a:xfrm>
              <a:off x="1" y="1976477"/>
              <a:ext cx="2051719" cy="5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C458"/>
                </a:solidFill>
              </a:endParaRPr>
            </a:p>
          </p:txBody>
        </p:sp>
        <p:sp>
          <p:nvSpPr>
            <p:cNvPr id="9" name="Rectangle 8"/>
            <p:cNvSpPr/>
            <p:nvPr/>
          </p:nvSpPr>
          <p:spPr>
            <a:xfrm>
              <a:off x="1" y="2631633"/>
              <a:ext cx="2051719" cy="5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p:cNvSpPr/>
            <p:nvPr/>
          </p:nvSpPr>
          <p:spPr>
            <a:xfrm>
              <a:off x="1" y="3286788"/>
              <a:ext cx="2051719" cy="50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3" name="Group 2"/>
          <p:cNvGrpSpPr/>
          <p:nvPr/>
        </p:nvGrpSpPr>
        <p:grpSpPr>
          <a:xfrm>
            <a:off x="1123004" y="2067694"/>
            <a:ext cx="1432772" cy="1020936"/>
            <a:chOff x="1123004" y="2067694"/>
            <a:chExt cx="1432772" cy="1020936"/>
          </a:xfrm>
        </p:grpSpPr>
        <p:sp>
          <p:nvSpPr>
            <p:cNvPr id="25" name="Rectangle 16"/>
            <p:cNvSpPr/>
            <p:nvPr/>
          </p:nvSpPr>
          <p:spPr>
            <a:xfrm>
              <a:off x="1123004" y="2067694"/>
              <a:ext cx="1432772" cy="1020936"/>
            </a:xfrm>
            <a:custGeom>
              <a:avLst/>
              <a:gdLst/>
              <a:ahLst/>
              <a:cxnLst/>
              <a:rect l="l" t="t" r="r" b="b"/>
              <a:pathLst>
                <a:path w="3240006" h="2129375">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aphicFrame>
          <p:nvGraphicFramePr>
            <p:cNvPr id="2" name="Object 1"/>
            <p:cNvGraphicFramePr>
              <a:graphicFrameLocks noChangeAspect="1"/>
            </p:cNvGraphicFramePr>
            <p:nvPr>
              <p:extLst>
                <p:ext uri="{D42A27DB-BD31-4B8C-83A1-F6EECF244321}">
                  <p14:modId xmlns:p14="http://schemas.microsoft.com/office/powerpoint/2010/main" val="3484248262"/>
                </p:ext>
              </p:extLst>
            </p:nvPr>
          </p:nvGraphicFramePr>
          <p:xfrm>
            <a:off x="1199736" y="2139702"/>
            <a:ext cx="1321101" cy="861615"/>
          </p:xfrm>
          <a:graphic>
            <a:graphicData uri="http://schemas.openxmlformats.org/presentationml/2006/ole">
              <mc:AlternateContent xmlns:mc="http://schemas.openxmlformats.org/markup-compatibility/2006">
                <mc:Choice xmlns:v="urn:schemas-microsoft-com:vml" Requires="v">
                  <p:oleObj spid="_x0000_s2420" name="Bitmap Image" r:id="rId3" imgW="1585080" imgH="990720" progId="PBrush">
                    <p:embed/>
                  </p:oleObj>
                </mc:Choice>
                <mc:Fallback>
                  <p:oleObj name="Bitmap Image" r:id="rId3" imgW="1585080" imgH="990720" progId="PBrush">
                    <p:embed/>
                    <p:pic>
                      <p:nvPicPr>
                        <p:cNvPr id="0" name=""/>
                        <p:cNvPicPr/>
                        <p:nvPr/>
                      </p:nvPicPr>
                      <p:blipFill>
                        <a:blip r:embed="rId4"/>
                        <a:stretch>
                          <a:fillRect/>
                        </a:stretch>
                      </p:blipFill>
                      <p:spPr>
                        <a:xfrm>
                          <a:off x="1199736" y="2139702"/>
                          <a:ext cx="1321101" cy="861615"/>
                        </a:xfrm>
                        <a:prstGeom prst="rect">
                          <a:avLst/>
                        </a:prstGeom>
                      </p:spPr>
                    </p:pic>
                  </p:oleObj>
                </mc:Fallback>
              </mc:AlternateContent>
            </a:graphicData>
          </a:graphic>
        </p:graphicFrame>
      </p:grpSp>
      <p:sp>
        <p:nvSpPr>
          <p:cNvPr id="13" name="Rectangle 306"/>
          <p:cNvSpPr>
            <a:spLocks noChangeArrowheads="1"/>
          </p:cNvSpPr>
          <p:nvPr/>
        </p:nvSpPr>
        <p:spPr bwMode="auto">
          <a:xfrm>
            <a:off x="1547664" y="4703411"/>
            <a:ext cx="38525" cy="4885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8088" tIns="5713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rgbClr val="878A8C"/>
                </a:solidFill>
                <a:effectLst/>
                <a:latin typeface="IBMPlexSans"/>
              </a:rPr>
              <a:t/>
            </a:r>
            <a:br>
              <a:rPr kumimoji="0" lang="en-US" altLang="en-US" sz="1400" b="0" i="0" u="none" strike="noStrike" cap="none" normalizeH="0" baseline="0" smtClean="0">
                <a:ln>
                  <a:noFill/>
                </a:ln>
                <a:solidFill>
                  <a:srgbClr val="878A8C"/>
                </a:solidFill>
                <a:effectLst/>
                <a:latin typeface="IBMPlexSans"/>
              </a:rPr>
            </a:br>
            <a:endParaRPr kumimoji="0" lang="en-US" altLang="en-US" sz="1400" b="0" i="0" u="none" strike="noStrike" cap="none" normalizeH="0" baseline="0" smtClean="0">
              <a:ln>
                <a:noFill/>
              </a:ln>
              <a:solidFill>
                <a:schemeClr val="tx1"/>
              </a:solidFill>
              <a:effectLst/>
              <a:latin typeface="Arial" panose="020B0604020202020204" pitchFamily="34" charset="0"/>
            </a:endParaRPr>
          </a:p>
        </p:txBody>
      </p:sp>
      <p:sp>
        <p:nvSpPr>
          <p:cNvPr id="20" name="Rectangle 305"/>
          <p:cNvSpPr>
            <a:spLocks noChangeArrowheads="1"/>
          </p:cNvSpPr>
          <p:nvPr/>
        </p:nvSpPr>
        <p:spPr bwMode="auto">
          <a:xfrm>
            <a:off x="1886646" y="1131590"/>
            <a:ext cx="6645794"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effectLst/>
                <a:latin typeface="inherit"/>
              </a:rPr>
              <a:t>A programmer had a problem, so he used threads. Then he had two problems.</a:t>
            </a:r>
            <a:endParaRPr kumimoji="0" lang="en-US" altLang="en-US" sz="1400" b="0" i="0" u="none" strike="noStrike" cap="none" normalizeH="0" baseline="0" dirty="0" smtClean="0">
              <a:ln>
                <a:noFill/>
              </a:ln>
              <a:effectLst/>
              <a:latin typeface="Arial" panose="020B0604020202020204" pitchFamily="34" charset="0"/>
            </a:endParaRPr>
          </a:p>
        </p:txBody>
      </p:sp>
      <p:pic>
        <p:nvPicPr>
          <p:cNvPr id="2388" name="Picture 340" descr="Threads"/>
          <p:cNvPicPr>
            <a:picLocks noChangeAspect="1" noChangeArrowheads="1"/>
          </p:cNvPicPr>
          <p:nvPr/>
        </p:nvPicPr>
        <p:blipFill rotWithShape="1">
          <a:blip r:embed="rId5">
            <a:extLst>
              <a:ext uri="{28A0092B-C50C-407E-A947-70E740481C1C}">
                <a14:useLocalDpi xmlns:a14="http://schemas.microsoft.com/office/drawing/2010/main" val="0"/>
              </a:ext>
            </a:extLst>
          </a:blip>
          <a:srcRect b="14632"/>
          <a:stretch/>
        </p:blipFill>
        <p:spPr bwMode="auto">
          <a:xfrm>
            <a:off x="2915816" y="2921515"/>
            <a:ext cx="2376264" cy="202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41235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316381" y="2918375"/>
            <a:ext cx="4529562" cy="824667"/>
            <a:chOff x="3714846" y="1438282"/>
            <a:chExt cx="4529562" cy="1575938"/>
          </a:xfrm>
        </p:grpSpPr>
        <p:sp>
          <p:nvSpPr>
            <p:cNvPr id="3" name="TextBox 2"/>
            <p:cNvSpPr txBox="1"/>
            <p:nvPr/>
          </p:nvSpPr>
          <p:spPr>
            <a:xfrm>
              <a:off x="3714846" y="2014347"/>
              <a:ext cx="4529562" cy="999873"/>
            </a:xfrm>
            <a:prstGeom prst="rect">
              <a:avLst/>
            </a:prstGeom>
            <a:noFill/>
          </p:spPr>
          <p:txBody>
            <a:bodyPr wrap="square" rtlCol="0">
              <a:spAutoFit/>
            </a:bodyPr>
            <a:lstStyle/>
            <a:p>
              <a:pPr algn="just"/>
              <a:r>
                <a:rPr lang="en-US" sz="1400" dirty="0"/>
                <a:t>The hardware-based solutions to the critical-section problem</a:t>
              </a:r>
            </a:p>
          </p:txBody>
        </p:sp>
        <p:sp>
          <p:nvSpPr>
            <p:cNvPr id="4" name="Text Placeholder 13"/>
            <p:cNvSpPr txBox="1">
              <a:spLocks/>
            </p:cNvSpPr>
            <p:nvPr/>
          </p:nvSpPr>
          <p:spPr>
            <a:xfrm>
              <a:off x="3714846" y="1438282"/>
              <a:ext cx="4529562" cy="57606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err="1">
                  <a:solidFill>
                    <a:schemeClr val="accent1"/>
                  </a:solidFill>
                  <a:cs typeface="Arial" pitchFamily="34" charset="0"/>
                </a:rPr>
                <a:t>Mutex</a:t>
              </a:r>
              <a:r>
                <a:rPr lang="en-US" altLang="ko-KR" sz="2400" b="1" dirty="0">
                  <a:solidFill>
                    <a:schemeClr val="accent1"/>
                  </a:solidFill>
                  <a:cs typeface="Arial" pitchFamily="34" charset="0"/>
                </a:rPr>
                <a:t> Locks</a:t>
              </a:r>
            </a:p>
          </p:txBody>
        </p:sp>
      </p:grpSp>
      <p:grpSp>
        <p:nvGrpSpPr>
          <p:cNvPr id="13" name="Group 12"/>
          <p:cNvGrpSpPr/>
          <p:nvPr/>
        </p:nvGrpSpPr>
        <p:grpSpPr>
          <a:xfrm>
            <a:off x="1" y="1459394"/>
            <a:ext cx="1835696" cy="2209460"/>
            <a:chOff x="1" y="1321321"/>
            <a:chExt cx="2051719" cy="2469467"/>
          </a:xfrm>
        </p:grpSpPr>
        <p:sp>
          <p:nvSpPr>
            <p:cNvPr id="9" name="Rectangle 8"/>
            <p:cNvSpPr/>
            <p:nvPr/>
          </p:nvSpPr>
          <p:spPr>
            <a:xfrm>
              <a:off x="1" y="1321321"/>
              <a:ext cx="2051719"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p:cNvSpPr/>
            <p:nvPr/>
          </p:nvSpPr>
          <p:spPr>
            <a:xfrm>
              <a:off x="1" y="1976477"/>
              <a:ext cx="2051719" cy="5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C458"/>
                </a:solidFill>
              </a:endParaRPr>
            </a:p>
          </p:txBody>
        </p:sp>
        <p:sp>
          <p:nvSpPr>
            <p:cNvPr id="11" name="Rectangle 10"/>
            <p:cNvSpPr/>
            <p:nvPr/>
          </p:nvSpPr>
          <p:spPr>
            <a:xfrm>
              <a:off x="1" y="2631633"/>
              <a:ext cx="2051719" cy="5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Rectangle 11"/>
            <p:cNvSpPr/>
            <p:nvPr/>
          </p:nvSpPr>
          <p:spPr>
            <a:xfrm>
              <a:off x="1" y="3286788"/>
              <a:ext cx="2051719" cy="50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Group 18"/>
          <p:cNvGrpSpPr/>
          <p:nvPr/>
        </p:nvGrpSpPr>
        <p:grpSpPr>
          <a:xfrm>
            <a:off x="7308304" y="1459394"/>
            <a:ext cx="1835696" cy="2209460"/>
            <a:chOff x="1" y="1321321"/>
            <a:chExt cx="2051719" cy="2469467"/>
          </a:xfrm>
        </p:grpSpPr>
        <p:sp>
          <p:nvSpPr>
            <p:cNvPr id="20" name="Rectangle 19"/>
            <p:cNvSpPr/>
            <p:nvPr/>
          </p:nvSpPr>
          <p:spPr>
            <a:xfrm>
              <a:off x="1" y="1321321"/>
              <a:ext cx="2051719"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 name="Rectangle 20"/>
            <p:cNvSpPr/>
            <p:nvPr/>
          </p:nvSpPr>
          <p:spPr>
            <a:xfrm>
              <a:off x="1" y="1976477"/>
              <a:ext cx="2051719" cy="5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C458"/>
                </a:solidFill>
              </a:endParaRPr>
            </a:p>
          </p:txBody>
        </p:sp>
        <p:sp>
          <p:nvSpPr>
            <p:cNvPr id="22" name="Rectangle 21"/>
            <p:cNvSpPr/>
            <p:nvPr/>
          </p:nvSpPr>
          <p:spPr>
            <a:xfrm>
              <a:off x="1" y="2631633"/>
              <a:ext cx="2051719" cy="5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p:cNvSpPr/>
            <p:nvPr/>
          </p:nvSpPr>
          <p:spPr>
            <a:xfrm>
              <a:off x="1" y="3286788"/>
              <a:ext cx="2051719" cy="50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 name="그림 개체 틀 5">
            <a:extLst>
              <a:ext uri="{FF2B5EF4-FFF2-40B4-BE49-F238E27FC236}">
                <a16:creationId xmlns:a16="http://schemas.microsoft.com/office/drawing/2014/main" id="{9573E06B-11DC-4905-B6EC-54068195C955}"/>
              </a:ext>
            </a:extLst>
          </p:cNvPr>
          <p:cNvSpPr>
            <a:spLocks noGrp="1"/>
          </p:cNvSpPr>
          <p:nvPr>
            <p:ph type="pic" idx="1"/>
          </p:nvPr>
        </p:nvSpPr>
        <p:spPr/>
      </p:sp>
      <p:sp>
        <p:nvSpPr>
          <p:cNvPr id="7" name="AutoShape 2" descr="Electronics Business Color Doodle Sketch Vector Stock Vector (Royalty Free)  75001138 | Shutterstoc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8" name="Object 7"/>
          <p:cNvGraphicFramePr>
            <a:graphicFrameLocks noChangeAspect="1"/>
          </p:cNvGraphicFramePr>
          <p:nvPr>
            <p:extLst>
              <p:ext uri="{D42A27DB-BD31-4B8C-83A1-F6EECF244321}">
                <p14:modId xmlns:p14="http://schemas.microsoft.com/office/powerpoint/2010/main" val="253553913"/>
              </p:ext>
            </p:extLst>
          </p:nvPr>
        </p:nvGraphicFramePr>
        <p:xfrm>
          <a:off x="3843566" y="731206"/>
          <a:ext cx="1458549" cy="1027130"/>
        </p:xfrm>
        <a:graphic>
          <a:graphicData uri="http://schemas.openxmlformats.org/presentationml/2006/ole">
            <mc:AlternateContent xmlns:mc="http://schemas.openxmlformats.org/markup-compatibility/2006">
              <mc:Choice xmlns:v="urn:schemas-microsoft-com:vml" Requires="v">
                <p:oleObj spid="_x0000_s3763" name="Bitmap Image" r:id="rId4" imgW="1958400" imgH="1379160" progId="PBrush">
                  <p:embed/>
                </p:oleObj>
              </mc:Choice>
              <mc:Fallback>
                <p:oleObj name="Bitmap Image" r:id="rId4" imgW="1958400" imgH="1379160" progId="PBrush">
                  <p:embed/>
                  <p:pic>
                    <p:nvPicPr>
                      <p:cNvPr id="0" name=""/>
                      <p:cNvPicPr/>
                      <p:nvPr/>
                    </p:nvPicPr>
                    <p:blipFill>
                      <a:blip r:embed="rId5"/>
                      <a:stretch>
                        <a:fillRect/>
                      </a:stretch>
                    </p:blipFill>
                    <p:spPr>
                      <a:xfrm>
                        <a:off x="3843566" y="731206"/>
                        <a:ext cx="1458549" cy="1027130"/>
                      </a:xfrm>
                      <a:prstGeom prst="rect">
                        <a:avLst/>
                      </a:prstGeom>
                    </p:spPr>
                  </p:pic>
                </p:oleObj>
              </mc:Fallback>
            </mc:AlternateContent>
          </a:graphicData>
        </a:graphic>
      </p:graphicFrame>
      <p:graphicFrame>
        <p:nvGraphicFramePr>
          <p:cNvPr id="24" name="Object 23"/>
          <p:cNvGraphicFramePr>
            <a:graphicFrameLocks noChangeAspect="1"/>
          </p:cNvGraphicFramePr>
          <p:nvPr>
            <p:extLst>
              <p:ext uri="{D42A27DB-BD31-4B8C-83A1-F6EECF244321}">
                <p14:modId xmlns:p14="http://schemas.microsoft.com/office/powerpoint/2010/main" val="917302311"/>
              </p:ext>
            </p:extLst>
          </p:nvPr>
        </p:nvGraphicFramePr>
        <p:xfrm>
          <a:off x="3843565" y="1681337"/>
          <a:ext cx="1475195" cy="1067528"/>
        </p:xfrm>
        <a:graphic>
          <a:graphicData uri="http://schemas.openxmlformats.org/presentationml/2006/ole">
            <mc:AlternateContent xmlns:mc="http://schemas.openxmlformats.org/markup-compatibility/2006">
              <mc:Choice xmlns:v="urn:schemas-microsoft-com:vml" Requires="v">
                <p:oleObj spid="_x0000_s3764" name="Bitmap Image" r:id="rId6" imgW="1958400" imgH="1379160" progId="PBrush">
                  <p:embed/>
                </p:oleObj>
              </mc:Choice>
              <mc:Fallback>
                <p:oleObj name="Bitmap Image" r:id="rId6" imgW="1958400" imgH="1379160" progId="PBrush">
                  <p:embed/>
                  <p:pic>
                    <p:nvPicPr>
                      <p:cNvPr id="8" name="Object 7"/>
                      <p:cNvPicPr/>
                      <p:nvPr/>
                    </p:nvPicPr>
                    <p:blipFill>
                      <a:blip r:embed="rId5"/>
                      <a:stretch>
                        <a:fillRect/>
                      </a:stretch>
                    </p:blipFill>
                    <p:spPr>
                      <a:xfrm>
                        <a:off x="3843565" y="1681337"/>
                        <a:ext cx="1475195" cy="1067528"/>
                      </a:xfrm>
                      <a:prstGeom prst="rect">
                        <a:avLst/>
                      </a:prstGeom>
                    </p:spPr>
                  </p:pic>
                </p:oleObj>
              </mc:Fallback>
            </mc:AlternateContent>
          </a:graphicData>
        </a:graphic>
      </p:graphicFrame>
      <p:sp>
        <p:nvSpPr>
          <p:cNvPr id="25" name="TextBox 24"/>
          <p:cNvSpPr txBox="1"/>
          <p:nvPr/>
        </p:nvSpPr>
        <p:spPr>
          <a:xfrm>
            <a:off x="2267744" y="4240708"/>
            <a:ext cx="5400600" cy="585610"/>
          </a:xfrm>
          <a:prstGeom prst="rect">
            <a:avLst/>
          </a:prstGeom>
          <a:noFill/>
        </p:spPr>
        <p:txBody>
          <a:bodyPr wrap="square" rtlCol="0">
            <a:spAutoFit/>
          </a:bodyPr>
          <a:lstStyle/>
          <a:p>
            <a:pPr marL="342900" indent="-342900">
              <a:lnSpc>
                <a:spcPct val="120000"/>
              </a:lnSpc>
              <a:buFont typeface="Arial" panose="020B0604020202020204" pitchFamily="34" charset="0"/>
              <a:buChar char="•"/>
            </a:pPr>
            <a:r>
              <a:rPr lang="en-US" sz="1400" dirty="0"/>
              <a:t>In 1965, </a:t>
            </a:r>
            <a:r>
              <a:rPr lang="en-US" sz="1400" dirty="0" err="1"/>
              <a:t>Dijkstra</a:t>
            </a:r>
            <a:r>
              <a:rPr lang="en-US" sz="1400" dirty="0"/>
              <a:t> (Dutch Scientist) invented synchronize variable that takes non negative integer variable</a:t>
            </a:r>
          </a:p>
        </p:txBody>
      </p:sp>
      <p:sp>
        <p:nvSpPr>
          <p:cNvPr id="26" name="Text Placeholder 13"/>
          <p:cNvSpPr txBox="1">
            <a:spLocks/>
          </p:cNvSpPr>
          <p:nvPr/>
        </p:nvSpPr>
        <p:spPr>
          <a:xfrm>
            <a:off x="2267743" y="3901580"/>
            <a:ext cx="4859795" cy="30144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smtClean="0">
                <a:solidFill>
                  <a:schemeClr val="accent1"/>
                </a:solidFill>
                <a:cs typeface="Arial" pitchFamily="34" charset="0"/>
              </a:rPr>
              <a:t>Semaphore</a:t>
            </a:r>
            <a:endParaRPr lang="ko-KR" altLang="en-US" sz="2400" b="1" dirty="0">
              <a:solidFill>
                <a:schemeClr val="accent1"/>
              </a:solidFill>
              <a:cs typeface="Arial" pitchFamily="34" charset="0"/>
            </a:endParaRPr>
          </a:p>
        </p:txBody>
      </p:sp>
    </p:spTree>
    <p:extLst>
      <p:ext uri="{BB962C8B-B14F-4D97-AF65-F5344CB8AC3E}">
        <p14:creationId xmlns:p14="http://schemas.microsoft.com/office/powerpoint/2010/main" val="2508501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val="1403565513"/>
              </p:ext>
            </p:extLst>
          </p:nvPr>
        </p:nvGraphicFramePr>
        <p:xfrm>
          <a:off x="4558117" y="3363838"/>
          <a:ext cx="4566388" cy="1779662"/>
        </p:xfrm>
        <a:graphic>
          <a:graphicData uri="http://schemas.openxmlformats.org/presentationml/2006/ole">
            <mc:AlternateContent xmlns:mc="http://schemas.openxmlformats.org/markup-compatibility/2006">
              <mc:Choice xmlns:v="urn:schemas-microsoft-com:vml" Requires="v">
                <p:oleObj spid="_x0000_s12317" name="Bitmap Image" r:id="rId3" imgW="7018200" imgH="2735640" progId="PBrush">
                  <p:embed/>
                </p:oleObj>
              </mc:Choice>
              <mc:Fallback>
                <p:oleObj name="Bitmap Image" r:id="rId3" imgW="7018200" imgH="2735640" progId="PBrush">
                  <p:embed/>
                  <p:pic>
                    <p:nvPicPr>
                      <p:cNvPr id="0" name=""/>
                      <p:cNvPicPr/>
                      <p:nvPr/>
                    </p:nvPicPr>
                    <p:blipFill>
                      <a:blip r:embed="rId4"/>
                      <a:stretch>
                        <a:fillRect/>
                      </a:stretch>
                    </p:blipFill>
                    <p:spPr>
                      <a:xfrm>
                        <a:off x="4558117" y="3363838"/>
                        <a:ext cx="4566388" cy="1779662"/>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577645188"/>
              </p:ext>
            </p:extLst>
          </p:nvPr>
        </p:nvGraphicFramePr>
        <p:xfrm>
          <a:off x="3771" y="3736626"/>
          <a:ext cx="4486217" cy="1395487"/>
        </p:xfrm>
        <a:graphic>
          <a:graphicData uri="http://schemas.openxmlformats.org/presentationml/2006/ole">
            <mc:AlternateContent xmlns:mc="http://schemas.openxmlformats.org/markup-compatibility/2006">
              <mc:Choice xmlns:v="urn:schemas-microsoft-com:vml" Requires="v">
                <p:oleObj spid="_x0000_s12318" name="Bitmap Image" r:id="rId5" imgW="7033320" imgH="2187000" progId="PBrush">
                  <p:embed/>
                </p:oleObj>
              </mc:Choice>
              <mc:Fallback>
                <p:oleObj name="Bitmap Image" r:id="rId5" imgW="7033320" imgH="2187000" progId="PBrush">
                  <p:embed/>
                  <p:pic>
                    <p:nvPicPr>
                      <p:cNvPr id="0" name=""/>
                      <p:cNvPicPr/>
                      <p:nvPr/>
                    </p:nvPicPr>
                    <p:blipFill>
                      <a:blip r:embed="rId6"/>
                      <a:stretch>
                        <a:fillRect/>
                      </a:stretch>
                    </p:blipFill>
                    <p:spPr>
                      <a:xfrm>
                        <a:off x="3771" y="3736626"/>
                        <a:ext cx="4486217" cy="1395487"/>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121950778"/>
              </p:ext>
            </p:extLst>
          </p:nvPr>
        </p:nvGraphicFramePr>
        <p:xfrm>
          <a:off x="1765838" y="411510"/>
          <a:ext cx="5448300" cy="2530475"/>
        </p:xfrm>
        <a:graphic>
          <a:graphicData uri="http://schemas.openxmlformats.org/presentationml/2006/ole">
            <mc:AlternateContent xmlns:mc="http://schemas.openxmlformats.org/markup-compatibility/2006">
              <mc:Choice xmlns:v="urn:schemas-microsoft-com:vml" Requires="v">
                <p:oleObj spid="_x0000_s12319" name="Bitmap Image" r:id="rId7" imgW="5448240" imgH="2529720" progId="PBrush">
                  <p:embed/>
                </p:oleObj>
              </mc:Choice>
              <mc:Fallback>
                <p:oleObj name="Bitmap Image" r:id="rId7" imgW="5448240" imgH="2529720" progId="PBrush">
                  <p:embed/>
                  <p:pic>
                    <p:nvPicPr>
                      <p:cNvPr id="0" name=""/>
                      <p:cNvPicPr/>
                      <p:nvPr/>
                    </p:nvPicPr>
                    <p:blipFill>
                      <a:blip r:embed="rId8"/>
                      <a:stretch>
                        <a:fillRect/>
                      </a:stretch>
                    </p:blipFill>
                    <p:spPr>
                      <a:xfrm>
                        <a:off x="1765838" y="411510"/>
                        <a:ext cx="5448300" cy="2530475"/>
                      </a:xfrm>
                      <a:prstGeom prst="rect">
                        <a:avLst/>
                      </a:prstGeom>
                    </p:spPr>
                  </p:pic>
                </p:oleObj>
              </mc:Fallback>
            </mc:AlternateContent>
          </a:graphicData>
        </a:graphic>
      </p:graphicFrame>
    </p:spTree>
    <p:extLst>
      <p:ext uri="{BB962C8B-B14F-4D97-AF65-F5344CB8AC3E}">
        <p14:creationId xmlns:p14="http://schemas.microsoft.com/office/powerpoint/2010/main" val="2924365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Mutex</a:t>
            </a:r>
            <a:r>
              <a:rPr lang="en-US" dirty="0"/>
              <a:t> Locks</a:t>
            </a:r>
            <a:endParaRPr lang="en-PK" dirty="0"/>
          </a:p>
        </p:txBody>
      </p:sp>
      <p:sp>
        <p:nvSpPr>
          <p:cNvPr id="4" name="TextBox 3">
            <a:extLst>
              <a:ext uri="{FF2B5EF4-FFF2-40B4-BE49-F238E27FC236}">
                <a16:creationId xmlns:a16="http://schemas.microsoft.com/office/drawing/2014/main" id="{2DA0129F-B418-225B-1294-20AD2F0B35DC}"/>
              </a:ext>
            </a:extLst>
          </p:cNvPr>
          <p:cNvSpPr txBox="1"/>
          <p:nvPr/>
        </p:nvSpPr>
        <p:spPr>
          <a:xfrm>
            <a:off x="650811" y="1147735"/>
            <a:ext cx="7933352" cy="1625060"/>
          </a:xfrm>
          <a:prstGeom prst="rect">
            <a:avLst/>
          </a:prstGeom>
          <a:noFill/>
        </p:spPr>
        <p:txBody>
          <a:bodyPr wrap="square">
            <a:spAutoFit/>
          </a:bodyPr>
          <a:lstStyle/>
          <a:p>
            <a:pPr algn="just"/>
            <a:r>
              <a:rPr lang="en-US" sz="1200" dirty="0"/>
              <a:t>The hardware-based solutions to the critical-section problem</a:t>
            </a:r>
          </a:p>
          <a:p>
            <a:pPr marL="742950" lvl="1" indent="-285750" algn="just">
              <a:buFont typeface="Arial" panose="020B0604020202020204" pitchFamily="34" charset="0"/>
              <a:buChar char="•"/>
            </a:pPr>
            <a:r>
              <a:rPr lang="en-US" sz="1200" dirty="0"/>
              <a:t>are complicated.</a:t>
            </a:r>
          </a:p>
          <a:p>
            <a:pPr marL="742950" lvl="1" indent="-285750" algn="just">
              <a:buFont typeface="Arial" panose="020B0604020202020204" pitchFamily="34" charset="0"/>
              <a:buChar char="•"/>
            </a:pPr>
            <a:r>
              <a:rPr lang="en-US" sz="1200" dirty="0"/>
              <a:t>inaccessible to application programmers.</a:t>
            </a:r>
            <a:endParaRPr lang="en-PK" sz="1200" dirty="0"/>
          </a:p>
          <a:p>
            <a:pPr algn="just"/>
            <a:r>
              <a:rPr lang="en-US" sz="1200" dirty="0"/>
              <a:t>Operating-systems designers build software tools called </a:t>
            </a:r>
            <a:r>
              <a:rPr lang="en-US" sz="1200" b="1" dirty="0"/>
              <a:t>mutex lock</a:t>
            </a:r>
            <a:r>
              <a:rPr lang="en-US" sz="1200" dirty="0"/>
              <a:t>.</a:t>
            </a:r>
          </a:p>
          <a:p>
            <a:pPr algn="just"/>
            <a:endParaRPr lang="en-US" sz="1200" dirty="0"/>
          </a:p>
          <a:p>
            <a:pPr algn="just">
              <a:lnSpc>
                <a:spcPct val="130000"/>
              </a:lnSpc>
            </a:pPr>
            <a:r>
              <a:rPr lang="en-US" sz="1200" dirty="0"/>
              <a:t>mutex lock to protect critical regions and thus prevent race conditions.</a:t>
            </a:r>
          </a:p>
          <a:p>
            <a:pPr algn="just"/>
            <a:r>
              <a:rPr lang="en-US" sz="1200" dirty="0"/>
              <a:t>Process must acquire the lock before entering a critical section. “</a:t>
            </a:r>
            <a:r>
              <a:rPr lang="en-US" sz="1200" b="1" dirty="0"/>
              <a:t>acquire()” </a:t>
            </a:r>
            <a:r>
              <a:rPr lang="en-US" sz="1200" dirty="0"/>
              <a:t>function</a:t>
            </a:r>
          </a:p>
          <a:p>
            <a:pPr algn="just"/>
            <a:r>
              <a:rPr lang="en-US" sz="1200" dirty="0"/>
              <a:t>Process releases the lock when it exits the critical section. </a:t>
            </a:r>
            <a:r>
              <a:rPr lang="en-US" sz="1200" b="1" dirty="0"/>
              <a:t>“release()” </a:t>
            </a:r>
            <a:r>
              <a:rPr lang="en-US" sz="1200" dirty="0"/>
              <a:t>function</a:t>
            </a:r>
          </a:p>
        </p:txBody>
      </p:sp>
      <p:sp>
        <p:nvSpPr>
          <p:cNvPr id="5" name="TextBox 4">
            <a:extLst>
              <a:ext uri="{FF2B5EF4-FFF2-40B4-BE49-F238E27FC236}">
                <a16:creationId xmlns:a16="http://schemas.microsoft.com/office/drawing/2014/main" id="{135112AD-1782-86CF-DC5E-7377FFF470C4}"/>
              </a:ext>
            </a:extLst>
          </p:cNvPr>
          <p:cNvSpPr txBox="1"/>
          <p:nvPr/>
        </p:nvSpPr>
        <p:spPr>
          <a:xfrm>
            <a:off x="5076056" y="3764539"/>
            <a:ext cx="3893197" cy="1200329"/>
          </a:xfrm>
          <a:prstGeom prst="rect">
            <a:avLst/>
          </a:prstGeom>
          <a:noFill/>
        </p:spPr>
        <p:txBody>
          <a:bodyPr wrap="square">
            <a:spAutoFit/>
          </a:bodyPr>
          <a:lstStyle/>
          <a:p>
            <a:pPr algn="just"/>
            <a:r>
              <a:rPr lang="en-US" sz="1200" dirty="0"/>
              <a:t>A mutex lock has a </a:t>
            </a:r>
            <a:r>
              <a:rPr lang="en-US" sz="1200" dirty="0" err="1"/>
              <a:t>boolean</a:t>
            </a:r>
            <a:r>
              <a:rPr lang="en-US" sz="1200" dirty="0"/>
              <a:t> variable available whose value indicates if the lock is available or not. If the lock is available, a call to acquire() succeeds, and the lock is then considered unavailable. A process that attempts to acquire an unavailable lock is blocked until the lock is released. The definition of acquire() is as follows:</a:t>
            </a:r>
            <a:endParaRPr lang="en-PK" sz="1200" dirty="0"/>
          </a:p>
        </p:txBody>
      </p:sp>
      <p:sp>
        <p:nvSpPr>
          <p:cNvPr id="6" name="TextBox 5">
            <a:extLst>
              <a:ext uri="{FF2B5EF4-FFF2-40B4-BE49-F238E27FC236}">
                <a16:creationId xmlns:a16="http://schemas.microsoft.com/office/drawing/2014/main" id="{0E453A81-A279-5C5E-AA25-5279786C3BEA}"/>
              </a:ext>
            </a:extLst>
          </p:cNvPr>
          <p:cNvSpPr txBox="1"/>
          <p:nvPr/>
        </p:nvSpPr>
        <p:spPr>
          <a:xfrm>
            <a:off x="826669" y="2787774"/>
            <a:ext cx="3062772" cy="1384995"/>
          </a:xfrm>
          <a:prstGeom prst="rect">
            <a:avLst/>
          </a:prstGeom>
          <a:noFill/>
        </p:spPr>
        <p:txBody>
          <a:bodyPr wrap="square">
            <a:spAutoFit/>
          </a:bodyPr>
          <a:lstStyle/>
          <a:p>
            <a:r>
              <a:rPr lang="en-US" sz="1400" dirty="0"/>
              <a:t>acquire() </a:t>
            </a:r>
          </a:p>
          <a:p>
            <a:r>
              <a:rPr lang="en-US" sz="1400" dirty="0"/>
              <a:t>{ </a:t>
            </a:r>
          </a:p>
          <a:p>
            <a:r>
              <a:rPr lang="en-US" sz="1400" dirty="0"/>
              <a:t>  while (!available) ;</a:t>
            </a:r>
          </a:p>
          <a:p>
            <a:r>
              <a:rPr lang="en-US" sz="1400" dirty="0"/>
              <a:t> 	/* busy wait */</a:t>
            </a:r>
          </a:p>
          <a:p>
            <a:r>
              <a:rPr lang="en-US" sz="1400" dirty="0"/>
              <a:t> available = false;; </a:t>
            </a:r>
          </a:p>
          <a:p>
            <a:r>
              <a:rPr lang="en-US" sz="1400" dirty="0"/>
              <a:t>} </a:t>
            </a:r>
            <a:endParaRPr lang="en-PK" sz="1400" dirty="0"/>
          </a:p>
        </p:txBody>
      </p:sp>
      <p:sp>
        <p:nvSpPr>
          <p:cNvPr id="7" name="TextBox 6">
            <a:extLst>
              <a:ext uri="{FF2B5EF4-FFF2-40B4-BE49-F238E27FC236}">
                <a16:creationId xmlns:a16="http://schemas.microsoft.com/office/drawing/2014/main" id="{E3D44C2E-4A6F-FA41-4C18-6AAFCF0A128B}"/>
              </a:ext>
            </a:extLst>
          </p:cNvPr>
          <p:cNvSpPr txBox="1"/>
          <p:nvPr/>
        </p:nvSpPr>
        <p:spPr>
          <a:xfrm>
            <a:off x="3027682" y="3476771"/>
            <a:ext cx="2120382" cy="954107"/>
          </a:xfrm>
          <a:prstGeom prst="rect">
            <a:avLst/>
          </a:prstGeom>
          <a:noFill/>
        </p:spPr>
        <p:txBody>
          <a:bodyPr wrap="square">
            <a:spAutoFit/>
          </a:bodyPr>
          <a:lstStyle/>
          <a:p>
            <a:r>
              <a:rPr lang="en-US" sz="1400" dirty="0"/>
              <a:t>release()</a:t>
            </a:r>
          </a:p>
          <a:p>
            <a:r>
              <a:rPr lang="en-US" sz="1400" dirty="0"/>
              <a:t> {</a:t>
            </a:r>
          </a:p>
          <a:p>
            <a:r>
              <a:rPr lang="en-US" sz="1400" dirty="0"/>
              <a:t> available = true; </a:t>
            </a:r>
          </a:p>
          <a:p>
            <a:r>
              <a:rPr lang="en-US" sz="1400" dirty="0"/>
              <a:t>}</a:t>
            </a:r>
            <a:endParaRPr lang="en-PK" sz="1400" dirty="0"/>
          </a:p>
        </p:txBody>
      </p:sp>
      <p:grpSp>
        <p:nvGrpSpPr>
          <p:cNvPr id="9" name="Group 8">
            <a:extLst>
              <a:ext uri="{FF2B5EF4-FFF2-40B4-BE49-F238E27FC236}">
                <a16:creationId xmlns:a16="http://schemas.microsoft.com/office/drawing/2014/main" id="{34496CE5-AE10-2EDC-0B79-DA850911638D}"/>
              </a:ext>
            </a:extLst>
          </p:cNvPr>
          <p:cNvGrpSpPr/>
          <p:nvPr/>
        </p:nvGrpSpPr>
        <p:grpSpPr>
          <a:xfrm>
            <a:off x="5453548" y="987574"/>
            <a:ext cx="3424535" cy="2614052"/>
            <a:chOff x="8584163" y="1198612"/>
            <a:chExt cx="3424535" cy="2614052"/>
          </a:xfrm>
        </p:grpSpPr>
        <p:pic>
          <p:nvPicPr>
            <p:cNvPr id="10" name="Picture 9">
              <a:extLst>
                <a:ext uri="{FF2B5EF4-FFF2-40B4-BE49-F238E27FC236}">
                  <a16:creationId xmlns:a16="http://schemas.microsoft.com/office/drawing/2014/main" id="{476D897D-3A90-1D16-40F2-5DFBD027CB5A}"/>
                </a:ext>
              </a:extLst>
            </p:cNvPr>
            <p:cNvPicPr>
              <a:picLocks noChangeAspect="1"/>
            </p:cNvPicPr>
            <p:nvPr/>
          </p:nvPicPr>
          <p:blipFill rotWithShape="1">
            <a:blip r:embed="rId3"/>
            <a:srcRect l="40484" t="53196" r="33266" b="15102"/>
            <a:stretch/>
          </p:blipFill>
          <p:spPr>
            <a:xfrm>
              <a:off x="8584163" y="1198612"/>
              <a:ext cx="3200400" cy="2174140"/>
            </a:xfrm>
            <a:prstGeom prst="rect">
              <a:avLst/>
            </a:prstGeom>
          </p:spPr>
        </p:pic>
        <p:sp>
          <p:nvSpPr>
            <p:cNvPr id="11" name="TextBox 10">
              <a:extLst>
                <a:ext uri="{FF2B5EF4-FFF2-40B4-BE49-F238E27FC236}">
                  <a16:creationId xmlns:a16="http://schemas.microsoft.com/office/drawing/2014/main" id="{CD233BDA-1054-56DD-A082-ED17D50795B0}"/>
                </a:ext>
              </a:extLst>
            </p:cNvPr>
            <p:cNvSpPr txBox="1"/>
            <p:nvPr/>
          </p:nvSpPr>
          <p:spPr>
            <a:xfrm>
              <a:off x="8630821" y="3535665"/>
              <a:ext cx="3377877" cy="276999"/>
            </a:xfrm>
            <a:prstGeom prst="rect">
              <a:avLst/>
            </a:prstGeom>
            <a:noFill/>
          </p:spPr>
          <p:txBody>
            <a:bodyPr wrap="square">
              <a:spAutoFit/>
            </a:bodyPr>
            <a:lstStyle/>
            <a:p>
              <a:pPr algn="just"/>
              <a:r>
                <a:rPr lang="en-US" sz="1200" b="1" dirty="0"/>
                <a:t>Critical section solution using mutex lock</a:t>
              </a:r>
              <a:endParaRPr lang="en-PK" sz="1200" b="1" dirty="0"/>
            </a:p>
          </p:txBody>
        </p:sp>
      </p:grpSp>
      <p:sp>
        <p:nvSpPr>
          <p:cNvPr id="12" name="TextBox 11">
            <a:extLst>
              <a:ext uri="{FF2B5EF4-FFF2-40B4-BE49-F238E27FC236}">
                <a16:creationId xmlns:a16="http://schemas.microsoft.com/office/drawing/2014/main" id="{7E82CA16-0F7F-3390-1D14-5F6352987E33}"/>
              </a:ext>
            </a:extLst>
          </p:cNvPr>
          <p:cNvSpPr txBox="1"/>
          <p:nvPr/>
        </p:nvSpPr>
        <p:spPr>
          <a:xfrm>
            <a:off x="467544" y="4443958"/>
            <a:ext cx="4831121" cy="276999"/>
          </a:xfrm>
          <a:prstGeom prst="rect">
            <a:avLst/>
          </a:prstGeom>
          <a:noFill/>
        </p:spPr>
        <p:txBody>
          <a:bodyPr wrap="square">
            <a:spAutoFit/>
          </a:bodyPr>
          <a:lstStyle/>
          <a:p>
            <a:r>
              <a:rPr lang="en-US" sz="1200" dirty="0"/>
              <a:t>* Calls to either acquire() or release() must be performed atomically</a:t>
            </a:r>
            <a:endParaRPr lang="en-PK" sz="1200" dirty="0"/>
          </a:p>
        </p:txBody>
      </p:sp>
    </p:spTree>
    <p:extLst>
      <p:ext uri="{BB962C8B-B14F-4D97-AF65-F5344CB8AC3E}">
        <p14:creationId xmlns:p14="http://schemas.microsoft.com/office/powerpoint/2010/main" val="2263043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Semaphores</a:t>
            </a:r>
            <a:endParaRPr lang="en-US" dirty="0"/>
          </a:p>
        </p:txBody>
      </p:sp>
      <p:sp>
        <p:nvSpPr>
          <p:cNvPr id="3" name="TextBox 2">
            <a:extLst>
              <a:ext uri="{FF2B5EF4-FFF2-40B4-BE49-F238E27FC236}">
                <a16:creationId xmlns:a16="http://schemas.microsoft.com/office/drawing/2014/main" id="{21A5D419-AAE7-A4FA-2D24-F65F5912E010}"/>
              </a:ext>
            </a:extLst>
          </p:cNvPr>
          <p:cNvSpPr txBox="1"/>
          <p:nvPr/>
        </p:nvSpPr>
        <p:spPr>
          <a:xfrm>
            <a:off x="755576" y="1359384"/>
            <a:ext cx="8136904" cy="2529923"/>
          </a:xfrm>
          <a:prstGeom prst="rect">
            <a:avLst/>
          </a:prstGeom>
          <a:noFill/>
        </p:spPr>
        <p:txBody>
          <a:bodyPr wrap="square">
            <a:spAutoFit/>
          </a:bodyPr>
          <a:lstStyle/>
          <a:p>
            <a:pPr marL="342900" indent="-342900">
              <a:lnSpc>
                <a:spcPct val="120000"/>
              </a:lnSpc>
              <a:buFont typeface="Arial" panose="020B0604020202020204" pitchFamily="34" charset="0"/>
              <a:buChar char="•"/>
            </a:pPr>
            <a:r>
              <a:rPr lang="en-US" sz="1200" dirty="0"/>
              <a:t>In 1965, Dijkstra (Dutch Scientist) invented synchronize variable that takes non negative integer variable</a:t>
            </a:r>
          </a:p>
          <a:p>
            <a:pPr marL="342900" indent="-342900">
              <a:lnSpc>
                <a:spcPct val="120000"/>
              </a:lnSpc>
              <a:buFont typeface="Arial" panose="020B0604020202020204" pitchFamily="34" charset="0"/>
              <a:buChar char="•"/>
            </a:pPr>
            <a:r>
              <a:rPr lang="en-US" sz="1200" dirty="0"/>
              <a:t>A semaphore has two operations</a:t>
            </a:r>
          </a:p>
          <a:p>
            <a:pPr marL="742950" lvl="1" indent="-285750">
              <a:lnSpc>
                <a:spcPct val="120000"/>
              </a:lnSpc>
              <a:buFont typeface="Arial" panose="020B0604020202020204" pitchFamily="34" charset="0"/>
              <a:buChar char="•"/>
            </a:pPr>
            <a:r>
              <a:rPr lang="en-US" sz="1200" dirty="0"/>
              <a:t>Wait (</a:t>
            </a:r>
            <a:r>
              <a:rPr lang="en-US" sz="1200" b="1" dirty="0"/>
              <a:t>P</a:t>
            </a:r>
            <a:r>
              <a:rPr lang="en-US" sz="1200" dirty="0"/>
              <a:t>)</a:t>
            </a:r>
          </a:p>
          <a:p>
            <a:pPr marL="1200150" lvl="2" indent="-285750">
              <a:lnSpc>
                <a:spcPct val="120000"/>
              </a:lnSpc>
              <a:buFont typeface="Arial" panose="020B0604020202020204" pitchFamily="34" charset="0"/>
              <a:buChar char="•"/>
            </a:pPr>
            <a:r>
              <a:rPr lang="en-US" sz="1200" dirty="0"/>
              <a:t>An atomic operation that waits for semaphore to become positive, then decrements its by 1</a:t>
            </a:r>
          </a:p>
          <a:p>
            <a:pPr marL="742950" lvl="1" indent="-285750">
              <a:lnSpc>
                <a:spcPct val="120000"/>
              </a:lnSpc>
              <a:buFont typeface="Arial" panose="020B0604020202020204" pitchFamily="34" charset="0"/>
              <a:buChar char="•"/>
            </a:pPr>
            <a:r>
              <a:rPr lang="en-US" sz="1200" dirty="0"/>
              <a:t>Signal (</a:t>
            </a:r>
            <a:r>
              <a:rPr lang="en-US" sz="1200" b="1" dirty="0"/>
              <a:t>V</a:t>
            </a:r>
            <a:r>
              <a:rPr lang="en-US" sz="1200" dirty="0"/>
              <a:t>)</a:t>
            </a:r>
          </a:p>
          <a:p>
            <a:pPr marL="1200150" lvl="2" indent="-285750">
              <a:lnSpc>
                <a:spcPct val="120000"/>
              </a:lnSpc>
              <a:buFont typeface="Arial" panose="020B0604020202020204" pitchFamily="34" charset="0"/>
              <a:buChar char="•"/>
            </a:pPr>
            <a:r>
              <a:rPr lang="en-US" sz="1200" dirty="0"/>
              <a:t>An atomic operation that increments semaphore by 1 after completing operation and releasing semaphore</a:t>
            </a:r>
          </a:p>
          <a:p>
            <a:pPr marL="342900" indent="-342900">
              <a:lnSpc>
                <a:spcPct val="120000"/>
              </a:lnSpc>
              <a:buFont typeface="Arial" panose="020B0604020202020204" pitchFamily="34" charset="0"/>
              <a:buChar char="•"/>
            </a:pPr>
            <a:r>
              <a:rPr lang="en-US" sz="1200" dirty="0"/>
              <a:t>Entry to critical sections of active processes is controlled by the </a:t>
            </a:r>
            <a:r>
              <a:rPr lang="en-US" sz="1200" b="1" dirty="0"/>
              <a:t>P</a:t>
            </a:r>
            <a:r>
              <a:rPr lang="en-US" sz="1200" dirty="0"/>
              <a:t> operation and exit is controlled by </a:t>
            </a:r>
            <a:r>
              <a:rPr lang="en-US" sz="1200" b="1" dirty="0"/>
              <a:t>V</a:t>
            </a:r>
            <a:r>
              <a:rPr lang="en-US" sz="1200" dirty="0"/>
              <a:t> operation</a:t>
            </a:r>
          </a:p>
          <a:p>
            <a:pPr marL="342900" indent="-342900">
              <a:lnSpc>
                <a:spcPct val="120000"/>
              </a:lnSpc>
              <a:buFont typeface="Arial" panose="020B0604020202020204" pitchFamily="34" charset="0"/>
              <a:buChar char="•"/>
            </a:pPr>
            <a:r>
              <a:rPr lang="en-US" sz="1200" dirty="0"/>
              <a:t>A semaphore such as </a:t>
            </a:r>
            <a:r>
              <a:rPr lang="en-US" sz="1200" b="1" dirty="0"/>
              <a:t>S,</a:t>
            </a:r>
            <a:r>
              <a:rPr lang="en-US" sz="1200" dirty="0"/>
              <a:t> indicates the availability of some resource;</a:t>
            </a:r>
          </a:p>
          <a:p>
            <a:pPr marL="742950" lvl="1" indent="-285750">
              <a:lnSpc>
                <a:spcPct val="120000"/>
              </a:lnSpc>
              <a:buFont typeface="Arial" panose="020B0604020202020204" pitchFamily="34" charset="0"/>
              <a:buChar char="•"/>
            </a:pPr>
            <a:r>
              <a:rPr lang="en-US" sz="1200" dirty="0"/>
              <a:t>If it has a non-zero positive value, it is available</a:t>
            </a:r>
          </a:p>
          <a:p>
            <a:pPr marL="742950" lvl="1" indent="-285750">
              <a:lnSpc>
                <a:spcPct val="120000"/>
              </a:lnSpc>
              <a:buFont typeface="Arial" panose="020B0604020202020204" pitchFamily="34" charset="0"/>
              <a:buChar char="•"/>
            </a:pPr>
            <a:r>
              <a:rPr lang="en-US" sz="1200" dirty="0"/>
              <a:t>If it is zero, it is unavailable, i.e. it is being accessed by another process</a:t>
            </a:r>
          </a:p>
        </p:txBody>
      </p:sp>
    </p:spTree>
    <p:extLst>
      <p:ext uri="{BB962C8B-B14F-4D97-AF65-F5344CB8AC3E}">
        <p14:creationId xmlns:p14="http://schemas.microsoft.com/office/powerpoint/2010/main" val="3719531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a:t>
            </a:r>
            <a:endParaRPr lang="en-US" dirty="0"/>
          </a:p>
        </p:txBody>
      </p:sp>
      <p:sp>
        <p:nvSpPr>
          <p:cNvPr id="3" name="Rectangle 3">
            <a:extLst>
              <a:ext uri="{FF2B5EF4-FFF2-40B4-BE49-F238E27FC236}">
                <a16:creationId xmlns:a16="http://schemas.microsoft.com/office/drawing/2014/main" id="{5274CD21-694A-7367-6FD3-9ABFC08A0E89}"/>
              </a:ext>
            </a:extLst>
          </p:cNvPr>
          <p:cNvSpPr txBox="1">
            <a:spLocks noChangeArrowheads="1"/>
          </p:cNvSpPr>
          <p:nvPr/>
        </p:nvSpPr>
        <p:spPr>
          <a:xfrm>
            <a:off x="808589" y="1547327"/>
            <a:ext cx="10192201" cy="358451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sz="1200" dirty="0"/>
              <a:t>The wait operation allows a process to access a resource (S&gt;0) or may cause the process to be blocked</a:t>
            </a:r>
          </a:p>
          <a:p>
            <a:pPr>
              <a:lnSpc>
                <a:spcPct val="120000"/>
              </a:lnSpc>
            </a:pPr>
            <a:r>
              <a:rPr lang="en-US" sz="1200" dirty="0"/>
              <a:t>The signal operation signals that some process has released resource and now it can be used by a process waiting for it</a:t>
            </a:r>
          </a:p>
          <a:p>
            <a:pPr>
              <a:lnSpc>
                <a:spcPct val="120000"/>
              </a:lnSpc>
            </a:pPr>
            <a:r>
              <a:rPr lang="en-US" sz="1200" dirty="0"/>
              <a:t>These operations are used to bracket the critical sections of the process;</a:t>
            </a:r>
          </a:p>
          <a:p>
            <a:pPr lvl="1">
              <a:lnSpc>
                <a:spcPct val="120000"/>
              </a:lnSpc>
              <a:buFont typeface="Wingdings" pitchFamily="2" charset="2"/>
              <a:buNone/>
            </a:pPr>
            <a:r>
              <a:rPr lang="en-US" sz="1200" dirty="0"/>
              <a:t>			wait(S)</a:t>
            </a:r>
          </a:p>
          <a:p>
            <a:pPr lvl="1">
              <a:lnSpc>
                <a:spcPct val="120000"/>
              </a:lnSpc>
              <a:buFont typeface="Wingdings" pitchFamily="2" charset="2"/>
              <a:buNone/>
            </a:pPr>
            <a:r>
              <a:rPr lang="en-US" sz="1200" dirty="0"/>
              <a:t>				&lt;critical section&gt;</a:t>
            </a:r>
          </a:p>
          <a:p>
            <a:pPr lvl="1">
              <a:lnSpc>
                <a:spcPct val="120000"/>
              </a:lnSpc>
              <a:buFont typeface="Wingdings" pitchFamily="2" charset="2"/>
              <a:buNone/>
            </a:pPr>
            <a:r>
              <a:rPr lang="en-US" sz="1200" dirty="0"/>
              <a:t>			signal(S)</a:t>
            </a:r>
          </a:p>
          <a:p>
            <a:pPr>
              <a:lnSpc>
                <a:spcPct val="120000"/>
              </a:lnSpc>
            </a:pPr>
            <a:r>
              <a:rPr lang="en-US" sz="1200" dirty="0"/>
              <a:t>Assume </a:t>
            </a:r>
            <a:r>
              <a:rPr lang="en-US" sz="1200" b="1" dirty="0"/>
              <a:t>S</a:t>
            </a:r>
            <a:r>
              <a:rPr lang="en-US" sz="1200" dirty="0"/>
              <a:t> is initially set to value 1 (resource is available)</a:t>
            </a:r>
          </a:p>
          <a:p>
            <a:pPr lvl="1">
              <a:lnSpc>
                <a:spcPct val="120000"/>
              </a:lnSpc>
            </a:pPr>
            <a:r>
              <a:rPr lang="en-US" sz="1200" dirty="0"/>
              <a:t>The first process to execute the wait will set </a:t>
            </a:r>
            <a:r>
              <a:rPr lang="en-US" sz="1200" b="1" dirty="0"/>
              <a:t>S</a:t>
            </a:r>
            <a:r>
              <a:rPr lang="en-US" sz="1200" dirty="0"/>
              <a:t> to </a:t>
            </a:r>
            <a:r>
              <a:rPr lang="en-US" sz="1200" b="1" dirty="0"/>
              <a:t>S-1 </a:t>
            </a:r>
            <a:r>
              <a:rPr lang="en-US" sz="1200" dirty="0"/>
              <a:t>and will enter to its critical section</a:t>
            </a:r>
          </a:p>
          <a:p>
            <a:pPr lvl="1">
              <a:lnSpc>
                <a:spcPct val="120000"/>
              </a:lnSpc>
            </a:pPr>
            <a:r>
              <a:rPr lang="en-US" sz="1200" dirty="0"/>
              <a:t>If another process reaches its critical section, the wait now finds </a:t>
            </a:r>
            <a:r>
              <a:rPr lang="en-US" sz="1200" b="1" dirty="0"/>
              <a:t>S</a:t>
            </a:r>
            <a:r>
              <a:rPr lang="en-US" sz="1200" dirty="0"/>
              <a:t> set to 0 and process is blocked</a:t>
            </a:r>
          </a:p>
          <a:p>
            <a:pPr lvl="1">
              <a:lnSpc>
                <a:spcPct val="120000"/>
              </a:lnSpc>
            </a:pPr>
            <a:r>
              <a:rPr lang="en-US" sz="1200" dirty="0"/>
              <a:t>When first process is exit from its critical section, it executes the signal, </a:t>
            </a:r>
            <a:r>
              <a:rPr lang="en-US" sz="1200" b="1" dirty="0"/>
              <a:t>S</a:t>
            </a:r>
            <a:r>
              <a:rPr lang="en-US" sz="1200" dirty="0"/>
              <a:t> would set to 1</a:t>
            </a:r>
          </a:p>
        </p:txBody>
      </p:sp>
    </p:spTree>
    <p:extLst>
      <p:ext uri="{BB962C8B-B14F-4D97-AF65-F5344CB8AC3E}">
        <p14:creationId xmlns:p14="http://schemas.microsoft.com/office/powerpoint/2010/main" val="3835438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a:t>
            </a:r>
            <a:endParaRPr lang="en-US" dirty="0"/>
          </a:p>
        </p:txBody>
      </p:sp>
      <p:sp>
        <p:nvSpPr>
          <p:cNvPr id="3" name="TextBox 2">
            <a:extLst>
              <a:ext uri="{FF2B5EF4-FFF2-40B4-BE49-F238E27FC236}">
                <a16:creationId xmlns:a16="http://schemas.microsoft.com/office/drawing/2014/main" id="{2A769EB6-FB35-BB3C-C76D-048ACFB084F3}"/>
              </a:ext>
            </a:extLst>
          </p:cNvPr>
          <p:cNvSpPr txBox="1"/>
          <p:nvPr/>
        </p:nvSpPr>
        <p:spPr>
          <a:xfrm>
            <a:off x="1234882" y="1946855"/>
            <a:ext cx="9750489" cy="190205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400" dirty="0"/>
              <a:t>For each semaphore, the system must maintain a queue of waiting processes</a:t>
            </a:r>
          </a:p>
          <a:p>
            <a:pPr marL="285750" indent="-285750">
              <a:lnSpc>
                <a:spcPct val="120000"/>
              </a:lnSpc>
              <a:buFont typeface="Arial" panose="020B0604020202020204" pitchFamily="34" charset="0"/>
              <a:buChar char="•"/>
            </a:pPr>
            <a:r>
              <a:rPr lang="en-US" sz="1400" dirty="0"/>
              <a:t>The semaphore operations are implemented as OS services</a:t>
            </a:r>
          </a:p>
          <a:p>
            <a:pPr marL="285750" indent="-285750">
              <a:lnSpc>
                <a:spcPct val="120000"/>
              </a:lnSpc>
              <a:buFont typeface="Arial" panose="020B0604020202020204" pitchFamily="34" charset="0"/>
              <a:buChar char="•"/>
            </a:pPr>
            <a:r>
              <a:rPr lang="en-US" sz="1400" dirty="0"/>
              <a:t>The OS will guarantee that wait and signal are invisible</a:t>
            </a:r>
          </a:p>
          <a:p>
            <a:pPr marL="742950" lvl="1" indent="-285750">
              <a:lnSpc>
                <a:spcPct val="120000"/>
              </a:lnSpc>
              <a:buFont typeface="Arial" panose="020B0604020202020204" pitchFamily="34" charset="0"/>
              <a:buChar char="•"/>
            </a:pPr>
            <a:r>
              <a:rPr lang="en-US" sz="1400" dirty="0"/>
              <a:t>i.e. once started they cannot be interrupted</a:t>
            </a:r>
          </a:p>
          <a:p>
            <a:pPr marL="285750" indent="-285750">
              <a:lnSpc>
                <a:spcPct val="120000"/>
              </a:lnSpc>
              <a:buFont typeface="Arial" panose="020B0604020202020204" pitchFamily="34" charset="0"/>
              <a:buChar char="•"/>
            </a:pPr>
            <a:r>
              <a:rPr lang="en-US" sz="1400" dirty="0"/>
              <a:t>The semaphore with values 1 or 0 are termed as binary semaphore</a:t>
            </a:r>
          </a:p>
          <a:p>
            <a:pPr marL="285750" indent="-285750">
              <a:lnSpc>
                <a:spcPct val="120000"/>
              </a:lnSpc>
              <a:buFont typeface="Arial" panose="020B0604020202020204" pitchFamily="34" charset="0"/>
              <a:buChar char="•"/>
            </a:pPr>
            <a:r>
              <a:rPr lang="en-US" sz="1400" dirty="0"/>
              <a:t>Counting semaphore may have any non-negative value</a:t>
            </a:r>
          </a:p>
          <a:p>
            <a:pPr marL="742950" lvl="1" indent="-285750">
              <a:lnSpc>
                <a:spcPct val="120000"/>
              </a:lnSpc>
              <a:buFont typeface="Arial" panose="020B0604020202020204" pitchFamily="34" charset="0"/>
              <a:buChar char="•"/>
            </a:pPr>
            <a:r>
              <a:rPr lang="en-US" sz="1400" dirty="0"/>
              <a:t>The value indicate the available quantity of a particular resource type</a:t>
            </a:r>
          </a:p>
        </p:txBody>
      </p:sp>
    </p:spTree>
    <p:extLst>
      <p:ext uri="{BB962C8B-B14F-4D97-AF65-F5344CB8AC3E}">
        <p14:creationId xmlns:p14="http://schemas.microsoft.com/office/powerpoint/2010/main" val="2454271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 Properties</a:t>
            </a:r>
            <a:endParaRPr lang="en-US" dirty="0"/>
          </a:p>
        </p:txBody>
      </p:sp>
      <p:sp>
        <p:nvSpPr>
          <p:cNvPr id="3" name="TextBox 2">
            <a:extLst>
              <a:ext uri="{FF2B5EF4-FFF2-40B4-BE49-F238E27FC236}">
                <a16:creationId xmlns:a16="http://schemas.microsoft.com/office/drawing/2014/main" id="{465BE570-0A2C-FDF8-0989-E9DBB70609EA}"/>
              </a:ext>
            </a:extLst>
          </p:cNvPr>
          <p:cNvSpPr txBox="1"/>
          <p:nvPr/>
        </p:nvSpPr>
        <p:spPr>
          <a:xfrm>
            <a:off x="1136003" y="1640076"/>
            <a:ext cx="7924022" cy="2483757"/>
          </a:xfrm>
          <a:prstGeom prst="rect">
            <a:avLst/>
          </a:prstGeom>
          <a:noFill/>
        </p:spPr>
        <p:txBody>
          <a:bodyPr wrap="square">
            <a:spAutoFit/>
          </a:bodyPr>
          <a:lstStyle/>
          <a:p>
            <a:pPr marL="342900" indent="-342900">
              <a:lnSpc>
                <a:spcPct val="120000"/>
              </a:lnSpc>
              <a:buFont typeface="Arial" panose="020B0604020202020204" pitchFamily="34" charset="0"/>
              <a:buChar char="•"/>
            </a:pPr>
            <a:r>
              <a:rPr lang="en-US" sz="1400" dirty="0"/>
              <a:t>Attractive Properties</a:t>
            </a:r>
          </a:p>
          <a:p>
            <a:pPr marL="800100" lvl="1" indent="-342900">
              <a:lnSpc>
                <a:spcPct val="90000"/>
              </a:lnSpc>
              <a:buFont typeface="Arial" panose="020B0604020202020204" pitchFamily="34" charset="0"/>
              <a:buChar char="•"/>
            </a:pPr>
            <a:r>
              <a:rPr lang="en-US" sz="1400" dirty="0"/>
              <a:t>Machine independent</a:t>
            </a:r>
          </a:p>
          <a:p>
            <a:pPr marL="800100" lvl="1" indent="-342900">
              <a:lnSpc>
                <a:spcPct val="90000"/>
              </a:lnSpc>
              <a:buFont typeface="Arial" panose="020B0604020202020204" pitchFamily="34" charset="0"/>
              <a:buChar char="•"/>
            </a:pPr>
            <a:r>
              <a:rPr lang="en-US" sz="1400" dirty="0"/>
              <a:t>Simple</a:t>
            </a:r>
          </a:p>
          <a:p>
            <a:pPr marL="800100" lvl="1" indent="-342900">
              <a:lnSpc>
                <a:spcPct val="90000"/>
              </a:lnSpc>
              <a:buFont typeface="Arial" panose="020B0604020202020204" pitchFamily="34" charset="0"/>
              <a:buChar char="•"/>
            </a:pPr>
            <a:r>
              <a:rPr lang="en-US" sz="1400" dirty="0"/>
              <a:t>Work with many</a:t>
            </a:r>
          </a:p>
          <a:p>
            <a:pPr marL="800100" lvl="1" indent="-342900">
              <a:lnSpc>
                <a:spcPct val="90000"/>
              </a:lnSpc>
              <a:buFont typeface="Arial" panose="020B0604020202020204" pitchFamily="34" charset="0"/>
              <a:buChar char="•"/>
            </a:pPr>
            <a:r>
              <a:rPr lang="en-US" sz="1400" dirty="0"/>
              <a:t>For more critical section use different semaphores</a:t>
            </a:r>
          </a:p>
          <a:p>
            <a:pPr marL="800100" lvl="1" indent="-342900">
              <a:lnSpc>
                <a:spcPct val="90000"/>
              </a:lnSpc>
              <a:buFont typeface="Arial" panose="020B0604020202020204" pitchFamily="34" charset="0"/>
              <a:buChar char="•"/>
            </a:pPr>
            <a:r>
              <a:rPr lang="en-US" sz="1400" dirty="0"/>
              <a:t>Acquire many resources simultaneously</a:t>
            </a:r>
          </a:p>
          <a:p>
            <a:pPr marL="800100" lvl="1" indent="-342900">
              <a:lnSpc>
                <a:spcPct val="90000"/>
              </a:lnSpc>
              <a:buFont typeface="Arial" panose="020B0604020202020204" pitchFamily="34" charset="0"/>
              <a:buChar char="•"/>
            </a:pPr>
            <a:r>
              <a:rPr lang="en-US" sz="1400" dirty="0"/>
              <a:t>Permit multiple processes into critical section at once if desirable</a:t>
            </a:r>
          </a:p>
          <a:p>
            <a:pPr marL="342900" indent="-342900">
              <a:lnSpc>
                <a:spcPct val="90000"/>
              </a:lnSpc>
              <a:buFont typeface="Arial" panose="020B0604020202020204" pitchFamily="34" charset="0"/>
              <a:buChar char="•"/>
            </a:pPr>
            <a:r>
              <a:rPr lang="en-US" sz="1400" dirty="0"/>
              <a:t>Limits of semaphores</a:t>
            </a:r>
          </a:p>
          <a:p>
            <a:pPr marL="800100" lvl="1" indent="-342900">
              <a:lnSpc>
                <a:spcPct val="90000"/>
              </a:lnSpc>
              <a:buFont typeface="Arial" panose="020B0604020202020204" pitchFamily="34" charset="0"/>
              <a:buChar char="•"/>
            </a:pPr>
            <a:r>
              <a:rPr lang="en-US" sz="1400" dirty="0"/>
              <a:t>Semaphores are not provided by hardware</a:t>
            </a:r>
          </a:p>
          <a:p>
            <a:pPr marL="800100" lvl="1" indent="-342900">
              <a:lnSpc>
                <a:spcPct val="90000"/>
              </a:lnSpc>
              <a:buFont typeface="Arial" panose="020B0604020202020204" pitchFamily="34" charset="0"/>
              <a:buChar char="•"/>
            </a:pPr>
            <a:r>
              <a:rPr lang="en-US" sz="1400" dirty="0"/>
              <a:t>Programmers must use them correctly</a:t>
            </a:r>
          </a:p>
          <a:p>
            <a:pPr marL="800100" lvl="1" indent="-342900">
              <a:lnSpc>
                <a:spcPct val="90000"/>
              </a:lnSpc>
              <a:buFont typeface="Arial" panose="020B0604020202020204" pitchFamily="34" charset="0"/>
              <a:buChar char="•"/>
            </a:pPr>
            <a:r>
              <a:rPr lang="en-US" sz="1400" dirty="0"/>
              <a:t>Cannot test busy without blocking</a:t>
            </a:r>
          </a:p>
          <a:p>
            <a:pPr marL="800100" lvl="1" indent="-342900">
              <a:lnSpc>
                <a:spcPct val="90000"/>
              </a:lnSpc>
              <a:buFont typeface="Arial" panose="020B0604020202020204" pitchFamily="34" charset="0"/>
              <a:buChar char="•"/>
            </a:pPr>
            <a:r>
              <a:rPr lang="en-US" sz="1400" dirty="0"/>
              <a:t>Indefinite blocking</a:t>
            </a:r>
          </a:p>
        </p:txBody>
      </p:sp>
    </p:spTree>
    <p:extLst>
      <p:ext uri="{BB962C8B-B14F-4D97-AF65-F5344CB8AC3E}">
        <p14:creationId xmlns:p14="http://schemas.microsoft.com/office/powerpoint/2010/main" val="627902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Semaphore-Examples</a:t>
            </a:r>
            <a:endParaRPr lang="en-US" dirty="0"/>
          </a:p>
        </p:txBody>
      </p:sp>
      <p:sp>
        <p:nvSpPr>
          <p:cNvPr id="3" name="TextBox 2">
            <a:extLst>
              <a:ext uri="{FF2B5EF4-FFF2-40B4-BE49-F238E27FC236}">
                <a16:creationId xmlns:a16="http://schemas.microsoft.com/office/drawing/2014/main" id="{272B2BB8-2B36-6CC4-2A7F-01FC30FDA624}"/>
              </a:ext>
            </a:extLst>
          </p:cNvPr>
          <p:cNvSpPr txBox="1"/>
          <p:nvPr/>
        </p:nvSpPr>
        <p:spPr>
          <a:xfrm>
            <a:off x="1595534" y="1439765"/>
            <a:ext cx="8521181" cy="2066400"/>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t>Producer Consumer problem</a:t>
            </a:r>
          </a:p>
          <a:p>
            <a:pPr marL="742950" lvl="1" indent="-285750">
              <a:lnSpc>
                <a:spcPct val="120000"/>
              </a:lnSpc>
              <a:buFont typeface="Arial" panose="020B0604020202020204" pitchFamily="34" charset="0"/>
              <a:buChar char="•"/>
            </a:pPr>
            <a:r>
              <a:rPr lang="en-US" sz="1200" dirty="0"/>
              <a:t>A producer process generates data and store them in the next available buffer in array</a:t>
            </a:r>
          </a:p>
          <a:p>
            <a:pPr marL="742950" lvl="1" indent="-285750">
              <a:lnSpc>
                <a:spcPct val="120000"/>
              </a:lnSpc>
              <a:buFont typeface="Arial" panose="020B0604020202020204" pitchFamily="34" charset="0"/>
              <a:buChar char="•"/>
            </a:pPr>
            <a:r>
              <a:rPr lang="en-US" sz="1200" dirty="0"/>
              <a:t>Process consumer is removing items from buffer and processing them</a:t>
            </a:r>
          </a:p>
          <a:p>
            <a:pPr marL="742950" lvl="1" indent="-285750">
              <a:lnSpc>
                <a:spcPct val="120000"/>
              </a:lnSpc>
              <a:buFont typeface="Arial" panose="020B0604020202020204" pitchFamily="34" charset="0"/>
              <a:buChar char="•"/>
            </a:pPr>
            <a:r>
              <a:rPr lang="en-US" sz="1200" dirty="0"/>
              <a:t>Assume number of positions in the buffer is finite, say </a:t>
            </a:r>
            <a:r>
              <a:rPr lang="en-US" sz="1200" b="1" dirty="0"/>
              <a:t>N</a:t>
            </a:r>
          </a:p>
          <a:p>
            <a:pPr marL="742950" lvl="1" indent="-285750">
              <a:lnSpc>
                <a:spcPct val="120000"/>
              </a:lnSpc>
              <a:buFont typeface="Arial" panose="020B0604020202020204" pitchFamily="34" charset="0"/>
              <a:buChar char="•"/>
            </a:pPr>
            <a:r>
              <a:rPr lang="en-US" sz="1200" dirty="0"/>
              <a:t>A particular example is print routine, which is sending characters to a printer driver for printing</a:t>
            </a:r>
          </a:p>
          <a:p>
            <a:pPr marL="742950" lvl="1" indent="-285750">
              <a:lnSpc>
                <a:spcPct val="120000"/>
              </a:lnSpc>
              <a:buFont typeface="Arial" panose="020B0604020202020204" pitchFamily="34" charset="0"/>
              <a:buChar char="•"/>
            </a:pPr>
            <a:r>
              <a:rPr lang="en-US" sz="1200" dirty="0"/>
              <a:t>We need to protect buffer since both process can access it</a:t>
            </a:r>
          </a:p>
          <a:p>
            <a:pPr marL="742950" lvl="1" indent="-285750">
              <a:lnSpc>
                <a:spcPct val="120000"/>
              </a:lnSpc>
              <a:buFont typeface="Arial" panose="020B0604020202020204" pitchFamily="34" charset="0"/>
              <a:buChar char="•"/>
            </a:pPr>
            <a:r>
              <a:rPr lang="en-US" sz="1200" dirty="0"/>
              <a:t>The additional problems are;</a:t>
            </a:r>
          </a:p>
          <a:p>
            <a:pPr marL="1200150" lvl="2" indent="-285750">
              <a:lnSpc>
                <a:spcPct val="120000"/>
              </a:lnSpc>
              <a:buFont typeface="Arial" panose="020B0604020202020204" pitchFamily="34" charset="0"/>
              <a:buChar char="•"/>
            </a:pPr>
            <a:r>
              <a:rPr lang="en-US" sz="1200" dirty="0"/>
              <a:t>The producer must wait for an empty space if buffer is full</a:t>
            </a:r>
          </a:p>
          <a:p>
            <a:pPr marL="1200150" lvl="2" indent="-285750">
              <a:lnSpc>
                <a:spcPct val="120000"/>
              </a:lnSpc>
              <a:buFont typeface="Arial" panose="020B0604020202020204" pitchFamily="34" charset="0"/>
              <a:buChar char="•"/>
            </a:pPr>
            <a:r>
              <a:rPr lang="en-US" sz="1200" dirty="0"/>
              <a:t>The consumer must wait for data available if buffer is empty</a:t>
            </a:r>
          </a:p>
        </p:txBody>
      </p:sp>
    </p:spTree>
    <p:extLst>
      <p:ext uri="{BB962C8B-B14F-4D97-AF65-F5344CB8AC3E}">
        <p14:creationId xmlns:p14="http://schemas.microsoft.com/office/powerpoint/2010/main" val="2417846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Semaphores : Producer </a:t>
            </a:r>
            <a:r>
              <a:rPr lang="en-US" sz="3200" dirty="0" smtClean="0"/>
              <a:t>Consumer</a:t>
            </a:r>
            <a:endParaRPr lang="en-US" sz="3200" dirty="0"/>
          </a:p>
        </p:txBody>
      </p:sp>
      <p:graphicFrame>
        <p:nvGraphicFramePr>
          <p:cNvPr id="3" name="Group 124">
            <a:extLst>
              <a:ext uri="{FF2B5EF4-FFF2-40B4-BE49-F238E27FC236}">
                <a16:creationId xmlns:a16="http://schemas.microsoft.com/office/drawing/2014/main" id="{7CB58990-2BED-F62F-D5B4-D297DC978632}"/>
              </a:ext>
            </a:extLst>
          </p:cNvPr>
          <p:cNvGraphicFramePr>
            <a:graphicFrameLocks/>
          </p:cNvGraphicFramePr>
          <p:nvPr>
            <p:extLst>
              <p:ext uri="{D42A27DB-BD31-4B8C-83A1-F6EECF244321}">
                <p14:modId xmlns:p14="http://schemas.microsoft.com/office/powerpoint/2010/main" val="2719832795"/>
              </p:ext>
            </p:extLst>
          </p:nvPr>
        </p:nvGraphicFramePr>
        <p:xfrm>
          <a:off x="1331640" y="947597"/>
          <a:ext cx="7704856" cy="4072425"/>
        </p:xfrm>
        <a:graphic>
          <a:graphicData uri="http://schemas.openxmlformats.org/drawingml/2006/table">
            <a:tbl>
              <a:tblPr/>
              <a:tblGrid>
                <a:gridCol w="2520280">
                  <a:extLst>
                    <a:ext uri="{9D8B030D-6E8A-4147-A177-3AD203B41FA5}">
                      <a16:colId xmlns:a16="http://schemas.microsoft.com/office/drawing/2014/main" val="20000"/>
                    </a:ext>
                  </a:extLst>
                </a:gridCol>
                <a:gridCol w="3702411">
                  <a:extLst>
                    <a:ext uri="{9D8B030D-6E8A-4147-A177-3AD203B41FA5}">
                      <a16:colId xmlns:a16="http://schemas.microsoft.com/office/drawing/2014/main" val="20001"/>
                    </a:ext>
                  </a:extLst>
                </a:gridCol>
                <a:gridCol w="1482165">
                  <a:extLst>
                    <a:ext uri="{9D8B030D-6E8A-4147-A177-3AD203B41FA5}">
                      <a16:colId xmlns:a16="http://schemas.microsoft.com/office/drawing/2014/main" val="20002"/>
                    </a:ext>
                  </a:extLst>
                </a:gridCol>
              </a:tblGrid>
              <a:tr h="33260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1" i="0" u="none" strike="noStrike" cap="none" normalizeH="0" baseline="0" dirty="0">
                          <a:ln>
                            <a:noFill/>
                          </a:ln>
                          <a:solidFill>
                            <a:schemeClr val="tx1"/>
                          </a:solidFill>
                          <a:effectLst>
                            <a:outerShdw blurRad="38100" dist="38100" dir="2700000" algn="tl">
                              <a:srgbClr val="C0C0C0"/>
                            </a:outerShdw>
                          </a:effectLst>
                          <a:latin typeface="Calibri" pitchFamily="34" charset="0"/>
                        </a:rPr>
                        <a:t>Semaphore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1" i="0" u="none" strike="noStrike" cap="none" normalizeH="0" baseline="0" dirty="0">
                          <a:ln>
                            <a:noFill/>
                          </a:ln>
                          <a:solidFill>
                            <a:schemeClr val="tx1"/>
                          </a:solidFill>
                          <a:effectLst>
                            <a:outerShdw blurRad="38100" dist="38100" dir="2700000" algn="tl">
                              <a:srgbClr val="C0C0C0"/>
                            </a:outerShdw>
                          </a:effectLst>
                          <a:latin typeface="Calibri" pitchFamily="34" charset="0"/>
                        </a:rPr>
                        <a:t>Purpose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1" i="0" u="none" strike="noStrike" cap="none" normalizeH="0" baseline="0">
                          <a:ln>
                            <a:noFill/>
                          </a:ln>
                          <a:solidFill>
                            <a:schemeClr val="tx1"/>
                          </a:solidFill>
                          <a:effectLst>
                            <a:outerShdw blurRad="38100" dist="38100" dir="2700000" algn="tl">
                              <a:srgbClr val="C0C0C0"/>
                            </a:outerShdw>
                          </a:effectLst>
                          <a:latin typeface="Calibri" pitchFamily="34" charset="0"/>
                        </a:rPr>
                        <a:t>Initial value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9206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Free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Space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Data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Mutual exclusion for buffer access</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Space available in buffer</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Data available in buffer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1</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N</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260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1" i="0" u="none" strike="noStrike" cap="none" normalizeH="0" baseline="0">
                          <a:ln>
                            <a:noFill/>
                          </a:ln>
                          <a:solidFill>
                            <a:schemeClr val="tx1"/>
                          </a:solidFill>
                          <a:effectLst>
                            <a:outerShdw blurRad="38100" dist="38100" dir="2700000" algn="tl">
                              <a:srgbClr val="C0C0C0"/>
                            </a:outerShdw>
                          </a:effectLst>
                          <a:latin typeface="Calibri" pitchFamily="34" charset="0"/>
                        </a:rPr>
                        <a:t>Producer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1" i="0" u="none" strike="noStrike" cap="none" normalizeH="0" baseline="0">
                          <a:ln>
                            <a:noFill/>
                          </a:ln>
                          <a:solidFill>
                            <a:schemeClr val="tx1"/>
                          </a:solidFill>
                          <a:effectLst>
                            <a:outerShdw blurRad="38100" dist="38100" dir="2700000" algn="tl">
                              <a:srgbClr val="C0C0C0"/>
                            </a:outerShdw>
                          </a:effectLst>
                          <a:latin typeface="Calibri" pitchFamily="34" charset="0"/>
                        </a:rPr>
                        <a:t>Explanation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210208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Produce item</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  wait(space)   </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     wait(free)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        add item to buffer</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     signal(free)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  signal(data)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Application produces data item</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If buffer full, wait for space signal</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If buffer being used, wait for free signal</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Put item in next buffer slot</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Signal that buffer no longer in use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Signal that data has been put in buffer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04528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Semaphores : Producer </a:t>
            </a:r>
            <a:r>
              <a:rPr lang="en-US" sz="3200" dirty="0" smtClean="0"/>
              <a:t>Consumer</a:t>
            </a:r>
            <a:endParaRPr lang="en-US" sz="3200" dirty="0"/>
          </a:p>
        </p:txBody>
      </p:sp>
      <p:graphicFrame>
        <p:nvGraphicFramePr>
          <p:cNvPr id="3" name="Group 141">
            <a:extLst>
              <a:ext uri="{FF2B5EF4-FFF2-40B4-BE49-F238E27FC236}">
                <a16:creationId xmlns:a16="http://schemas.microsoft.com/office/drawing/2014/main" id="{7C15AA87-567C-462A-8B8B-3D5D146EC451}"/>
              </a:ext>
            </a:extLst>
          </p:cNvPr>
          <p:cNvGraphicFramePr>
            <a:graphicFrameLocks/>
          </p:cNvGraphicFramePr>
          <p:nvPr>
            <p:extLst>
              <p:ext uri="{D42A27DB-BD31-4B8C-83A1-F6EECF244321}">
                <p14:modId xmlns:p14="http://schemas.microsoft.com/office/powerpoint/2010/main" val="782197647"/>
              </p:ext>
            </p:extLst>
          </p:nvPr>
        </p:nvGraphicFramePr>
        <p:xfrm>
          <a:off x="1637972" y="1271913"/>
          <a:ext cx="7038484" cy="2788920"/>
        </p:xfrm>
        <a:graphic>
          <a:graphicData uri="http://schemas.openxmlformats.org/drawingml/2006/table">
            <a:tbl>
              <a:tblPr/>
              <a:tblGrid>
                <a:gridCol w="2433868">
                  <a:extLst>
                    <a:ext uri="{9D8B030D-6E8A-4147-A177-3AD203B41FA5}">
                      <a16:colId xmlns:a16="http://schemas.microsoft.com/office/drawing/2014/main" val="20000"/>
                    </a:ext>
                  </a:extLst>
                </a:gridCol>
                <a:gridCol w="4604616">
                  <a:extLst>
                    <a:ext uri="{9D8B030D-6E8A-4147-A177-3AD203B41FA5}">
                      <a16:colId xmlns:a16="http://schemas.microsoft.com/office/drawing/2014/main" val="20001"/>
                    </a:ext>
                  </a:extLst>
                </a:gridCol>
              </a:tblGrid>
              <a:tr h="30480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1" i="0" u="none" strike="noStrike" cap="none" normalizeH="0" baseline="0" dirty="0">
                          <a:ln>
                            <a:noFill/>
                          </a:ln>
                          <a:solidFill>
                            <a:schemeClr val="tx1"/>
                          </a:solidFill>
                          <a:effectLst>
                            <a:outerShdw blurRad="38100" dist="38100" dir="2700000" algn="tl">
                              <a:srgbClr val="C0C0C0"/>
                            </a:outerShdw>
                          </a:effectLst>
                          <a:latin typeface="Calibri" pitchFamily="34" charset="0"/>
                        </a:rPr>
                        <a:t>Consumer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1" i="0" u="none" strike="noStrike" cap="none" normalizeH="0" baseline="0">
                          <a:ln>
                            <a:noFill/>
                          </a:ln>
                          <a:solidFill>
                            <a:schemeClr val="tx1"/>
                          </a:solidFill>
                          <a:effectLst>
                            <a:outerShdw blurRad="38100" dist="38100" dir="2700000" algn="tl">
                              <a:srgbClr val="C0C0C0"/>
                            </a:outerShdw>
                          </a:effectLst>
                          <a:latin typeface="Calibri" pitchFamily="34" charset="0"/>
                        </a:rPr>
                        <a:t>Explanation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4013">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wait(data)</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   wait(free)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      get item from buffer</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   signal(free)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Signal(space)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Consume item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Wait until at least one item in buffer</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If buffer being used, wait for free signal</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Get item from buffer</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Signal that buffer no longer in use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Signal that at least one space exist in buffer</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900" b="0" i="0" u="none" strike="noStrike" cap="none" normalizeH="0" baseline="0" dirty="0">
                          <a:ln>
                            <a:noFill/>
                          </a:ln>
                          <a:solidFill>
                            <a:schemeClr val="tx1"/>
                          </a:solidFill>
                          <a:effectLst/>
                          <a:latin typeface="Calibri" pitchFamily="34" charset="0"/>
                        </a:rPr>
                        <a:t>Application specific processing of item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FC6BEC56-1367-A69A-BC1A-2213A4FABC2F}"/>
              </a:ext>
            </a:extLst>
          </p:cNvPr>
          <p:cNvSpPr txBox="1"/>
          <p:nvPr/>
        </p:nvSpPr>
        <p:spPr>
          <a:xfrm>
            <a:off x="1475656" y="4190884"/>
            <a:ext cx="7200800" cy="757130"/>
          </a:xfrm>
          <a:prstGeom prst="rect">
            <a:avLst/>
          </a:prstGeom>
          <a:noFill/>
        </p:spPr>
        <p:txBody>
          <a:bodyPr wrap="square">
            <a:spAutoFit/>
          </a:bodyPr>
          <a:lstStyle/>
          <a:p>
            <a:pPr>
              <a:lnSpc>
                <a:spcPct val="120000"/>
              </a:lnSpc>
            </a:pPr>
            <a:r>
              <a:rPr lang="en-US" sz="1200" dirty="0"/>
              <a:t>The counting semaphore </a:t>
            </a:r>
            <a:r>
              <a:rPr lang="en-US" sz="1200" b="1" dirty="0"/>
              <a:t>data</a:t>
            </a:r>
            <a:r>
              <a:rPr lang="en-US" sz="1200" dirty="0"/>
              <a:t> and </a:t>
            </a:r>
            <a:r>
              <a:rPr lang="en-US" sz="1200" b="1" dirty="0"/>
              <a:t>space</a:t>
            </a:r>
            <a:r>
              <a:rPr lang="en-US" sz="1200" dirty="0"/>
              <a:t> are also used as counters to monitor the occupancy of buffer</a:t>
            </a:r>
          </a:p>
          <a:p>
            <a:pPr>
              <a:lnSpc>
                <a:spcPct val="120000"/>
              </a:lnSpc>
            </a:pPr>
            <a:r>
              <a:rPr lang="en-US" sz="1200" dirty="0"/>
              <a:t>Wait and signal operations decrement and increment these counters</a:t>
            </a:r>
          </a:p>
          <a:p>
            <a:pPr>
              <a:lnSpc>
                <a:spcPct val="120000"/>
              </a:lnSpc>
            </a:pPr>
            <a:r>
              <a:rPr lang="en-US" sz="1200" dirty="0"/>
              <a:t>The producer’s signal (data) will increment the count of the number of data item</a:t>
            </a:r>
          </a:p>
        </p:txBody>
      </p:sp>
    </p:spTree>
    <p:extLst>
      <p:ext uri="{BB962C8B-B14F-4D97-AF65-F5344CB8AC3E}">
        <p14:creationId xmlns:p14="http://schemas.microsoft.com/office/powerpoint/2010/main" val="3040085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 Unix</a:t>
            </a:r>
            <a:endParaRPr lang="en-US" dirty="0"/>
          </a:p>
        </p:txBody>
      </p:sp>
      <p:sp>
        <p:nvSpPr>
          <p:cNvPr id="3" name="TextBox 2">
            <a:extLst>
              <a:ext uri="{FF2B5EF4-FFF2-40B4-BE49-F238E27FC236}">
                <a16:creationId xmlns:a16="http://schemas.microsoft.com/office/drawing/2014/main" id="{2FD56FCA-DF62-F469-70F1-0D04C55A3A8D}"/>
              </a:ext>
            </a:extLst>
          </p:cNvPr>
          <p:cNvSpPr txBox="1"/>
          <p:nvPr/>
        </p:nvSpPr>
        <p:spPr>
          <a:xfrm>
            <a:off x="718457" y="1276863"/>
            <a:ext cx="8425543" cy="2529923"/>
          </a:xfrm>
          <a:prstGeom prst="rect">
            <a:avLst/>
          </a:prstGeom>
          <a:noFill/>
        </p:spPr>
        <p:txBody>
          <a:bodyPr wrap="square">
            <a:spAutoFit/>
          </a:bodyPr>
          <a:lstStyle/>
          <a:p>
            <a:pPr marL="342900" indent="-342900">
              <a:lnSpc>
                <a:spcPct val="120000"/>
              </a:lnSpc>
              <a:buFont typeface="Arial" panose="020B0604020202020204" pitchFamily="34" charset="0"/>
              <a:buChar char="•"/>
            </a:pPr>
            <a:r>
              <a:rPr lang="en-US" sz="1200" dirty="0"/>
              <a:t>Unix provide facility for creation and handling of semaphores</a:t>
            </a:r>
          </a:p>
          <a:p>
            <a:pPr marL="342900" indent="-342900">
              <a:lnSpc>
                <a:spcPct val="120000"/>
              </a:lnSpc>
              <a:buFont typeface="Arial" panose="020B0604020202020204" pitchFamily="34" charset="0"/>
              <a:buChar char="•"/>
            </a:pPr>
            <a:r>
              <a:rPr lang="en-US" sz="1200" dirty="0"/>
              <a:t>The </a:t>
            </a:r>
            <a:r>
              <a:rPr lang="en-US" sz="1200" b="1" dirty="0" err="1"/>
              <a:t>semget</a:t>
            </a:r>
            <a:r>
              <a:rPr lang="en-US" sz="1200" dirty="0"/>
              <a:t> function call is used in a program to create semaphore variables, it creates an array of semaphores</a:t>
            </a:r>
          </a:p>
          <a:p>
            <a:pPr marL="342900" indent="-342900">
              <a:lnSpc>
                <a:spcPct val="120000"/>
              </a:lnSpc>
              <a:buFont typeface="Arial" panose="020B0604020202020204" pitchFamily="34" charset="0"/>
              <a:buChar char="•"/>
            </a:pPr>
            <a:r>
              <a:rPr lang="en-US" sz="1200" dirty="0"/>
              <a:t>The </a:t>
            </a:r>
            <a:r>
              <a:rPr lang="en-US" sz="1200" dirty="0" err="1"/>
              <a:t>semget</a:t>
            </a:r>
            <a:r>
              <a:rPr lang="en-US" sz="1200" dirty="0"/>
              <a:t> call specifies</a:t>
            </a:r>
          </a:p>
          <a:p>
            <a:pPr marL="800100" lvl="1" indent="-342900">
              <a:lnSpc>
                <a:spcPct val="120000"/>
              </a:lnSpc>
              <a:buFont typeface="Arial" panose="020B0604020202020204" pitchFamily="34" charset="0"/>
              <a:buChar char="•"/>
            </a:pPr>
            <a:r>
              <a:rPr lang="en-US" sz="1200" dirty="0"/>
              <a:t>The number of semaphores required</a:t>
            </a:r>
          </a:p>
          <a:p>
            <a:pPr marL="800100" lvl="1" indent="-342900">
              <a:lnSpc>
                <a:spcPct val="120000"/>
              </a:lnSpc>
              <a:buFont typeface="Arial" panose="020B0604020202020204" pitchFamily="34" charset="0"/>
              <a:buChar char="•"/>
            </a:pPr>
            <a:r>
              <a:rPr lang="en-US" sz="1200" dirty="0"/>
              <a:t>A unique key value to identify semaphore</a:t>
            </a:r>
          </a:p>
          <a:p>
            <a:pPr marL="800100" lvl="1" indent="-342900">
              <a:lnSpc>
                <a:spcPct val="120000"/>
              </a:lnSpc>
              <a:buFont typeface="Arial" panose="020B0604020202020204" pitchFamily="34" charset="0"/>
              <a:buChar char="•"/>
            </a:pPr>
            <a:r>
              <a:rPr lang="en-US" sz="1200" dirty="0"/>
              <a:t>Some access and control information</a:t>
            </a:r>
          </a:p>
          <a:p>
            <a:pPr marL="342900" indent="-342900">
              <a:lnSpc>
                <a:spcPct val="120000"/>
              </a:lnSpc>
              <a:buFont typeface="Arial" panose="020B0604020202020204" pitchFamily="34" charset="0"/>
              <a:buChar char="•"/>
            </a:pPr>
            <a:r>
              <a:rPr lang="en-US" sz="1200" dirty="0"/>
              <a:t>The function call </a:t>
            </a:r>
            <a:r>
              <a:rPr lang="en-US" sz="1200" b="1" dirty="0" err="1"/>
              <a:t>semctrl</a:t>
            </a:r>
            <a:r>
              <a:rPr lang="en-US" sz="1200" dirty="0"/>
              <a:t> provides a range of semaphore maintenance services; such as</a:t>
            </a:r>
          </a:p>
          <a:p>
            <a:pPr marL="800100" lvl="1" indent="-342900">
              <a:lnSpc>
                <a:spcPct val="120000"/>
              </a:lnSpc>
              <a:buFont typeface="Arial" panose="020B0604020202020204" pitchFamily="34" charset="0"/>
              <a:buChar char="•"/>
            </a:pPr>
            <a:r>
              <a:rPr lang="en-US" sz="1200" dirty="0"/>
              <a:t>Examining the value of a semaphore</a:t>
            </a:r>
          </a:p>
          <a:p>
            <a:pPr marL="800100" lvl="1" indent="-342900">
              <a:lnSpc>
                <a:spcPct val="120000"/>
              </a:lnSpc>
              <a:buFont typeface="Arial" panose="020B0604020202020204" pitchFamily="34" charset="0"/>
              <a:buChar char="•"/>
            </a:pPr>
            <a:r>
              <a:rPr lang="en-US" sz="1200" dirty="0"/>
              <a:t>Removing a semaphore set, and</a:t>
            </a:r>
          </a:p>
          <a:p>
            <a:pPr marL="800100" lvl="1" indent="-342900">
              <a:lnSpc>
                <a:spcPct val="120000"/>
              </a:lnSpc>
              <a:buFont typeface="Arial" panose="020B0604020202020204" pitchFamily="34" charset="0"/>
              <a:buChar char="•"/>
            </a:pPr>
            <a:r>
              <a:rPr lang="en-US" sz="1200" dirty="0"/>
              <a:t>Initializing the semaphore</a:t>
            </a:r>
          </a:p>
          <a:p>
            <a:pPr marL="342900" indent="-342900">
              <a:lnSpc>
                <a:spcPct val="120000"/>
              </a:lnSpc>
              <a:buFont typeface="Arial" panose="020B0604020202020204" pitchFamily="34" charset="0"/>
              <a:buChar char="•"/>
            </a:pPr>
            <a:r>
              <a:rPr lang="en-US" sz="1200" dirty="0"/>
              <a:t>The detailed processing of the semaphore is carried out by </a:t>
            </a:r>
            <a:r>
              <a:rPr lang="en-US" sz="1200" b="1" dirty="0" err="1"/>
              <a:t>semop</a:t>
            </a:r>
            <a:r>
              <a:rPr lang="en-US" sz="1200" dirty="0"/>
              <a:t> function call</a:t>
            </a:r>
          </a:p>
        </p:txBody>
      </p:sp>
    </p:spTree>
    <p:extLst>
      <p:ext uri="{BB962C8B-B14F-4D97-AF65-F5344CB8AC3E}">
        <p14:creationId xmlns:p14="http://schemas.microsoft.com/office/powerpoint/2010/main" val="774068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Semaphore vs </a:t>
            </a:r>
            <a:r>
              <a:rPr lang="en-US" dirty="0" err="1" smtClean="0"/>
              <a:t>Mutex</a:t>
            </a:r>
            <a:endParaRPr lang="en-US" dirty="0"/>
          </a:p>
        </p:txBody>
      </p:sp>
      <p:graphicFrame>
        <p:nvGraphicFramePr>
          <p:cNvPr id="4" name="Table 3">
            <a:extLst>
              <a:ext uri="{FF2B5EF4-FFF2-40B4-BE49-F238E27FC236}">
                <a16:creationId xmlns:a16="http://schemas.microsoft.com/office/drawing/2014/main" id="{4CE1F723-A8BB-4183-3D63-2D94160C2941}"/>
              </a:ext>
            </a:extLst>
          </p:cNvPr>
          <p:cNvGraphicFramePr>
            <a:graphicFrameLocks noGrp="1"/>
          </p:cNvGraphicFramePr>
          <p:nvPr>
            <p:extLst>
              <p:ext uri="{D42A27DB-BD31-4B8C-83A1-F6EECF244321}">
                <p14:modId xmlns:p14="http://schemas.microsoft.com/office/powerpoint/2010/main" val="1213132449"/>
              </p:ext>
            </p:extLst>
          </p:nvPr>
        </p:nvGraphicFramePr>
        <p:xfrm>
          <a:off x="683568" y="915566"/>
          <a:ext cx="8316928" cy="3909060"/>
        </p:xfrm>
        <a:graphic>
          <a:graphicData uri="http://schemas.openxmlformats.org/drawingml/2006/table">
            <a:tbl>
              <a:tblPr>
                <a:tableStyleId>{5C22544A-7EE6-4342-B048-85BDC9FD1C3A}</a:tableStyleId>
              </a:tblPr>
              <a:tblGrid>
                <a:gridCol w="1439398">
                  <a:extLst>
                    <a:ext uri="{9D8B030D-6E8A-4147-A177-3AD203B41FA5}">
                      <a16:colId xmlns:a16="http://schemas.microsoft.com/office/drawing/2014/main" val="3210200838"/>
                    </a:ext>
                  </a:extLst>
                </a:gridCol>
                <a:gridCol w="3295010">
                  <a:extLst>
                    <a:ext uri="{9D8B030D-6E8A-4147-A177-3AD203B41FA5}">
                      <a16:colId xmlns:a16="http://schemas.microsoft.com/office/drawing/2014/main" val="4014727074"/>
                    </a:ext>
                  </a:extLst>
                </a:gridCol>
                <a:gridCol w="3582520">
                  <a:extLst>
                    <a:ext uri="{9D8B030D-6E8A-4147-A177-3AD203B41FA5}">
                      <a16:colId xmlns:a16="http://schemas.microsoft.com/office/drawing/2014/main" val="3712713298"/>
                    </a:ext>
                  </a:extLst>
                </a:gridCol>
              </a:tblGrid>
              <a:tr h="190500">
                <a:tc>
                  <a:txBody>
                    <a:bodyPr/>
                    <a:lstStyle/>
                    <a:p>
                      <a:pPr algn="ctr" fontAlgn="ctr"/>
                      <a:r>
                        <a:rPr lang="en-US" sz="1000" b="1" u="none" strike="noStrike">
                          <a:effectLst/>
                        </a:rPr>
                        <a:t>Parameters</a:t>
                      </a:r>
                      <a:endParaRPr lang="en-US" sz="1000" b="1" i="0" u="none" strike="noStrike">
                        <a:solidFill>
                          <a:srgbClr val="222222"/>
                        </a:solidFill>
                        <a:effectLst/>
                        <a:latin typeface="Source Sans Pro" panose="020B0503030403020204" pitchFamily="34" charset="0"/>
                      </a:endParaRPr>
                    </a:p>
                  </a:txBody>
                  <a:tcPr marL="7620" marR="7620" marT="7620" marB="0" anchor="ctr"/>
                </a:tc>
                <a:tc>
                  <a:txBody>
                    <a:bodyPr/>
                    <a:lstStyle/>
                    <a:p>
                      <a:pPr algn="ctr" fontAlgn="ctr"/>
                      <a:r>
                        <a:rPr lang="en-US" sz="1000" b="1" u="none" strike="noStrike">
                          <a:effectLst/>
                        </a:rPr>
                        <a:t>Semaphore</a:t>
                      </a:r>
                      <a:endParaRPr lang="en-US" sz="1000" b="1" i="0" u="none" strike="noStrike">
                        <a:solidFill>
                          <a:srgbClr val="222222"/>
                        </a:solidFill>
                        <a:effectLst/>
                        <a:latin typeface="Source Sans Pro" panose="020B0503030403020204" pitchFamily="34" charset="0"/>
                      </a:endParaRPr>
                    </a:p>
                  </a:txBody>
                  <a:tcPr marL="7620" marR="7620" marT="7620" marB="0" anchor="ctr"/>
                </a:tc>
                <a:tc>
                  <a:txBody>
                    <a:bodyPr/>
                    <a:lstStyle/>
                    <a:p>
                      <a:pPr algn="ctr" fontAlgn="ctr"/>
                      <a:r>
                        <a:rPr lang="en-US" sz="1000" b="1" u="none" strike="noStrike" dirty="0">
                          <a:effectLst/>
                        </a:rPr>
                        <a:t>Mutex</a:t>
                      </a:r>
                      <a:endParaRPr lang="en-US" sz="1000" b="1" i="0" u="none" strike="noStrike" dirty="0">
                        <a:solidFill>
                          <a:srgbClr val="222222"/>
                        </a:solidFill>
                        <a:effectLst/>
                        <a:latin typeface="Source Sans Pro" panose="020B0503030403020204" pitchFamily="34" charset="0"/>
                      </a:endParaRPr>
                    </a:p>
                  </a:txBody>
                  <a:tcPr marL="7620" marR="7620" marT="7620" marB="0" anchor="ctr"/>
                </a:tc>
                <a:extLst>
                  <a:ext uri="{0D108BD9-81ED-4DB2-BD59-A6C34878D82A}">
                    <a16:rowId xmlns:a16="http://schemas.microsoft.com/office/drawing/2014/main" val="2794317164"/>
                  </a:ext>
                </a:extLst>
              </a:tr>
              <a:tr h="190500">
                <a:tc>
                  <a:txBody>
                    <a:bodyPr/>
                    <a:lstStyle/>
                    <a:p>
                      <a:pPr algn="l" fontAlgn="ctr"/>
                      <a:r>
                        <a:rPr lang="en-US" sz="1000" u="none" strike="noStrike">
                          <a:effectLst/>
                        </a:rPr>
                        <a:t>Mechanism</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It is a type of signaling mechanism.</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It is a locking mechanism.</a:t>
                      </a:r>
                      <a:endParaRPr lang="en-US" sz="1000" b="0" i="0" u="none" strike="noStrike">
                        <a:solidFill>
                          <a:srgbClr val="222222"/>
                        </a:solidFill>
                        <a:effectLst/>
                        <a:latin typeface="Source Sans Pro" panose="020B0503030403020204" pitchFamily="34" charset="0"/>
                      </a:endParaRPr>
                    </a:p>
                  </a:txBody>
                  <a:tcPr marL="7620" marR="7620" marT="7620" marB="0" anchor="ctr"/>
                </a:tc>
                <a:extLst>
                  <a:ext uri="{0D108BD9-81ED-4DB2-BD59-A6C34878D82A}">
                    <a16:rowId xmlns:a16="http://schemas.microsoft.com/office/drawing/2014/main" val="1127545916"/>
                  </a:ext>
                </a:extLst>
              </a:tr>
              <a:tr h="190500">
                <a:tc>
                  <a:txBody>
                    <a:bodyPr/>
                    <a:lstStyle/>
                    <a:p>
                      <a:pPr algn="l" fontAlgn="ctr"/>
                      <a:r>
                        <a:rPr lang="en-US" sz="1000" u="none" strike="noStrike">
                          <a:effectLst/>
                        </a:rPr>
                        <a:t>Data Type</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Semaphore is an integer variable.</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Mutex is just an object.</a:t>
                      </a:r>
                      <a:endParaRPr lang="en-US" sz="1000" b="0" i="0" u="none" strike="noStrike">
                        <a:solidFill>
                          <a:srgbClr val="222222"/>
                        </a:solidFill>
                        <a:effectLst/>
                        <a:latin typeface="Source Sans Pro" panose="020B0503030403020204" pitchFamily="34" charset="0"/>
                      </a:endParaRPr>
                    </a:p>
                  </a:txBody>
                  <a:tcPr marL="7620" marR="7620" marT="7620" marB="0" anchor="ctr"/>
                </a:tc>
                <a:extLst>
                  <a:ext uri="{0D108BD9-81ED-4DB2-BD59-A6C34878D82A}">
                    <a16:rowId xmlns:a16="http://schemas.microsoft.com/office/drawing/2014/main" val="692781909"/>
                  </a:ext>
                </a:extLst>
              </a:tr>
              <a:tr h="373380">
                <a:tc>
                  <a:txBody>
                    <a:bodyPr/>
                    <a:lstStyle/>
                    <a:p>
                      <a:pPr algn="l" fontAlgn="ctr"/>
                      <a:r>
                        <a:rPr lang="en-US" sz="1000" u="none" strike="noStrike">
                          <a:effectLst/>
                        </a:rPr>
                        <a:t>Modification</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The wait and signal operations can modify a semaphore.</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It is modified only by the process that may request or release a resource.</a:t>
                      </a:r>
                      <a:endParaRPr lang="en-US" sz="1000" b="0" i="0" u="none" strike="noStrike">
                        <a:solidFill>
                          <a:srgbClr val="222222"/>
                        </a:solidFill>
                        <a:effectLst/>
                        <a:latin typeface="Source Sans Pro" panose="020B0503030403020204" pitchFamily="34" charset="0"/>
                      </a:endParaRPr>
                    </a:p>
                  </a:txBody>
                  <a:tcPr marL="7620" marR="7620" marT="7620" marB="0" anchor="ctr"/>
                </a:tc>
                <a:extLst>
                  <a:ext uri="{0D108BD9-81ED-4DB2-BD59-A6C34878D82A}">
                    <a16:rowId xmlns:a16="http://schemas.microsoft.com/office/drawing/2014/main" val="866312167"/>
                  </a:ext>
                </a:extLst>
              </a:tr>
              <a:tr h="739140">
                <a:tc>
                  <a:txBody>
                    <a:bodyPr/>
                    <a:lstStyle/>
                    <a:p>
                      <a:pPr algn="l" fontAlgn="ctr"/>
                      <a:r>
                        <a:rPr lang="en-US" sz="1000" u="none" strike="noStrike" dirty="0">
                          <a:effectLst/>
                        </a:rPr>
                        <a:t>Resource management</a:t>
                      </a:r>
                      <a:endParaRPr lang="en-US" sz="1000" b="0" i="0" u="none" strike="noStrike" dirty="0">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If no resource is free, then the process requires a resource that should execute wait operation. It should wait until the count of the semaphore is greater than 0.</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If it is locked, the process has to wait. The process should be kept in a queue. This needs to be accessed only when the mutex is unlocked.</a:t>
                      </a:r>
                      <a:endParaRPr lang="en-US" sz="1000" b="0" i="0" u="none" strike="noStrike">
                        <a:solidFill>
                          <a:srgbClr val="222222"/>
                        </a:solidFill>
                        <a:effectLst/>
                        <a:latin typeface="Source Sans Pro" panose="020B0503030403020204" pitchFamily="34" charset="0"/>
                      </a:endParaRPr>
                    </a:p>
                  </a:txBody>
                  <a:tcPr marL="7620" marR="7620" marT="7620" marB="0" anchor="ctr"/>
                </a:tc>
                <a:extLst>
                  <a:ext uri="{0D108BD9-81ED-4DB2-BD59-A6C34878D82A}">
                    <a16:rowId xmlns:a16="http://schemas.microsoft.com/office/drawing/2014/main" val="1036096287"/>
                  </a:ext>
                </a:extLst>
              </a:tr>
              <a:tr h="373380">
                <a:tc>
                  <a:txBody>
                    <a:bodyPr/>
                    <a:lstStyle/>
                    <a:p>
                      <a:pPr algn="l" fontAlgn="ctr"/>
                      <a:r>
                        <a:rPr lang="en-US" sz="1000" u="none" strike="noStrike">
                          <a:effectLst/>
                        </a:rPr>
                        <a:t>Thread</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You can have multiple program threads.</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You can have multiple program threads in mutex but not simultaneously.</a:t>
                      </a:r>
                      <a:endParaRPr lang="en-US" sz="1000" b="0" i="0" u="none" strike="noStrike">
                        <a:solidFill>
                          <a:srgbClr val="222222"/>
                        </a:solidFill>
                        <a:effectLst/>
                        <a:latin typeface="Source Sans Pro" panose="020B0503030403020204" pitchFamily="34" charset="0"/>
                      </a:endParaRPr>
                    </a:p>
                  </a:txBody>
                  <a:tcPr marL="7620" marR="7620" marT="7620" marB="0" anchor="ctr"/>
                </a:tc>
                <a:extLst>
                  <a:ext uri="{0D108BD9-81ED-4DB2-BD59-A6C34878D82A}">
                    <a16:rowId xmlns:a16="http://schemas.microsoft.com/office/drawing/2014/main" val="810047932"/>
                  </a:ext>
                </a:extLst>
              </a:tr>
              <a:tr h="373380">
                <a:tc>
                  <a:txBody>
                    <a:bodyPr/>
                    <a:lstStyle/>
                    <a:p>
                      <a:pPr algn="l" fontAlgn="ctr"/>
                      <a:r>
                        <a:rPr lang="en-US" sz="1000" u="none" strike="noStrike">
                          <a:effectLst/>
                        </a:rPr>
                        <a:t>Ownership</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Value can be changed by any process releasing or obtaining the resource.</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Object lock is released only by the process, which has obtained the lock on it.</a:t>
                      </a:r>
                      <a:endParaRPr lang="en-US" sz="1000" b="0" i="0" u="none" strike="noStrike">
                        <a:solidFill>
                          <a:srgbClr val="222222"/>
                        </a:solidFill>
                        <a:effectLst/>
                        <a:latin typeface="Source Sans Pro" panose="020B0503030403020204" pitchFamily="34" charset="0"/>
                      </a:endParaRPr>
                    </a:p>
                  </a:txBody>
                  <a:tcPr marL="7620" marR="7620" marT="7620" marB="0" anchor="ctr"/>
                </a:tc>
                <a:extLst>
                  <a:ext uri="{0D108BD9-81ED-4DB2-BD59-A6C34878D82A}">
                    <a16:rowId xmlns:a16="http://schemas.microsoft.com/office/drawing/2014/main" val="2498234737"/>
                  </a:ext>
                </a:extLst>
              </a:tr>
              <a:tr h="373380">
                <a:tc>
                  <a:txBody>
                    <a:bodyPr/>
                    <a:lstStyle/>
                    <a:p>
                      <a:pPr algn="l" fontAlgn="ctr"/>
                      <a:r>
                        <a:rPr lang="en-US" sz="1000" u="none" strike="noStrike">
                          <a:effectLst/>
                        </a:rPr>
                        <a:t>Types</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Types of Semaphore are counting semaphore and binary semaphore.</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Mutex has no subtypes.</a:t>
                      </a:r>
                      <a:endParaRPr lang="en-US" sz="1000" b="0" i="0" u="none" strike="noStrike">
                        <a:solidFill>
                          <a:srgbClr val="222222"/>
                        </a:solidFill>
                        <a:effectLst/>
                        <a:latin typeface="Source Sans Pro" panose="020B0503030403020204" pitchFamily="34" charset="0"/>
                      </a:endParaRPr>
                    </a:p>
                  </a:txBody>
                  <a:tcPr marL="7620" marR="7620" marT="7620" marB="0" anchor="ctr"/>
                </a:tc>
                <a:extLst>
                  <a:ext uri="{0D108BD9-81ED-4DB2-BD59-A6C34878D82A}">
                    <a16:rowId xmlns:a16="http://schemas.microsoft.com/office/drawing/2014/main" val="4281487002"/>
                  </a:ext>
                </a:extLst>
              </a:tr>
              <a:tr h="373380">
                <a:tc>
                  <a:txBody>
                    <a:bodyPr/>
                    <a:lstStyle/>
                    <a:p>
                      <a:pPr algn="l" fontAlgn="ctr"/>
                      <a:r>
                        <a:rPr lang="en-US" sz="1000" u="none" strike="noStrike">
                          <a:effectLst/>
                        </a:rPr>
                        <a:t>Operation</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dirty="0">
                          <a:effectLst/>
                        </a:rPr>
                        <a:t>Semaphore value is modified using wait () and signal () operation.</a:t>
                      </a:r>
                      <a:endParaRPr lang="en-US" sz="1000" b="0" i="0" u="none" strike="noStrike" dirty="0">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Mutex object is locked or unlocked.</a:t>
                      </a:r>
                      <a:endParaRPr lang="en-US" sz="1000" b="0" i="0" u="none" strike="noStrike">
                        <a:solidFill>
                          <a:srgbClr val="222222"/>
                        </a:solidFill>
                        <a:effectLst/>
                        <a:latin typeface="Source Sans Pro" panose="020B0503030403020204" pitchFamily="34" charset="0"/>
                      </a:endParaRPr>
                    </a:p>
                  </a:txBody>
                  <a:tcPr marL="7620" marR="7620" marT="7620" marB="0" anchor="ctr"/>
                </a:tc>
                <a:extLst>
                  <a:ext uri="{0D108BD9-81ED-4DB2-BD59-A6C34878D82A}">
                    <a16:rowId xmlns:a16="http://schemas.microsoft.com/office/drawing/2014/main" val="3310045987"/>
                  </a:ext>
                </a:extLst>
              </a:tr>
              <a:tr h="731520">
                <a:tc>
                  <a:txBody>
                    <a:bodyPr/>
                    <a:lstStyle/>
                    <a:p>
                      <a:pPr algn="l" fontAlgn="ctr"/>
                      <a:r>
                        <a:rPr lang="en-US" sz="1000" u="none" strike="noStrike">
                          <a:effectLst/>
                        </a:rPr>
                        <a:t>Resources Occupancy</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a:effectLst/>
                        </a:rPr>
                        <a:t>It is occupied if all resources are being used and the process requesting for resource performs wait () operation and blocks itself until semaphore count becomes &gt;1.</a:t>
                      </a:r>
                      <a:endParaRPr lang="en-US" sz="1000" b="0" i="0" u="none" strike="noStrike">
                        <a:solidFill>
                          <a:srgbClr val="222222"/>
                        </a:solidFill>
                        <a:effectLst/>
                        <a:latin typeface="Source Sans Pro" panose="020B0503030403020204" pitchFamily="34" charset="0"/>
                      </a:endParaRPr>
                    </a:p>
                  </a:txBody>
                  <a:tcPr marL="7620" marR="7620" marT="7620" marB="0" anchor="ctr"/>
                </a:tc>
                <a:tc>
                  <a:txBody>
                    <a:bodyPr/>
                    <a:lstStyle/>
                    <a:p>
                      <a:pPr algn="l" fontAlgn="ctr"/>
                      <a:r>
                        <a:rPr lang="en-US" sz="1000" u="none" strike="noStrike" dirty="0">
                          <a:effectLst/>
                        </a:rPr>
                        <a:t>In case if the object is already locked, the process requesting resources waits and is queued by the system before lock is released.</a:t>
                      </a:r>
                      <a:endParaRPr lang="en-US" sz="1000" b="0" i="0" u="none" strike="noStrike" dirty="0">
                        <a:solidFill>
                          <a:srgbClr val="222222"/>
                        </a:solidFill>
                        <a:effectLst/>
                        <a:latin typeface="Source Sans Pro" panose="020B0503030403020204" pitchFamily="34" charset="0"/>
                      </a:endParaRPr>
                    </a:p>
                  </a:txBody>
                  <a:tcPr marL="7620" marR="7620" marT="7620" marB="0" anchor="ctr"/>
                </a:tc>
                <a:extLst>
                  <a:ext uri="{0D108BD9-81ED-4DB2-BD59-A6C34878D82A}">
                    <a16:rowId xmlns:a16="http://schemas.microsoft.com/office/drawing/2014/main" val="502495596"/>
                  </a:ext>
                </a:extLst>
              </a:tr>
            </a:tbl>
          </a:graphicData>
        </a:graphic>
      </p:graphicFrame>
    </p:spTree>
    <p:extLst>
      <p:ext uri="{BB962C8B-B14F-4D97-AF65-F5344CB8AC3E}">
        <p14:creationId xmlns:p14="http://schemas.microsoft.com/office/powerpoint/2010/main" val="2429920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Dining Philosophers </a:t>
            </a:r>
            <a:r>
              <a:rPr lang="en-US" dirty="0" smtClean="0"/>
              <a:t>Problem</a:t>
            </a:r>
            <a:endParaRPr lang="en-US" dirty="0"/>
          </a:p>
        </p:txBody>
      </p:sp>
      <p:sp>
        <p:nvSpPr>
          <p:cNvPr id="3" name="Content Placeholder 2">
            <a:extLst>
              <a:ext uri="{FF2B5EF4-FFF2-40B4-BE49-F238E27FC236}">
                <a16:creationId xmlns:a16="http://schemas.microsoft.com/office/drawing/2014/main" id="{E16E2AD4-2B63-A053-7704-26364B8A0660}"/>
              </a:ext>
            </a:extLst>
          </p:cNvPr>
          <p:cNvSpPr txBox="1">
            <a:spLocks/>
          </p:cNvSpPr>
          <p:nvPr/>
        </p:nvSpPr>
        <p:spPr>
          <a:xfrm>
            <a:off x="827584" y="1491630"/>
            <a:ext cx="4320479" cy="330459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954213" algn="l"/>
                <a:tab pos="2200275" algn="l"/>
              </a:tabLst>
            </a:pPr>
            <a:r>
              <a:rPr lang="en-US" sz="1200" dirty="0"/>
              <a:t>Philosophers spend their lives thinking and eating</a:t>
            </a:r>
          </a:p>
          <a:p>
            <a:pPr>
              <a:tabLst>
                <a:tab pos="1954213" algn="l"/>
                <a:tab pos="2200275" algn="l"/>
              </a:tabLst>
            </a:pPr>
            <a:r>
              <a:rPr lang="en-US" sz="1200" dirty="0"/>
              <a:t>Don</a:t>
            </a:r>
            <a:r>
              <a:rPr lang="ja-JP" altLang="en-US" sz="1200" dirty="0"/>
              <a:t>’</a:t>
            </a:r>
            <a:r>
              <a:rPr lang="en-US" altLang="ja-JP" sz="1200" dirty="0"/>
              <a:t>t interact with their neighbors, occasionally try to pick up 2 chopsticks (one at a time) to eat from bowl</a:t>
            </a:r>
          </a:p>
          <a:p>
            <a:pPr lvl="1">
              <a:tabLst>
                <a:tab pos="1954213" algn="l"/>
                <a:tab pos="2200275" algn="l"/>
              </a:tabLst>
            </a:pPr>
            <a:r>
              <a:rPr lang="en-US" sz="1200" dirty="0"/>
              <a:t>Need both to eat, then release both when done</a:t>
            </a:r>
          </a:p>
          <a:p>
            <a:pPr>
              <a:tabLst>
                <a:tab pos="1954213" algn="l"/>
                <a:tab pos="2200275" algn="l"/>
              </a:tabLst>
            </a:pPr>
            <a:r>
              <a:rPr lang="en-US" sz="1200" dirty="0"/>
              <a:t>In the case of 5 philosophers</a:t>
            </a:r>
          </a:p>
          <a:p>
            <a:pPr lvl="1">
              <a:tabLst>
                <a:tab pos="1954213" algn="l"/>
                <a:tab pos="2200275" algn="l"/>
              </a:tabLst>
            </a:pPr>
            <a:r>
              <a:rPr lang="en-US" sz="1200" dirty="0"/>
              <a:t>Shared data </a:t>
            </a:r>
          </a:p>
          <a:p>
            <a:pPr lvl="2">
              <a:tabLst>
                <a:tab pos="1954213" algn="l"/>
                <a:tab pos="2200275" algn="l"/>
              </a:tabLst>
            </a:pPr>
            <a:r>
              <a:rPr lang="en-US" sz="1200" dirty="0"/>
              <a:t>Bowl of rice (data set)</a:t>
            </a:r>
          </a:p>
          <a:p>
            <a:pPr lvl="2">
              <a:tabLst>
                <a:tab pos="1954213" algn="l"/>
                <a:tab pos="2200275" algn="l"/>
              </a:tabLst>
            </a:pPr>
            <a:r>
              <a:rPr lang="en-US" sz="1200" dirty="0"/>
              <a:t>Semaphore chopstick [5]</a:t>
            </a:r>
          </a:p>
        </p:txBody>
      </p:sp>
      <p:pic>
        <p:nvPicPr>
          <p:cNvPr id="4" name="Picture 3">
            <a:extLst>
              <a:ext uri="{FF2B5EF4-FFF2-40B4-BE49-F238E27FC236}">
                <a16:creationId xmlns:a16="http://schemas.microsoft.com/office/drawing/2014/main" id="{C9AD7655-4192-3EFD-545E-8E2883EBC200}"/>
              </a:ext>
            </a:extLst>
          </p:cNvPr>
          <p:cNvPicPr>
            <a:picLocks noChangeAspect="1"/>
          </p:cNvPicPr>
          <p:nvPr/>
        </p:nvPicPr>
        <p:blipFill rotWithShape="1">
          <a:blip r:embed="rId2"/>
          <a:srcRect l="19056" t="31020" r="57985" b="30885"/>
          <a:stretch/>
        </p:blipFill>
        <p:spPr>
          <a:xfrm>
            <a:off x="5068443" y="1363982"/>
            <a:ext cx="4049485" cy="3779518"/>
          </a:xfrm>
          <a:prstGeom prst="rect">
            <a:avLst/>
          </a:prstGeom>
        </p:spPr>
      </p:pic>
    </p:spTree>
    <p:extLst>
      <p:ext uri="{BB962C8B-B14F-4D97-AF65-F5344CB8AC3E}">
        <p14:creationId xmlns:p14="http://schemas.microsoft.com/office/powerpoint/2010/main" val="3511015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Semaphores</a:t>
            </a:r>
            <a:endParaRPr lang="en-US" dirty="0"/>
          </a:p>
        </p:txBody>
      </p:sp>
      <p:sp>
        <p:nvSpPr>
          <p:cNvPr id="3" name="TextBox 2">
            <a:extLst>
              <a:ext uri="{FF2B5EF4-FFF2-40B4-BE49-F238E27FC236}">
                <a16:creationId xmlns:a16="http://schemas.microsoft.com/office/drawing/2014/main" id="{6224144D-DECB-0693-6D86-7D8137A4571F}"/>
              </a:ext>
            </a:extLst>
          </p:cNvPr>
          <p:cNvSpPr txBox="1"/>
          <p:nvPr/>
        </p:nvSpPr>
        <p:spPr>
          <a:xfrm>
            <a:off x="445536" y="1362469"/>
            <a:ext cx="11451189" cy="646331"/>
          </a:xfrm>
          <a:prstGeom prst="rect">
            <a:avLst/>
          </a:prstGeom>
          <a:noFill/>
        </p:spPr>
        <p:txBody>
          <a:bodyPr wrap="square">
            <a:spAutoFit/>
          </a:bodyPr>
          <a:lstStyle/>
          <a:p>
            <a:r>
              <a:rPr lang="en-US" sz="1200" dirty="0"/>
              <a:t>A semaphore S is an integer variable that, apart from initialization,  is accessed only through two standard atomic operations: </a:t>
            </a:r>
          </a:p>
          <a:p>
            <a:pPr marL="742950" lvl="1" indent="-285750">
              <a:buFont typeface="Arial" panose="020B0604020202020204" pitchFamily="34" charset="0"/>
              <a:buChar char="•"/>
            </a:pPr>
            <a:r>
              <a:rPr lang="en-US" sz="1200" dirty="0"/>
              <a:t>wait()    “to test”</a:t>
            </a:r>
          </a:p>
          <a:p>
            <a:pPr marL="742950" lvl="1" indent="-285750">
              <a:buFont typeface="Arial" panose="020B0604020202020204" pitchFamily="34" charset="0"/>
              <a:buChar char="•"/>
            </a:pPr>
            <a:r>
              <a:rPr lang="en-US" sz="1200" dirty="0"/>
              <a:t>signal() “to increment”</a:t>
            </a:r>
            <a:endParaRPr lang="en-PK" sz="1200" dirty="0"/>
          </a:p>
        </p:txBody>
      </p:sp>
      <p:grpSp>
        <p:nvGrpSpPr>
          <p:cNvPr id="4" name="Group 3">
            <a:extLst>
              <a:ext uri="{FF2B5EF4-FFF2-40B4-BE49-F238E27FC236}">
                <a16:creationId xmlns:a16="http://schemas.microsoft.com/office/drawing/2014/main" id="{53904FE2-6B6A-FB07-3723-FAFCA120E780}"/>
              </a:ext>
            </a:extLst>
          </p:cNvPr>
          <p:cNvGrpSpPr/>
          <p:nvPr/>
        </p:nvGrpSpPr>
        <p:grpSpPr>
          <a:xfrm>
            <a:off x="538842" y="2817875"/>
            <a:ext cx="2960137" cy="1754327"/>
            <a:chOff x="538842" y="2817875"/>
            <a:chExt cx="2960137" cy="1754327"/>
          </a:xfrm>
        </p:grpSpPr>
        <p:sp>
          <p:nvSpPr>
            <p:cNvPr id="5" name="TextBox 4">
              <a:extLst>
                <a:ext uri="{FF2B5EF4-FFF2-40B4-BE49-F238E27FC236}">
                  <a16:creationId xmlns:a16="http://schemas.microsoft.com/office/drawing/2014/main" id="{677C7C8E-557B-5B8A-3A13-12C5AD0CC72F}"/>
                </a:ext>
              </a:extLst>
            </p:cNvPr>
            <p:cNvSpPr txBox="1"/>
            <p:nvPr/>
          </p:nvSpPr>
          <p:spPr>
            <a:xfrm>
              <a:off x="538842" y="2817875"/>
              <a:ext cx="2960137" cy="1015663"/>
            </a:xfrm>
            <a:prstGeom prst="rect">
              <a:avLst/>
            </a:prstGeom>
            <a:noFill/>
          </p:spPr>
          <p:txBody>
            <a:bodyPr wrap="square">
              <a:spAutoFit/>
            </a:bodyPr>
            <a:lstStyle/>
            <a:p>
              <a:r>
                <a:rPr lang="en-US" sz="1200" dirty="0"/>
                <a:t>wait(S) </a:t>
              </a:r>
            </a:p>
            <a:p>
              <a:r>
                <a:rPr lang="en-US" sz="1200" dirty="0"/>
                <a:t>{ </a:t>
              </a:r>
            </a:p>
            <a:p>
              <a:r>
                <a:rPr lang="en-US" sz="1200" dirty="0"/>
                <a:t>while (S &lt;= 0) ; </a:t>
              </a:r>
            </a:p>
            <a:p>
              <a:r>
                <a:rPr lang="en-US" sz="1200" dirty="0"/>
                <a:t>	// busy wait S- -;</a:t>
              </a:r>
            </a:p>
            <a:p>
              <a:r>
                <a:rPr lang="en-US" sz="1200" dirty="0"/>
                <a:t> }</a:t>
              </a:r>
              <a:endParaRPr lang="en-PK" sz="1200" dirty="0"/>
            </a:p>
          </p:txBody>
        </p:sp>
        <p:sp>
          <p:nvSpPr>
            <p:cNvPr id="6" name="TextBox 5">
              <a:extLst>
                <a:ext uri="{FF2B5EF4-FFF2-40B4-BE49-F238E27FC236}">
                  <a16:creationId xmlns:a16="http://schemas.microsoft.com/office/drawing/2014/main" id="{5B541B4F-00F0-769C-F18C-22061114A948}"/>
                </a:ext>
              </a:extLst>
            </p:cNvPr>
            <p:cNvSpPr txBox="1"/>
            <p:nvPr/>
          </p:nvSpPr>
          <p:spPr>
            <a:xfrm>
              <a:off x="1042695" y="4295203"/>
              <a:ext cx="2167036" cy="276999"/>
            </a:xfrm>
            <a:prstGeom prst="rect">
              <a:avLst/>
            </a:prstGeom>
            <a:noFill/>
          </p:spPr>
          <p:txBody>
            <a:bodyPr wrap="square">
              <a:spAutoFit/>
            </a:bodyPr>
            <a:lstStyle/>
            <a:p>
              <a:r>
                <a:rPr lang="en-US" sz="1200" dirty="0"/>
                <a:t>definition of wait()</a:t>
              </a:r>
              <a:endParaRPr lang="en-PK" sz="1200" dirty="0"/>
            </a:p>
          </p:txBody>
        </p:sp>
      </p:grpSp>
      <p:grpSp>
        <p:nvGrpSpPr>
          <p:cNvPr id="7" name="Group 6">
            <a:extLst>
              <a:ext uri="{FF2B5EF4-FFF2-40B4-BE49-F238E27FC236}">
                <a16:creationId xmlns:a16="http://schemas.microsoft.com/office/drawing/2014/main" id="{919682B5-E98B-BF2B-2079-E9666BF1CEBC}"/>
              </a:ext>
            </a:extLst>
          </p:cNvPr>
          <p:cNvGrpSpPr/>
          <p:nvPr/>
        </p:nvGrpSpPr>
        <p:grpSpPr>
          <a:xfrm>
            <a:off x="4002832" y="2774239"/>
            <a:ext cx="1829103" cy="1776041"/>
            <a:chOff x="4002832" y="2774239"/>
            <a:chExt cx="1829103" cy="1776041"/>
          </a:xfrm>
        </p:grpSpPr>
        <p:sp>
          <p:nvSpPr>
            <p:cNvPr id="8" name="TextBox 7">
              <a:extLst>
                <a:ext uri="{FF2B5EF4-FFF2-40B4-BE49-F238E27FC236}">
                  <a16:creationId xmlns:a16="http://schemas.microsoft.com/office/drawing/2014/main" id="{D7BC0CCF-7534-6F0D-32C4-06620B62ABA1}"/>
                </a:ext>
              </a:extLst>
            </p:cNvPr>
            <p:cNvSpPr txBox="1"/>
            <p:nvPr/>
          </p:nvSpPr>
          <p:spPr>
            <a:xfrm>
              <a:off x="4084477" y="2774239"/>
              <a:ext cx="1364903" cy="830997"/>
            </a:xfrm>
            <a:prstGeom prst="rect">
              <a:avLst/>
            </a:prstGeom>
            <a:noFill/>
          </p:spPr>
          <p:txBody>
            <a:bodyPr wrap="square">
              <a:spAutoFit/>
            </a:bodyPr>
            <a:lstStyle/>
            <a:p>
              <a:r>
                <a:rPr lang="en-US" sz="1200" dirty="0"/>
                <a:t>signal(S) </a:t>
              </a:r>
            </a:p>
            <a:p>
              <a:r>
                <a:rPr lang="en-US" sz="1200" dirty="0"/>
                <a:t>{</a:t>
              </a:r>
            </a:p>
            <a:p>
              <a:r>
                <a:rPr lang="en-US" sz="1200" dirty="0"/>
                <a:t> S++;</a:t>
              </a:r>
            </a:p>
            <a:p>
              <a:r>
                <a:rPr lang="en-US" sz="1200" dirty="0"/>
                <a:t> }</a:t>
              </a:r>
              <a:endParaRPr lang="en-PK" sz="1200" dirty="0"/>
            </a:p>
          </p:txBody>
        </p:sp>
        <p:sp>
          <p:nvSpPr>
            <p:cNvPr id="9" name="TextBox 8">
              <a:extLst>
                <a:ext uri="{FF2B5EF4-FFF2-40B4-BE49-F238E27FC236}">
                  <a16:creationId xmlns:a16="http://schemas.microsoft.com/office/drawing/2014/main" id="{9F15904F-44D9-6B00-74DD-477F93A1C8E6}"/>
                </a:ext>
              </a:extLst>
            </p:cNvPr>
            <p:cNvSpPr txBox="1"/>
            <p:nvPr/>
          </p:nvSpPr>
          <p:spPr>
            <a:xfrm>
              <a:off x="4002832" y="4273281"/>
              <a:ext cx="1829103" cy="276999"/>
            </a:xfrm>
            <a:prstGeom prst="rect">
              <a:avLst/>
            </a:prstGeom>
            <a:noFill/>
          </p:spPr>
          <p:txBody>
            <a:bodyPr wrap="square">
              <a:spAutoFit/>
            </a:bodyPr>
            <a:lstStyle/>
            <a:p>
              <a:r>
                <a:rPr lang="en-US" sz="1200" dirty="0"/>
                <a:t>definition of signal()</a:t>
              </a:r>
              <a:endParaRPr lang="en-PK" sz="1200" dirty="0"/>
            </a:p>
          </p:txBody>
        </p:sp>
      </p:grpSp>
      <p:sp>
        <p:nvSpPr>
          <p:cNvPr id="10" name="TextBox 9">
            <a:extLst>
              <a:ext uri="{FF2B5EF4-FFF2-40B4-BE49-F238E27FC236}">
                <a16:creationId xmlns:a16="http://schemas.microsoft.com/office/drawing/2014/main" id="{6D4DBF79-4FB6-99FF-CEAC-97A284230A6E}"/>
              </a:ext>
            </a:extLst>
          </p:cNvPr>
          <p:cNvSpPr txBox="1"/>
          <p:nvPr/>
        </p:nvSpPr>
        <p:spPr>
          <a:xfrm>
            <a:off x="5367207" y="2725541"/>
            <a:ext cx="3583970" cy="1200329"/>
          </a:xfrm>
          <a:prstGeom prst="rect">
            <a:avLst/>
          </a:prstGeom>
          <a:noFill/>
        </p:spPr>
        <p:txBody>
          <a:bodyPr wrap="square">
            <a:spAutoFit/>
          </a:bodyPr>
          <a:lstStyle/>
          <a:p>
            <a:pPr algn="just"/>
            <a:r>
              <a:rPr lang="en-US" sz="1200" dirty="0"/>
              <a:t>All modifications to the integer value of the semaphore in the wait() and signal() operations must be executed indivisibly. That is, when one process modifies the semaphore value, no other process can simultaneously modify that same semaphore value.</a:t>
            </a:r>
            <a:endParaRPr lang="en-PK" sz="1200" dirty="0"/>
          </a:p>
        </p:txBody>
      </p:sp>
    </p:spTree>
    <p:extLst>
      <p:ext uri="{BB962C8B-B14F-4D97-AF65-F5344CB8AC3E}">
        <p14:creationId xmlns:p14="http://schemas.microsoft.com/office/powerpoint/2010/main" val="3003284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Mutex</a:t>
            </a:r>
            <a:r>
              <a:rPr lang="en-US" dirty="0" smtClean="0"/>
              <a:t> vs Semaphore</a:t>
            </a:r>
            <a:endParaRPr lang="en-US" dirty="0"/>
          </a:p>
        </p:txBody>
      </p:sp>
      <p:sp>
        <p:nvSpPr>
          <p:cNvPr id="3" name="TextBox 2">
            <a:extLst>
              <a:ext uri="{FF2B5EF4-FFF2-40B4-BE49-F238E27FC236}">
                <a16:creationId xmlns:a16="http://schemas.microsoft.com/office/drawing/2014/main" id="{0C227972-4633-5993-518A-E1F750965B8B}"/>
              </a:ext>
            </a:extLst>
          </p:cNvPr>
          <p:cNvSpPr txBox="1"/>
          <p:nvPr/>
        </p:nvSpPr>
        <p:spPr>
          <a:xfrm>
            <a:off x="571834" y="1382199"/>
            <a:ext cx="4536879" cy="1631216"/>
          </a:xfrm>
          <a:prstGeom prst="rect">
            <a:avLst/>
          </a:prstGeom>
          <a:noFill/>
        </p:spPr>
        <p:txBody>
          <a:bodyPr wrap="square">
            <a:spAutoFit/>
          </a:bodyPr>
          <a:lstStyle/>
          <a:p>
            <a:pPr algn="just"/>
            <a:r>
              <a:rPr lang="en-US" sz="2000" dirty="0"/>
              <a:t>Mutex  used for mutual exclusion</a:t>
            </a:r>
          </a:p>
          <a:p>
            <a:pPr algn="just"/>
            <a:endParaRPr lang="en-US" sz="2000" dirty="0"/>
          </a:p>
          <a:p>
            <a:pPr algn="just"/>
            <a:r>
              <a:rPr lang="en-US" sz="2000" dirty="0"/>
              <a:t>	acquire(&amp;Lock0);</a:t>
            </a:r>
          </a:p>
          <a:p>
            <a:pPr algn="just"/>
            <a:r>
              <a:rPr lang="en-US" sz="2000" dirty="0"/>
              <a:t>	</a:t>
            </a:r>
          </a:p>
          <a:p>
            <a:pPr algn="just"/>
            <a:r>
              <a:rPr lang="en-US" sz="2000" dirty="0"/>
              <a:t>	release(&amp;Lock);</a:t>
            </a:r>
            <a:endParaRPr lang="en-PK" sz="2000" dirty="0"/>
          </a:p>
        </p:txBody>
      </p:sp>
      <p:sp>
        <p:nvSpPr>
          <p:cNvPr id="4" name="TextBox 3">
            <a:extLst>
              <a:ext uri="{FF2B5EF4-FFF2-40B4-BE49-F238E27FC236}">
                <a16:creationId xmlns:a16="http://schemas.microsoft.com/office/drawing/2014/main" id="{40606255-645E-E22F-E373-47E05DF459E3}"/>
              </a:ext>
            </a:extLst>
          </p:cNvPr>
          <p:cNvSpPr txBox="1"/>
          <p:nvPr/>
        </p:nvSpPr>
        <p:spPr>
          <a:xfrm>
            <a:off x="4716016" y="1995686"/>
            <a:ext cx="4536879" cy="2554545"/>
          </a:xfrm>
          <a:prstGeom prst="rect">
            <a:avLst/>
          </a:prstGeom>
          <a:noFill/>
        </p:spPr>
        <p:txBody>
          <a:bodyPr wrap="square">
            <a:spAutoFit/>
          </a:bodyPr>
          <a:lstStyle/>
          <a:p>
            <a:pPr algn="just"/>
            <a:r>
              <a:rPr lang="en-US" sz="2000" dirty="0"/>
              <a:t>Semaphore</a:t>
            </a:r>
          </a:p>
          <a:p>
            <a:pPr algn="just"/>
            <a:endParaRPr lang="en-US" sz="2000" dirty="0"/>
          </a:p>
          <a:p>
            <a:pPr algn="just"/>
            <a:r>
              <a:rPr lang="en-US" sz="2000" dirty="0"/>
              <a:t>	Wait(&amp;Lock0);</a:t>
            </a:r>
          </a:p>
          <a:p>
            <a:pPr algn="just"/>
            <a:r>
              <a:rPr lang="en-US" sz="2000" dirty="0"/>
              <a:t>	</a:t>
            </a:r>
          </a:p>
          <a:p>
            <a:pPr algn="just"/>
            <a:r>
              <a:rPr lang="en-US" sz="2000" dirty="0"/>
              <a:t>	signal(&amp;Lock);</a:t>
            </a:r>
          </a:p>
          <a:p>
            <a:pPr algn="just"/>
            <a:endParaRPr lang="en-US" sz="2000" dirty="0"/>
          </a:p>
          <a:p>
            <a:pPr algn="just"/>
            <a:r>
              <a:rPr lang="en-US" sz="2000" dirty="0"/>
              <a:t>Binary semaphore lock=1 mutex lock</a:t>
            </a:r>
          </a:p>
          <a:p>
            <a:pPr algn="just"/>
            <a:r>
              <a:rPr lang="en-US" sz="2000" dirty="0"/>
              <a:t>Counting semaphore lock=1,2,3,…N</a:t>
            </a:r>
            <a:endParaRPr lang="en-PK" sz="2000" dirty="0"/>
          </a:p>
        </p:txBody>
      </p:sp>
    </p:spTree>
    <p:extLst>
      <p:ext uri="{BB962C8B-B14F-4D97-AF65-F5344CB8AC3E}">
        <p14:creationId xmlns:p14="http://schemas.microsoft.com/office/powerpoint/2010/main" val="3942905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Mutex</a:t>
            </a:r>
            <a:r>
              <a:rPr lang="en-US" dirty="0" smtClean="0"/>
              <a:t> &amp; Semaphore</a:t>
            </a:r>
            <a:endParaRPr lang="en-US" dirty="0"/>
          </a:p>
        </p:txBody>
      </p:sp>
      <p:sp>
        <p:nvSpPr>
          <p:cNvPr id="3" name="TextBox 2">
            <a:extLst>
              <a:ext uri="{FF2B5EF4-FFF2-40B4-BE49-F238E27FC236}">
                <a16:creationId xmlns:a16="http://schemas.microsoft.com/office/drawing/2014/main" id="{E54E9B09-C185-E747-442D-D1037BFF7347}"/>
              </a:ext>
            </a:extLst>
          </p:cNvPr>
          <p:cNvSpPr txBox="1"/>
          <p:nvPr/>
        </p:nvSpPr>
        <p:spPr>
          <a:xfrm>
            <a:off x="1835696" y="829135"/>
            <a:ext cx="6460435" cy="3970318"/>
          </a:xfrm>
          <a:prstGeom prst="rect">
            <a:avLst/>
          </a:prstGeom>
          <a:noFill/>
        </p:spPr>
        <p:txBody>
          <a:bodyPr wrap="square">
            <a:spAutoFit/>
          </a:bodyPr>
          <a:lstStyle/>
          <a:p>
            <a:r>
              <a:rPr lang="en-PK" dirty="0"/>
              <a:t>data;</a:t>
            </a:r>
          </a:p>
          <a:p>
            <a:r>
              <a:rPr lang="en-PK" dirty="0"/>
              <a:t>mutex = 1;</a:t>
            </a:r>
          </a:p>
          <a:p>
            <a:r>
              <a:rPr lang="en-PK" dirty="0"/>
              <a:t>read()</a:t>
            </a:r>
          </a:p>
          <a:p>
            <a:r>
              <a:rPr lang="en-PK" dirty="0"/>
              <a:t>{</a:t>
            </a:r>
          </a:p>
          <a:p>
            <a:r>
              <a:rPr lang="en-PK" dirty="0"/>
              <a:t>	</a:t>
            </a:r>
            <a:r>
              <a:rPr lang="en-PK" dirty="0" smtClean="0"/>
              <a:t>a</a:t>
            </a:r>
            <a:r>
              <a:rPr lang="en-US" smtClean="0"/>
              <a:t>c</a:t>
            </a:r>
            <a:r>
              <a:rPr lang="en-PK" smtClean="0"/>
              <a:t>quire</a:t>
            </a:r>
            <a:r>
              <a:rPr lang="en-PK" dirty="0"/>
              <a:t>(&amp;mutex); or wait(&amp;mutex);</a:t>
            </a:r>
          </a:p>
          <a:p>
            <a:r>
              <a:rPr lang="en-PK" dirty="0"/>
              <a:t>	</a:t>
            </a:r>
            <a:r>
              <a:rPr lang="en-PK" dirty="0" err="1"/>
              <a:t>cout</a:t>
            </a:r>
            <a:r>
              <a:rPr lang="en-PK" dirty="0"/>
              <a:t>&lt;&lt;data;</a:t>
            </a:r>
          </a:p>
          <a:p>
            <a:r>
              <a:rPr lang="en-PK" dirty="0"/>
              <a:t>	release (&amp;mutex) or simple signal(&amp;mutex);</a:t>
            </a:r>
          </a:p>
          <a:p>
            <a:r>
              <a:rPr lang="en-PK" dirty="0"/>
              <a:t>}</a:t>
            </a:r>
          </a:p>
          <a:p>
            <a:r>
              <a:rPr lang="en-PK" dirty="0"/>
              <a:t>write()</a:t>
            </a:r>
          </a:p>
          <a:p>
            <a:r>
              <a:rPr lang="en-PK" dirty="0"/>
              <a:t>{</a:t>
            </a:r>
          </a:p>
          <a:p>
            <a:r>
              <a:rPr lang="en-PK" dirty="0"/>
              <a:t>	acquire(&amp;mutex); or wait(&amp;mutex);</a:t>
            </a:r>
          </a:p>
          <a:p>
            <a:r>
              <a:rPr lang="en-PK" dirty="0"/>
              <a:t>	data=</a:t>
            </a:r>
            <a:r>
              <a:rPr lang="en-PK" dirty="0" err="1"/>
              <a:t>getdata</a:t>
            </a:r>
            <a:r>
              <a:rPr lang="en-PK" dirty="0"/>
              <a:t>();</a:t>
            </a:r>
          </a:p>
          <a:p>
            <a:r>
              <a:rPr lang="en-PK" dirty="0"/>
              <a:t>	release (&amp;mutex) or simple signal(&amp;mutex);</a:t>
            </a:r>
          </a:p>
          <a:p>
            <a:r>
              <a:rPr lang="en-PK" dirty="0"/>
              <a:t>}</a:t>
            </a:r>
          </a:p>
        </p:txBody>
      </p:sp>
    </p:spTree>
    <p:extLst>
      <p:ext uri="{BB962C8B-B14F-4D97-AF65-F5344CB8AC3E}">
        <p14:creationId xmlns:p14="http://schemas.microsoft.com/office/powerpoint/2010/main" val="3972156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K" dirty="0"/>
              <a:t>Reader-Writer </a:t>
            </a:r>
            <a:r>
              <a:rPr lang="en-PK" dirty="0" smtClean="0"/>
              <a:t>Algorithm</a:t>
            </a:r>
            <a:endParaRPr lang="en-US" dirty="0"/>
          </a:p>
        </p:txBody>
      </p:sp>
      <p:sp>
        <p:nvSpPr>
          <p:cNvPr id="3" name="TextBox 2">
            <a:extLst>
              <a:ext uri="{FF2B5EF4-FFF2-40B4-BE49-F238E27FC236}">
                <a16:creationId xmlns:a16="http://schemas.microsoft.com/office/drawing/2014/main" id="{C9952AB4-9E04-96BE-03F8-BC44E9AAD17C}"/>
              </a:ext>
            </a:extLst>
          </p:cNvPr>
          <p:cNvSpPr txBox="1"/>
          <p:nvPr/>
        </p:nvSpPr>
        <p:spPr>
          <a:xfrm>
            <a:off x="5652121" y="581074"/>
            <a:ext cx="3491880" cy="4093428"/>
          </a:xfrm>
          <a:prstGeom prst="rect">
            <a:avLst/>
          </a:prstGeom>
          <a:noFill/>
        </p:spPr>
        <p:txBody>
          <a:bodyPr wrap="square">
            <a:spAutoFit/>
          </a:bodyPr>
          <a:lstStyle/>
          <a:p>
            <a:r>
              <a:rPr lang="en-PK" sz="1000" dirty="0"/>
              <a:t>multiple readers can enter in critical section</a:t>
            </a:r>
          </a:p>
          <a:p>
            <a:endParaRPr lang="en-PK" sz="1000" dirty="0"/>
          </a:p>
          <a:p>
            <a:r>
              <a:rPr lang="en-PK" sz="1000" dirty="0" err="1"/>
              <a:t>rw_mutex_lock</a:t>
            </a:r>
            <a:r>
              <a:rPr lang="en-PK" sz="1000" dirty="0"/>
              <a:t> =1;</a:t>
            </a:r>
          </a:p>
          <a:p>
            <a:r>
              <a:rPr lang="en-PK" sz="1000" dirty="0"/>
              <a:t>count =0;</a:t>
            </a:r>
          </a:p>
          <a:p>
            <a:r>
              <a:rPr lang="en-PK" sz="1000" dirty="0"/>
              <a:t>mutex=1</a:t>
            </a:r>
          </a:p>
          <a:p>
            <a:r>
              <a:rPr lang="en-PK" sz="1000" dirty="0"/>
              <a:t>read</a:t>
            </a:r>
          </a:p>
          <a:p>
            <a:r>
              <a:rPr lang="en-PK" sz="1000" dirty="0"/>
              <a:t>{</a:t>
            </a:r>
          </a:p>
          <a:p>
            <a:r>
              <a:rPr lang="en-PK" sz="1000" dirty="0"/>
              <a:t>	wait(&amp;mutex);</a:t>
            </a:r>
          </a:p>
          <a:p>
            <a:r>
              <a:rPr lang="en-PK" sz="1000" dirty="0"/>
              <a:t>	count++;</a:t>
            </a:r>
          </a:p>
          <a:p>
            <a:r>
              <a:rPr lang="en-PK" sz="1000" dirty="0"/>
              <a:t>	signal(&amp;mutex);</a:t>
            </a:r>
          </a:p>
          <a:p>
            <a:r>
              <a:rPr lang="en-PK" sz="1000" dirty="0"/>
              <a:t>	//--&gt; </a:t>
            </a:r>
            <a:r>
              <a:rPr lang="en-PK" sz="1000" dirty="0" err="1"/>
              <a:t>contex</a:t>
            </a:r>
            <a:r>
              <a:rPr lang="en-PK" sz="1000" dirty="0"/>
              <a:t> switch of time slice expires</a:t>
            </a:r>
          </a:p>
          <a:p>
            <a:r>
              <a:rPr lang="en-PK" sz="1000" dirty="0"/>
              <a:t>	if(count==1)</a:t>
            </a:r>
          </a:p>
          <a:p>
            <a:r>
              <a:rPr lang="en-PK" sz="1000" dirty="0"/>
              <a:t>		write(&amp;</a:t>
            </a:r>
            <a:r>
              <a:rPr lang="en-PK" sz="1000" dirty="0" err="1"/>
              <a:t>rw_mutex_lock</a:t>
            </a:r>
            <a:r>
              <a:rPr lang="en-PK" sz="1000" dirty="0"/>
              <a:t>);</a:t>
            </a:r>
          </a:p>
          <a:p>
            <a:r>
              <a:rPr lang="en-PK" sz="1000" dirty="0"/>
              <a:t>		//critical section</a:t>
            </a:r>
          </a:p>
          <a:p>
            <a:r>
              <a:rPr lang="en-PK" sz="1000" dirty="0"/>
              <a:t>	wait(&amp;mutex);</a:t>
            </a:r>
          </a:p>
          <a:p>
            <a:r>
              <a:rPr lang="en-PK" sz="1000" dirty="0"/>
              <a:t>	count--;</a:t>
            </a:r>
          </a:p>
          <a:p>
            <a:r>
              <a:rPr lang="en-PK" sz="1000" dirty="0"/>
              <a:t>	signal(&amp;mutex);</a:t>
            </a:r>
          </a:p>
          <a:p>
            <a:r>
              <a:rPr lang="en-PK" sz="1000" dirty="0"/>
              <a:t>	if(count==0)</a:t>
            </a:r>
          </a:p>
          <a:p>
            <a:r>
              <a:rPr lang="en-PK" sz="1000" dirty="0"/>
              <a:t>		signal(&amp;</a:t>
            </a:r>
            <a:r>
              <a:rPr lang="en-PK" sz="1000" dirty="0" err="1"/>
              <a:t>rw_mutex_lock</a:t>
            </a:r>
            <a:r>
              <a:rPr lang="en-PK" sz="1000" dirty="0"/>
              <a:t>);</a:t>
            </a:r>
          </a:p>
          <a:p>
            <a:r>
              <a:rPr lang="en-PK" sz="1000" dirty="0"/>
              <a:t>}</a:t>
            </a:r>
          </a:p>
          <a:p>
            <a:r>
              <a:rPr lang="en-PK" sz="1000" dirty="0"/>
              <a:t>Write()</a:t>
            </a:r>
          </a:p>
          <a:p>
            <a:r>
              <a:rPr lang="en-PK" sz="1000" dirty="0"/>
              <a:t>{</a:t>
            </a:r>
          </a:p>
          <a:p>
            <a:r>
              <a:rPr lang="en-US" sz="1000" dirty="0"/>
              <a:t>	</a:t>
            </a:r>
            <a:r>
              <a:rPr lang="en-PK" sz="1000" dirty="0"/>
              <a:t>Wait ()&amp;</a:t>
            </a:r>
            <a:r>
              <a:rPr lang="en-PK" sz="1000" dirty="0" err="1"/>
              <a:t>rw_mutex</a:t>
            </a:r>
            <a:r>
              <a:rPr lang="en-PK" sz="1000" dirty="0"/>
              <a:t>;</a:t>
            </a:r>
          </a:p>
          <a:p>
            <a:r>
              <a:rPr lang="en-US" sz="1000" dirty="0"/>
              <a:t>	</a:t>
            </a:r>
            <a:r>
              <a:rPr lang="en-PK" sz="1000" dirty="0"/>
              <a:t>data =</a:t>
            </a:r>
            <a:r>
              <a:rPr lang="en-PK" sz="1000" dirty="0" err="1"/>
              <a:t>getdata</a:t>
            </a:r>
            <a:r>
              <a:rPr lang="en-PK" sz="1000" dirty="0"/>
              <a:t>();</a:t>
            </a:r>
          </a:p>
          <a:p>
            <a:r>
              <a:rPr lang="en-US" sz="1000" dirty="0"/>
              <a:t>	</a:t>
            </a:r>
            <a:r>
              <a:rPr lang="en-PK" sz="1000" dirty="0"/>
              <a:t>signal(&amp;</a:t>
            </a:r>
            <a:r>
              <a:rPr lang="en-PK" sz="1000" dirty="0" err="1"/>
              <a:t>rw_mutex_Lock</a:t>
            </a:r>
            <a:r>
              <a:rPr lang="en-PK" sz="1000" dirty="0"/>
              <a:t>)</a:t>
            </a:r>
          </a:p>
          <a:p>
            <a:r>
              <a:rPr lang="en-PK" sz="1000" dirty="0"/>
              <a:t>}</a:t>
            </a:r>
          </a:p>
        </p:txBody>
      </p:sp>
      <p:sp>
        <p:nvSpPr>
          <p:cNvPr id="4" name="TextBox 3">
            <a:extLst>
              <a:ext uri="{FF2B5EF4-FFF2-40B4-BE49-F238E27FC236}">
                <a16:creationId xmlns:a16="http://schemas.microsoft.com/office/drawing/2014/main" id="{6ED529A5-2ECC-1BBF-7F2E-B141D3C7486C}"/>
              </a:ext>
            </a:extLst>
          </p:cNvPr>
          <p:cNvSpPr txBox="1"/>
          <p:nvPr/>
        </p:nvSpPr>
        <p:spPr>
          <a:xfrm>
            <a:off x="251520" y="2427734"/>
            <a:ext cx="6097554" cy="1200329"/>
          </a:xfrm>
          <a:prstGeom prst="rect">
            <a:avLst/>
          </a:prstGeom>
          <a:noFill/>
        </p:spPr>
        <p:txBody>
          <a:bodyPr wrap="square">
            <a:spAutoFit/>
          </a:bodyPr>
          <a:lstStyle/>
          <a:p>
            <a:r>
              <a:rPr lang="en-PK" sz="1200" dirty="0"/>
              <a:t>(Reader priority and writer thread starves)</a:t>
            </a:r>
            <a:endParaRPr lang="en-US" sz="1200" dirty="0"/>
          </a:p>
          <a:p>
            <a:endParaRPr lang="en-US" sz="1200" dirty="0"/>
          </a:p>
          <a:p>
            <a:pPr marL="285750" indent="-285750">
              <a:buFont typeface="Arial" panose="020B0604020202020204" pitchFamily="34" charset="0"/>
              <a:buChar char="•"/>
            </a:pPr>
            <a:r>
              <a:rPr lang="en-US" sz="1200" dirty="0"/>
              <a:t>what if there are multiple readers why should they enter one by one and data is not being effected..</a:t>
            </a:r>
          </a:p>
          <a:p>
            <a:pPr marL="285750" indent="-285750">
              <a:buFont typeface="Arial" panose="020B0604020202020204" pitchFamily="34" charset="0"/>
              <a:buChar char="•"/>
            </a:pPr>
            <a:r>
              <a:rPr lang="en-US" sz="1200" dirty="0"/>
              <a:t>But read and write can not enter at the same time as read operation is shared.</a:t>
            </a:r>
          </a:p>
          <a:p>
            <a:endParaRPr lang="en-PK" sz="1200" dirty="0"/>
          </a:p>
        </p:txBody>
      </p:sp>
      <p:sp>
        <p:nvSpPr>
          <p:cNvPr id="5" name="TextBox 4">
            <a:extLst>
              <a:ext uri="{FF2B5EF4-FFF2-40B4-BE49-F238E27FC236}">
                <a16:creationId xmlns:a16="http://schemas.microsoft.com/office/drawing/2014/main" id="{035D947B-B4D1-51F7-6E5B-7E45A38DB8BB}"/>
              </a:ext>
            </a:extLst>
          </p:cNvPr>
          <p:cNvSpPr txBox="1"/>
          <p:nvPr/>
        </p:nvSpPr>
        <p:spPr>
          <a:xfrm>
            <a:off x="323529" y="4026465"/>
            <a:ext cx="5629402" cy="646331"/>
          </a:xfrm>
          <a:prstGeom prst="rect">
            <a:avLst/>
          </a:prstGeom>
          <a:noFill/>
        </p:spPr>
        <p:txBody>
          <a:bodyPr wrap="square">
            <a:spAutoFit/>
          </a:bodyPr>
          <a:lstStyle/>
          <a:p>
            <a:pPr marL="171450" indent="-171450">
              <a:buFont typeface="Arial" panose="020B0604020202020204" pitchFamily="34" charset="0"/>
              <a:buChar char="•"/>
            </a:pPr>
            <a:r>
              <a:rPr lang="en-PK" sz="1200" dirty="0"/>
              <a:t>Reader-Writer Algorithm</a:t>
            </a:r>
            <a:r>
              <a:rPr lang="en-US" sz="1200" dirty="0"/>
              <a:t> -1 </a:t>
            </a:r>
            <a:r>
              <a:rPr lang="en-PK" sz="1200" dirty="0"/>
              <a:t>Reader priority and writer thread starves</a:t>
            </a:r>
            <a:endParaRPr lang="en-US" sz="1200" dirty="0"/>
          </a:p>
          <a:p>
            <a:pPr marL="171450" indent="-171450">
              <a:buFont typeface="Arial" panose="020B0604020202020204" pitchFamily="34" charset="0"/>
              <a:buChar char="•"/>
            </a:pPr>
            <a:r>
              <a:rPr lang="en-PK" sz="1200" dirty="0"/>
              <a:t>Reader-Writer Algorithm</a:t>
            </a:r>
            <a:r>
              <a:rPr lang="en-US" sz="1200" dirty="0"/>
              <a:t> -2 Writer</a:t>
            </a:r>
            <a:r>
              <a:rPr lang="en-PK" sz="1200" dirty="0"/>
              <a:t> priority and </a:t>
            </a:r>
            <a:r>
              <a:rPr lang="en-US" sz="1200" dirty="0"/>
              <a:t>Reader</a:t>
            </a:r>
            <a:r>
              <a:rPr lang="en-PK" sz="1200" dirty="0"/>
              <a:t> thread starves</a:t>
            </a:r>
            <a:endParaRPr lang="en-US" sz="1200" dirty="0"/>
          </a:p>
          <a:p>
            <a:pPr marL="171450" indent="-171450">
              <a:buFont typeface="Arial" panose="020B0604020202020204" pitchFamily="34" charset="0"/>
              <a:buChar char="•"/>
            </a:pPr>
            <a:r>
              <a:rPr lang="en-PK" sz="1200" dirty="0"/>
              <a:t>Reader-Writer Algorithm</a:t>
            </a:r>
            <a:r>
              <a:rPr lang="en-US" sz="1200" dirty="0"/>
              <a:t> -3 Writer</a:t>
            </a:r>
            <a:r>
              <a:rPr lang="en-PK" sz="1200" dirty="0"/>
              <a:t> </a:t>
            </a:r>
            <a:r>
              <a:rPr lang="en-US" sz="1200" dirty="0"/>
              <a:t>enter simultaneously and then readers</a:t>
            </a:r>
            <a:endParaRPr lang="en-PK" sz="1200" dirty="0"/>
          </a:p>
        </p:txBody>
      </p:sp>
    </p:spTree>
    <p:extLst>
      <p:ext uri="{BB962C8B-B14F-4D97-AF65-F5344CB8AC3E}">
        <p14:creationId xmlns:p14="http://schemas.microsoft.com/office/powerpoint/2010/main" val="2170840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Producer-Consumer Problem</a:t>
            </a:r>
            <a:endParaRPr lang="en-PK" dirty="0"/>
          </a:p>
        </p:txBody>
      </p:sp>
      <p:sp>
        <p:nvSpPr>
          <p:cNvPr id="3" name="TextBox 2">
            <a:extLst>
              <a:ext uri="{FF2B5EF4-FFF2-40B4-BE49-F238E27FC236}">
                <a16:creationId xmlns:a16="http://schemas.microsoft.com/office/drawing/2014/main" id="{5EA112E1-EE85-0187-60E8-489E76990CD3}"/>
              </a:ext>
            </a:extLst>
          </p:cNvPr>
          <p:cNvSpPr txBox="1"/>
          <p:nvPr/>
        </p:nvSpPr>
        <p:spPr>
          <a:xfrm>
            <a:off x="251520" y="1995686"/>
            <a:ext cx="4938227" cy="1754326"/>
          </a:xfrm>
          <a:prstGeom prst="rect">
            <a:avLst/>
          </a:prstGeom>
          <a:noFill/>
        </p:spPr>
        <p:txBody>
          <a:bodyPr wrap="square">
            <a:spAutoFit/>
          </a:bodyPr>
          <a:lstStyle/>
          <a:p>
            <a:r>
              <a:rPr lang="en-US" sz="1200" dirty="0"/>
              <a:t>Inter process communication is done through PIPE()</a:t>
            </a:r>
          </a:p>
          <a:p>
            <a:pPr algn="just"/>
            <a:r>
              <a:rPr lang="en-US" sz="1200" dirty="0"/>
              <a:t>Inter thread communication is done using a buffer with any size but need to incorporate check PIPE </a:t>
            </a:r>
            <a:r>
              <a:rPr lang="en-US" sz="1200" dirty="0" err="1"/>
              <a:t>ican</a:t>
            </a:r>
            <a:r>
              <a:rPr lang="en-US" sz="1200" dirty="0"/>
              <a:t> be used but avoided for performance due to system call invoke</a:t>
            </a:r>
          </a:p>
          <a:p>
            <a:endParaRPr lang="en-US" sz="1200" dirty="0"/>
          </a:p>
          <a:p>
            <a:r>
              <a:rPr lang="en-US" sz="1200" dirty="0"/>
              <a:t>Producer only produce data where buffer has some space</a:t>
            </a:r>
          </a:p>
          <a:p>
            <a:endParaRPr lang="en-US" sz="1200" dirty="0"/>
          </a:p>
          <a:p>
            <a:r>
              <a:rPr lang="en-US" sz="1200" dirty="0"/>
              <a:t>If buffer is empty consumer </a:t>
            </a:r>
            <a:r>
              <a:rPr lang="en-US" sz="1200" dirty="0" err="1"/>
              <a:t>blcok</a:t>
            </a:r>
            <a:endParaRPr lang="en-US" sz="1200" dirty="0"/>
          </a:p>
          <a:p>
            <a:endParaRPr lang="en-PK" sz="1200" dirty="0"/>
          </a:p>
        </p:txBody>
      </p:sp>
      <p:sp>
        <p:nvSpPr>
          <p:cNvPr id="4" name="TextBox 3">
            <a:extLst>
              <a:ext uri="{FF2B5EF4-FFF2-40B4-BE49-F238E27FC236}">
                <a16:creationId xmlns:a16="http://schemas.microsoft.com/office/drawing/2014/main" id="{C834517E-CD49-00D9-5AED-D5207C51BD6A}"/>
              </a:ext>
            </a:extLst>
          </p:cNvPr>
          <p:cNvSpPr txBox="1"/>
          <p:nvPr/>
        </p:nvSpPr>
        <p:spPr>
          <a:xfrm>
            <a:off x="5004048" y="807962"/>
            <a:ext cx="5473959" cy="3785652"/>
          </a:xfrm>
          <a:prstGeom prst="rect">
            <a:avLst/>
          </a:prstGeom>
          <a:noFill/>
        </p:spPr>
        <p:txBody>
          <a:bodyPr wrap="square">
            <a:spAutoFit/>
          </a:bodyPr>
          <a:lstStyle/>
          <a:p>
            <a:r>
              <a:rPr lang="en-PK" sz="1200" dirty="0"/>
              <a:t>buffer =[10];</a:t>
            </a:r>
          </a:p>
          <a:p>
            <a:r>
              <a:rPr lang="en-PK" sz="1200" dirty="0"/>
              <a:t>count=0;     /// to </a:t>
            </a:r>
            <a:r>
              <a:rPr lang="en-PK" sz="1200" dirty="0" err="1"/>
              <a:t>chekc</a:t>
            </a:r>
            <a:r>
              <a:rPr lang="en-PK" sz="1200" dirty="0"/>
              <a:t> if there is space available in buffer</a:t>
            </a:r>
          </a:p>
          <a:p>
            <a:r>
              <a:rPr lang="en-PK" sz="1200" dirty="0"/>
              <a:t>in =0;</a:t>
            </a:r>
            <a:r>
              <a:rPr lang="en-US" sz="1200" dirty="0"/>
              <a:t> </a:t>
            </a:r>
            <a:r>
              <a:rPr lang="en-PK" sz="1200" dirty="0"/>
              <a:t>out =0;</a:t>
            </a:r>
            <a:r>
              <a:rPr lang="en-US" sz="1200" dirty="0"/>
              <a:t> </a:t>
            </a:r>
            <a:r>
              <a:rPr lang="en-PK" sz="1200" dirty="0"/>
              <a:t>mutex=1;</a:t>
            </a:r>
          </a:p>
          <a:p>
            <a:r>
              <a:rPr lang="en-PK" sz="1200" dirty="0"/>
              <a:t>producer() //sender</a:t>
            </a:r>
          </a:p>
          <a:p>
            <a:r>
              <a:rPr lang="en-PK" sz="1200" dirty="0"/>
              <a:t>{</a:t>
            </a:r>
          </a:p>
          <a:p>
            <a:r>
              <a:rPr lang="en-PK" sz="1200" dirty="0"/>
              <a:t>	while (count--10){}</a:t>
            </a:r>
          </a:p>
          <a:p>
            <a:r>
              <a:rPr lang="en-PK" sz="1200" dirty="0"/>
              <a:t>	buffer [in] = </a:t>
            </a:r>
            <a:r>
              <a:rPr lang="en-PK" sz="1200" dirty="0" err="1"/>
              <a:t>getdata</a:t>
            </a:r>
            <a:r>
              <a:rPr lang="en-PK" sz="1200" dirty="0"/>
              <a:t>();</a:t>
            </a:r>
          </a:p>
          <a:p>
            <a:r>
              <a:rPr lang="en-PK" sz="1200" dirty="0"/>
              <a:t>	in =(in + 1)%10;</a:t>
            </a:r>
          </a:p>
          <a:p>
            <a:r>
              <a:rPr lang="en-PK" sz="1200" dirty="0"/>
              <a:t>	wait(&amp;mutex);</a:t>
            </a:r>
          </a:p>
          <a:p>
            <a:r>
              <a:rPr lang="en-PK" sz="1200" dirty="0"/>
              <a:t>	count++;</a:t>
            </a:r>
          </a:p>
          <a:p>
            <a:r>
              <a:rPr lang="en-PK" sz="1200" dirty="0"/>
              <a:t>	signal(&amp;mutex);</a:t>
            </a:r>
          </a:p>
          <a:p>
            <a:r>
              <a:rPr lang="en-PK" sz="1200" dirty="0"/>
              <a:t>}</a:t>
            </a:r>
          </a:p>
          <a:p>
            <a:r>
              <a:rPr lang="en-PK" sz="1200" dirty="0"/>
              <a:t>Consumer() //receiver{</a:t>
            </a:r>
          </a:p>
          <a:p>
            <a:r>
              <a:rPr lang="en-PK" sz="1200" dirty="0"/>
              <a:t>	while(count==0){}</a:t>
            </a:r>
          </a:p>
          <a:p>
            <a:r>
              <a:rPr lang="en-PK" sz="1200" dirty="0"/>
              <a:t>	</a:t>
            </a:r>
            <a:r>
              <a:rPr lang="en-PK" sz="1200" dirty="0" err="1"/>
              <a:t>cout</a:t>
            </a:r>
            <a:r>
              <a:rPr lang="en-PK" sz="1200" dirty="0"/>
              <a:t>&lt;&lt;buffer{out};</a:t>
            </a:r>
          </a:p>
          <a:p>
            <a:r>
              <a:rPr lang="en-PK" sz="1200" dirty="0"/>
              <a:t>	out = (out+1)%10;</a:t>
            </a:r>
          </a:p>
          <a:p>
            <a:r>
              <a:rPr lang="en-PK" sz="1200" dirty="0"/>
              <a:t>	wait(&amp;mutex);</a:t>
            </a:r>
          </a:p>
          <a:p>
            <a:r>
              <a:rPr lang="en-PK" sz="1200" dirty="0"/>
              <a:t>	count--;</a:t>
            </a:r>
          </a:p>
          <a:p>
            <a:r>
              <a:rPr lang="en-PK" sz="1200" dirty="0"/>
              <a:t>	signal(&amp;mutex);</a:t>
            </a:r>
          </a:p>
          <a:p>
            <a:r>
              <a:rPr lang="en-PK" sz="1200" dirty="0"/>
              <a:t>}</a:t>
            </a:r>
          </a:p>
        </p:txBody>
      </p:sp>
    </p:spTree>
    <p:extLst>
      <p:ext uri="{BB962C8B-B14F-4D97-AF65-F5344CB8AC3E}">
        <p14:creationId xmlns:p14="http://schemas.microsoft.com/office/powerpoint/2010/main" val="2380948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Bounded Buffer </a:t>
            </a:r>
            <a:r>
              <a:rPr lang="en-US" dirty="0" smtClean="0"/>
              <a:t>problem</a:t>
            </a:r>
            <a:endParaRPr lang="en-US" b="0" dirty="0"/>
          </a:p>
        </p:txBody>
      </p:sp>
      <p:sp>
        <p:nvSpPr>
          <p:cNvPr id="4" name="TextBox 3">
            <a:extLst>
              <a:ext uri="{FF2B5EF4-FFF2-40B4-BE49-F238E27FC236}">
                <a16:creationId xmlns:a16="http://schemas.microsoft.com/office/drawing/2014/main" id="{D09238E6-9525-488C-40CB-4D664B15DF84}"/>
              </a:ext>
            </a:extLst>
          </p:cNvPr>
          <p:cNvSpPr txBox="1"/>
          <p:nvPr/>
        </p:nvSpPr>
        <p:spPr>
          <a:xfrm>
            <a:off x="1979712" y="802265"/>
            <a:ext cx="6097554" cy="3939540"/>
          </a:xfrm>
          <a:prstGeom prst="rect">
            <a:avLst/>
          </a:prstGeom>
          <a:noFill/>
        </p:spPr>
        <p:txBody>
          <a:bodyPr wrap="square">
            <a:spAutoFit/>
          </a:bodyPr>
          <a:lstStyle/>
          <a:p>
            <a:r>
              <a:rPr lang="en-PK" sz="1000" dirty="0"/>
              <a:t>buffer =[10];</a:t>
            </a:r>
          </a:p>
          <a:p>
            <a:r>
              <a:rPr lang="en-PK" sz="1000" dirty="0"/>
              <a:t>in =0;</a:t>
            </a:r>
          </a:p>
          <a:p>
            <a:r>
              <a:rPr lang="en-PK" sz="1000" dirty="0"/>
              <a:t>out =0;</a:t>
            </a:r>
          </a:p>
          <a:p>
            <a:r>
              <a:rPr lang="en-PK" sz="1000" dirty="0"/>
              <a:t>empty =10;</a:t>
            </a:r>
          </a:p>
          <a:p>
            <a:r>
              <a:rPr lang="en-PK" sz="1000" dirty="0"/>
              <a:t>full =0;</a:t>
            </a:r>
          </a:p>
          <a:p>
            <a:endParaRPr lang="en-PK" sz="1000" dirty="0"/>
          </a:p>
          <a:p>
            <a:r>
              <a:rPr lang="en-PK" sz="1000" dirty="0"/>
              <a:t>producer() //sender</a:t>
            </a:r>
          </a:p>
          <a:p>
            <a:r>
              <a:rPr lang="en-PK" sz="1000" dirty="0"/>
              <a:t>{</a:t>
            </a:r>
          </a:p>
          <a:p>
            <a:r>
              <a:rPr lang="en-PK" sz="1000" dirty="0"/>
              <a:t>	</a:t>
            </a:r>
          </a:p>
          <a:p>
            <a:r>
              <a:rPr lang="en-PK" sz="1000" dirty="0"/>
              <a:t>	wait(&amp;empty);</a:t>
            </a:r>
          </a:p>
          <a:p>
            <a:r>
              <a:rPr lang="en-PK" sz="1000" dirty="0"/>
              <a:t>	buffer [in] = </a:t>
            </a:r>
            <a:r>
              <a:rPr lang="en-PK" sz="1000" dirty="0" err="1"/>
              <a:t>getdata</a:t>
            </a:r>
            <a:r>
              <a:rPr lang="en-PK" sz="1000" dirty="0"/>
              <a:t>();</a:t>
            </a:r>
          </a:p>
          <a:p>
            <a:r>
              <a:rPr lang="en-PK" sz="1000" dirty="0"/>
              <a:t>	in =(in + 1)%10;</a:t>
            </a:r>
          </a:p>
          <a:p>
            <a:r>
              <a:rPr lang="en-PK" sz="1000" dirty="0"/>
              <a:t>	signal(&amp;full);</a:t>
            </a:r>
          </a:p>
          <a:p>
            <a:endParaRPr lang="en-PK" sz="1000" dirty="0"/>
          </a:p>
          <a:p>
            <a:endParaRPr lang="en-PK" sz="1000" dirty="0"/>
          </a:p>
          <a:p>
            <a:r>
              <a:rPr lang="en-PK" sz="1000" dirty="0"/>
              <a:t>}</a:t>
            </a:r>
          </a:p>
          <a:p>
            <a:r>
              <a:rPr lang="en-PK" sz="1000" dirty="0"/>
              <a:t>Consumer() //receiver</a:t>
            </a:r>
          </a:p>
          <a:p>
            <a:r>
              <a:rPr lang="en-PK" sz="1000" dirty="0"/>
              <a:t>{</a:t>
            </a:r>
          </a:p>
          <a:p>
            <a:r>
              <a:rPr lang="en-PK" sz="1000" dirty="0"/>
              <a:t>	wait(&amp;full);</a:t>
            </a:r>
          </a:p>
          <a:p>
            <a:r>
              <a:rPr lang="en-PK" sz="1000" dirty="0"/>
              <a:t>	</a:t>
            </a:r>
            <a:r>
              <a:rPr lang="en-PK" sz="1000" dirty="0" err="1"/>
              <a:t>cout</a:t>
            </a:r>
            <a:r>
              <a:rPr lang="en-PK" sz="1000" dirty="0"/>
              <a:t>&lt;&lt;buffer{out};</a:t>
            </a:r>
          </a:p>
          <a:p>
            <a:r>
              <a:rPr lang="en-PK" sz="1000" dirty="0"/>
              <a:t>	out = (out+1)%10;</a:t>
            </a:r>
          </a:p>
          <a:p>
            <a:endParaRPr lang="en-PK" sz="1000" dirty="0"/>
          </a:p>
          <a:p>
            <a:r>
              <a:rPr lang="en-PK" sz="1000" dirty="0"/>
              <a:t>	signal wait(&amp;empty);</a:t>
            </a:r>
          </a:p>
          <a:p>
            <a:endParaRPr lang="en-PK" sz="1000" dirty="0"/>
          </a:p>
          <a:p>
            <a:r>
              <a:rPr lang="en-PK" sz="1000" dirty="0"/>
              <a:t>}</a:t>
            </a:r>
          </a:p>
        </p:txBody>
      </p:sp>
    </p:spTree>
    <p:extLst>
      <p:ext uri="{BB962C8B-B14F-4D97-AF65-F5344CB8AC3E}">
        <p14:creationId xmlns:p14="http://schemas.microsoft.com/office/powerpoint/2010/main" val="1429607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Dining </a:t>
            </a:r>
            <a:r>
              <a:rPr lang="en-US" dirty="0" smtClean="0"/>
              <a:t>Philosopher</a:t>
            </a:r>
            <a:endParaRPr lang="en-US" dirty="0"/>
          </a:p>
        </p:txBody>
      </p:sp>
      <p:sp>
        <p:nvSpPr>
          <p:cNvPr id="3" name="TextBox 2">
            <a:extLst>
              <a:ext uri="{FF2B5EF4-FFF2-40B4-BE49-F238E27FC236}">
                <a16:creationId xmlns:a16="http://schemas.microsoft.com/office/drawing/2014/main" id="{1A6C2BDA-2A15-7A95-8A4B-EE4ED54FD2EE}"/>
              </a:ext>
            </a:extLst>
          </p:cNvPr>
          <p:cNvSpPr txBox="1"/>
          <p:nvPr/>
        </p:nvSpPr>
        <p:spPr>
          <a:xfrm>
            <a:off x="1835696" y="699542"/>
            <a:ext cx="6097554" cy="4247317"/>
          </a:xfrm>
          <a:prstGeom prst="rect">
            <a:avLst/>
          </a:prstGeom>
          <a:noFill/>
        </p:spPr>
        <p:txBody>
          <a:bodyPr wrap="square">
            <a:spAutoFit/>
          </a:bodyPr>
          <a:lstStyle/>
          <a:p>
            <a:endParaRPr lang="en-US" dirty="0"/>
          </a:p>
          <a:p>
            <a:r>
              <a:rPr lang="en-US" dirty="0"/>
              <a:t>semaphore chopstick[5];</a:t>
            </a:r>
          </a:p>
          <a:p>
            <a:r>
              <a:rPr lang="en-US" dirty="0"/>
              <a:t>5.8 Monitors 223</a:t>
            </a:r>
          </a:p>
          <a:p>
            <a:r>
              <a:rPr lang="en-US" dirty="0"/>
              <a:t>do {</a:t>
            </a:r>
          </a:p>
          <a:p>
            <a:r>
              <a:rPr lang="en-US" dirty="0"/>
              <a:t>wait(chopstick[</a:t>
            </a:r>
            <a:r>
              <a:rPr lang="en-US" dirty="0" err="1"/>
              <a:t>i</a:t>
            </a:r>
            <a:r>
              <a:rPr lang="en-US" dirty="0"/>
              <a:t>]);</a:t>
            </a:r>
          </a:p>
          <a:p>
            <a:r>
              <a:rPr lang="en-US" dirty="0"/>
              <a:t>wait(chopstick[(i+1) % 5]);</a:t>
            </a:r>
          </a:p>
          <a:p>
            <a:r>
              <a:rPr lang="en-US" dirty="0"/>
              <a:t>...</a:t>
            </a:r>
          </a:p>
          <a:p>
            <a:r>
              <a:rPr lang="en-US" dirty="0"/>
              <a:t>/* eat for awhile */</a:t>
            </a:r>
          </a:p>
          <a:p>
            <a:r>
              <a:rPr lang="en-US" dirty="0"/>
              <a:t>...</a:t>
            </a:r>
          </a:p>
          <a:p>
            <a:r>
              <a:rPr lang="en-US" dirty="0"/>
              <a:t>signal(chopstick[</a:t>
            </a:r>
            <a:r>
              <a:rPr lang="en-US" dirty="0" err="1"/>
              <a:t>i</a:t>
            </a:r>
            <a:r>
              <a:rPr lang="en-US" dirty="0"/>
              <a:t>]);</a:t>
            </a:r>
          </a:p>
          <a:p>
            <a:r>
              <a:rPr lang="en-US" dirty="0"/>
              <a:t>signal(chopstick[(i+1) % 5]);</a:t>
            </a:r>
          </a:p>
          <a:p>
            <a:r>
              <a:rPr lang="en-US" dirty="0"/>
              <a:t>...</a:t>
            </a:r>
          </a:p>
          <a:p>
            <a:r>
              <a:rPr lang="en-US" dirty="0"/>
              <a:t>/* think for awhile */</a:t>
            </a:r>
          </a:p>
          <a:p>
            <a:r>
              <a:rPr lang="en-US" dirty="0"/>
              <a:t>...</a:t>
            </a:r>
          </a:p>
          <a:p>
            <a:r>
              <a:rPr lang="en-US" dirty="0"/>
              <a:t>} while (true);</a:t>
            </a:r>
          </a:p>
        </p:txBody>
      </p:sp>
    </p:spTree>
    <p:extLst>
      <p:ext uri="{BB962C8B-B14F-4D97-AF65-F5344CB8AC3E}">
        <p14:creationId xmlns:p14="http://schemas.microsoft.com/office/powerpoint/2010/main" val="3695321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H2O </a:t>
            </a:r>
            <a:endParaRPr lang="en-US" dirty="0"/>
          </a:p>
        </p:txBody>
      </p:sp>
      <p:sp>
        <p:nvSpPr>
          <p:cNvPr id="3" name="Rectangle 2"/>
          <p:cNvSpPr/>
          <p:nvPr/>
        </p:nvSpPr>
        <p:spPr>
          <a:xfrm>
            <a:off x="971600" y="699542"/>
            <a:ext cx="4464496" cy="4278094"/>
          </a:xfrm>
          <a:prstGeom prst="rect">
            <a:avLst/>
          </a:prstGeom>
        </p:spPr>
        <p:txBody>
          <a:bodyPr wrap="square">
            <a:spAutoFit/>
          </a:bodyPr>
          <a:lstStyle/>
          <a:p>
            <a:pPr algn="just" latinLnBrk="0"/>
            <a:r>
              <a:rPr lang="en-US" sz="1600" dirty="0"/>
              <a:t>There are two kinds of threads, oxygen and hydrogen. In order to assemble these threads into water molecules, we have to create a barrier that makes each thread wait until a complete molecule is ready to proceed. As each thread passes the barrier, it should invoke bond. You must guarantee that all the threads from one molecule invoke bond before any of the threads from the next molecule do. In other words: </a:t>
            </a:r>
            <a:endParaRPr lang="en-US" sz="1600" dirty="0" smtClean="0"/>
          </a:p>
          <a:p>
            <a:pPr lvl="1" algn="just" latinLnBrk="0"/>
            <a:r>
              <a:rPr lang="en-US" sz="1600" dirty="0" smtClean="0"/>
              <a:t>•  If </a:t>
            </a:r>
            <a:r>
              <a:rPr lang="en-US" sz="1600" dirty="0"/>
              <a:t>an oxygen thread arrives at the barrier when no hydrogen threads are present, it has to wait for two hydrogen threads. </a:t>
            </a:r>
            <a:endParaRPr lang="en-US" sz="1600" dirty="0" smtClean="0"/>
          </a:p>
          <a:p>
            <a:pPr lvl="1" algn="just" latinLnBrk="0"/>
            <a:r>
              <a:rPr lang="en-US" sz="1600" dirty="0" smtClean="0"/>
              <a:t>• </a:t>
            </a:r>
            <a:r>
              <a:rPr lang="en-US" sz="1600" dirty="0"/>
              <a:t>If a hydrogen thread arrives at the barrier when no other threads are present, it has to wait for an oxygen thread and another hydrogen thread.</a:t>
            </a:r>
          </a:p>
        </p:txBody>
      </p:sp>
      <p:pic>
        <p:nvPicPr>
          <p:cNvPr id="14338" name="Picture 2" descr="https://i.stack.imgur.com/E5wRT.jpg"/>
          <p:cNvPicPr>
            <a:picLocks noChangeAspect="1" noChangeArrowheads="1"/>
          </p:cNvPicPr>
          <p:nvPr/>
        </p:nvPicPr>
        <p:blipFill rotWithShape="1">
          <a:blip r:embed="rId2">
            <a:extLst>
              <a:ext uri="{28A0092B-C50C-407E-A947-70E740481C1C}">
                <a14:useLocalDpi xmlns:a14="http://schemas.microsoft.com/office/drawing/2010/main" val="0"/>
              </a:ext>
            </a:extLst>
          </a:blip>
          <a:srcRect l="10236" r="9795"/>
          <a:stretch/>
        </p:blipFill>
        <p:spPr bwMode="auto">
          <a:xfrm>
            <a:off x="5436096" y="1317282"/>
            <a:ext cx="3672408" cy="3774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037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 </a:t>
            </a:r>
            <a:r>
              <a:rPr lang="en-US" dirty="0" smtClean="0"/>
              <a:t>Variable</a:t>
            </a:r>
            <a:endParaRPr lang="en-US" dirty="0"/>
          </a:p>
        </p:txBody>
      </p:sp>
      <p:sp>
        <p:nvSpPr>
          <p:cNvPr id="3" name="Rectangle 2"/>
          <p:cNvSpPr/>
          <p:nvPr/>
        </p:nvSpPr>
        <p:spPr>
          <a:xfrm>
            <a:off x="1187624" y="699542"/>
            <a:ext cx="7776864" cy="2462213"/>
          </a:xfrm>
          <a:prstGeom prst="rect">
            <a:avLst/>
          </a:prstGeom>
        </p:spPr>
        <p:txBody>
          <a:bodyPr wrap="square">
            <a:spAutoFit/>
          </a:bodyPr>
          <a:lstStyle/>
          <a:p>
            <a:pPr fontAlgn="base" latinLnBrk="0"/>
            <a:r>
              <a:rPr lang="en-US" sz="1400" b="1" dirty="0" smtClean="0">
                <a:solidFill>
                  <a:srgbClr val="273239"/>
                </a:solidFill>
                <a:latin typeface="Nunito"/>
                <a:hlinkClick r:id="rId2"/>
              </a:rPr>
              <a:t>Semaphore</a:t>
            </a:r>
            <a:r>
              <a:rPr lang="en-US" sz="1400" dirty="0">
                <a:solidFill>
                  <a:srgbClr val="273239"/>
                </a:solidFill>
                <a:latin typeface="Nunito"/>
              </a:rPr>
              <a:t/>
            </a:r>
            <a:br>
              <a:rPr lang="en-US" sz="1400" dirty="0">
                <a:solidFill>
                  <a:srgbClr val="273239"/>
                </a:solidFill>
                <a:latin typeface="Nunito"/>
              </a:rPr>
            </a:br>
            <a:r>
              <a:rPr lang="en-US" sz="1400" dirty="0">
                <a:solidFill>
                  <a:srgbClr val="273239"/>
                </a:solidFill>
                <a:latin typeface="Nunito"/>
              </a:rPr>
              <a:t>Semaphore, as name suggests, is basically an object that includes counter, waiting list of process and supports two different operations i.e., wait and signal. Its type includes counting semaphores and binary semaphores. It is simply a synchronization tool that can be used to deal with critical-section problem. It provides simple abstraction for controlling access to a common resource in programming </a:t>
            </a:r>
            <a:r>
              <a:rPr lang="en-US" sz="1400" dirty="0" smtClean="0">
                <a:solidFill>
                  <a:srgbClr val="273239"/>
                </a:solidFill>
                <a:latin typeface="Nunito"/>
              </a:rPr>
              <a:t>environment.</a:t>
            </a:r>
          </a:p>
          <a:p>
            <a:pPr fontAlgn="base" latinLnBrk="0"/>
            <a:r>
              <a:rPr lang="en-US" sz="1400" b="1" dirty="0" smtClean="0">
                <a:solidFill>
                  <a:srgbClr val="273239"/>
                </a:solidFill>
                <a:latin typeface="Nunito"/>
              </a:rPr>
              <a:t>Condition Variable</a:t>
            </a:r>
            <a:r>
              <a:rPr lang="en-US" sz="1400" dirty="0">
                <a:solidFill>
                  <a:srgbClr val="273239"/>
                </a:solidFill>
                <a:latin typeface="Nunito"/>
              </a:rPr>
              <a:t/>
            </a:r>
            <a:br>
              <a:rPr lang="en-US" sz="1400" dirty="0">
                <a:solidFill>
                  <a:srgbClr val="273239"/>
                </a:solidFill>
                <a:latin typeface="Nunito"/>
              </a:rPr>
            </a:br>
            <a:r>
              <a:rPr lang="en-US" sz="1400" dirty="0">
                <a:solidFill>
                  <a:srgbClr val="273239"/>
                </a:solidFill>
                <a:latin typeface="Nunito"/>
              </a:rPr>
              <a:t>Condition Variable, as name suggests, is simply a synchronization primitive that allows threads to wait until particular condition occurs. It includes two operations i.e., wait and signal. It just allows thread to be signaled when something of interest to that threads occurs and is mostly used when one wants to know when something happens.</a:t>
            </a:r>
            <a:endParaRPr lang="en-US" sz="1400" b="0" i="0" dirty="0">
              <a:solidFill>
                <a:srgbClr val="273239"/>
              </a:solidFill>
              <a:effectLst/>
              <a:latin typeface="Nunito"/>
            </a:endParaRPr>
          </a:p>
        </p:txBody>
      </p:sp>
    </p:spTree>
    <p:extLst>
      <p:ext uri="{BB962C8B-B14F-4D97-AF65-F5344CB8AC3E}">
        <p14:creationId xmlns:p14="http://schemas.microsoft.com/office/powerpoint/2010/main" val="21521098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 Variable</a:t>
            </a:r>
          </a:p>
        </p:txBody>
      </p:sp>
      <p:graphicFrame>
        <p:nvGraphicFramePr>
          <p:cNvPr id="3" name="Table 2"/>
          <p:cNvGraphicFramePr>
            <a:graphicFrameLocks noGrp="1"/>
          </p:cNvGraphicFramePr>
          <p:nvPr>
            <p:extLst>
              <p:ext uri="{D42A27DB-BD31-4B8C-83A1-F6EECF244321}">
                <p14:modId xmlns:p14="http://schemas.microsoft.com/office/powerpoint/2010/main" val="627961621"/>
              </p:ext>
            </p:extLst>
          </p:nvPr>
        </p:nvGraphicFramePr>
        <p:xfrm>
          <a:off x="1043608" y="919728"/>
          <a:ext cx="7992890" cy="3884270"/>
        </p:xfrm>
        <a:graphic>
          <a:graphicData uri="http://schemas.openxmlformats.org/drawingml/2006/table">
            <a:tbl>
              <a:tblPr>
                <a:tableStyleId>{5940675A-B579-460E-94D1-54222C63F5DA}</a:tableStyleId>
              </a:tblPr>
              <a:tblGrid>
                <a:gridCol w="3996445">
                  <a:extLst>
                    <a:ext uri="{9D8B030D-6E8A-4147-A177-3AD203B41FA5}">
                      <a16:colId xmlns:a16="http://schemas.microsoft.com/office/drawing/2014/main" val="2013283960"/>
                    </a:ext>
                  </a:extLst>
                </a:gridCol>
                <a:gridCol w="3996445">
                  <a:extLst>
                    <a:ext uri="{9D8B030D-6E8A-4147-A177-3AD203B41FA5}">
                      <a16:colId xmlns:a16="http://schemas.microsoft.com/office/drawing/2014/main" val="1175448617"/>
                    </a:ext>
                  </a:extLst>
                </a:gridCol>
              </a:tblGrid>
              <a:tr h="74477">
                <a:tc>
                  <a:txBody>
                    <a:bodyPr/>
                    <a:lstStyle/>
                    <a:p>
                      <a:pPr algn="ctr" fontAlgn="ctr" latinLnBrk="0"/>
                      <a:r>
                        <a:rPr lang="en-US" sz="1200" b="1" u="none" strike="noStrike" dirty="0">
                          <a:effectLst/>
                        </a:rPr>
                        <a:t>Semaphore </a:t>
                      </a:r>
                      <a:endParaRPr lang="en-US" sz="1200" b="1" i="0" u="none" strike="noStrike" dirty="0">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latinLnBrk="0"/>
                      <a:r>
                        <a:rPr lang="en-US" sz="1200" b="1" u="none" strike="noStrike" dirty="0">
                          <a:effectLst/>
                        </a:rPr>
                        <a:t>Condition Variable  </a:t>
                      </a:r>
                      <a:endParaRPr lang="en-US" sz="1200" b="1" i="0" u="none" strike="noStrike" dirty="0">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3023826428"/>
                  </a:ext>
                </a:extLst>
              </a:tr>
              <a:tr h="507797">
                <a:tc>
                  <a:txBody>
                    <a:bodyPr/>
                    <a:lstStyle/>
                    <a:p>
                      <a:pPr algn="just" fontAlgn="ctr" latinLnBrk="0"/>
                      <a:r>
                        <a:rPr lang="en-US" sz="1200" u="none" strike="noStrike">
                          <a:effectLst/>
                        </a:rPr>
                        <a:t>It does not allow threads to wait. Instead, each thread keeps running and last thread that will set semaphore value to zero will go to sleep.</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fontAlgn="ctr" latinLnBrk="0"/>
                      <a:r>
                        <a:rPr lang="en-US" sz="1200" u="none" strike="noStrike">
                          <a:effectLst/>
                        </a:rPr>
                        <a:t>It allows threads to wait until particular condition occurs.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678048"/>
                  </a:ext>
                </a:extLst>
              </a:tr>
              <a:tr h="310320">
                <a:tc>
                  <a:txBody>
                    <a:bodyPr/>
                    <a:lstStyle/>
                    <a:p>
                      <a:pPr algn="just" fontAlgn="ctr" latinLnBrk="0"/>
                      <a:r>
                        <a:rPr lang="en-US" sz="1200" u="none" strike="noStrike">
                          <a:effectLst/>
                        </a:rPr>
                        <a:t>It is generally used to solve problem of some critical sections in process synchronization.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fontAlgn="ctr" latinLnBrk="0"/>
                      <a:r>
                        <a:rPr lang="en-US" sz="1200" u="none" strike="noStrike">
                          <a:effectLst/>
                        </a:rPr>
                        <a:t>It is generally used with mutex to signal changing states from one thread to another one.</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83745372"/>
                  </a:ext>
                </a:extLst>
              </a:tr>
              <a:tr h="592430">
                <a:tc>
                  <a:txBody>
                    <a:bodyPr/>
                    <a:lstStyle/>
                    <a:p>
                      <a:pPr algn="just" fontAlgn="ctr" latinLnBrk="0"/>
                      <a:r>
                        <a:rPr lang="en-US" sz="1200" u="none" strike="noStrike">
                          <a:effectLst/>
                        </a:rPr>
                        <a:t>Its main aim is to control access to common resource by multiple processes and avoid critical section problems in concurrent system like multitasking operating system.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fontAlgn="ctr" latinLnBrk="0"/>
                      <a:r>
                        <a:rPr lang="en-US" sz="1200" u="none" strike="noStrike">
                          <a:effectLst/>
                        </a:rPr>
                        <a:t>Its main aim is to support operations that wake one or wake all waiting threads.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81522076"/>
                  </a:ext>
                </a:extLst>
              </a:tr>
              <a:tr h="169266">
                <a:tc>
                  <a:txBody>
                    <a:bodyPr/>
                    <a:lstStyle/>
                    <a:p>
                      <a:pPr algn="just" fontAlgn="ctr" latinLnBrk="0"/>
                      <a:r>
                        <a:rPr lang="en-US" sz="1200" u="none" strike="noStrike">
                          <a:effectLst/>
                        </a:rPr>
                        <a:t>It can be used anywhere except in a monitor.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fontAlgn="ctr" latinLnBrk="0"/>
                      <a:r>
                        <a:rPr lang="en-US" sz="1200" u="none" strike="noStrike">
                          <a:effectLst/>
                        </a:rPr>
                        <a:t>It can only be used in monitors.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0057634"/>
                  </a:ext>
                </a:extLst>
              </a:tr>
              <a:tr h="169266">
                <a:tc>
                  <a:txBody>
                    <a:bodyPr/>
                    <a:lstStyle/>
                    <a:p>
                      <a:pPr algn="just" fontAlgn="ctr" latinLnBrk="0"/>
                      <a:r>
                        <a:rPr lang="en-US" sz="1200" u="none" strike="noStrike">
                          <a:effectLst/>
                        </a:rPr>
                        <a:t>In this, wait () does not always block its caller.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fontAlgn="ctr" latinLnBrk="0"/>
                      <a:r>
                        <a:rPr lang="en-US" sz="1200" u="none" strike="noStrike">
                          <a:effectLst/>
                        </a:rPr>
                        <a:t>In this, wait () usually blocks its caller always.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8151851"/>
                  </a:ext>
                </a:extLst>
              </a:tr>
              <a:tr h="423164">
                <a:tc>
                  <a:txBody>
                    <a:bodyPr/>
                    <a:lstStyle/>
                    <a:p>
                      <a:pPr algn="just" fontAlgn="ctr" latinLnBrk="0"/>
                      <a:r>
                        <a:rPr lang="en-US" sz="1200" u="none" strike="noStrike">
                          <a:effectLst/>
                        </a:rPr>
                        <a:t>They are sticky as they have memory and sem_post() will increment semaphore even if no one has called sem_wait().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fontAlgn="ctr" latinLnBrk="0"/>
                      <a:r>
                        <a:rPr lang="en-US" sz="1200" u="none" strike="noStrike">
                          <a:effectLst/>
                        </a:rPr>
                        <a:t>They are non-sticky as signal () is not saved if there is no one waiting for signal ().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3689853"/>
                  </a:ext>
                </a:extLst>
              </a:tr>
              <a:tr h="169266">
                <a:tc>
                  <a:txBody>
                    <a:bodyPr/>
                    <a:lstStyle/>
                    <a:p>
                      <a:pPr algn="just" fontAlgn="ctr" latinLnBrk="0"/>
                      <a:r>
                        <a:rPr lang="en-US" sz="1200" u="none" strike="noStrike" dirty="0">
                          <a:effectLst/>
                        </a:rPr>
                        <a:t>It is simply a counter + </a:t>
                      </a:r>
                      <a:r>
                        <a:rPr lang="en-US" sz="1200" u="none" strike="noStrike" dirty="0" err="1">
                          <a:effectLst/>
                        </a:rPr>
                        <a:t>mutex</a:t>
                      </a:r>
                      <a:r>
                        <a:rPr lang="en-US" sz="1200" u="none" strike="noStrike" dirty="0">
                          <a:effectLst/>
                        </a:rPr>
                        <a:t> + wait queue.  </a:t>
                      </a:r>
                      <a:endParaRPr lang="en-US" sz="1200" b="0" i="0" u="none" strike="noStrike" dirty="0">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fontAlgn="ctr" latinLnBrk="0"/>
                      <a:r>
                        <a:rPr lang="en-US" sz="1200" u="none" strike="noStrike">
                          <a:effectLst/>
                        </a:rPr>
                        <a:t>It is simply a wait-queue.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9833156"/>
                  </a:ext>
                </a:extLst>
              </a:tr>
              <a:tr h="310320">
                <a:tc>
                  <a:txBody>
                    <a:bodyPr/>
                    <a:lstStyle/>
                    <a:p>
                      <a:pPr algn="just" fontAlgn="ctr" latinLnBrk="0"/>
                      <a:r>
                        <a:rPr lang="en-US" sz="1200" u="none" strike="noStrike">
                          <a:effectLst/>
                        </a:rPr>
                        <a:t>It can be used as a conditional variable and therefore is more lightweight and flexible.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fontAlgn="ctr" latinLnBrk="0"/>
                      <a:r>
                        <a:rPr lang="en-US" sz="1200" u="none" strike="noStrike">
                          <a:effectLst/>
                        </a:rPr>
                        <a:t>It cannot be used as a semaphore and therefore is not flexible.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3226693"/>
                  </a:ext>
                </a:extLst>
              </a:tr>
              <a:tr h="310320">
                <a:tc>
                  <a:txBody>
                    <a:bodyPr/>
                    <a:lstStyle/>
                    <a:p>
                      <a:pPr algn="just" fontAlgn="ctr" latinLnBrk="0"/>
                      <a:r>
                        <a:rPr lang="en-US" sz="1200" u="none" strike="noStrike">
                          <a:effectLst/>
                        </a:rPr>
                        <a:t>In this, we cannot unlock all waiting threads in same instant using broadcast unlocking.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fontAlgn="ctr" latinLnBrk="0"/>
                      <a:r>
                        <a:rPr lang="en-US" sz="1200" u="none" strike="noStrike">
                          <a:effectLst/>
                        </a:rPr>
                        <a:t>In this, we can unlock all waiting threads in same instant using broadcast unlocking.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4385215"/>
                  </a:ext>
                </a:extLst>
              </a:tr>
              <a:tr h="225687">
                <a:tc>
                  <a:txBody>
                    <a:bodyPr/>
                    <a:lstStyle/>
                    <a:p>
                      <a:pPr algn="just" fontAlgn="ctr" latinLnBrk="0"/>
                      <a:r>
                        <a:rPr lang="en-US" sz="1200" u="none" strike="noStrike">
                          <a:effectLst/>
                        </a:rPr>
                        <a:t>Signals are not lost even if there is nobody waiting on the queue.  </a:t>
                      </a:r>
                      <a:endParaRPr lang="en-US" sz="1200" b="0" i="0" u="none" strike="noStrike">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fontAlgn="ctr" latinLnBrk="0"/>
                      <a:r>
                        <a:rPr lang="en-US" sz="1200" u="none" strike="noStrike" dirty="0">
                          <a:effectLst/>
                        </a:rPr>
                        <a:t>Signals are lost if there is nobody waiting on the queue. </a:t>
                      </a:r>
                      <a:endParaRPr lang="en-US" sz="1200" b="0" i="0" u="none" strike="noStrike" dirty="0">
                        <a:solidFill>
                          <a:srgbClr val="273239"/>
                        </a:solidFill>
                        <a:effectLst/>
                        <a:latin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4986621"/>
                  </a:ext>
                </a:extLst>
              </a:tr>
            </a:tbl>
          </a:graphicData>
        </a:graphic>
      </p:graphicFrame>
    </p:spTree>
    <p:extLst>
      <p:ext uri="{BB962C8B-B14F-4D97-AF65-F5344CB8AC3E}">
        <p14:creationId xmlns:p14="http://schemas.microsoft.com/office/powerpoint/2010/main" val="21008881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835944" y="253603"/>
            <a:ext cx="5822156" cy="432197"/>
          </a:xfrm>
        </p:spPr>
        <p:txBody>
          <a:bodyPr>
            <a:normAutofit fontScale="90000"/>
          </a:bodyPr>
          <a:lstStyle/>
          <a:p>
            <a:pPr eaLnBrk="1" hangingPunct="1"/>
            <a:r>
              <a:rPr lang="en-US" altLang="en-US" smtClean="0">
                <a:latin typeface="Calibri" pitchFamily="34" charset="0"/>
                <a:cs typeface="Calibri" pitchFamily="34" charset="0"/>
              </a:rPr>
              <a:t>Deadlock Avoidance</a:t>
            </a:r>
          </a:p>
        </p:txBody>
      </p:sp>
      <p:sp>
        <p:nvSpPr>
          <p:cNvPr id="20483" name="Rectangle 3"/>
          <p:cNvSpPr>
            <a:spLocks noGrp="1" noChangeArrowheads="1"/>
          </p:cNvSpPr>
          <p:nvPr>
            <p:ph type="body" idx="1"/>
          </p:nvPr>
        </p:nvSpPr>
        <p:spPr>
          <a:xfrm>
            <a:off x="107504" y="1360885"/>
            <a:ext cx="8856984" cy="2837259"/>
          </a:xfrm>
        </p:spPr>
        <p:txBody>
          <a:bodyPr>
            <a:normAutofit fontScale="70000" lnSpcReduction="20000"/>
          </a:bodyPr>
          <a:lstStyle/>
          <a:p>
            <a:r>
              <a:rPr lang="en-US" altLang="en-US" dirty="0" smtClean="0">
                <a:latin typeface="Calibri" pitchFamily="34" charset="0"/>
                <a:cs typeface="Calibri" pitchFamily="34" charset="0"/>
              </a:rPr>
              <a:t>Simplest and most useful model requires that each process declare the </a:t>
            </a:r>
            <a:r>
              <a:rPr lang="en-US" altLang="en-US" b="1" i="1" dirty="0" smtClean="0">
                <a:latin typeface="Calibri" pitchFamily="34" charset="0"/>
                <a:cs typeface="Calibri" pitchFamily="34" charset="0"/>
              </a:rPr>
              <a:t>maximum number</a:t>
            </a:r>
            <a:r>
              <a:rPr lang="en-US" altLang="en-US" b="1" dirty="0" smtClean="0">
                <a:latin typeface="Calibri" pitchFamily="34" charset="0"/>
                <a:cs typeface="Calibri" pitchFamily="34" charset="0"/>
              </a:rPr>
              <a:t> </a:t>
            </a:r>
            <a:r>
              <a:rPr lang="en-US" altLang="en-US" dirty="0" smtClean="0">
                <a:latin typeface="Calibri" pitchFamily="34" charset="0"/>
                <a:cs typeface="Calibri" pitchFamily="34" charset="0"/>
              </a:rPr>
              <a:t>of resources of each type that it may need</a:t>
            </a:r>
          </a:p>
          <a:p>
            <a:r>
              <a:rPr lang="en-US" altLang="en-US" dirty="0" smtClean="0">
                <a:latin typeface="Calibri" pitchFamily="34" charset="0"/>
                <a:cs typeface="Calibri" pitchFamily="34" charset="0"/>
              </a:rPr>
              <a:t>The deadlock-avoidance algorithm dynamically examines the resource-allocation state to ensure that there can never be a circular-wait condition</a:t>
            </a:r>
          </a:p>
          <a:p>
            <a:r>
              <a:rPr lang="en-US" altLang="en-US" dirty="0" smtClean="0">
                <a:latin typeface="Calibri" pitchFamily="34" charset="0"/>
                <a:cs typeface="Calibri" pitchFamily="34" charset="0"/>
              </a:rPr>
              <a:t>Resource-allocation </a:t>
            </a:r>
            <a:r>
              <a:rPr lang="en-US" altLang="en-US" i="1" dirty="0" smtClean="0">
                <a:latin typeface="Calibri" pitchFamily="34" charset="0"/>
                <a:cs typeface="Calibri" pitchFamily="34" charset="0"/>
              </a:rPr>
              <a:t>state</a:t>
            </a:r>
            <a:r>
              <a:rPr lang="en-US" altLang="en-US" dirty="0" smtClean="0">
                <a:latin typeface="Calibri" pitchFamily="34" charset="0"/>
                <a:cs typeface="Calibri" pitchFamily="34" charset="0"/>
              </a:rPr>
              <a:t> is defined by the number of available and allocated resources, and the maximum demands of the processes</a:t>
            </a:r>
          </a:p>
        </p:txBody>
      </p:sp>
      <p:sp>
        <p:nvSpPr>
          <p:cNvPr id="20484" name="Text Box 4"/>
          <p:cNvSpPr txBox="1">
            <a:spLocks noChangeArrowheads="1"/>
          </p:cNvSpPr>
          <p:nvPr/>
        </p:nvSpPr>
        <p:spPr bwMode="auto">
          <a:xfrm>
            <a:off x="1314451" y="914378"/>
            <a:ext cx="652105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pPr>
            <a:r>
              <a:rPr lang="en-US" altLang="en-US" sz="1350" dirty="0">
                <a:latin typeface="Calibri" pitchFamily="34" charset="0"/>
                <a:cs typeface="Calibri" pitchFamily="34" charset="0"/>
              </a:rPr>
              <a:t>Requires that the system has some additional </a:t>
            </a:r>
            <a:r>
              <a:rPr lang="en-US" altLang="en-US" sz="1350" b="1" i="1" dirty="0">
                <a:latin typeface="Calibri" pitchFamily="34" charset="0"/>
                <a:cs typeface="Calibri" pitchFamily="34" charset="0"/>
              </a:rPr>
              <a:t>a priori </a:t>
            </a:r>
            <a:r>
              <a:rPr lang="en-US" altLang="en-US" sz="1350" dirty="0">
                <a:latin typeface="Calibri" pitchFamily="34" charset="0"/>
                <a:cs typeface="Calibri" pitchFamily="34" charset="0"/>
              </a:rPr>
              <a:t>information available</a:t>
            </a:r>
            <a:endParaRPr lang="en-US" altLang="en-US" sz="1350" dirty="0">
              <a:latin typeface="Calibri" pitchFamily="34" charset="0"/>
              <a:cs typeface="Calibri" pitchFamily="34" charset="0"/>
            </a:endParaRPr>
          </a:p>
        </p:txBody>
      </p:sp>
    </p:spTree>
    <p:extLst>
      <p:ext uri="{BB962C8B-B14F-4D97-AF65-F5344CB8AC3E}">
        <p14:creationId xmlns:p14="http://schemas.microsoft.com/office/powerpoint/2010/main" val="2568334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485900" y="253603"/>
            <a:ext cx="6172200" cy="432197"/>
          </a:xfrm>
        </p:spPr>
        <p:txBody>
          <a:bodyPr>
            <a:normAutofit fontScale="90000"/>
          </a:bodyPr>
          <a:lstStyle/>
          <a:p>
            <a:pPr eaLnBrk="1" hangingPunct="1"/>
            <a:r>
              <a:rPr lang="en-US" altLang="en-US" dirty="0" smtClean="0">
                <a:latin typeface="Calibri" pitchFamily="34" charset="0"/>
                <a:cs typeface="Calibri" pitchFamily="34" charset="0"/>
              </a:rPr>
              <a:t>Safe State</a:t>
            </a:r>
          </a:p>
        </p:txBody>
      </p:sp>
      <p:sp>
        <p:nvSpPr>
          <p:cNvPr id="21507" name="Rectangle 3"/>
          <p:cNvSpPr>
            <a:spLocks noGrp="1" noChangeArrowheads="1"/>
          </p:cNvSpPr>
          <p:nvPr>
            <p:ph type="body" idx="1"/>
          </p:nvPr>
        </p:nvSpPr>
        <p:spPr>
          <a:xfrm>
            <a:off x="467544" y="873919"/>
            <a:ext cx="8280920" cy="3748088"/>
          </a:xfrm>
        </p:spPr>
        <p:txBody>
          <a:bodyPr>
            <a:normAutofit fontScale="70000" lnSpcReduction="20000"/>
          </a:bodyPr>
          <a:lstStyle/>
          <a:p>
            <a:r>
              <a:rPr lang="en-US" altLang="en-US" dirty="0" smtClean="0">
                <a:latin typeface="Calibri" pitchFamily="34" charset="0"/>
                <a:cs typeface="Calibri" pitchFamily="34" charset="0"/>
              </a:rPr>
              <a:t>When a process requests an available resource, system must decide if immediate allocation leaves the system in a safe state</a:t>
            </a:r>
          </a:p>
          <a:p>
            <a:r>
              <a:rPr lang="en-US" altLang="en-US" dirty="0" smtClean="0">
                <a:latin typeface="Calibri" pitchFamily="34" charset="0"/>
                <a:cs typeface="Calibri" pitchFamily="34" charset="0"/>
              </a:rPr>
              <a:t>System is in </a:t>
            </a:r>
            <a:r>
              <a:rPr lang="en-US" altLang="en-US" b="1" dirty="0" smtClean="0">
                <a:solidFill>
                  <a:srgbClr val="3366FF"/>
                </a:solidFill>
                <a:latin typeface="Calibri" pitchFamily="34" charset="0"/>
                <a:cs typeface="Calibri" pitchFamily="34" charset="0"/>
              </a:rPr>
              <a:t>safe state</a:t>
            </a:r>
            <a:r>
              <a:rPr lang="en-US" altLang="en-US" dirty="0" smtClean="0">
                <a:solidFill>
                  <a:srgbClr val="3366FF"/>
                </a:solidFill>
                <a:latin typeface="Calibri" pitchFamily="34" charset="0"/>
                <a:cs typeface="Calibri" pitchFamily="34" charset="0"/>
              </a:rPr>
              <a:t> </a:t>
            </a:r>
            <a:r>
              <a:rPr lang="en-US" altLang="en-US" dirty="0" smtClean="0">
                <a:latin typeface="Calibri" pitchFamily="34" charset="0"/>
                <a:cs typeface="Calibri" pitchFamily="34" charset="0"/>
              </a:rPr>
              <a:t>if there exists a sequence &lt;</a:t>
            </a:r>
            <a:r>
              <a:rPr lang="en-US" altLang="en-US" i="1" dirty="0" smtClean="0">
                <a:latin typeface="Calibri" pitchFamily="34" charset="0"/>
                <a:cs typeface="Calibri" pitchFamily="34" charset="0"/>
              </a:rPr>
              <a:t>P</a:t>
            </a:r>
            <a:r>
              <a:rPr lang="en-US" altLang="en-US" i="1" baseline="-25000" dirty="0" smtClean="0">
                <a:latin typeface="Calibri" pitchFamily="34" charset="0"/>
                <a:cs typeface="Calibri" pitchFamily="34" charset="0"/>
              </a:rPr>
              <a:t>1</a:t>
            </a:r>
            <a:r>
              <a:rPr lang="en-US" altLang="en-US" i="1" dirty="0" smtClean="0">
                <a:latin typeface="Calibri" pitchFamily="34" charset="0"/>
                <a:cs typeface="Calibri" pitchFamily="34" charset="0"/>
              </a:rPr>
              <a:t>, P</a:t>
            </a:r>
            <a:r>
              <a:rPr lang="en-US" altLang="en-US" i="1" baseline="-25000" dirty="0" smtClean="0">
                <a:latin typeface="Calibri" pitchFamily="34" charset="0"/>
                <a:cs typeface="Calibri" pitchFamily="34" charset="0"/>
              </a:rPr>
              <a:t>2</a:t>
            </a:r>
            <a:r>
              <a:rPr lang="en-US" altLang="en-US" i="1" dirty="0" smtClean="0">
                <a:latin typeface="Calibri" pitchFamily="34" charset="0"/>
                <a:cs typeface="Calibri" pitchFamily="34" charset="0"/>
              </a:rPr>
              <a:t>, …, </a:t>
            </a:r>
            <a:r>
              <a:rPr lang="en-US" altLang="en-US" i="1" dirty="0" err="1" smtClean="0">
                <a:latin typeface="Calibri" pitchFamily="34" charset="0"/>
                <a:cs typeface="Calibri" pitchFamily="34" charset="0"/>
              </a:rPr>
              <a:t>P</a:t>
            </a:r>
            <a:r>
              <a:rPr lang="en-US" altLang="en-US" i="1" baseline="-25000" dirty="0" err="1" smtClean="0">
                <a:latin typeface="Calibri" pitchFamily="34" charset="0"/>
                <a:cs typeface="Calibri" pitchFamily="34" charset="0"/>
              </a:rPr>
              <a:t>n</a:t>
            </a:r>
            <a:r>
              <a:rPr lang="en-US" altLang="en-US" dirty="0" smtClean="0">
                <a:latin typeface="Calibri" pitchFamily="34" charset="0"/>
                <a:cs typeface="Calibri" pitchFamily="34" charset="0"/>
              </a:rPr>
              <a:t>&gt; of ALL the  processes  in the systems such that  for each P</a:t>
            </a:r>
            <a:r>
              <a:rPr lang="en-US" altLang="en-US" baseline="-25000" dirty="0" smtClean="0">
                <a:latin typeface="Calibri" pitchFamily="34" charset="0"/>
                <a:cs typeface="Calibri" pitchFamily="34" charset="0"/>
              </a:rPr>
              <a:t>i</a:t>
            </a:r>
            <a:r>
              <a:rPr lang="en-US" altLang="en-US" dirty="0" smtClean="0">
                <a:latin typeface="Calibri" pitchFamily="34" charset="0"/>
                <a:cs typeface="Calibri" pitchFamily="34" charset="0"/>
              </a:rPr>
              <a:t>, the resources that P</a:t>
            </a:r>
            <a:r>
              <a:rPr lang="en-US" altLang="en-US" baseline="-25000" dirty="0" smtClean="0">
                <a:latin typeface="Calibri" pitchFamily="34" charset="0"/>
                <a:cs typeface="Calibri" pitchFamily="34" charset="0"/>
              </a:rPr>
              <a:t>i </a:t>
            </a:r>
            <a:r>
              <a:rPr lang="en-US" altLang="en-US" dirty="0" smtClean="0">
                <a:latin typeface="Calibri" pitchFamily="34" charset="0"/>
                <a:cs typeface="Calibri" pitchFamily="34" charset="0"/>
              </a:rPr>
              <a:t>can still request can be satisfied by currently available resources + resources held by all the </a:t>
            </a:r>
            <a:r>
              <a:rPr lang="en-US" altLang="en-US" i="1" dirty="0" err="1" smtClean="0">
                <a:latin typeface="Calibri" pitchFamily="34" charset="0"/>
                <a:cs typeface="Calibri" pitchFamily="34" charset="0"/>
              </a:rPr>
              <a:t>P</a:t>
            </a:r>
            <a:r>
              <a:rPr lang="en-US" altLang="en-US" i="1" baseline="-25000" dirty="0" err="1" smtClean="0">
                <a:latin typeface="Calibri" pitchFamily="34" charset="0"/>
                <a:cs typeface="Calibri" pitchFamily="34" charset="0"/>
              </a:rPr>
              <a:t>j</a:t>
            </a:r>
            <a:r>
              <a:rPr lang="en-US" altLang="en-US" dirty="0" smtClean="0">
                <a:latin typeface="Calibri" pitchFamily="34" charset="0"/>
                <a:cs typeface="Calibri" pitchFamily="34" charset="0"/>
              </a:rPr>
              <a:t>, with</a:t>
            </a:r>
            <a:r>
              <a:rPr lang="en-US" altLang="en-US" i="1" dirty="0" smtClean="0">
                <a:latin typeface="Calibri" pitchFamily="34" charset="0"/>
                <a:cs typeface="Calibri" pitchFamily="34" charset="0"/>
              </a:rPr>
              <a:t> j </a:t>
            </a:r>
            <a:r>
              <a:rPr lang="en-US" altLang="en-US" dirty="0" smtClean="0">
                <a:latin typeface="Calibri" pitchFamily="34" charset="0"/>
                <a:cs typeface="Calibri" pitchFamily="34" charset="0"/>
              </a:rPr>
              <a:t>&lt; </a:t>
            </a:r>
            <a:r>
              <a:rPr lang="en-US" altLang="en-US" i="1" dirty="0" smtClean="0">
                <a:latin typeface="Calibri" pitchFamily="34" charset="0"/>
                <a:cs typeface="Calibri" pitchFamily="34" charset="0"/>
              </a:rPr>
              <a:t>I</a:t>
            </a:r>
            <a:endParaRPr lang="en-US" altLang="en-US" dirty="0" smtClean="0">
              <a:latin typeface="Calibri" pitchFamily="34" charset="0"/>
              <a:cs typeface="Calibri" pitchFamily="34" charset="0"/>
            </a:endParaRPr>
          </a:p>
          <a:p>
            <a:r>
              <a:rPr lang="en-US" altLang="en-US" dirty="0" smtClean="0">
                <a:latin typeface="Calibri" pitchFamily="34" charset="0"/>
                <a:cs typeface="Calibri" pitchFamily="34" charset="0"/>
              </a:rPr>
              <a:t>That is:</a:t>
            </a:r>
          </a:p>
          <a:p>
            <a:pPr lvl="1"/>
            <a:r>
              <a:rPr lang="en-US" altLang="en-US" dirty="0" smtClean="0">
                <a:latin typeface="Calibri" pitchFamily="34" charset="0"/>
                <a:cs typeface="Calibri" pitchFamily="34" charset="0"/>
              </a:rPr>
              <a:t>If P</a:t>
            </a:r>
            <a:r>
              <a:rPr lang="en-US" altLang="en-US" baseline="-25000" dirty="0" smtClean="0">
                <a:latin typeface="Calibri" pitchFamily="34" charset="0"/>
                <a:cs typeface="Calibri" pitchFamily="34" charset="0"/>
              </a:rPr>
              <a:t>i</a:t>
            </a:r>
            <a:r>
              <a:rPr lang="en-US" altLang="en-US" dirty="0" smtClean="0">
                <a:latin typeface="Calibri" pitchFamily="34" charset="0"/>
                <a:cs typeface="Calibri" pitchFamily="34" charset="0"/>
              </a:rPr>
              <a:t> resource needs are not immediately available, then </a:t>
            </a:r>
            <a:r>
              <a:rPr lang="en-US" altLang="en-US" i="1" dirty="0" smtClean="0">
                <a:latin typeface="Calibri" pitchFamily="34" charset="0"/>
                <a:cs typeface="Calibri" pitchFamily="34" charset="0"/>
              </a:rPr>
              <a:t>P</a:t>
            </a:r>
            <a:r>
              <a:rPr lang="en-US" altLang="en-US" i="1" baseline="-25000" dirty="0" smtClean="0">
                <a:latin typeface="Calibri" pitchFamily="34" charset="0"/>
                <a:cs typeface="Calibri" pitchFamily="34" charset="0"/>
              </a:rPr>
              <a:t>i</a:t>
            </a:r>
            <a:r>
              <a:rPr lang="en-US" altLang="en-US" dirty="0" smtClean="0">
                <a:latin typeface="Calibri" pitchFamily="34" charset="0"/>
                <a:cs typeface="Calibri" pitchFamily="34" charset="0"/>
              </a:rPr>
              <a:t> can wait until all </a:t>
            </a:r>
            <a:r>
              <a:rPr lang="en-US" altLang="en-US" i="1" dirty="0" err="1" smtClean="0">
                <a:latin typeface="Calibri" pitchFamily="34" charset="0"/>
                <a:cs typeface="Calibri" pitchFamily="34" charset="0"/>
              </a:rPr>
              <a:t>P</a:t>
            </a:r>
            <a:r>
              <a:rPr lang="en-US" altLang="en-US" i="1" baseline="-25000" dirty="0" err="1" smtClean="0">
                <a:latin typeface="Calibri" pitchFamily="34" charset="0"/>
                <a:cs typeface="Calibri" pitchFamily="34" charset="0"/>
              </a:rPr>
              <a:t>j</a:t>
            </a:r>
            <a:r>
              <a:rPr lang="en-US" altLang="en-US" i="1" dirty="0" smtClean="0">
                <a:latin typeface="Calibri" pitchFamily="34" charset="0"/>
                <a:cs typeface="Calibri" pitchFamily="34" charset="0"/>
              </a:rPr>
              <a:t> </a:t>
            </a:r>
            <a:r>
              <a:rPr lang="en-US" altLang="en-US" dirty="0" smtClean="0">
                <a:latin typeface="Calibri" pitchFamily="34" charset="0"/>
                <a:cs typeface="Calibri" pitchFamily="34" charset="0"/>
              </a:rPr>
              <a:t>have finished</a:t>
            </a:r>
          </a:p>
          <a:p>
            <a:pPr lvl="1"/>
            <a:r>
              <a:rPr lang="en-US" altLang="en-US" dirty="0" smtClean="0">
                <a:latin typeface="Calibri" pitchFamily="34" charset="0"/>
                <a:cs typeface="Calibri" pitchFamily="34" charset="0"/>
              </a:rPr>
              <a:t>When </a:t>
            </a:r>
            <a:r>
              <a:rPr lang="en-US" altLang="en-US" i="1" dirty="0" err="1" smtClean="0">
                <a:latin typeface="Calibri" pitchFamily="34" charset="0"/>
                <a:cs typeface="Calibri" pitchFamily="34" charset="0"/>
              </a:rPr>
              <a:t>P</a:t>
            </a:r>
            <a:r>
              <a:rPr lang="en-US" altLang="en-US" i="1" baseline="-25000" dirty="0" err="1" smtClean="0">
                <a:latin typeface="Calibri" pitchFamily="34" charset="0"/>
                <a:cs typeface="Calibri" pitchFamily="34" charset="0"/>
              </a:rPr>
              <a:t>j</a:t>
            </a:r>
            <a:r>
              <a:rPr lang="en-US" altLang="en-US" dirty="0" smtClean="0">
                <a:latin typeface="Calibri" pitchFamily="34" charset="0"/>
                <a:cs typeface="Calibri" pitchFamily="34" charset="0"/>
              </a:rPr>
              <a:t> is finished, </a:t>
            </a:r>
            <a:r>
              <a:rPr lang="en-US" altLang="en-US" i="1" dirty="0" smtClean="0">
                <a:latin typeface="Calibri" pitchFamily="34" charset="0"/>
                <a:cs typeface="Calibri" pitchFamily="34" charset="0"/>
              </a:rPr>
              <a:t>P</a:t>
            </a:r>
            <a:r>
              <a:rPr lang="en-US" altLang="en-US" i="1" baseline="-25000" dirty="0" smtClean="0">
                <a:latin typeface="Calibri" pitchFamily="34" charset="0"/>
                <a:cs typeface="Calibri" pitchFamily="34" charset="0"/>
              </a:rPr>
              <a:t>i</a:t>
            </a:r>
            <a:r>
              <a:rPr lang="en-US" altLang="en-US" dirty="0" smtClean="0">
                <a:latin typeface="Calibri" pitchFamily="34" charset="0"/>
                <a:cs typeface="Calibri" pitchFamily="34" charset="0"/>
              </a:rPr>
              <a:t> can obtain needed resources, execute, return allocated resources, and terminate</a:t>
            </a:r>
          </a:p>
          <a:p>
            <a:pPr lvl="1"/>
            <a:r>
              <a:rPr lang="en-US" altLang="en-US" dirty="0" smtClean="0">
                <a:latin typeface="Calibri" pitchFamily="34" charset="0"/>
                <a:cs typeface="Calibri" pitchFamily="34" charset="0"/>
              </a:rPr>
              <a:t>When </a:t>
            </a:r>
            <a:r>
              <a:rPr lang="en-US" altLang="en-US" i="1" dirty="0" smtClean="0">
                <a:latin typeface="Calibri" pitchFamily="34" charset="0"/>
                <a:cs typeface="Calibri" pitchFamily="34" charset="0"/>
              </a:rPr>
              <a:t>P</a:t>
            </a:r>
            <a:r>
              <a:rPr lang="en-US" altLang="en-US" i="1" baseline="-25000" dirty="0" smtClean="0">
                <a:latin typeface="Calibri" pitchFamily="34" charset="0"/>
                <a:cs typeface="Calibri" pitchFamily="34" charset="0"/>
              </a:rPr>
              <a:t>i</a:t>
            </a:r>
            <a:r>
              <a:rPr lang="en-US" altLang="en-US" dirty="0" smtClean="0">
                <a:latin typeface="Calibri" pitchFamily="34" charset="0"/>
                <a:cs typeface="Calibri" pitchFamily="34" charset="0"/>
              </a:rPr>
              <a:t> terminates, </a:t>
            </a:r>
            <a:r>
              <a:rPr lang="en-US" altLang="en-US" i="1" dirty="0" smtClean="0">
                <a:latin typeface="Calibri" pitchFamily="34" charset="0"/>
                <a:cs typeface="Calibri" pitchFamily="34" charset="0"/>
              </a:rPr>
              <a:t>P</a:t>
            </a:r>
            <a:r>
              <a:rPr lang="en-US" altLang="en-US" i="1" baseline="-25000" dirty="0" smtClean="0">
                <a:latin typeface="Calibri" pitchFamily="34" charset="0"/>
                <a:cs typeface="Calibri" pitchFamily="34" charset="0"/>
              </a:rPr>
              <a:t>i </a:t>
            </a:r>
            <a:r>
              <a:rPr lang="en-US" altLang="en-US" baseline="-25000" dirty="0" smtClean="0">
                <a:latin typeface="Calibri" pitchFamily="34" charset="0"/>
                <a:cs typeface="Calibri" pitchFamily="34" charset="0"/>
              </a:rPr>
              <a:t>+1</a:t>
            </a:r>
            <a:r>
              <a:rPr lang="en-US" altLang="en-US" dirty="0" smtClean="0">
                <a:latin typeface="Calibri" pitchFamily="34" charset="0"/>
                <a:cs typeface="Calibri" pitchFamily="34" charset="0"/>
              </a:rPr>
              <a:t> can obtain its needed resources, and so on </a:t>
            </a:r>
          </a:p>
        </p:txBody>
      </p:sp>
    </p:spTree>
    <p:extLst>
      <p:ext uri="{BB962C8B-B14F-4D97-AF65-F5344CB8AC3E}">
        <p14:creationId xmlns:p14="http://schemas.microsoft.com/office/powerpoint/2010/main" val="40029329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485900" y="253603"/>
            <a:ext cx="6172200" cy="432197"/>
          </a:xfrm>
        </p:spPr>
        <p:txBody>
          <a:bodyPr>
            <a:normAutofit fontScale="90000"/>
          </a:bodyPr>
          <a:lstStyle/>
          <a:p>
            <a:pPr eaLnBrk="1" hangingPunct="1"/>
            <a:r>
              <a:rPr lang="en-US" altLang="en-US" dirty="0" smtClean="0">
                <a:latin typeface="Calibri" pitchFamily="34" charset="0"/>
                <a:cs typeface="Calibri" pitchFamily="34" charset="0"/>
              </a:rPr>
              <a:t>Basic Facts</a:t>
            </a:r>
          </a:p>
        </p:txBody>
      </p:sp>
      <p:sp>
        <p:nvSpPr>
          <p:cNvPr id="22531" name="Rectangle 3"/>
          <p:cNvSpPr>
            <a:spLocks noGrp="1" noChangeArrowheads="1"/>
          </p:cNvSpPr>
          <p:nvPr>
            <p:ph type="body" idx="1"/>
          </p:nvPr>
        </p:nvSpPr>
        <p:spPr>
          <a:xfrm>
            <a:off x="179512" y="892969"/>
            <a:ext cx="8208912" cy="3311129"/>
          </a:xfrm>
        </p:spPr>
        <p:txBody>
          <a:bodyPr/>
          <a:lstStyle/>
          <a:p>
            <a:r>
              <a:rPr lang="en-US" altLang="en-US" dirty="0" smtClean="0">
                <a:latin typeface="Calibri" pitchFamily="34" charset="0"/>
                <a:cs typeface="Calibri" pitchFamily="34" charset="0"/>
              </a:rPr>
              <a:t>If a system is in safe state </a:t>
            </a:r>
            <a:r>
              <a:rPr lang="en-US" altLang="en-US" dirty="0" smtClean="0">
                <a:latin typeface="Calibri" pitchFamily="34" charset="0"/>
                <a:cs typeface="Calibri" pitchFamily="34" charset="0"/>
                <a:sym typeface="Symbol" pitchFamily="18" charset="2"/>
              </a:rPr>
              <a:t> no deadlocks</a:t>
            </a:r>
            <a:br>
              <a:rPr lang="en-US" altLang="en-US" dirty="0" smtClean="0">
                <a:latin typeface="Calibri" pitchFamily="34" charset="0"/>
                <a:cs typeface="Calibri" pitchFamily="34" charset="0"/>
                <a:sym typeface="Symbol" pitchFamily="18" charset="2"/>
              </a:rPr>
            </a:br>
            <a:endParaRPr lang="en-US" altLang="en-US" dirty="0" smtClean="0">
              <a:latin typeface="Calibri" pitchFamily="34" charset="0"/>
              <a:cs typeface="Calibri" pitchFamily="34" charset="0"/>
              <a:sym typeface="Symbol" pitchFamily="18" charset="2"/>
            </a:endParaRPr>
          </a:p>
          <a:p>
            <a:r>
              <a:rPr lang="en-US" altLang="en-US" dirty="0" smtClean="0">
                <a:latin typeface="Calibri" pitchFamily="34" charset="0"/>
                <a:cs typeface="Calibri" pitchFamily="34" charset="0"/>
                <a:sym typeface="Symbol" pitchFamily="18" charset="2"/>
              </a:rPr>
              <a:t>If a system is in unsafe state  possibility of deadlock</a:t>
            </a:r>
            <a:br>
              <a:rPr lang="en-US" altLang="en-US" dirty="0" smtClean="0">
                <a:latin typeface="Calibri" pitchFamily="34" charset="0"/>
                <a:cs typeface="Calibri" pitchFamily="34" charset="0"/>
                <a:sym typeface="Symbol" pitchFamily="18" charset="2"/>
              </a:rPr>
            </a:br>
            <a:endParaRPr lang="en-US" altLang="en-US" dirty="0" smtClean="0">
              <a:latin typeface="Calibri" pitchFamily="34" charset="0"/>
              <a:cs typeface="Calibri" pitchFamily="34" charset="0"/>
              <a:sym typeface="Symbol" pitchFamily="18" charset="2"/>
            </a:endParaRPr>
          </a:p>
          <a:p>
            <a:r>
              <a:rPr lang="en-US" altLang="en-US" dirty="0" smtClean="0">
                <a:latin typeface="Calibri" pitchFamily="34" charset="0"/>
                <a:cs typeface="Calibri" pitchFamily="34" charset="0"/>
                <a:sym typeface="Symbol" pitchFamily="18" charset="2"/>
              </a:rPr>
              <a:t>Avoidance  ensure that a system will never enter an unsafe state.</a:t>
            </a:r>
          </a:p>
        </p:txBody>
      </p:sp>
    </p:spTree>
    <p:extLst>
      <p:ext uri="{BB962C8B-B14F-4D97-AF65-F5344CB8AC3E}">
        <p14:creationId xmlns:p14="http://schemas.microsoft.com/office/powerpoint/2010/main" val="21052733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771650" y="316706"/>
            <a:ext cx="5880497" cy="432197"/>
          </a:xfrm>
        </p:spPr>
        <p:txBody>
          <a:bodyPr>
            <a:normAutofit fontScale="90000"/>
          </a:bodyPr>
          <a:lstStyle/>
          <a:p>
            <a:pPr eaLnBrk="1" hangingPunct="1"/>
            <a:r>
              <a:rPr lang="en-US" altLang="en-US" dirty="0" smtClean="0">
                <a:latin typeface="Calibri" pitchFamily="34" charset="0"/>
                <a:cs typeface="Calibri" pitchFamily="34" charset="0"/>
              </a:rPr>
              <a:t>Safe, Unsafe, Deadlock State </a:t>
            </a:r>
          </a:p>
        </p:txBody>
      </p:sp>
      <p:pic>
        <p:nvPicPr>
          <p:cNvPr id="2355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13437" t="1572" r="13683" b="2194"/>
          <a:stretch>
            <a:fillRect/>
          </a:stretch>
        </p:blipFill>
        <p:spPr bwMode="auto">
          <a:xfrm>
            <a:off x="2843808" y="1184671"/>
            <a:ext cx="3145036" cy="3114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4201122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24050" y="398860"/>
            <a:ext cx="5734050" cy="432197"/>
          </a:xfrm>
        </p:spPr>
        <p:txBody>
          <a:bodyPr>
            <a:normAutofit fontScale="90000"/>
          </a:bodyPr>
          <a:lstStyle/>
          <a:p>
            <a:pPr eaLnBrk="1" hangingPunct="1"/>
            <a:r>
              <a:rPr lang="en-US" altLang="en-US" smtClean="0">
                <a:latin typeface="Calibri" pitchFamily="34" charset="0"/>
                <a:cs typeface="Calibri" pitchFamily="34" charset="0"/>
              </a:rPr>
              <a:t>Avoidance Algorithms</a:t>
            </a:r>
          </a:p>
        </p:txBody>
      </p:sp>
      <p:sp>
        <p:nvSpPr>
          <p:cNvPr id="24579" name="Rectangle 3"/>
          <p:cNvSpPr>
            <a:spLocks noGrp="1" noChangeArrowheads="1"/>
          </p:cNvSpPr>
          <p:nvPr>
            <p:ph type="body" idx="1"/>
          </p:nvPr>
        </p:nvSpPr>
        <p:spPr>
          <a:xfrm>
            <a:off x="179512" y="1152525"/>
            <a:ext cx="8712968" cy="3362325"/>
          </a:xfrm>
        </p:spPr>
        <p:txBody>
          <a:bodyPr/>
          <a:lstStyle/>
          <a:p>
            <a:r>
              <a:rPr lang="en-US" altLang="en-US" dirty="0" smtClean="0">
                <a:latin typeface="Calibri" pitchFamily="34" charset="0"/>
                <a:cs typeface="Calibri" pitchFamily="34" charset="0"/>
              </a:rPr>
              <a:t>Single instance of a resource type</a:t>
            </a:r>
          </a:p>
          <a:p>
            <a:pPr lvl="1"/>
            <a:r>
              <a:rPr lang="en-US" altLang="en-US" dirty="0" smtClean="0">
                <a:latin typeface="Calibri" pitchFamily="34" charset="0"/>
                <a:cs typeface="Calibri" pitchFamily="34" charset="0"/>
              </a:rPr>
              <a:t>Use a resource-allocation graph</a:t>
            </a:r>
          </a:p>
          <a:p>
            <a:pPr lvl="1">
              <a:buFont typeface="Monotype Sorts" pitchFamily="-84" charset="2"/>
              <a:buNone/>
            </a:pPr>
            <a:endParaRPr lang="en-US" altLang="en-US" dirty="0" smtClean="0">
              <a:latin typeface="Calibri" pitchFamily="34" charset="0"/>
              <a:cs typeface="Calibri" pitchFamily="34" charset="0"/>
            </a:endParaRPr>
          </a:p>
          <a:p>
            <a:r>
              <a:rPr lang="en-US" altLang="en-US" dirty="0" smtClean="0">
                <a:latin typeface="Calibri" pitchFamily="34" charset="0"/>
                <a:cs typeface="Calibri" pitchFamily="34" charset="0"/>
              </a:rPr>
              <a:t>Multiple instances of a resource type</a:t>
            </a:r>
          </a:p>
          <a:p>
            <a:pPr lvl="1"/>
            <a:r>
              <a:rPr lang="en-US" altLang="en-US" dirty="0" smtClean="0">
                <a:latin typeface="Calibri" pitchFamily="34" charset="0"/>
                <a:cs typeface="Calibri" pitchFamily="34" charset="0"/>
              </a:rPr>
              <a:t> Use the banker</a:t>
            </a:r>
            <a:r>
              <a:rPr lang="ja-JP" altLang="en-US" dirty="0" smtClean="0">
                <a:latin typeface="Calibri" pitchFamily="34" charset="0"/>
                <a:cs typeface="Calibri" pitchFamily="34" charset="0"/>
              </a:rPr>
              <a:t>’</a:t>
            </a:r>
            <a:r>
              <a:rPr lang="en-US" altLang="ja-JP" dirty="0" smtClean="0">
                <a:latin typeface="Calibri" pitchFamily="34" charset="0"/>
                <a:cs typeface="Calibri" pitchFamily="34" charset="0"/>
              </a:rPr>
              <a:t>s algorithm</a:t>
            </a:r>
            <a:endParaRPr lang="en-US" altLang="en-US" dirty="0" smtClean="0">
              <a:latin typeface="Calibri" pitchFamily="34" charset="0"/>
              <a:cs typeface="Calibri" pitchFamily="34" charset="0"/>
            </a:endParaRPr>
          </a:p>
        </p:txBody>
      </p:sp>
    </p:spTree>
    <p:extLst>
      <p:ext uri="{BB962C8B-B14F-4D97-AF65-F5344CB8AC3E}">
        <p14:creationId xmlns:p14="http://schemas.microsoft.com/office/powerpoint/2010/main" val="1729969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11560" y="457200"/>
            <a:ext cx="7992888" cy="432197"/>
          </a:xfrm>
        </p:spPr>
        <p:txBody>
          <a:bodyPr>
            <a:normAutofit fontScale="90000"/>
          </a:bodyPr>
          <a:lstStyle/>
          <a:p>
            <a:pPr eaLnBrk="1" hangingPunct="1"/>
            <a:r>
              <a:rPr lang="en-US" altLang="en-US" dirty="0" smtClean="0">
                <a:latin typeface="Calibri" pitchFamily="34" charset="0"/>
                <a:cs typeface="Calibri" pitchFamily="34" charset="0"/>
              </a:rPr>
              <a:t>Resource-Allocation Graph Scheme</a:t>
            </a:r>
          </a:p>
        </p:txBody>
      </p:sp>
      <p:sp>
        <p:nvSpPr>
          <p:cNvPr id="25603" name="Rectangle 3"/>
          <p:cNvSpPr>
            <a:spLocks noGrp="1" noChangeArrowheads="1"/>
          </p:cNvSpPr>
          <p:nvPr>
            <p:ph type="body" idx="1"/>
          </p:nvPr>
        </p:nvSpPr>
        <p:spPr>
          <a:xfrm>
            <a:off x="395536" y="1143000"/>
            <a:ext cx="8424936" cy="3362325"/>
          </a:xfrm>
        </p:spPr>
        <p:txBody>
          <a:bodyPr/>
          <a:lstStyle/>
          <a:p>
            <a:r>
              <a:rPr lang="en-US" altLang="en-US" sz="1800" b="1" dirty="0" smtClean="0">
                <a:solidFill>
                  <a:srgbClr val="3366FF"/>
                </a:solidFill>
                <a:latin typeface="Calibri" pitchFamily="34" charset="0"/>
                <a:cs typeface="Calibri" pitchFamily="34" charset="0"/>
              </a:rPr>
              <a:t>Claim edge</a:t>
            </a:r>
            <a:r>
              <a:rPr lang="en-US" altLang="en-US" sz="1800" dirty="0" smtClean="0">
                <a:solidFill>
                  <a:srgbClr val="3366FF"/>
                </a:solidFill>
                <a:latin typeface="Calibri" pitchFamily="34" charset="0"/>
                <a:cs typeface="Calibri" pitchFamily="34" charset="0"/>
              </a:rPr>
              <a:t> </a:t>
            </a:r>
            <a:r>
              <a:rPr lang="en-US" altLang="en-US" sz="1800" i="1" dirty="0" smtClean="0">
                <a:latin typeface="Calibri" pitchFamily="34" charset="0"/>
                <a:cs typeface="Calibri" pitchFamily="34" charset="0"/>
              </a:rPr>
              <a:t>P</a:t>
            </a:r>
            <a:r>
              <a:rPr lang="en-US" altLang="en-US" sz="1800" i="1" baseline="-25000" dirty="0" smtClean="0">
                <a:latin typeface="Calibri" pitchFamily="34" charset="0"/>
                <a:cs typeface="Calibri" pitchFamily="34" charset="0"/>
              </a:rPr>
              <a:t>i</a:t>
            </a:r>
            <a:r>
              <a:rPr lang="en-US" altLang="en-US" sz="1800" dirty="0" smtClean="0">
                <a:latin typeface="Calibri" pitchFamily="34" charset="0"/>
                <a:cs typeface="Calibri" pitchFamily="34" charset="0"/>
              </a:rPr>
              <a:t> </a:t>
            </a:r>
            <a:r>
              <a:rPr lang="en-US" altLang="en-US" sz="1800" dirty="0" smtClean="0">
                <a:latin typeface="Calibri" pitchFamily="34" charset="0"/>
                <a:cs typeface="Calibri" pitchFamily="34" charset="0"/>
                <a:sym typeface="Symbol" pitchFamily="18" charset="2"/>
              </a:rPr>
              <a:t> </a:t>
            </a:r>
            <a:r>
              <a:rPr lang="en-US" altLang="en-US" sz="1800" i="1" dirty="0" err="1" smtClean="0">
                <a:latin typeface="Calibri" pitchFamily="34" charset="0"/>
                <a:cs typeface="Calibri" pitchFamily="34" charset="0"/>
                <a:sym typeface="Symbol" pitchFamily="18" charset="2"/>
              </a:rPr>
              <a:t>R</a:t>
            </a:r>
            <a:r>
              <a:rPr lang="en-US" altLang="en-US" sz="1800" i="1" baseline="-25000" dirty="0" err="1" smtClean="0">
                <a:latin typeface="Calibri" pitchFamily="34" charset="0"/>
                <a:cs typeface="Calibri" pitchFamily="34" charset="0"/>
                <a:sym typeface="Symbol" pitchFamily="18" charset="2"/>
              </a:rPr>
              <a:t>j</a:t>
            </a:r>
            <a:r>
              <a:rPr lang="en-US" altLang="en-US" sz="1800" dirty="0" smtClean="0">
                <a:latin typeface="Calibri" pitchFamily="34" charset="0"/>
                <a:cs typeface="Calibri" pitchFamily="34" charset="0"/>
                <a:sym typeface="Symbol" pitchFamily="18" charset="2"/>
              </a:rPr>
              <a:t> indicated that process </a:t>
            </a:r>
            <a:r>
              <a:rPr lang="en-US" altLang="en-US" sz="1800" i="1" dirty="0" err="1" smtClean="0">
                <a:latin typeface="Calibri" pitchFamily="34" charset="0"/>
                <a:cs typeface="Calibri" pitchFamily="34" charset="0"/>
                <a:sym typeface="Symbol" pitchFamily="18" charset="2"/>
              </a:rPr>
              <a:t>P</a:t>
            </a:r>
            <a:r>
              <a:rPr lang="en-US" altLang="en-US" sz="1800" i="1" baseline="-25000" dirty="0" err="1" smtClean="0">
                <a:latin typeface="Calibri" pitchFamily="34" charset="0"/>
                <a:cs typeface="Calibri" pitchFamily="34" charset="0"/>
                <a:sym typeface="Symbol" pitchFamily="18" charset="2"/>
              </a:rPr>
              <a:t>j</a:t>
            </a:r>
            <a:r>
              <a:rPr lang="en-US" altLang="en-US" sz="1800" dirty="0" smtClean="0">
                <a:latin typeface="Calibri" pitchFamily="34" charset="0"/>
                <a:cs typeface="Calibri" pitchFamily="34" charset="0"/>
                <a:sym typeface="Symbol" pitchFamily="18" charset="2"/>
              </a:rPr>
              <a:t> may request resource </a:t>
            </a:r>
            <a:r>
              <a:rPr lang="en-US" altLang="en-US" sz="1800" i="1" dirty="0" err="1" smtClean="0">
                <a:latin typeface="Calibri" pitchFamily="34" charset="0"/>
                <a:cs typeface="Calibri" pitchFamily="34" charset="0"/>
                <a:sym typeface="Symbol" pitchFamily="18" charset="2"/>
              </a:rPr>
              <a:t>R</a:t>
            </a:r>
            <a:r>
              <a:rPr lang="en-US" altLang="en-US" sz="1800" i="1" baseline="-25000" dirty="0" err="1" smtClean="0">
                <a:latin typeface="Calibri" pitchFamily="34" charset="0"/>
                <a:cs typeface="Calibri" pitchFamily="34" charset="0"/>
                <a:sym typeface="Symbol" pitchFamily="18" charset="2"/>
              </a:rPr>
              <a:t>j</a:t>
            </a:r>
            <a:r>
              <a:rPr lang="en-US" altLang="en-US" sz="1800" dirty="0" smtClean="0">
                <a:latin typeface="Calibri" pitchFamily="34" charset="0"/>
                <a:cs typeface="Calibri" pitchFamily="34" charset="0"/>
                <a:sym typeface="Symbol" pitchFamily="18" charset="2"/>
              </a:rPr>
              <a:t>; represented by a dashed line</a:t>
            </a:r>
          </a:p>
          <a:p>
            <a:r>
              <a:rPr lang="en-US" altLang="en-US" sz="1800" dirty="0" smtClean="0">
                <a:latin typeface="Calibri" pitchFamily="34" charset="0"/>
                <a:cs typeface="Calibri" pitchFamily="34" charset="0"/>
                <a:sym typeface="Symbol" pitchFamily="18" charset="2"/>
              </a:rPr>
              <a:t>Claim edge converts to request edge when a process requests a resource</a:t>
            </a:r>
          </a:p>
          <a:p>
            <a:r>
              <a:rPr lang="en-US" altLang="en-US" sz="1800" dirty="0" smtClean="0">
                <a:latin typeface="Calibri" pitchFamily="34" charset="0"/>
                <a:cs typeface="Calibri" pitchFamily="34" charset="0"/>
                <a:sym typeface="Symbol" pitchFamily="18" charset="2"/>
              </a:rPr>
              <a:t>Request edge converted to an assignment edge when the  resource is allocated to the process</a:t>
            </a:r>
          </a:p>
          <a:p>
            <a:r>
              <a:rPr lang="en-US" altLang="en-US" sz="1800" dirty="0" smtClean="0">
                <a:latin typeface="Calibri" pitchFamily="34" charset="0"/>
                <a:cs typeface="Calibri" pitchFamily="34" charset="0"/>
                <a:sym typeface="Symbol" pitchFamily="18" charset="2"/>
              </a:rPr>
              <a:t>When a resource is released by a process, assignment edge reconverts to a claim edge</a:t>
            </a:r>
          </a:p>
          <a:p>
            <a:r>
              <a:rPr lang="en-US" altLang="en-US" sz="1800" dirty="0" smtClean="0">
                <a:latin typeface="Calibri" pitchFamily="34" charset="0"/>
                <a:cs typeface="Calibri" pitchFamily="34" charset="0"/>
                <a:sym typeface="Symbol" pitchFamily="18" charset="2"/>
              </a:rPr>
              <a:t>Resources must be claimed </a:t>
            </a:r>
            <a:r>
              <a:rPr lang="en-US" altLang="en-US" sz="1800" i="1" dirty="0" smtClean="0">
                <a:latin typeface="Calibri" pitchFamily="34" charset="0"/>
                <a:cs typeface="Calibri" pitchFamily="34" charset="0"/>
                <a:sym typeface="Symbol" pitchFamily="18" charset="2"/>
              </a:rPr>
              <a:t>a priori</a:t>
            </a:r>
            <a:r>
              <a:rPr lang="en-US" altLang="en-US" sz="1800" dirty="0" smtClean="0">
                <a:latin typeface="Calibri" pitchFamily="34" charset="0"/>
                <a:cs typeface="Calibri" pitchFamily="34" charset="0"/>
                <a:sym typeface="Symbol" pitchFamily="18" charset="2"/>
              </a:rPr>
              <a:t> in the system</a:t>
            </a:r>
            <a:endParaRPr lang="en-US" altLang="en-US" sz="1800" dirty="0" smtClean="0">
              <a:latin typeface="Calibri" pitchFamily="34" charset="0"/>
              <a:cs typeface="Calibri" pitchFamily="34" charset="0"/>
            </a:endParaRPr>
          </a:p>
        </p:txBody>
      </p:sp>
    </p:spTree>
    <p:extLst>
      <p:ext uri="{BB962C8B-B14F-4D97-AF65-F5344CB8AC3E}">
        <p14:creationId xmlns:p14="http://schemas.microsoft.com/office/powerpoint/2010/main" val="3567873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699023" y="298847"/>
            <a:ext cx="6168628" cy="342900"/>
          </a:xfrm>
        </p:spPr>
        <p:txBody>
          <a:bodyPr>
            <a:normAutofit fontScale="90000"/>
          </a:bodyPr>
          <a:lstStyle/>
          <a:p>
            <a:pPr eaLnBrk="1" hangingPunct="1"/>
            <a:r>
              <a:rPr lang="en-US" altLang="en-US" sz="2100">
                <a:latin typeface="Calibri" pitchFamily="34" charset="0"/>
                <a:cs typeface="Calibri" pitchFamily="34" charset="0"/>
              </a:rPr>
              <a:t>Resource-Allocation Graph</a:t>
            </a:r>
          </a:p>
        </p:txBody>
      </p:sp>
      <p:pic>
        <p:nvPicPr>
          <p:cNvPr id="26627"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4441" y="1145382"/>
            <a:ext cx="2761059" cy="279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0591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991917" y="335756"/>
            <a:ext cx="6182915" cy="342900"/>
          </a:xfrm>
        </p:spPr>
        <p:txBody>
          <a:bodyPr>
            <a:normAutofit fontScale="90000"/>
          </a:bodyPr>
          <a:lstStyle/>
          <a:p>
            <a:pPr eaLnBrk="1" hangingPunct="1"/>
            <a:r>
              <a:rPr lang="en-US" altLang="en-US" sz="2100">
                <a:latin typeface="Calibri" pitchFamily="34" charset="0"/>
                <a:cs typeface="Calibri" pitchFamily="34" charset="0"/>
              </a:rPr>
              <a:t>Unsafe State In Resource-Allocation Graph</a:t>
            </a:r>
          </a:p>
        </p:txBody>
      </p:sp>
      <p:pic>
        <p:nvPicPr>
          <p:cNvPr id="27651"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1850" y="1102519"/>
            <a:ext cx="2520554" cy="2555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824070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120504" y="280987"/>
            <a:ext cx="5742384" cy="432197"/>
          </a:xfrm>
        </p:spPr>
        <p:txBody>
          <a:bodyPr/>
          <a:lstStyle/>
          <a:p>
            <a:pPr eaLnBrk="1" hangingPunct="1"/>
            <a:r>
              <a:rPr lang="en-US" altLang="en-US" sz="2100">
                <a:latin typeface="Calibri" pitchFamily="34" charset="0"/>
                <a:cs typeface="Calibri" pitchFamily="34" charset="0"/>
              </a:rPr>
              <a:t>Resource-Allocation Graph Algorithm</a:t>
            </a:r>
          </a:p>
        </p:txBody>
      </p:sp>
      <p:sp>
        <p:nvSpPr>
          <p:cNvPr id="28675" name="Rectangle 3"/>
          <p:cNvSpPr>
            <a:spLocks noGrp="1" noChangeArrowheads="1"/>
          </p:cNvSpPr>
          <p:nvPr>
            <p:ph type="body" idx="1"/>
          </p:nvPr>
        </p:nvSpPr>
        <p:spPr>
          <a:xfrm>
            <a:off x="179512" y="1058466"/>
            <a:ext cx="8640959" cy="3227785"/>
          </a:xfrm>
        </p:spPr>
        <p:txBody>
          <a:bodyPr/>
          <a:lstStyle/>
          <a:p>
            <a:r>
              <a:rPr lang="en-US" altLang="en-US" dirty="0" smtClean="0">
                <a:latin typeface="Calibri" pitchFamily="34" charset="0"/>
                <a:cs typeface="Calibri" pitchFamily="34" charset="0"/>
              </a:rPr>
              <a:t>Suppose that process</a:t>
            </a:r>
            <a:r>
              <a:rPr lang="en-US" altLang="en-US" i="1" dirty="0" smtClean="0">
                <a:latin typeface="Calibri" pitchFamily="34" charset="0"/>
                <a:cs typeface="Calibri" pitchFamily="34" charset="0"/>
              </a:rPr>
              <a:t> P</a:t>
            </a:r>
            <a:r>
              <a:rPr lang="en-US" altLang="en-US" i="1" baseline="-25000" dirty="0" smtClean="0">
                <a:latin typeface="Calibri" pitchFamily="34" charset="0"/>
                <a:cs typeface="Calibri" pitchFamily="34" charset="0"/>
              </a:rPr>
              <a:t>i</a:t>
            </a:r>
            <a:r>
              <a:rPr lang="en-US" altLang="en-US" dirty="0" smtClean="0">
                <a:latin typeface="Calibri" pitchFamily="34" charset="0"/>
                <a:cs typeface="Calibri" pitchFamily="34" charset="0"/>
              </a:rPr>
              <a:t> requests a resource </a:t>
            </a:r>
            <a:r>
              <a:rPr lang="en-US" altLang="en-US" i="1" dirty="0" err="1" smtClean="0">
                <a:latin typeface="Calibri" pitchFamily="34" charset="0"/>
                <a:cs typeface="Calibri" pitchFamily="34" charset="0"/>
                <a:sym typeface="Symbol" pitchFamily="18" charset="2"/>
              </a:rPr>
              <a:t>R</a:t>
            </a:r>
            <a:r>
              <a:rPr lang="en-US" altLang="en-US" i="1" baseline="-25000" dirty="0" err="1" smtClean="0">
                <a:latin typeface="Calibri" pitchFamily="34" charset="0"/>
                <a:cs typeface="Calibri" pitchFamily="34" charset="0"/>
                <a:sym typeface="Symbol" pitchFamily="18" charset="2"/>
              </a:rPr>
              <a:t>j</a:t>
            </a:r>
            <a:endParaRPr lang="en-US" altLang="en-US" i="1" baseline="-25000" dirty="0" smtClean="0">
              <a:latin typeface="Calibri" pitchFamily="34" charset="0"/>
              <a:cs typeface="Calibri" pitchFamily="34" charset="0"/>
              <a:sym typeface="Symbol" pitchFamily="18" charset="2"/>
            </a:endParaRPr>
          </a:p>
          <a:p>
            <a:r>
              <a:rPr lang="en-US" altLang="en-US" dirty="0" smtClean="0">
                <a:latin typeface="Calibri" pitchFamily="34" charset="0"/>
                <a:cs typeface="Calibri" pitchFamily="34" charset="0"/>
                <a:sym typeface="Symbol" pitchFamily="18" charset="2"/>
              </a:rPr>
              <a:t>The request can be granted only if converting the request edge to an assignment edge does not result in the formation of a cycle in the resource allocation graph</a:t>
            </a:r>
          </a:p>
        </p:txBody>
      </p:sp>
    </p:spTree>
    <p:extLst>
      <p:ext uri="{BB962C8B-B14F-4D97-AF65-F5344CB8AC3E}">
        <p14:creationId xmlns:p14="http://schemas.microsoft.com/office/powerpoint/2010/main" val="19468085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828800" y="310753"/>
            <a:ext cx="5829300" cy="432197"/>
          </a:xfrm>
        </p:spPr>
        <p:txBody>
          <a:bodyPr>
            <a:normAutofit fontScale="90000"/>
          </a:bodyPr>
          <a:lstStyle/>
          <a:p>
            <a:pPr eaLnBrk="1" hangingPunct="1"/>
            <a:r>
              <a:rPr lang="en-US" altLang="en-US" dirty="0" smtClean="0">
                <a:latin typeface="Calibri" pitchFamily="34" charset="0"/>
                <a:cs typeface="Calibri" pitchFamily="34" charset="0"/>
              </a:rPr>
              <a:t>Banker’s Algorithm</a:t>
            </a:r>
          </a:p>
        </p:txBody>
      </p:sp>
      <p:sp>
        <p:nvSpPr>
          <p:cNvPr id="29699" name="Rectangle 3"/>
          <p:cNvSpPr>
            <a:spLocks noGrp="1" noChangeArrowheads="1"/>
          </p:cNvSpPr>
          <p:nvPr>
            <p:ph type="body" idx="1"/>
          </p:nvPr>
        </p:nvSpPr>
        <p:spPr>
          <a:xfrm>
            <a:off x="179512" y="846535"/>
            <a:ext cx="8640960" cy="3331369"/>
          </a:xfrm>
        </p:spPr>
        <p:txBody>
          <a:bodyPr/>
          <a:lstStyle/>
          <a:p>
            <a:r>
              <a:rPr lang="en-US" altLang="en-US" sz="1800" dirty="0" smtClean="0">
                <a:latin typeface="Calibri" pitchFamily="34" charset="0"/>
                <a:cs typeface="Calibri" pitchFamily="34" charset="0"/>
              </a:rPr>
              <a:t>Multiple instances</a:t>
            </a:r>
            <a:br>
              <a:rPr lang="en-US" altLang="en-US" sz="1800" dirty="0" smtClean="0">
                <a:latin typeface="Calibri" pitchFamily="34" charset="0"/>
                <a:cs typeface="Calibri" pitchFamily="34" charset="0"/>
              </a:rPr>
            </a:br>
            <a:endParaRPr lang="en-US" altLang="en-US" sz="1800" dirty="0" smtClean="0">
              <a:latin typeface="Calibri" pitchFamily="34" charset="0"/>
              <a:cs typeface="Calibri" pitchFamily="34" charset="0"/>
            </a:endParaRPr>
          </a:p>
          <a:p>
            <a:r>
              <a:rPr lang="en-US" altLang="en-US" sz="1800" dirty="0" smtClean="0">
                <a:latin typeface="Calibri" pitchFamily="34" charset="0"/>
                <a:cs typeface="Calibri" pitchFamily="34" charset="0"/>
              </a:rPr>
              <a:t>Each process must a priori claim maximum use</a:t>
            </a:r>
            <a:br>
              <a:rPr lang="en-US" altLang="en-US" sz="1800" dirty="0" smtClean="0">
                <a:latin typeface="Calibri" pitchFamily="34" charset="0"/>
                <a:cs typeface="Calibri" pitchFamily="34" charset="0"/>
              </a:rPr>
            </a:br>
            <a:endParaRPr lang="en-US" altLang="en-US" sz="1800" dirty="0" smtClean="0">
              <a:latin typeface="Calibri" pitchFamily="34" charset="0"/>
              <a:cs typeface="Calibri" pitchFamily="34" charset="0"/>
            </a:endParaRPr>
          </a:p>
          <a:p>
            <a:r>
              <a:rPr lang="en-US" altLang="en-US" sz="1800" dirty="0" smtClean="0">
                <a:latin typeface="Calibri" pitchFamily="34" charset="0"/>
                <a:cs typeface="Calibri" pitchFamily="34" charset="0"/>
              </a:rPr>
              <a:t>When a process requests a resource it may have to wait  </a:t>
            </a:r>
            <a:br>
              <a:rPr lang="en-US" altLang="en-US" sz="1800" dirty="0" smtClean="0">
                <a:latin typeface="Calibri" pitchFamily="34" charset="0"/>
                <a:cs typeface="Calibri" pitchFamily="34" charset="0"/>
              </a:rPr>
            </a:br>
            <a:endParaRPr lang="en-US" altLang="en-US" sz="1800" dirty="0" smtClean="0">
              <a:latin typeface="Calibri" pitchFamily="34" charset="0"/>
              <a:cs typeface="Calibri" pitchFamily="34" charset="0"/>
            </a:endParaRPr>
          </a:p>
          <a:p>
            <a:r>
              <a:rPr lang="en-US" altLang="en-US" sz="1800" dirty="0" smtClean="0">
                <a:latin typeface="Calibri" pitchFamily="34" charset="0"/>
                <a:cs typeface="Calibri" pitchFamily="34" charset="0"/>
              </a:rPr>
              <a:t>When a process gets all its resources it must return them in a finite amount of time</a:t>
            </a:r>
          </a:p>
        </p:txBody>
      </p:sp>
    </p:spTree>
    <p:extLst>
      <p:ext uri="{BB962C8B-B14F-4D97-AF65-F5344CB8AC3E}">
        <p14:creationId xmlns:p14="http://schemas.microsoft.com/office/powerpoint/2010/main" val="11472356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249091" y="245269"/>
            <a:ext cx="5689997" cy="323850"/>
          </a:xfrm>
        </p:spPr>
        <p:txBody>
          <a:bodyPr>
            <a:normAutofit fontScale="90000"/>
          </a:bodyPr>
          <a:lstStyle/>
          <a:p>
            <a:pPr eaLnBrk="1" hangingPunct="1"/>
            <a:r>
              <a:rPr lang="en-US" altLang="en-US" sz="2100">
                <a:latin typeface="Calibri" pitchFamily="34" charset="0"/>
                <a:cs typeface="Calibri" pitchFamily="34" charset="0"/>
              </a:rPr>
              <a:t>Data Structures for the Banker</a:t>
            </a:r>
            <a:r>
              <a:rPr lang="ja-JP" altLang="en-US" sz="2100">
                <a:latin typeface="Calibri" pitchFamily="34" charset="0"/>
                <a:cs typeface="Calibri" pitchFamily="34" charset="0"/>
              </a:rPr>
              <a:t>’</a:t>
            </a:r>
            <a:r>
              <a:rPr lang="en-US" altLang="ja-JP" sz="2100">
                <a:latin typeface="Calibri" pitchFamily="34" charset="0"/>
                <a:cs typeface="Calibri" pitchFamily="34" charset="0"/>
              </a:rPr>
              <a:t>s Algorithm </a:t>
            </a:r>
            <a:endParaRPr lang="en-US" altLang="en-US" sz="2100">
              <a:latin typeface="Calibri" pitchFamily="34" charset="0"/>
              <a:cs typeface="Calibri" pitchFamily="34" charset="0"/>
            </a:endParaRPr>
          </a:p>
        </p:txBody>
      </p:sp>
      <p:sp>
        <p:nvSpPr>
          <p:cNvPr id="30723" name="Rectangle 3"/>
          <p:cNvSpPr>
            <a:spLocks noGrp="1" noChangeArrowheads="1"/>
          </p:cNvSpPr>
          <p:nvPr>
            <p:ph type="body" idx="1"/>
          </p:nvPr>
        </p:nvSpPr>
        <p:spPr>
          <a:xfrm>
            <a:off x="179512" y="1240631"/>
            <a:ext cx="8568951" cy="3290888"/>
          </a:xfrm>
        </p:spPr>
        <p:txBody>
          <a:bodyPr/>
          <a:lstStyle/>
          <a:p>
            <a:r>
              <a:rPr lang="en-US" altLang="en-US" sz="1800" b="1" dirty="0" smtClean="0">
                <a:latin typeface="Calibri" pitchFamily="34" charset="0"/>
                <a:cs typeface="Calibri" pitchFamily="34" charset="0"/>
              </a:rPr>
              <a:t>Available</a:t>
            </a:r>
            <a:r>
              <a:rPr lang="en-US" altLang="en-US" sz="1800" i="1" dirty="0" smtClean="0">
                <a:latin typeface="Calibri" pitchFamily="34" charset="0"/>
                <a:cs typeface="Calibri" pitchFamily="34" charset="0"/>
              </a:rPr>
              <a:t>:</a:t>
            </a:r>
            <a:r>
              <a:rPr lang="en-US" altLang="en-US" sz="1800" dirty="0" smtClean="0">
                <a:latin typeface="Calibri" pitchFamily="34" charset="0"/>
                <a:cs typeface="Calibri" pitchFamily="34" charset="0"/>
              </a:rPr>
              <a:t>  Vector of length </a:t>
            </a:r>
            <a:r>
              <a:rPr lang="en-US" altLang="en-US" sz="1800" i="1" dirty="0" smtClean="0">
                <a:latin typeface="Calibri" pitchFamily="34" charset="0"/>
                <a:cs typeface="Calibri" pitchFamily="34" charset="0"/>
              </a:rPr>
              <a:t>m</a:t>
            </a:r>
            <a:r>
              <a:rPr lang="en-US" altLang="en-US" sz="1800" dirty="0" smtClean="0">
                <a:latin typeface="Calibri" pitchFamily="34" charset="0"/>
                <a:cs typeface="Calibri" pitchFamily="34" charset="0"/>
              </a:rPr>
              <a:t>. If available [</a:t>
            </a:r>
            <a:r>
              <a:rPr lang="en-US" altLang="en-US" sz="1800" i="1" dirty="0" smtClean="0">
                <a:latin typeface="Calibri" pitchFamily="34" charset="0"/>
                <a:cs typeface="Calibri" pitchFamily="34" charset="0"/>
              </a:rPr>
              <a:t>j</a:t>
            </a:r>
            <a:r>
              <a:rPr lang="en-US" altLang="en-US" sz="1800" dirty="0" smtClean="0">
                <a:latin typeface="Calibri" pitchFamily="34" charset="0"/>
                <a:cs typeface="Calibri" pitchFamily="34" charset="0"/>
              </a:rPr>
              <a:t>] = </a:t>
            </a:r>
            <a:r>
              <a:rPr lang="en-US" altLang="en-US" sz="1800" i="1" dirty="0" smtClean="0">
                <a:latin typeface="Calibri" pitchFamily="34" charset="0"/>
                <a:cs typeface="Calibri" pitchFamily="34" charset="0"/>
              </a:rPr>
              <a:t>k</a:t>
            </a:r>
            <a:r>
              <a:rPr lang="en-US" altLang="en-US" sz="1800" dirty="0" smtClean="0">
                <a:latin typeface="Calibri" pitchFamily="34" charset="0"/>
                <a:cs typeface="Calibri" pitchFamily="34" charset="0"/>
              </a:rPr>
              <a:t>, there are</a:t>
            </a:r>
            <a:r>
              <a:rPr lang="en-US" altLang="en-US" sz="1800" i="1" dirty="0" smtClean="0">
                <a:latin typeface="Calibri" pitchFamily="34" charset="0"/>
                <a:cs typeface="Calibri" pitchFamily="34" charset="0"/>
              </a:rPr>
              <a:t> k</a:t>
            </a:r>
            <a:r>
              <a:rPr lang="en-US" altLang="en-US" sz="1800" dirty="0" smtClean="0">
                <a:latin typeface="Calibri" pitchFamily="34" charset="0"/>
                <a:cs typeface="Calibri" pitchFamily="34" charset="0"/>
              </a:rPr>
              <a:t> instances of resource type </a:t>
            </a:r>
            <a:r>
              <a:rPr lang="en-US" altLang="en-US" sz="1800" i="1" dirty="0" err="1" smtClean="0">
                <a:latin typeface="Calibri" pitchFamily="34" charset="0"/>
                <a:cs typeface="Calibri" pitchFamily="34" charset="0"/>
              </a:rPr>
              <a:t>R</a:t>
            </a:r>
            <a:r>
              <a:rPr lang="en-US" altLang="en-US" sz="1800" i="1" baseline="-25000" dirty="0" err="1" smtClean="0">
                <a:latin typeface="Calibri" pitchFamily="34" charset="0"/>
                <a:cs typeface="Calibri" pitchFamily="34" charset="0"/>
              </a:rPr>
              <a:t>j</a:t>
            </a:r>
            <a:r>
              <a:rPr lang="en-US" altLang="en-US" sz="1800" baseline="-25000" dirty="0" smtClean="0">
                <a:latin typeface="Calibri" pitchFamily="34" charset="0"/>
                <a:cs typeface="Calibri" pitchFamily="34" charset="0"/>
              </a:rPr>
              <a:t>  </a:t>
            </a:r>
            <a:r>
              <a:rPr lang="en-US" altLang="en-US" sz="1800" dirty="0" smtClean="0">
                <a:latin typeface="Calibri" pitchFamily="34" charset="0"/>
                <a:cs typeface="Calibri" pitchFamily="34" charset="0"/>
              </a:rPr>
              <a:t>available</a:t>
            </a:r>
          </a:p>
          <a:p>
            <a:endParaRPr lang="en-US" altLang="en-US" sz="1800" dirty="0">
              <a:latin typeface="Calibri" pitchFamily="34" charset="0"/>
              <a:cs typeface="Calibri" pitchFamily="34" charset="0"/>
            </a:endParaRPr>
          </a:p>
          <a:p>
            <a:r>
              <a:rPr lang="en-US" altLang="en-US" sz="1800" b="1" dirty="0" smtClean="0">
                <a:solidFill>
                  <a:srgbClr val="000000"/>
                </a:solidFill>
                <a:latin typeface="Calibri" pitchFamily="34" charset="0"/>
                <a:cs typeface="Calibri" pitchFamily="34" charset="0"/>
              </a:rPr>
              <a:t>Max</a:t>
            </a:r>
            <a:r>
              <a:rPr lang="en-US" altLang="en-US" sz="1800" i="1" dirty="0" smtClean="0">
                <a:latin typeface="Calibri" pitchFamily="34" charset="0"/>
                <a:cs typeface="Calibri" pitchFamily="34" charset="0"/>
              </a:rPr>
              <a:t>: n x m</a:t>
            </a:r>
            <a:r>
              <a:rPr lang="en-US" altLang="en-US" sz="1800" dirty="0" smtClean="0">
                <a:latin typeface="Calibri" pitchFamily="34" charset="0"/>
                <a:cs typeface="Calibri" pitchFamily="34" charset="0"/>
              </a:rPr>
              <a:t> matrix.  If </a:t>
            </a:r>
            <a:r>
              <a:rPr lang="en-US" altLang="en-US" sz="1800" i="1" dirty="0" smtClean="0">
                <a:latin typeface="Calibri" pitchFamily="34" charset="0"/>
                <a:cs typeface="Calibri" pitchFamily="34" charset="0"/>
              </a:rPr>
              <a:t>Max </a:t>
            </a:r>
            <a:r>
              <a:rPr lang="en-US" altLang="en-US" sz="1800" dirty="0" smtClean="0">
                <a:latin typeface="Calibri" pitchFamily="34" charset="0"/>
                <a:cs typeface="Calibri" pitchFamily="34" charset="0"/>
              </a:rPr>
              <a:t>[</a:t>
            </a:r>
            <a:r>
              <a:rPr lang="en-US" altLang="en-US" sz="1800" i="1" dirty="0" err="1" smtClean="0">
                <a:latin typeface="Calibri" pitchFamily="34" charset="0"/>
                <a:cs typeface="Calibri" pitchFamily="34" charset="0"/>
              </a:rPr>
              <a:t>i,j</a:t>
            </a:r>
            <a:r>
              <a:rPr lang="en-US" altLang="en-US" sz="1800" dirty="0" smtClean="0">
                <a:latin typeface="Calibri" pitchFamily="34" charset="0"/>
                <a:cs typeface="Calibri" pitchFamily="34" charset="0"/>
              </a:rPr>
              <a:t>] = </a:t>
            </a:r>
            <a:r>
              <a:rPr lang="en-US" altLang="en-US" sz="1800" i="1" dirty="0" smtClean="0">
                <a:latin typeface="Calibri" pitchFamily="34" charset="0"/>
                <a:cs typeface="Calibri" pitchFamily="34" charset="0"/>
              </a:rPr>
              <a:t>k</a:t>
            </a:r>
            <a:r>
              <a:rPr lang="en-US" altLang="en-US" sz="1800" dirty="0" smtClean="0">
                <a:latin typeface="Calibri" pitchFamily="34" charset="0"/>
                <a:cs typeface="Calibri" pitchFamily="34" charset="0"/>
              </a:rPr>
              <a:t>, then process </a:t>
            </a:r>
            <a:r>
              <a:rPr lang="en-US" altLang="en-US" sz="1800" i="1" dirty="0" smtClean="0">
                <a:latin typeface="Calibri" pitchFamily="34" charset="0"/>
                <a:cs typeface="Calibri" pitchFamily="34" charset="0"/>
              </a:rPr>
              <a:t>P</a:t>
            </a:r>
            <a:r>
              <a:rPr lang="en-US" altLang="en-US" sz="1800" i="1" baseline="-25000" dirty="0" smtClean="0">
                <a:latin typeface="Calibri" pitchFamily="34" charset="0"/>
                <a:cs typeface="Calibri" pitchFamily="34" charset="0"/>
              </a:rPr>
              <a:t>i</a:t>
            </a:r>
            <a:r>
              <a:rPr lang="en-US" altLang="en-US" sz="1800" i="1" dirty="0" smtClean="0">
                <a:latin typeface="Calibri" pitchFamily="34" charset="0"/>
                <a:cs typeface="Calibri" pitchFamily="34" charset="0"/>
              </a:rPr>
              <a:t> </a:t>
            </a:r>
            <a:r>
              <a:rPr lang="en-US" altLang="en-US" sz="1800" dirty="0" smtClean="0">
                <a:latin typeface="Calibri" pitchFamily="34" charset="0"/>
                <a:cs typeface="Calibri" pitchFamily="34" charset="0"/>
              </a:rPr>
              <a:t>may request at most</a:t>
            </a:r>
            <a:r>
              <a:rPr lang="en-US" altLang="en-US" sz="1800" i="1" dirty="0" smtClean="0">
                <a:latin typeface="Calibri" pitchFamily="34" charset="0"/>
                <a:cs typeface="Calibri" pitchFamily="34" charset="0"/>
              </a:rPr>
              <a:t> k </a:t>
            </a:r>
            <a:r>
              <a:rPr lang="en-US" altLang="en-US" sz="1800" dirty="0" smtClean="0">
                <a:latin typeface="Calibri" pitchFamily="34" charset="0"/>
                <a:cs typeface="Calibri" pitchFamily="34" charset="0"/>
              </a:rPr>
              <a:t>instances of resource type </a:t>
            </a:r>
            <a:r>
              <a:rPr lang="en-US" altLang="en-US" sz="1800" i="1" dirty="0" err="1" smtClean="0">
                <a:latin typeface="Calibri" pitchFamily="34" charset="0"/>
                <a:cs typeface="Calibri" pitchFamily="34" charset="0"/>
              </a:rPr>
              <a:t>R</a:t>
            </a:r>
            <a:r>
              <a:rPr lang="en-US" altLang="en-US" sz="1800" i="1" baseline="-25000" dirty="0" err="1" smtClean="0">
                <a:latin typeface="Calibri" pitchFamily="34" charset="0"/>
                <a:cs typeface="Calibri" pitchFamily="34" charset="0"/>
              </a:rPr>
              <a:t>j</a:t>
            </a:r>
            <a:endParaRPr lang="en-US" altLang="en-US" sz="1800" i="1" baseline="-25000" dirty="0" smtClean="0">
              <a:latin typeface="Calibri" pitchFamily="34" charset="0"/>
              <a:cs typeface="Calibri" pitchFamily="34" charset="0"/>
            </a:endParaRPr>
          </a:p>
          <a:p>
            <a:endParaRPr lang="en-US" altLang="en-US" sz="1800" i="1" baseline="-25000" dirty="0">
              <a:latin typeface="Calibri" pitchFamily="34" charset="0"/>
              <a:cs typeface="Calibri" pitchFamily="34" charset="0"/>
            </a:endParaRPr>
          </a:p>
          <a:p>
            <a:r>
              <a:rPr lang="en-US" altLang="en-US" sz="1800" b="1" dirty="0" smtClean="0">
                <a:solidFill>
                  <a:srgbClr val="000000"/>
                </a:solidFill>
                <a:latin typeface="Calibri" pitchFamily="34" charset="0"/>
                <a:cs typeface="Calibri" pitchFamily="34" charset="0"/>
              </a:rPr>
              <a:t>Allocation</a:t>
            </a:r>
            <a:r>
              <a:rPr lang="en-US" altLang="en-US" sz="1800" i="1" dirty="0" smtClean="0">
                <a:latin typeface="Calibri" pitchFamily="34" charset="0"/>
                <a:cs typeface="Calibri" pitchFamily="34" charset="0"/>
              </a:rPr>
              <a:t>:  n </a:t>
            </a:r>
            <a:r>
              <a:rPr lang="en-US" altLang="en-US" sz="1800" dirty="0" smtClean="0">
                <a:latin typeface="Calibri" pitchFamily="34" charset="0"/>
                <a:cs typeface="Calibri" pitchFamily="34" charset="0"/>
              </a:rPr>
              <a:t>x</a:t>
            </a:r>
            <a:r>
              <a:rPr lang="en-US" altLang="en-US" sz="1800" i="1" dirty="0" smtClean="0">
                <a:latin typeface="Calibri" pitchFamily="34" charset="0"/>
                <a:cs typeface="Calibri" pitchFamily="34" charset="0"/>
              </a:rPr>
              <a:t> m</a:t>
            </a:r>
            <a:r>
              <a:rPr lang="en-US" altLang="en-US" sz="1800" dirty="0" smtClean="0">
                <a:latin typeface="Calibri" pitchFamily="34" charset="0"/>
                <a:cs typeface="Calibri" pitchFamily="34" charset="0"/>
              </a:rPr>
              <a:t> matrix.  If Allocation[</a:t>
            </a:r>
            <a:r>
              <a:rPr lang="en-US" altLang="en-US" sz="1800" i="1" dirty="0" err="1" smtClean="0">
                <a:latin typeface="Calibri" pitchFamily="34" charset="0"/>
                <a:cs typeface="Calibri" pitchFamily="34" charset="0"/>
              </a:rPr>
              <a:t>i,j</a:t>
            </a:r>
            <a:r>
              <a:rPr lang="en-US" altLang="en-US" sz="1800" dirty="0" smtClean="0">
                <a:latin typeface="Calibri" pitchFamily="34" charset="0"/>
                <a:cs typeface="Calibri" pitchFamily="34" charset="0"/>
              </a:rPr>
              <a:t>] = </a:t>
            </a:r>
            <a:r>
              <a:rPr lang="en-US" altLang="en-US" sz="1800" i="1" dirty="0" smtClean="0">
                <a:latin typeface="Calibri" pitchFamily="34" charset="0"/>
                <a:cs typeface="Calibri" pitchFamily="34" charset="0"/>
              </a:rPr>
              <a:t>k</a:t>
            </a:r>
            <a:r>
              <a:rPr lang="en-US" altLang="en-US" sz="1800" dirty="0" smtClean="0">
                <a:latin typeface="Calibri" pitchFamily="34" charset="0"/>
                <a:cs typeface="Calibri" pitchFamily="34" charset="0"/>
              </a:rPr>
              <a:t> then</a:t>
            </a:r>
            <a:r>
              <a:rPr lang="en-US" altLang="en-US" sz="1800" i="1" dirty="0" smtClean="0">
                <a:latin typeface="Calibri" pitchFamily="34" charset="0"/>
                <a:cs typeface="Calibri" pitchFamily="34" charset="0"/>
              </a:rPr>
              <a:t> P</a:t>
            </a:r>
            <a:r>
              <a:rPr lang="en-US" altLang="en-US" sz="1800" i="1" baseline="-25000" dirty="0" smtClean="0">
                <a:latin typeface="Calibri" pitchFamily="34" charset="0"/>
                <a:cs typeface="Calibri" pitchFamily="34" charset="0"/>
              </a:rPr>
              <a:t>i</a:t>
            </a:r>
            <a:r>
              <a:rPr lang="en-US" altLang="en-US" sz="1800" dirty="0" smtClean="0">
                <a:latin typeface="Calibri" pitchFamily="34" charset="0"/>
                <a:cs typeface="Calibri" pitchFamily="34" charset="0"/>
              </a:rPr>
              <a:t> is currently allocated </a:t>
            </a:r>
            <a:r>
              <a:rPr lang="en-US" altLang="en-US" sz="1800" i="1" dirty="0" smtClean="0">
                <a:latin typeface="Calibri" pitchFamily="34" charset="0"/>
                <a:cs typeface="Calibri" pitchFamily="34" charset="0"/>
              </a:rPr>
              <a:t>k</a:t>
            </a:r>
            <a:r>
              <a:rPr lang="en-US" altLang="en-US" sz="1800" dirty="0" smtClean="0">
                <a:latin typeface="Calibri" pitchFamily="34" charset="0"/>
                <a:cs typeface="Calibri" pitchFamily="34" charset="0"/>
              </a:rPr>
              <a:t> instances of </a:t>
            </a:r>
            <a:r>
              <a:rPr lang="en-US" altLang="en-US" sz="1800" i="1" dirty="0" err="1" smtClean="0">
                <a:latin typeface="Calibri" pitchFamily="34" charset="0"/>
                <a:cs typeface="Calibri" pitchFamily="34" charset="0"/>
              </a:rPr>
              <a:t>R</a:t>
            </a:r>
            <a:r>
              <a:rPr lang="en-US" altLang="en-US" sz="1800" i="1" baseline="-25000" dirty="0" err="1" smtClean="0">
                <a:latin typeface="Calibri" pitchFamily="34" charset="0"/>
                <a:cs typeface="Calibri" pitchFamily="34" charset="0"/>
              </a:rPr>
              <a:t>j</a:t>
            </a:r>
            <a:endParaRPr lang="en-US" altLang="en-US" sz="1800" i="1" baseline="-25000" dirty="0" smtClean="0">
              <a:latin typeface="Calibri" pitchFamily="34" charset="0"/>
              <a:cs typeface="Calibri" pitchFamily="34" charset="0"/>
            </a:endParaRPr>
          </a:p>
          <a:p>
            <a:endParaRPr lang="en-US" altLang="en-US" sz="1800" i="1" baseline="-25000" dirty="0">
              <a:latin typeface="Calibri" pitchFamily="34" charset="0"/>
              <a:cs typeface="Calibri" pitchFamily="34" charset="0"/>
            </a:endParaRPr>
          </a:p>
          <a:p>
            <a:r>
              <a:rPr lang="en-US" altLang="en-US" sz="1800" b="1" dirty="0" smtClean="0">
                <a:solidFill>
                  <a:srgbClr val="000000"/>
                </a:solidFill>
                <a:latin typeface="Calibri" pitchFamily="34" charset="0"/>
                <a:cs typeface="Calibri" pitchFamily="34" charset="0"/>
              </a:rPr>
              <a:t>Need</a:t>
            </a:r>
            <a:r>
              <a:rPr lang="en-US" altLang="en-US" sz="1800" i="1" dirty="0" smtClean="0">
                <a:latin typeface="Calibri" pitchFamily="34" charset="0"/>
                <a:cs typeface="Calibri" pitchFamily="34" charset="0"/>
              </a:rPr>
              <a:t>:  n </a:t>
            </a:r>
            <a:r>
              <a:rPr lang="en-US" altLang="en-US" sz="1800" dirty="0" smtClean="0">
                <a:latin typeface="Calibri" pitchFamily="34" charset="0"/>
                <a:cs typeface="Calibri" pitchFamily="34" charset="0"/>
              </a:rPr>
              <a:t>x</a:t>
            </a:r>
            <a:r>
              <a:rPr lang="en-US" altLang="en-US" sz="1800" i="1" dirty="0" smtClean="0">
                <a:latin typeface="Calibri" pitchFamily="34" charset="0"/>
                <a:cs typeface="Calibri" pitchFamily="34" charset="0"/>
              </a:rPr>
              <a:t> m</a:t>
            </a:r>
            <a:r>
              <a:rPr lang="en-US" altLang="en-US" sz="1800" dirty="0" smtClean="0">
                <a:latin typeface="Calibri" pitchFamily="34" charset="0"/>
                <a:cs typeface="Calibri" pitchFamily="34" charset="0"/>
              </a:rPr>
              <a:t> matrix. If </a:t>
            </a:r>
            <a:r>
              <a:rPr lang="en-US" altLang="en-US" sz="1800" i="1" dirty="0" smtClean="0">
                <a:latin typeface="Calibri" pitchFamily="34" charset="0"/>
                <a:cs typeface="Calibri" pitchFamily="34" charset="0"/>
              </a:rPr>
              <a:t>Need</a:t>
            </a:r>
            <a:r>
              <a:rPr lang="en-US" altLang="en-US" sz="1800" dirty="0" smtClean="0">
                <a:latin typeface="Calibri" pitchFamily="34" charset="0"/>
                <a:cs typeface="Calibri" pitchFamily="34" charset="0"/>
              </a:rPr>
              <a:t>[</a:t>
            </a:r>
            <a:r>
              <a:rPr lang="en-US" altLang="en-US" sz="1800" i="1" dirty="0" err="1" smtClean="0">
                <a:latin typeface="Calibri" pitchFamily="34" charset="0"/>
                <a:cs typeface="Calibri" pitchFamily="34" charset="0"/>
              </a:rPr>
              <a:t>i,j</a:t>
            </a:r>
            <a:r>
              <a:rPr lang="en-US" altLang="en-US" sz="1800" dirty="0" smtClean="0">
                <a:latin typeface="Calibri" pitchFamily="34" charset="0"/>
                <a:cs typeface="Calibri" pitchFamily="34" charset="0"/>
              </a:rPr>
              <a:t>] =</a:t>
            </a:r>
            <a:r>
              <a:rPr lang="en-US" altLang="en-US" sz="1800" i="1" dirty="0" smtClean="0">
                <a:latin typeface="Calibri" pitchFamily="34" charset="0"/>
                <a:cs typeface="Calibri" pitchFamily="34" charset="0"/>
              </a:rPr>
              <a:t> k</a:t>
            </a:r>
            <a:r>
              <a:rPr lang="en-US" altLang="en-US" sz="1800" dirty="0" smtClean="0">
                <a:latin typeface="Calibri" pitchFamily="34" charset="0"/>
                <a:cs typeface="Calibri" pitchFamily="34" charset="0"/>
              </a:rPr>
              <a:t>, then</a:t>
            </a:r>
            <a:r>
              <a:rPr lang="en-US" altLang="en-US" sz="1800" i="1" dirty="0" smtClean="0">
                <a:latin typeface="Calibri" pitchFamily="34" charset="0"/>
                <a:cs typeface="Calibri" pitchFamily="34" charset="0"/>
              </a:rPr>
              <a:t> P</a:t>
            </a:r>
            <a:r>
              <a:rPr lang="en-US" altLang="en-US" sz="1800" i="1" baseline="-25000" dirty="0" smtClean="0">
                <a:latin typeface="Calibri" pitchFamily="34" charset="0"/>
                <a:cs typeface="Calibri" pitchFamily="34" charset="0"/>
              </a:rPr>
              <a:t>i</a:t>
            </a:r>
            <a:r>
              <a:rPr lang="en-US" altLang="en-US" sz="1800" dirty="0" smtClean="0">
                <a:latin typeface="Calibri" pitchFamily="34" charset="0"/>
                <a:cs typeface="Calibri" pitchFamily="34" charset="0"/>
              </a:rPr>
              <a:t> may need </a:t>
            </a:r>
            <a:r>
              <a:rPr lang="en-US" altLang="en-US" sz="1800" i="1" dirty="0" smtClean="0">
                <a:latin typeface="Calibri" pitchFamily="34" charset="0"/>
                <a:cs typeface="Calibri" pitchFamily="34" charset="0"/>
              </a:rPr>
              <a:t>k</a:t>
            </a:r>
            <a:r>
              <a:rPr lang="en-US" altLang="en-US" sz="1800" dirty="0" smtClean="0">
                <a:latin typeface="Calibri" pitchFamily="34" charset="0"/>
                <a:cs typeface="Calibri" pitchFamily="34" charset="0"/>
              </a:rPr>
              <a:t> more instances of </a:t>
            </a:r>
            <a:r>
              <a:rPr lang="en-US" altLang="en-US" sz="1800" i="1" dirty="0" err="1" smtClean="0">
                <a:latin typeface="Calibri" pitchFamily="34" charset="0"/>
                <a:cs typeface="Calibri" pitchFamily="34" charset="0"/>
              </a:rPr>
              <a:t>R</a:t>
            </a:r>
            <a:r>
              <a:rPr lang="en-US" altLang="en-US" sz="1800" i="1" baseline="-25000" dirty="0" err="1" smtClean="0">
                <a:latin typeface="Calibri" pitchFamily="34" charset="0"/>
                <a:cs typeface="Calibri" pitchFamily="34" charset="0"/>
              </a:rPr>
              <a:t>j</a:t>
            </a:r>
            <a:r>
              <a:rPr lang="en-US" altLang="en-US" sz="1800" baseline="-25000" dirty="0" smtClean="0">
                <a:latin typeface="Calibri" pitchFamily="34" charset="0"/>
                <a:cs typeface="Calibri" pitchFamily="34" charset="0"/>
              </a:rPr>
              <a:t> </a:t>
            </a:r>
            <a:r>
              <a:rPr lang="en-US" altLang="en-US" sz="1800" dirty="0" smtClean="0">
                <a:latin typeface="Calibri" pitchFamily="34" charset="0"/>
                <a:cs typeface="Calibri" pitchFamily="34" charset="0"/>
              </a:rPr>
              <a:t>to complete its task</a:t>
            </a:r>
          </a:p>
          <a:p>
            <a:pPr lvl="2">
              <a:buFont typeface="Webdings" pitchFamily="18" charset="2"/>
              <a:buNone/>
            </a:pPr>
            <a:r>
              <a:rPr lang="en-US" altLang="en-US" sz="1800" dirty="0" smtClean="0">
                <a:latin typeface="Calibri" pitchFamily="34" charset="0"/>
                <a:cs typeface="Calibri" pitchFamily="34" charset="0"/>
              </a:rPr>
              <a:t/>
            </a:r>
            <a:br>
              <a:rPr lang="en-US" altLang="en-US" sz="1800" dirty="0" smtClean="0">
                <a:latin typeface="Calibri" pitchFamily="34" charset="0"/>
                <a:cs typeface="Calibri" pitchFamily="34" charset="0"/>
              </a:rPr>
            </a:br>
            <a:r>
              <a:rPr lang="en-US" altLang="en-US" sz="1800" i="1" dirty="0" smtClean="0">
                <a:latin typeface="Calibri" pitchFamily="34" charset="0"/>
                <a:cs typeface="Calibri" pitchFamily="34" charset="0"/>
              </a:rPr>
              <a:t>Need</a:t>
            </a:r>
            <a:r>
              <a:rPr lang="en-US" altLang="en-US" sz="1800" dirty="0" smtClean="0">
                <a:latin typeface="Calibri" pitchFamily="34" charset="0"/>
                <a:cs typeface="Calibri" pitchFamily="34" charset="0"/>
              </a:rPr>
              <a:t> [</a:t>
            </a:r>
            <a:r>
              <a:rPr lang="en-US" altLang="en-US" sz="1800" i="1" dirty="0" err="1" smtClean="0">
                <a:latin typeface="Calibri" pitchFamily="34" charset="0"/>
                <a:cs typeface="Calibri" pitchFamily="34" charset="0"/>
              </a:rPr>
              <a:t>i,j</a:t>
            </a:r>
            <a:r>
              <a:rPr lang="en-US" altLang="en-US" sz="1800" i="1" dirty="0" smtClean="0">
                <a:latin typeface="Calibri" pitchFamily="34" charset="0"/>
                <a:cs typeface="Calibri" pitchFamily="34" charset="0"/>
              </a:rPr>
              <a:t>]</a:t>
            </a:r>
            <a:r>
              <a:rPr lang="en-US" altLang="en-US" sz="1800" dirty="0" smtClean="0">
                <a:latin typeface="Calibri" pitchFamily="34" charset="0"/>
                <a:cs typeface="Calibri" pitchFamily="34" charset="0"/>
              </a:rPr>
              <a:t> = </a:t>
            </a:r>
            <a:r>
              <a:rPr lang="en-US" altLang="en-US" sz="1800" i="1" dirty="0" smtClean="0">
                <a:latin typeface="Calibri" pitchFamily="34" charset="0"/>
                <a:cs typeface="Calibri" pitchFamily="34" charset="0"/>
              </a:rPr>
              <a:t>Max</a:t>
            </a:r>
            <a:r>
              <a:rPr lang="en-US" altLang="en-US" sz="1800" dirty="0" smtClean="0">
                <a:latin typeface="Calibri" pitchFamily="34" charset="0"/>
                <a:cs typeface="Calibri" pitchFamily="34" charset="0"/>
              </a:rPr>
              <a:t>[</a:t>
            </a:r>
            <a:r>
              <a:rPr lang="en-US" altLang="en-US" sz="1800" i="1" dirty="0" err="1" smtClean="0">
                <a:latin typeface="Calibri" pitchFamily="34" charset="0"/>
                <a:cs typeface="Calibri" pitchFamily="34" charset="0"/>
              </a:rPr>
              <a:t>i,j</a:t>
            </a:r>
            <a:r>
              <a:rPr lang="en-US" altLang="en-US" sz="1800" dirty="0" smtClean="0">
                <a:latin typeface="Calibri" pitchFamily="34" charset="0"/>
                <a:cs typeface="Calibri" pitchFamily="34" charset="0"/>
              </a:rPr>
              <a:t>] – </a:t>
            </a:r>
            <a:r>
              <a:rPr lang="en-US" altLang="en-US" sz="1800" i="1" dirty="0" smtClean="0">
                <a:latin typeface="Calibri" pitchFamily="34" charset="0"/>
                <a:cs typeface="Calibri" pitchFamily="34" charset="0"/>
              </a:rPr>
              <a:t>Allocation</a:t>
            </a:r>
            <a:r>
              <a:rPr lang="en-US" altLang="en-US" sz="1800" dirty="0" smtClean="0">
                <a:latin typeface="Calibri" pitchFamily="34" charset="0"/>
                <a:cs typeface="Calibri" pitchFamily="34" charset="0"/>
              </a:rPr>
              <a:t> [</a:t>
            </a:r>
            <a:r>
              <a:rPr lang="en-US" altLang="en-US" sz="1800" i="1" dirty="0" err="1" smtClean="0">
                <a:latin typeface="Calibri" pitchFamily="34" charset="0"/>
                <a:cs typeface="Calibri" pitchFamily="34" charset="0"/>
              </a:rPr>
              <a:t>i,j</a:t>
            </a:r>
            <a:r>
              <a:rPr lang="en-US" altLang="en-US" sz="1800" dirty="0" smtClean="0">
                <a:latin typeface="Calibri" pitchFamily="34" charset="0"/>
                <a:cs typeface="Calibri" pitchFamily="34" charset="0"/>
              </a:rPr>
              <a:t>]</a:t>
            </a:r>
          </a:p>
        </p:txBody>
      </p:sp>
      <p:sp>
        <p:nvSpPr>
          <p:cNvPr id="30724" name="Text Box 4"/>
          <p:cNvSpPr txBox="1">
            <a:spLocks noChangeArrowheads="1"/>
          </p:cNvSpPr>
          <p:nvPr/>
        </p:nvSpPr>
        <p:spPr bwMode="auto">
          <a:xfrm>
            <a:off x="1856185" y="818533"/>
            <a:ext cx="481189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pPr>
            <a:r>
              <a:rPr lang="en-US" altLang="en-US" sz="1350">
                <a:latin typeface="Calibri" pitchFamily="34" charset="0"/>
                <a:cs typeface="Calibri" pitchFamily="34" charset="0"/>
              </a:rPr>
              <a:t>Let </a:t>
            </a:r>
            <a:r>
              <a:rPr lang="en-US" altLang="en-US" sz="1350" i="1">
                <a:latin typeface="Calibri" pitchFamily="34" charset="0"/>
                <a:cs typeface="Calibri" pitchFamily="34" charset="0"/>
              </a:rPr>
              <a:t>n</a:t>
            </a:r>
            <a:r>
              <a:rPr lang="en-US" altLang="en-US" sz="1350">
                <a:latin typeface="Calibri" pitchFamily="34" charset="0"/>
                <a:cs typeface="Calibri" pitchFamily="34" charset="0"/>
              </a:rPr>
              <a:t> = number of processes, and </a:t>
            </a:r>
            <a:r>
              <a:rPr lang="en-US" altLang="en-US" sz="1350" i="1">
                <a:latin typeface="Calibri" pitchFamily="34" charset="0"/>
                <a:cs typeface="Calibri" pitchFamily="34" charset="0"/>
              </a:rPr>
              <a:t>m </a:t>
            </a:r>
            <a:r>
              <a:rPr lang="en-US" altLang="en-US" sz="1350">
                <a:latin typeface="Calibri" pitchFamily="34" charset="0"/>
                <a:cs typeface="Calibri" pitchFamily="34" charset="0"/>
              </a:rPr>
              <a:t>= number of resources types. </a:t>
            </a:r>
          </a:p>
        </p:txBody>
      </p:sp>
    </p:spTree>
    <p:extLst>
      <p:ext uri="{BB962C8B-B14F-4D97-AF65-F5344CB8AC3E}">
        <p14:creationId xmlns:p14="http://schemas.microsoft.com/office/powerpoint/2010/main" val="23852805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485900" y="253603"/>
            <a:ext cx="6172200" cy="432197"/>
          </a:xfrm>
        </p:spPr>
        <p:txBody>
          <a:bodyPr>
            <a:normAutofit fontScale="90000"/>
          </a:bodyPr>
          <a:lstStyle/>
          <a:p>
            <a:pPr eaLnBrk="1" hangingPunct="1"/>
            <a:r>
              <a:rPr lang="en-US" altLang="en-US" dirty="0" smtClean="0">
                <a:latin typeface="Calibri" pitchFamily="34" charset="0"/>
                <a:cs typeface="Calibri" pitchFamily="34" charset="0"/>
              </a:rPr>
              <a:t>Safety Algorithm</a:t>
            </a:r>
          </a:p>
        </p:txBody>
      </p:sp>
      <p:sp>
        <p:nvSpPr>
          <p:cNvPr id="31747" name="Rectangle 3"/>
          <p:cNvSpPr>
            <a:spLocks noGrp="1" noChangeArrowheads="1"/>
          </p:cNvSpPr>
          <p:nvPr>
            <p:ph type="body" idx="1"/>
          </p:nvPr>
        </p:nvSpPr>
        <p:spPr>
          <a:xfrm>
            <a:off x="179512" y="867967"/>
            <a:ext cx="8640959" cy="3707606"/>
          </a:xfrm>
        </p:spPr>
        <p:txBody>
          <a:bodyPr/>
          <a:lstStyle/>
          <a:p>
            <a:pPr>
              <a:lnSpc>
                <a:spcPct val="90000"/>
              </a:lnSpc>
              <a:buFont typeface="Monotype Sorts" pitchFamily="-84" charset="2"/>
              <a:buNone/>
            </a:pPr>
            <a:r>
              <a:rPr lang="en-US" altLang="en-US" sz="1800" dirty="0" smtClean="0">
                <a:latin typeface="Calibri" pitchFamily="34" charset="0"/>
                <a:cs typeface="Calibri" pitchFamily="34" charset="0"/>
              </a:rPr>
              <a:t>1.	Let </a:t>
            </a:r>
            <a:r>
              <a:rPr lang="en-US" altLang="en-US" sz="1800" b="1" i="1" dirty="0" smtClean="0">
                <a:solidFill>
                  <a:srgbClr val="000000"/>
                </a:solidFill>
                <a:latin typeface="Calibri" pitchFamily="34" charset="0"/>
                <a:cs typeface="Calibri" pitchFamily="34" charset="0"/>
              </a:rPr>
              <a:t>Work</a:t>
            </a:r>
            <a:r>
              <a:rPr lang="en-US" altLang="en-US" sz="1800" i="1" dirty="0" smtClean="0">
                <a:solidFill>
                  <a:srgbClr val="000000"/>
                </a:solidFill>
                <a:latin typeface="Calibri" pitchFamily="34" charset="0"/>
                <a:cs typeface="Calibri" pitchFamily="34" charset="0"/>
              </a:rPr>
              <a:t> </a:t>
            </a:r>
            <a:r>
              <a:rPr lang="en-US" altLang="en-US" sz="1800" dirty="0" smtClean="0">
                <a:latin typeface="Calibri" pitchFamily="34" charset="0"/>
                <a:cs typeface="Calibri" pitchFamily="34" charset="0"/>
              </a:rPr>
              <a:t>and </a:t>
            </a:r>
            <a:r>
              <a:rPr lang="en-US" altLang="en-US" sz="1800" b="1" i="1" dirty="0" smtClean="0">
                <a:solidFill>
                  <a:srgbClr val="000000"/>
                </a:solidFill>
                <a:latin typeface="Calibri" pitchFamily="34" charset="0"/>
                <a:cs typeface="Calibri" pitchFamily="34" charset="0"/>
              </a:rPr>
              <a:t>Finish</a:t>
            </a:r>
            <a:r>
              <a:rPr lang="en-US" altLang="en-US" sz="1800" dirty="0" smtClean="0">
                <a:solidFill>
                  <a:srgbClr val="000000"/>
                </a:solidFill>
                <a:latin typeface="Calibri" pitchFamily="34" charset="0"/>
                <a:cs typeface="Calibri" pitchFamily="34" charset="0"/>
              </a:rPr>
              <a:t> </a:t>
            </a:r>
            <a:r>
              <a:rPr lang="en-US" altLang="en-US" sz="1800" dirty="0" smtClean="0">
                <a:latin typeface="Calibri" pitchFamily="34" charset="0"/>
                <a:cs typeface="Calibri" pitchFamily="34" charset="0"/>
              </a:rPr>
              <a:t>be vectors of length</a:t>
            </a:r>
            <a:r>
              <a:rPr lang="en-US" altLang="en-US" sz="1800" i="1" dirty="0" smtClean="0">
                <a:latin typeface="Calibri" pitchFamily="34" charset="0"/>
                <a:cs typeface="Calibri" pitchFamily="34" charset="0"/>
              </a:rPr>
              <a:t> m</a:t>
            </a:r>
            <a:r>
              <a:rPr lang="en-US" altLang="en-US" sz="1800" dirty="0" smtClean="0">
                <a:latin typeface="Calibri" pitchFamily="34" charset="0"/>
                <a:cs typeface="Calibri" pitchFamily="34" charset="0"/>
              </a:rPr>
              <a:t> and</a:t>
            </a:r>
            <a:r>
              <a:rPr lang="en-US" altLang="en-US" sz="1800" i="1" dirty="0" smtClean="0">
                <a:latin typeface="Calibri" pitchFamily="34" charset="0"/>
                <a:cs typeface="Calibri" pitchFamily="34" charset="0"/>
              </a:rPr>
              <a:t> n</a:t>
            </a:r>
            <a:r>
              <a:rPr lang="en-US" altLang="en-US" sz="1800" dirty="0" smtClean="0">
                <a:latin typeface="Calibri" pitchFamily="34" charset="0"/>
                <a:cs typeface="Calibri" pitchFamily="34" charset="0"/>
              </a:rPr>
              <a:t>, respectively.  Initialize:</a:t>
            </a:r>
          </a:p>
          <a:p>
            <a:pPr marL="1157288" lvl="3" indent="-257175">
              <a:lnSpc>
                <a:spcPct val="90000"/>
              </a:lnSpc>
              <a:buNone/>
            </a:pPr>
            <a:r>
              <a:rPr lang="en-US" altLang="en-US" sz="1800" b="1" i="1" dirty="0" smtClean="0">
                <a:latin typeface="Calibri" pitchFamily="34" charset="0"/>
                <a:cs typeface="Calibri" pitchFamily="34" charset="0"/>
              </a:rPr>
              <a:t>Work </a:t>
            </a:r>
            <a:r>
              <a:rPr lang="en-US" altLang="en-US" sz="1800" b="1" dirty="0" smtClean="0">
                <a:latin typeface="Calibri" pitchFamily="34" charset="0"/>
                <a:cs typeface="Calibri" pitchFamily="34" charset="0"/>
              </a:rPr>
              <a:t>= </a:t>
            </a:r>
            <a:r>
              <a:rPr lang="en-US" altLang="en-US" sz="1800" b="1" i="1" dirty="0" smtClean="0">
                <a:latin typeface="Calibri" pitchFamily="34" charset="0"/>
                <a:cs typeface="Calibri" pitchFamily="34" charset="0"/>
              </a:rPr>
              <a:t>Available</a:t>
            </a:r>
          </a:p>
          <a:p>
            <a:pPr marL="1157288" lvl="3" indent="-257175">
              <a:lnSpc>
                <a:spcPct val="90000"/>
              </a:lnSpc>
              <a:buNone/>
            </a:pPr>
            <a:r>
              <a:rPr lang="en-US" altLang="en-US" sz="1800" b="1" i="1" dirty="0" smtClean="0">
                <a:latin typeface="Calibri" pitchFamily="34" charset="0"/>
                <a:cs typeface="Calibri" pitchFamily="34" charset="0"/>
              </a:rPr>
              <a:t>Finish </a:t>
            </a:r>
            <a:r>
              <a:rPr lang="en-US" altLang="en-US" sz="1800" b="1" dirty="0" smtClean="0">
                <a:latin typeface="Calibri" pitchFamily="34" charset="0"/>
                <a:cs typeface="Calibri" pitchFamily="34" charset="0"/>
              </a:rPr>
              <a:t>[</a:t>
            </a:r>
            <a:r>
              <a:rPr lang="en-US" altLang="en-US" sz="1800" b="1" i="1" dirty="0" err="1" smtClean="0">
                <a:latin typeface="Calibri" pitchFamily="34" charset="0"/>
                <a:cs typeface="Calibri" pitchFamily="34" charset="0"/>
              </a:rPr>
              <a:t>i</a:t>
            </a:r>
            <a:r>
              <a:rPr lang="en-US" altLang="en-US" sz="1800" b="1" dirty="0" smtClean="0">
                <a:latin typeface="Calibri" pitchFamily="34" charset="0"/>
                <a:cs typeface="Calibri" pitchFamily="34" charset="0"/>
              </a:rPr>
              <a:t>] =</a:t>
            </a:r>
            <a:r>
              <a:rPr lang="en-US" altLang="en-US" sz="1800" b="1" i="1" dirty="0" smtClean="0">
                <a:latin typeface="Calibri" pitchFamily="34" charset="0"/>
                <a:cs typeface="Calibri" pitchFamily="34" charset="0"/>
              </a:rPr>
              <a:t> false </a:t>
            </a:r>
            <a:r>
              <a:rPr lang="en-US" altLang="en-US" sz="1800" b="1" dirty="0" smtClean="0">
                <a:latin typeface="Calibri" pitchFamily="34" charset="0"/>
                <a:cs typeface="Calibri" pitchFamily="34" charset="0"/>
              </a:rPr>
              <a:t>for</a:t>
            </a:r>
            <a:r>
              <a:rPr lang="en-US" altLang="en-US" sz="1800" b="1" i="1" dirty="0" smtClean="0">
                <a:latin typeface="Calibri" pitchFamily="34" charset="0"/>
                <a:cs typeface="Calibri" pitchFamily="34" charset="0"/>
              </a:rPr>
              <a:t> </a:t>
            </a:r>
            <a:r>
              <a:rPr lang="en-US" altLang="en-US" sz="1800" b="1" i="1" dirty="0" err="1" smtClean="0">
                <a:latin typeface="Calibri" pitchFamily="34" charset="0"/>
                <a:cs typeface="Calibri" pitchFamily="34" charset="0"/>
              </a:rPr>
              <a:t>i</a:t>
            </a:r>
            <a:r>
              <a:rPr lang="en-US" altLang="en-US" sz="1800" b="1" dirty="0" smtClean="0">
                <a:latin typeface="Calibri" pitchFamily="34" charset="0"/>
                <a:cs typeface="Calibri" pitchFamily="34" charset="0"/>
              </a:rPr>
              <a:t> = 0, 1, …, </a:t>
            </a:r>
            <a:r>
              <a:rPr lang="en-US" altLang="en-US" sz="1800" b="1" i="1" dirty="0" smtClean="0">
                <a:latin typeface="Calibri" pitchFamily="34" charset="0"/>
                <a:cs typeface="Calibri" pitchFamily="34" charset="0"/>
              </a:rPr>
              <a:t>n- </a:t>
            </a:r>
            <a:r>
              <a:rPr lang="en-US" altLang="en-US" sz="1800" b="1" dirty="0" smtClean="0">
                <a:latin typeface="Calibri" pitchFamily="34" charset="0"/>
                <a:cs typeface="Calibri" pitchFamily="34" charset="0"/>
              </a:rPr>
              <a:t>1</a:t>
            </a:r>
          </a:p>
          <a:p>
            <a:pPr marL="1157288" lvl="3" indent="-257175">
              <a:lnSpc>
                <a:spcPct val="90000"/>
              </a:lnSpc>
              <a:buNone/>
            </a:pPr>
            <a:endParaRPr lang="en-US" altLang="en-US" sz="1800" dirty="0">
              <a:latin typeface="Calibri" pitchFamily="34" charset="0"/>
              <a:cs typeface="Calibri" pitchFamily="34" charset="0"/>
            </a:endParaRPr>
          </a:p>
          <a:p>
            <a:pPr>
              <a:lnSpc>
                <a:spcPct val="90000"/>
              </a:lnSpc>
              <a:buFont typeface="Monotype Sorts" pitchFamily="-84" charset="2"/>
              <a:buNone/>
            </a:pPr>
            <a:r>
              <a:rPr lang="en-US" altLang="en-US" sz="1800" dirty="0" smtClean="0">
                <a:latin typeface="Calibri" pitchFamily="34" charset="0"/>
                <a:cs typeface="Calibri" pitchFamily="34" charset="0"/>
              </a:rPr>
              <a:t>2.	Find an </a:t>
            </a:r>
            <a:r>
              <a:rPr lang="en-US" altLang="en-US" sz="1800" b="1" i="1" dirty="0" err="1" smtClean="0">
                <a:latin typeface="Calibri" pitchFamily="34" charset="0"/>
                <a:cs typeface="Calibri" pitchFamily="34" charset="0"/>
              </a:rPr>
              <a:t>i</a:t>
            </a:r>
            <a:r>
              <a:rPr lang="en-US" altLang="en-US" sz="1800" i="1" dirty="0" smtClean="0">
                <a:latin typeface="Calibri" pitchFamily="34" charset="0"/>
                <a:cs typeface="Calibri" pitchFamily="34" charset="0"/>
              </a:rPr>
              <a:t> </a:t>
            </a:r>
            <a:r>
              <a:rPr lang="en-US" altLang="en-US" sz="1800" dirty="0" smtClean="0">
                <a:latin typeface="Calibri" pitchFamily="34" charset="0"/>
                <a:cs typeface="Calibri" pitchFamily="34" charset="0"/>
              </a:rPr>
              <a:t>such that both: </a:t>
            </a:r>
          </a:p>
          <a:p>
            <a:pPr marL="600075" lvl="1" indent="-257175">
              <a:lnSpc>
                <a:spcPct val="90000"/>
              </a:lnSpc>
              <a:buNone/>
            </a:pPr>
            <a:r>
              <a:rPr lang="en-US" altLang="en-US" sz="1800" dirty="0" smtClean="0">
                <a:latin typeface="Calibri" pitchFamily="34" charset="0"/>
                <a:cs typeface="Calibri" pitchFamily="34" charset="0"/>
              </a:rPr>
              <a:t>(a) </a:t>
            </a:r>
            <a:r>
              <a:rPr lang="en-US" altLang="en-US" sz="1800" b="1" i="1" dirty="0" smtClean="0">
                <a:latin typeface="Calibri" pitchFamily="34" charset="0"/>
                <a:cs typeface="Calibri" pitchFamily="34" charset="0"/>
              </a:rPr>
              <a:t>Finish</a:t>
            </a:r>
            <a:r>
              <a:rPr lang="en-US" altLang="en-US" sz="1800" b="1" dirty="0" smtClean="0">
                <a:latin typeface="Calibri" pitchFamily="34" charset="0"/>
                <a:cs typeface="Calibri" pitchFamily="34" charset="0"/>
              </a:rPr>
              <a:t> [</a:t>
            </a:r>
            <a:r>
              <a:rPr lang="en-US" altLang="en-US" sz="1800" b="1" i="1" dirty="0" err="1" smtClean="0">
                <a:latin typeface="Calibri" pitchFamily="34" charset="0"/>
                <a:cs typeface="Calibri" pitchFamily="34" charset="0"/>
              </a:rPr>
              <a:t>i</a:t>
            </a:r>
            <a:r>
              <a:rPr lang="en-US" altLang="en-US" sz="1800" b="1" dirty="0" smtClean="0">
                <a:latin typeface="Calibri" pitchFamily="34" charset="0"/>
                <a:cs typeface="Calibri" pitchFamily="34" charset="0"/>
              </a:rPr>
              <a:t>] = </a:t>
            </a:r>
            <a:r>
              <a:rPr lang="en-US" altLang="en-US" sz="1800" b="1" i="1" dirty="0" smtClean="0">
                <a:latin typeface="Calibri" pitchFamily="34" charset="0"/>
                <a:cs typeface="Calibri" pitchFamily="34" charset="0"/>
              </a:rPr>
              <a:t>false</a:t>
            </a:r>
            <a:endParaRPr lang="en-US" altLang="en-US" sz="1800" b="1" dirty="0" smtClean="0">
              <a:latin typeface="Calibri" pitchFamily="34" charset="0"/>
              <a:cs typeface="Calibri" pitchFamily="34" charset="0"/>
            </a:endParaRPr>
          </a:p>
          <a:p>
            <a:pPr marL="600075" lvl="1" indent="-257175">
              <a:lnSpc>
                <a:spcPct val="90000"/>
              </a:lnSpc>
              <a:buNone/>
            </a:pPr>
            <a:r>
              <a:rPr lang="en-US" altLang="en-US" sz="1800" dirty="0" smtClean="0">
                <a:latin typeface="Calibri" pitchFamily="34" charset="0"/>
                <a:cs typeface="Calibri" pitchFamily="34" charset="0"/>
              </a:rPr>
              <a:t>(b) </a:t>
            </a:r>
            <a:r>
              <a:rPr lang="en-US" altLang="en-US" sz="1800" b="1" i="1" dirty="0" err="1" smtClean="0">
                <a:latin typeface="Calibri" pitchFamily="34" charset="0"/>
                <a:cs typeface="Calibri" pitchFamily="34" charset="0"/>
              </a:rPr>
              <a:t>Need</a:t>
            </a:r>
            <a:r>
              <a:rPr lang="en-US" altLang="en-US" sz="1800" b="1" i="1" baseline="-25000" dirty="0" err="1" smtClean="0">
                <a:latin typeface="Calibri" pitchFamily="34" charset="0"/>
                <a:cs typeface="Calibri" pitchFamily="34" charset="0"/>
              </a:rPr>
              <a:t>i</a:t>
            </a:r>
            <a:r>
              <a:rPr lang="en-US" altLang="en-US" sz="1800" b="1" dirty="0" smtClean="0">
                <a:latin typeface="Calibri" pitchFamily="34" charset="0"/>
                <a:cs typeface="Calibri" pitchFamily="34" charset="0"/>
              </a:rPr>
              <a:t> </a:t>
            </a:r>
            <a:r>
              <a:rPr lang="en-US" altLang="en-US" sz="1800" b="1" dirty="0" smtClean="0">
                <a:latin typeface="Calibri" pitchFamily="34" charset="0"/>
                <a:cs typeface="Calibri" pitchFamily="34" charset="0"/>
                <a:sym typeface="Symbol" pitchFamily="18" charset="2"/>
              </a:rPr>
              <a:t> </a:t>
            </a:r>
            <a:r>
              <a:rPr lang="en-US" altLang="en-US" sz="1800" b="1" i="1" dirty="0" smtClean="0">
                <a:latin typeface="Calibri" pitchFamily="34" charset="0"/>
                <a:cs typeface="Calibri" pitchFamily="34" charset="0"/>
                <a:sym typeface="Symbol" pitchFamily="18" charset="2"/>
              </a:rPr>
              <a:t>Work</a:t>
            </a:r>
          </a:p>
          <a:p>
            <a:pPr marL="600075" lvl="1" indent="-257175">
              <a:lnSpc>
                <a:spcPct val="90000"/>
              </a:lnSpc>
              <a:buNone/>
            </a:pPr>
            <a:r>
              <a:rPr lang="en-US" altLang="en-US" sz="1800" dirty="0" smtClean="0">
                <a:latin typeface="Calibri" pitchFamily="34" charset="0"/>
                <a:cs typeface="Calibri" pitchFamily="34" charset="0"/>
                <a:sym typeface="Symbol" pitchFamily="18" charset="2"/>
              </a:rPr>
              <a:t>If no such</a:t>
            </a:r>
            <a:r>
              <a:rPr lang="en-US" altLang="en-US" sz="1800" b="1" dirty="0" smtClean="0">
                <a:latin typeface="Calibri" pitchFamily="34" charset="0"/>
                <a:cs typeface="Calibri" pitchFamily="34" charset="0"/>
                <a:sym typeface="Symbol" pitchFamily="18" charset="2"/>
              </a:rPr>
              <a:t> </a:t>
            </a:r>
            <a:r>
              <a:rPr lang="en-US" altLang="en-US" sz="1800" b="1" i="1" dirty="0" err="1" smtClean="0">
                <a:latin typeface="Calibri" pitchFamily="34" charset="0"/>
                <a:cs typeface="Calibri" pitchFamily="34" charset="0"/>
                <a:sym typeface="Symbol" pitchFamily="18" charset="2"/>
              </a:rPr>
              <a:t>i</a:t>
            </a:r>
            <a:r>
              <a:rPr lang="en-US" altLang="en-US" sz="1800" b="1" i="1" dirty="0" smtClean="0">
                <a:latin typeface="Calibri" pitchFamily="34" charset="0"/>
                <a:cs typeface="Calibri" pitchFamily="34" charset="0"/>
                <a:sym typeface="Symbol" pitchFamily="18" charset="2"/>
              </a:rPr>
              <a:t> </a:t>
            </a:r>
            <a:r>
              <a:rPr lang="en-US" altLang="en-US" sz="1800" dirty="0" smtClean="0">
                <a:latin typeface="Calibri" pitchFamily="34" charset="0"/>
                <a:cs typeface="Calibri" pitchFamily="34" charset="0"/>
                <a:sym typeface="Symbol" pitchFamily="18" charset="2"/>
              </a:rPr>
              <a:t>exists, go to step 4</a:t>
            </a:r>
          </a:p>
          <a:p>
            <a:pPr marL="600075" lvl="1" indent="-257175">
              <a:lnSpc>
                <a:spcPct val="90000"/>
              </a:lnSpc>
              <a:buNone/>
            </a:pPr>
            <a:endParaRPr lang="en-US" altLang="en-US" sz="1800" dirty="0">
              <a:latin typeface="Calibri" pitchFamily="34" charset="0"/>
              <a:cs typeface="Calibri" pitchFamily="34" charset="0"/>
              <a:sym typeface="Symbol" pitchFamily="18" charset="2"/>
            </a:endParaRPr>
          </a:p>
          <a:p>
            <a:pPr>
              <a:lnSpc>
                <a:spcPct val="90000"/>
              </a:lnSpc>
              <a:buFont typeface="Monotype Sorts" pitchFamily="-84" charset="2"/>
              <a:buNone/>
            </a:pPr>
            <a:r>
              <a:rPr lang="en-US" altLang="en-US" sz="1800" i="1" dirty="0" smtClean="0">
                <a:latin typeface="Calibri" pitchFamily="34" charset="0"/>
                <a:cs typeface="Calibri" pitchFamily="34" charset="0"/>
              </a:rPr>
              <a:t>3.  </a:t>
            </a:r>
            <a:r>
              <a:rPr lang="en-US" altLang="en-US" sz="1800" b="1" i="1" dirty="0" smtClean="0">
                <a:latin typeface="Calibri" pitchFamily="34" charset="0"/>
                <a:cs typeface="Calibri" pitchFamily="34" charset="0"/>
              </a:rPr>
              <a:t>Work</a:t>
            </a:r>
            <a:r>
              <a:rPr lang="en-US" altLang="en-US" sz="1800" b="1" dirty="0" smtClean="0">
                <a:latin typeface="Calibri" pitchFamily="34" charset="0"/>
                <a:cs typeface="Calibri" pitchFamily="34" charset="0"/>
              </a:rPr>
              <a:t> = </a:t>
            </a:r>
            <a:r>
              <a:rPr lang="en-US" altLang="en-US" sz="1800" b="1" i="1" dirty="0" smtClean="0">
                <a:latin typeface="Calibri" pitchFamily="34" charset="0"/>
                <a:cs typeface="Calibri" pitchFamily="34" charset="0"/>
              </a:rPr>
              <a:t>Work </a:t>
            </a:r>
            <a:r>
              <a:rPr lang="en-US" altLang="en-US" sz="1800" b="1" dirty="0" smtClean="0">
                <a:latin typeface="Calibri" pitchFamily="34" charset="0"/>
                <a:cs typeface="Calibri" pitchFamily="34" charset="0"/>
              </a:rPr>
              <a:t>+ </a:t>
            </a:r>
            <a:r>
              <a:rPr lang="en-US" altLang="en-US" sz="1800" b="1" i="1" dirty="0" err="1" smtClean="0">
                <a:latin typeface="Calibri" pitchFamily="34" charset="0"/>
                <a:cs typeface="Calibri" pitchFamily="34" charset="0"/>
              </a:rPr>
              <a:t>Allocation</a:t>
            </a:r>
            <a:r>
              <a:rPr lang="en-US" altLang="en-US" sz="1800" b="1" i="1" baseline="-25000" dirty="0" err="1" smtClean="0">
                <a:latin typeface="Calibri" pitchFamily="34" charset="0"/>
                <a:cs typeface="Calibri" pitchFamily="34" charset="0"/>
              </a:rPr>
              <a:t>i</a:t>
            </a:r>
            <a:r>
              <a:rPr lang="en-US" altLang="en-US" sz="1800" b="1" dirty="0" smtClean="0">
                <a:latin typeface="Calibri" pitchFamily="34" charset="0"/>
                <a:cs typeface="Calibri" pitchFamily="34" charset="0"/>
              </a:rPr>
              <a:t/>
            </a:r>
            <a:br>
              <a:rPr lang="en-US" altLang="en-US" sz="1800" b="1" dirty="0" smtClean="0">
                <a:latin typeface="Calibri" pitchFamily="34" charset="0"/>
                <a:cs typeface="Calibri" pitchFamily="34" charset="0"/>
              </a:rPr>
            </a:br>
            <a:r>
              <a:rPr lang="en-US" altLang="en-US" sz="1800" b="1" i="1" dirty="0" smtClean="0">
                <a:latin typeface="Calibri" pitchFamily="34" charset="0"/>
                <a:cs typeface="Calibri" pitchFamily="34" charset="0"/>
              </a:rPr>
              <a:t>Finish</a:t>
            </a:r>
            <a:r>
              <a:rPr lang="en-US" altLang="en-US" sz="1800" b="1" dirty="0" smtClean="0">
                <a:latin typeface="Calibri" pitchFamily="34" charset="0"/>
                <a:cs typeface="Calibri" pitchFamily="34" charset="0"/>
              </a:rPr>
              <a:t>[</a:t>
            </a:r>
            <a:r>
              <a:rPr lang="en-US" altLang="en-US" sz="1800" b="1" i="1" dirty="0" err="1" smtClean="0">
                <a:latin typeface="Calibri" pitchFamily="34" charset="0"/>
                <a:cs typeface="Calibri" pitchFamily="34" charset="0"/>
              </a:rPr>
              <a:t>i</a:t>
            </a:r>
            <a:r>
              <a:rPr lang="en-US" altLang="en-US" sz="1800" b="1" dirty="0" smtClean="0">
                <a:latin typeface="Calibri" pitchFamily="34" charset="0"/>
                <a:cs typeface="Calibri" pitchFamily="34" charset="0"/>
              </a:rPr>
              <a:t>] =</a:t>
            </a:r>
            <a:r>
              <a:rPr lang="en-US" altLang="en-US" sz="1800" b="1" i="1" dirty="0" smtClean="0">
                <a:latin typeface="Calibri" pitchFamily="34" charset="0"/>
                <a:cs typeface="Calibri" pitchFamily="34" charset="0"/>
              </a:rPr>
              <a:t> true</a:t>
            </a:r>
            <a:r>
              <a:rPr lang="en-US" altLang="en-US" sz="1800" b="1" dirty="0" smtClean="0">
                <a:latin typeface="Calibri" pitchFamily="34" charset="0"/>
                <a:cs typeface="Calibri" pitchFamily="34" charset="0"/>
              </a:rPr>
              <a:t/>
            </a:r>
            <a:br>
              <a:rPr lang="en-US" altLang="en-US" sz="1800" b="1" dirty="0" smtClean="0">
                <a:latin typeface="Calibri" pitchFamily="34" charset="0"/>
                <a:cs typeface="Calibri" pitchFamily="34" charset="0"/>
              </a:rPr>
            </a:br>
            <a:r>
              <a:rPr lang="en-US" altLang="en-US" sz="1800" dirty="0" smtClean="0">
                <a:latin typeface="Calibri" pitchFamily="34" charset="0"/>
                <a:cs typeface="Calibri" pitchFamily="34" charset="0"/>
              </a:rPr>
              <a:t>go to step 2</a:t>
            </a:r>
          </a:p>
          <a:p>
            <a:pPr>
              <a:lnSpc>
                <a:spcPct val="90000"/>
              </a:lnSpc>
            </a:pPr>
            <a:endParaRPr lang="en-US" altLang="en-US" sz="1800" dirty="0">
              <a:latin typeface="Calibri" pitchFamily="34" charset="0"/>
              <a:cs typeface="Calibri" pitchFamily="34" charset="0"/>
            </a:endParaRPr>
          </a:p>
          <a:p>
            <a:pPr>
              <a:lnSpc>
                <a:spcPct val="90000"/>
              </a:lnSpc>
              <a:buFont typeface="Monotype Sorts" pitchFamily="-84" charset="2"/>
              <a:buNone/>
            </a:pPr>
            <a:r>
              <a:rPr lang="en-US" altLang="en-US" sz="1800" dirty="0" smtClean="0">
                <a:latin typeface="Calibri" pitchFamily="34" charset="0"/>
                <a:cs typeface="Calibri" pitchFamily="34" charset="0"/>
              </a:rPr>
              <a:t>4.	If </a:t>
            </a:r>
            <a:r>
              <a:rPr lang="en-US" altLang="en-US" sz="1800" b="1" i="1" dirty="0" smtClean="0">
                <a:latin typeface="Calibri" pitchFamily="34" charset="0"/>
                <a:cs typeface="Calibri" pitchFamily="34" charset="0"/>
              </a:rPr>
              <a:t>Finish</a:t>
            </a:r>
            <a:r>
              <a:rPr lang="en-US" altLang="en-US" sz="1800" b="1" dirty="0" smtClean="0">
                <a:latin typeface="Calibri" pitchFamily="34" charset="0"/>
                <a:cs typeface="Calibri" pitchFamily="34" charset="0"/>
              </a:rPr>
              <a:t> [</a:t>
            </a:r>
            <a:r>
              <a:rPr lang="en-US" altLang="en-US" sz="1800" b="1" i="1" dirty="0" err="1" smtClean="0">
                <a:latin typeface="Calibri" pitchFamily="34" charset="0"/>
                <a:cs typeface="Calibri" pitchFamily="34" charset="0"/>
              </a:rPr>
              <a:t>i</a:t>
            </a:r>
            <a:r>
              <a:rPr lang="en-US" altLang="en-US" sz="1800" b="1" dirty="0" smtClean="0">
                <a:latin typeface="Calibri" pitchFamily="34" charset="0"/>
                <a:cs typeface="Calibri" pitchFamily="34" charset="0"/>
              </a:rPr>
              <a:t>] == </a:t>
            </a:r>
            <a:r>
              <a:rPr lang="en-US" altLang="en-US" sz="1800" b="1" i="1" dirty="0" smtClean="0">
                <a:latin typeface="Calibri" pitchFamily="34" charset="0"/>
                <a:cs typeface="Calibri" pitchFamily="34" charset="0"/>
              </a:rPr>
              <a:t>true</a:t>
            </a:r>
            <a:r>
              <a:rPr lang="en-US" altLang="en-US" sz="1800" b="1" dirty="0" smtClean="0">
                <a:latin typeface="Calibri" pitchFamily="34" charset="0"/>
                <a:cs typeface="Calibri" pitchFamily="34" charset="0"/>
              </a:rPr>
              <a:t> </a:t>
            </a:r>
            <a:r>
              <a:rPr lang="en-US" altLang="en-US" sz="1800" dirty="0" smtClean="0">
                <a:latin typeface="Calibri" pitchFamily="34" charset="0"/>
                <a:cs typeface="Calibri" pitchFamily="34" charset="0"/>
              </a:rPr>
              <a:t>for all </a:t>
            </a:r>
            <a:r>
              <a:rPr lang="en-US" altLang="en-US" sz="1800" b="1" i="1" dirty="0" err="1" smtClean="0">
                <a:latin typeface="Calibri" pitchFamily="34" charset="0"/>
                <a:cs typeface="Calibri" pitchFamily="34" charset="0"/>
              </a:rPr>
              <a:t>i</a:t>
            </a:r>
            <a:r>
              <a:rPr lang="en-US" altLang="en-US" sz="1800" dirty="0" smtClean="0">
                <a:latin typeface="Calibri" pitchFamily="34" charset="0"/>
                <a:cs typeface="Calibri" pitchFamily="34" charset="0"/>
              </a:rPr>
              <a:t>, then the system is in a safe state</a:t>
            </a:r>
          </a:p>
        </p:txBody>
      </p:sp>
    </p:spTree>
    <p:extLst>
      <p:ext uri="{BB962C8B-B14F-4D97-AF65-F5344CB8AC3E}">
        <p14:creationId xmlns:p14="http://schemas.microsoft.com/office/powerpoint/2010/main" val="21577030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097881" y="285750"/>
            <a:ext cx="5943600" cy="342900"/>
          </a:xfrm>
        </p:spPr>
        <p:txBody>
          <a:bodyPr>
            <a:normAutofit fontScale="90000"/>
          </a:bodyPr>
          <a:lstStyle/>
          <a:p>
            <a:pPr eaLnBrk="1" hangingPunct="1"/>
            <a:r>
              <a:rPr lang="en-US" altLang="en-US" sz="2100" dirty="0">
                <a:latin typeface="Calibri" pitchFamily="34" charset="0"/>
                <a:cs typeface="Calibri" pitchFamily="34" charset="0"/>
              </a:rPr>
              <a:t>Resource-Request Algorithm for Process </a:t>
            </a:r>
            <a:r>
              <a:rPr lang="en-US" altLang="en-US" sz="2100" i="1" dirty="0">
                <a:latin typeface="Calibri" pitchFamily="34" charset="0"/>
                <a:cs typeface="Calibri" pitchFamily="34" charset="0"/>
              </a:rPr>
              <a:t>P</a:t>
            </a:r>
            <a:r>
              <a:rPr lang="en-US" altLang="en-US" sz="2100" i="1" baseline="-25000" dirty="0">
                <a:latin typeface="Calibri" pitchFamily="34" charset="0"/>
                <a:cs typeface="Calibri" pitchFamily="34" charset="0"/>
              </a:rPr>
              <a:t>i</a:t>
            </a:r>
            <a:endParaRPr lang="en-US" altLang="en-US" sz="2100" dirty="0">
              <a:latin typeface="Calibri" pitchFamily="34" charset="0"/>
              <a:cs typeface="Calibri" pitchFamily="34" charset="0"/>
            </a:endParaRPr>
          </a:p>
        </p:txBody>
      </p:sp>
      <p:sp>
        <p:nvSpPr>
          <p:cNvPr id="32771" name="Rectangle 3"/>
          <p:cNvSpPr>
            <a:spLocks noGrp="1" noChangeArrowheads="1"/>
          </p:cNvSpPr>
          <p:nvPr>
            <p:ph type="body" idx="1"/>
          </p:nvPr>
        </p:nvSpPr>
        <p:spPr>
          <a:xfrm>
            <a:off x="251520" y="835819"/>
            <a:ext cx="8568952" cy="3514725"/>
          </a:xfrm>
        </p:spPr>
        <p:txBody>
          <a:bodyPr/>
          <a:lstStyle/>
          <a:p>
            <a:pPr>
              <a:lnSpc>
                <a:spcPct val="90000"/>
              </a:lnSpc>
              <a:buFont typeface="Monotype Sorts" pitchFamily="-84" charset="2"/>
              <a:buNone/>
            </a:pPr>
            <a:r>
              <a:rPr lang="en-US" altLang="en-US" sz="1800" i="1" dirty="0" smtClean="0">
                <a:latin typeface="Calibri" pitchFamily="34" charset="0"/>
                <a:cs typeface="Calibri" pitchFamily="34" charset="0"/>
              </a:rPr>
              <a:t>     </a:t>
            </a:r>
            <a:r>
              <a:rPr lang="en-US" altLang="en-US" sz="1800" b="1" i="1" dirty="0" err="1" smtClean="0">
                <a:latin typeface="Calibri" pitchFamily="34" charset="0"/>
                <a:cs typeface="Calibri" pitchFamily="34" charset="0"/>
              </a:rPr>
              <a:t>Request</a:t>
            </a:r>
            <a:r>
              <a:rPr lang="en-US" altLang="en-US" sz="1800" b="1" i="1" baseline="-25000" dirty="0" err="1" smtClean="0">
                <a:latin typeface="Calibri" pitchFamily="34" charset="0"/>
                <a:cs typeface="Calibri" pitchFamily="34" charset="0"/>
              </a:rPr>
              <a:t>i</a:t>
            </a:r>
            <a:r>
              <a:rPr lang="en-US" altLang="en-US" sz="1800" dirty="0" smtClean="0">
                <a:latin typeface="Calibri" pitchFamily="34" charset="0"/>
                <a:cs typeface="Calibri" pitchFamily="34" charset="0"/>
              </a:rPr>
              <a:t> = request vector for process </a:t>
            </a:r>
            <a:r>
              <a:rPr lang="en-US" altLang="en-US" sz="1800" b="1" i="1" dirty="0" smtClean="0">
                <a:latin typeface="Calibri" pitchFamily="34" charset="0"/>
                <a:cs typeface="Calibri" pitchFamily="34" charset="0"/>
              </a:rPr>
              <a:t>P</a:t>
            </a:r>
            <a:r>
              <a:rPr lang="en-US" altLang="en-US" sz="1800" b="1" i="1" baseline="-25000" dirty="0" smtClean="0">
                <a:latin typeface="Calibri" pitchFamily="34" charset="0"/>
                <a:cs typeface="Calibri" pitchFamily="34" charset="0"/>
              </a:rPr>
              <a:t>i</a:t>
            </a:r>
            <a:r>
              <a:rPr lang="en-US" altLang="en-US" sz="1800" dirty="0" smtClean="0">
                <a:latin typeface="Calibri" pitchFamily="34" charset="0"/>
                <a:cs typeface="Calibri" pitchFamily="34" charset="0"/>
              </a:rPr>
              <a:t>.  If </a:t>
            </a:r>
            <a:r>
              <a:rPr lang="en-US" altLang="en-US" sz="1800" b="1" i="1" dirty="0" err="1" smtClean="0">
                <a:latin typeface="Calibri" pitchFamily="34" charset="0"/>
                <a:cs typeface="Calibri" pitchFamily="34" charset="0"/>
              </a:rPr>
              <a:t>Request</a:t>
            </a:r>
            <a:r>
              <a:rPr lang="en-US" altLang="en-US" sz="1800" b="1" i="1" baseline="-25000" dirty="0" err="1" smtClean="0">
                <a:latin typeface="Calibri" pitchFamily="34" charset="0"/>
                <a:cs typeface="Calibri" pitchFamily="34" charset="0"/>
              </a:rPr>
              <a:t>i</a:t>
            </a:r>
            <a:r>
              <a:rPr lang="en-US" altLang="en-US" sz="1800" b="1" baseline="-25000" dirty="0" smtClean="0">
                <a:latin typeface="Calibri" pitchFamily="34" charset="0"/>
                <a:cs typeface="Calibri" pitchFamily="34" charset="0"/>
              </a:rPr>
              <a:t> </a:t>
            </a:r>
            <a:r>
              <a:rPr lang="en-US" altLang="en-US" sz="1800" b="1" dirty="0" smtClean="0">
                <a:latin typeface="Calibri" pitchFamily="34" charset="0"/>
                <a:cs typeface="Calibri" pitchFamily="34" charset="0"/>
              </a:rPr>
              <a:t>[</a:t>
            </a:r>
            <a:r>
              <a:rPr lang="en-US" altLang="en-US" sz="1800" b="1" i="1" dirty="0" smtClean="0">
                <a:latin typeface="Calibri" pitchFamily="34" charset="0"/>
                <a:cs typeface="Calibri" pitchFamily="34" charset="0"/>
              </a:rPr>
              <a:t>j</a:t>
            </a:r>
            <a:r>
              <a:rPr lang="en-US" altLang="en-US" sz="1800" b="1" dirty="0" smtClean="0">
                <a:latin typeface="Calibri" pitchFamily="34" charset="0"/>
                <a:cs typeface="Calibri" pitchFamily="34" charset="0"/>
              </a:rPr>
              <a:t>] = </a:t>
            </a:r>
            <a:r>
              <a:rPr lang="en-US" altLang="en-US" sz="1800" b="1" i="1" dirty="0" smtClean="0">
                <a:latin typeface="Calibri" pitchFamily="34" charset="0"/>
                <a:cs typeface="Calibri" pitchFamily="34" charset="0"/>
              </a:rPr>
              <a:t>k</a:t>
            </a:r>
            <a:r>
              <a:rPr lang="en-US" altLang="en-US" sz="1800" b="1" dirty="0" smtClean="0">
                <a:latin typeface="Calibri" pitchFamily="34" charset="0"/>
                <a:cs typeface="Calibri" pitchFamily="34" charset="0"/>
              </a:rPr>
              <a:t> </a:t>
            </a:r>
            <a:r>
              <a:rPr lang="en-US" altLang="en-US" sz="1800" dirty="0" smtClean="0">
                <a:latin typeface="Calibri" pitchFamily="34" charset="0"/>
                <a:cs typeface="Calibri" pitchFamily="34" charset="0"/>
              </a:rPr>
              <a:t>then process </a:t>
            </a:r>
            <a:r>
              <a:rPr lang="en-US" altLang="en-US" sz="1800" b="1" i="1" dirty="0" smtClean="0">
                <a:latin typeface="Calibri" pitchFamily="34" charset="0"/>
                <a:cs typeface="Calibri" pitchFamily="34" charset="0"/>
              </a:rPr>
              <a:t>P</a:t>
            </a:r>
            <a:r>
              <a:rPr lang="en-US" altLang="en-US" sz="1800" b="1" i="1" baseline="-25000" dirty="0" smtClean="0">
                <a:latin typeface="Calibri" pitchFamily="34" charset="0"/>
                <a:cs typeface="Calibri" pitchFamily="34" charset="0"/>
              </a:rPr>
              <a:t>i</a:t>
            </a:r>
            <a:r>
              <a:rPr lang="en-US" altLang="en-US" sz="1800" dirty="0" smtClean="0">
                <a:latin typeface="Calibri" pitchFamily="34" charset="0"/>
                <a:cs typeface="Calibri" pitchFamily="34" charset="0"/>
              </a:rPr>
              <a:t> wants </a:t>
            </a:r>
            <a:r>
              <a:rPr lang="en-US" altLang="en-US" sz="1800" b="1" i="1" dirty="0" smtClean="0">
                <a:latin typeface="Calibri" pitchFamily="34" charset="0"/>
                <a:cs typeface="Calibri" pitchFamily="34" charset="0"/>
              </a:rPr>
              <a:t>k</a:t>
            </a:r>
            <a:r>
              <a:rPr lang="en-US" altLang="en-US" sz="1800" dirty="0" smtClean="0">
                <a:latin typeface="Calibri" pitchFamily="34" charset="0"/>
                <a:cs typeface="Calibri" pitchFamily="34" charset="0"/>
              </a:rPr>
              <a:t> instances of resource type </a:t>
            </a:r>
            <a:r>
              <a:rPr lang="en-US" altLang="en-US" sz="1800" b="1" i="1" dirty="0" err="1" smtClean="0">
                <a:latin typeface="Calibri" pitchFamily="34" charset="0"/>
                <a:cs typeface="Calibri" pitchFamily="34" charset="0"/>
              </a:rPr>
              <a:t>R</a:t>
            </a:r>
            <a:r>
              <a:rPr lang="en-US" altLang="en-US" sz="1800" b="1" i="1" baseline="-25000" dirty="0" err="1" smtClean="0">
                <a:latin typeface="Calibri" pitchFamily="34" charset="0"/>
                <a:cs typeface="Calibri" pitchFamily="34" charset="0"/>
              </a:rPr>
              <a:t>j</a:t>
            </a:r>
            <a:endParaRPr lang="en-US" altLang="en-US" sz="1800" b="1" baseline="-25000" dirty="0" smtClean="0">
              <a:latin typeface="Calibri" pitchFamily="34" charset="0"/>
              <a:cs typeface="Calibri" pitchFamily="34" charset="0"/>
            </a:endParaRPr>
          </a:p>
          <a:p>
            <a:pPr lvl="1">
              <a:lnSpc>
                <a:spcPct val="90000"/>
              </a:lnSpc>
              <a:buFont typeface="Monotype Sorts" pitchFamily="-84" charset="2"/>
              <a:buNone/>
            </a:pPr>
            <a:r>
              <a:rPr lang="en-US" altLang="en-US" sz="1800" dirty="0" smtClean="0">
                <a:latin typeface="Calibri" pitchFamily="34" charset="0"/>
                <a:cs typeface="Calibri" pitchFamily="34" charset="0"/>
              </a:rPr>
              <a:t>1.	If </a:t>
            </a:r>
            <a:r>
              <a:rPr lang="en-US" altLang="en-US" sz="1800" b="1" i="1" dirty="0" err="1" smtClean="0">
                <a:latin typeface="Calibri" pitchFamily="34" charset="0"/>
                <a:cs typeface="Calibri" pitchFamily="34" charset="0"/>
              </a:rPr>
              <a:t>Request</a:t>
            </a:r>
            <a:r>
              <a:rPr lang="en-US" altLang="en-US" sz="1800" b="1" i="1" baseline="-25000" dirty="0" err="1" smtClean="0">
                <a:latin typeface="Calibri" pitchFamily="34" charset="0"/>
                <a:cs typeface="Calibri" pitchFamily="34" charset="0"/>
              </a:rPr>
              <a:t>i</a:t>
            </a:r>
            <a:r>
              <a:rPr lang="en-US" altLang="en-US" sz="1800" b="1" i="1" dirty="0" smtClean="0">
                <a:latin typeface="Calibri" pitchFamily="34" charset="0"/>
                <a:cs typeface="Calibri" pitchFamily="34" charset="0"/>
              </a:rPr>
              <a:t> </a:t>
            </a:r>
            <a:r>
              <a:rPr lang="en-US" altLang="en-US" sz="1800" b="1" dirty="0" smtClean="0">
                <a:latin typeface="Calibri" pitchFamily="34" charset="0"/>
                <a:cs typeface="Calibri" pitchFamily="34" charset="0"/>
                <a:sym typeface="Symbol" pitchFamily="18" charset="2"/>
              </a:rPr>
              <a:t> </a:t>
            </a:r>
            <a:r>
              <a:rPr lang="en-US" altLang="en-US" sz="1800" b="1" i="1" dirty="0" err="1" smtClean="0">
                <a:latin typeface="Calibri" pitchFamily="34" charset="0"/>
                <a:cs typeface="Calibri" pitchFamily="34" charset="0"/>
                <a:sym typeface="Symbol" pitchFamily="18" charset="2"/>
              </a:rPr>
              <a:t>Need</a:t>
            </a:r>
            <a:r>
              <a:rPr lang="en-US" altLang="en-US" sz="1800" b="1" i="1" baseline="-25000" dirty="0" err="1" smtClean="0">
                <a:latin typeface="Calibri" pitchFamily="34" charset="0"/>
                <a:cs typeface="Calibri" pitchFamily="34" charset="0"/>
                <a:sym typeface="Symbol" pitchFamily="18" charset="2"/>
              </a:rPr>
              <a:t>i</a:t>
            </a:r>
            <a:r>
              <a:rPr lang="en-US" altLang="en-US" sz="1800" b="1" i="1" dirty="0" smtClean="0">
                <a:latin typeface="Calibri" pitchFamily="34" charset="0"/>
                <a:cs typeface="Calibri" pitchFamily="34" charset="0"/>
                <a:sym typeface="Symbol" pitchFamily="18" charset="2"/>
              </a:rPr>
              <a:t> </a:t>
            </a:r>
            <a:r>
              <a:rPr lang="en-US" altLang="en-US" sz="1800" dirty="0" smtClean="0">
                <a:latin typeface="Calibri" pitchFamily="34" charset="0"/>
                <a:cs typeface="Calibri" pitchFamily="34" charset="0"/>
                <a:sym typeface="Symbol" pitchFamily="18" charset="2"/>
              </a:rPr>
              <a:t>go to step 2.  Otherwise, raise error condition, since process has exceeded its maximum claim</a:t>
            </a:r>
          </a:p>
          <a:p>
            <a:pPr lvl="1">
              <a:lnSpc>
                <a:spcPct val="90000"/>
              </a:lnSpc>
              <a:buFont typeface="Monotype Sorts" pitchFamily="-84" charset="2"/>
              <a:buNone/>
            </a:pPr>
            <a:r>
              <a:rPr lang="en-US" altLang="en-US" sz="1800" dirty="0" smtClean="0">
                <a:latin typeface="Calibri" pitchFamily="34" charset="0"/>
                <a:cs typeface="Calibri" pitchFamily="34" charset="0"/>
                <a:sym typeface="Symbol" pitchFamily="18" charset="2"/>
              </a:rPr>
              <a:t>2.	If </a:t>
            </a:r>
            <a:r>
              <a:rPr lang="en-US" altLang="en-US" sz="1800" b="1" i="1" dirty="0" err="1" smtClean="0">
                <a:latin typeface="Calibri" pitchFamily="34" charset="0"/>
                <a:cs typeface="Calibri" pitchFamily="34" charset="0"/>
              </a:rPr>
              <a:t>Request</a:t>
            </a:r>
            <a:r>
              <a:rPr lang="en-US" altLang="en-US" sz="1800" b="1" i="1" baseline="-25000" dirty="0" err="1" smtClean="0">
                <a:latin typeface="Calibri" pitchFamily="34" charset="0"/>
                <a:cs typeface="Calibri" pitchFamily="34" charset="0"/>
              </a:rPr>
              <a:t>i</a:t>
            </a:r>
            <a:r>
              <a:rPr lang="en-US" altLang="en-US" sz="1800" b="1" dirty="0" smtClean="0">
                <a:latin typeface="Calibri" pitchFamily="34" charset="0"/>
                <a:cs typeface="Calibri" pitchFamily="34" charset="0"/>
              </a:rPr>
              <a:t> </a:t>
            </a:r>
            <a:r>
              <a:rPr lang="en-US" altLang="en-US" sz="1800" b="1" dirty="0" smtClean="0">
                <a:latin typeface="Calibri" pitchFamily="34" charset="0"/>
                <a:cs typeface="Calibri" pitchFamily="34" charset="0"/>
                <a:sym typeface="Symbol" pitchFamily="18" charset="2"/>
              </a:rPr>
              <a:t> </a:t>
            </a:r>
            <a:r>
              <a:rPr lang="en-US" altLang="en-US" sz="1800" b="1" i="1" dirty="0" smtClean="0">
                <a:latin typeface="Calibri" pitchFamily="34" charset="0"/>
                <a:cs typeface="Calibri" pitchFamily="34" charset="0"/>
                <a:sym typeface="Symbol" pitchFamily="18" charset="2"/>
              </a:rPr>
              <a:t>Available</a:t>
            </a:r>
            <a:r>
              <a:rPr lang="en-US" altLang="en-US" sz="1800" dirty="0" smtClean="0">
                <a:latin typeface="Calibri" pitchFamily="34" charset="0"/>
                <a:cs typeface="Calibri" pitchFamily="34" charset="0"/>
                <a:sym typeface="Symbol" pitchFamily="18" charset="2"/>
              </a:rPr>
              <a:t>, go to step 3.  Otherwise </a:t>
            </a:r>
            <a:r>
              <a:rPr lang="en-US" altLang="en-US" sz="1800" b="1" i="1" dirty="0" smtClean="0">
                <a:latin typeface="Calibri" pitchFamily="34" charset="0"/>
                <a:cs typeface="Calibri" pitchFamily="34" charset="0"/>
                <a:sym typeface="Symbol" pitchFamily="18" charset="2"/>
              </a:rPr>
              <a:t>P</a:t>
            </a:r>
            <a:r>
              <a:rPr lang="en-US" altLang="en-US" sz="1800" b="1" i="1" baseline="-25000" dirty="0" smtClean="0">
                <a:latin typeface="Calibri" pitchFamily="34" charset="0"/>
                <a:cs typeface="Calibri" pitchFamily="34" charset="0"/>
                <a:sym typeface="Symbol" pitchFamily="18" charset="2"/>
              </a:rPr>
              <a:t>i</a:t>
            </a:r>
            <a:r>
              <a:rPr lang="en-US" altLang="en-US" sz="1800" dirty="0" smtClean="0">
                <a:latin typeface="Calibri" pitchFamily="34" charset="0"/>
                <a:cs typeface="Calibri" pitchFamily="34" charset="0"/>
                <a:sym typeface="Symbol" pitchFamily="18" charset="2"/>
              </a:rPr>
              <a:t>  must wait, since resources are not available</a:t>
            </a:r>
          </a:p>
          <a:p>
            <a:pPr lvl="1">
              <a:lnSpc>
                <a:spcPct val="90000"/>
              </a:lnSpc>
              <a:buFont typeface="Monotype Sorts" pitchFamily="-84" charset="2"/>
              <a:buNone/>
            </a:pPr>
            <a:r>
              <a:rPr lang="en-US" altLang="en-US" sz="1800" dirty="0" smtClean="0">
                <a:latin typeface="Calibri" pitchFamily="34" charset="0"/>
                <a:cs typeface="Calibri" pitchFamily="34" charset="0"/>
                <a:sym typeface="Symbol" pitchFamily="18" charset="2"/>
              </a:rPr>
              <a:t>3.	Pretend to allocate requested resources to </a:t>
            </a:r>
            <a:r>
              <a:rPr lang="en-US" altLang="en-US" sz="1800" b="1" i="1" dirty="0" smtClean="0">
                <a:latin typeface="Calibri" pitchFamily="34" charset="0"/>
                <a:cs typeface="Calibri" pitchFamily="34" charset="0"/>
                <a:sym typeface="Symbol" pitchFamily="18" charset="2"/>
              </a:rPr>
              <a:t>P</a:t>
            </a:r>
            <a:r>
              <a:rPr lang="en-US" altLang="en-US" sz="1800" b="1" i="1" baseline="-25000" dirty="0" smtClean="0">
                <a:latin typeface="Calibri" pitchFamily="34" charset="0"/>
                <a:cs typeface="Calibri" pitchFamily="34" charset="0"/>
                <a:sym typeface="Symbol" pitchFamily="18" charset="2"/>
              </a:rPr>
              <a:t>i</a:t>
            </a:r>
            <a:r>
              <a:rPr lang="en-US" altLang="en-US" sz="1800" dirty="0" smtClean="0">
                <a:latin typeface="Calibri" pitchFamily="34" charset="0"/>
                <a:cs typeface="Calibri" pitchFamily="34" charset="0"/>
                <a:sym typeface="Symbol" pitchFamily="18" charset="2"/>
              </a:rPr>
              <a:t> by modifying the state as follows:</a:t>
            </a:r>
          </a:p>
          <a:p>
            <a:pPr lvl="3">
              <a:lnSpc>
                <a:spcPct val="90000"/>
              </a:lnSpc>
              <a:buFontTx/>
              <a:buNone/>
            </a:pPr>
            <a:r>
              <a:rPr lang="en-US" altLang="en-US" sz="1800" dirty="0" smtClean="0">
                <a:latin typeface="Calibri" pitchFamily="34" charset="0"/>
                <a:cs typeface="Calibri" pitchFamily="34" charset="0"/>
                <a:sym typeface="Symbol" pitchFamily="18" charset="2"/>
              </a:rPr>
              <a:t>		</a:t>
            </a:r>
            <a:r>
              <a:rPr lang="en-US" altLang="en-US" sz="1800" b="1" i="1" dirty="0" smtClean="0">
                <a:latin typeface="Calibri" pitchFamily="34" charset="0"/>
                <a:cs typeface="Calibri" pitchFamily="34" charset="0"/>
                <a:sym typeface="Symbol" pitchFamily="18" charset="2"/>
              </a:rPr>
              <a:t>Available</a:t>
            </a:r>
            <a:r>
              <a:rPr lang="en-US" altLang="en-US" sz="1800" b="1" dirty="0" smtClean="0">
                <a:latin typeface="Calibri" pitchFamily="34" charset="0"/>
                <a:cs typeface="Calibri" pitchFamily="34" charset="0"/>
                <a:sym typeface="Symbol" pitchFamily="18" charset="2"/>
              </a:rPr>
              <a:t> = </a:t>
            </a:r>
            <a:r>
              <a:rPr lang="en-US" altLang="en-US" sz="1800" b="1" i="1" dirty="0" smtClean="0">
                <a:latin typeface="Calibri" pitchFamily="34" charset="0"/>
                <a:cs typeface="Calibri" pitchFamily="34" charset="0"/>
                <a:sym typeface="Symbol" pitchFamily="18" charset="2"/>
              </a:rPr>
              <a:t>Available  </a:t>
            </a:r>
            <a:r>
              <a:rPr lang="en-US" altLang="en-US" sz="1800" b="1" dirty="0" smtClean="0">
                <a:latin typeface="Calibri" pitchFamily="34" charset="0"/>
                <a:cs typeface="Calibri" pitchFamily="34" charset="0"/>
                <a:sym typeface="Symbol" pitchFamily="18" charset="2"/>
              </a:rPr>
              <a:t>–</a:t>
            </a:r>
            <a:r>
              <a:rPr lang="en-US" altLang="en-US" sz="1800" b="1" i="1" dirty="0" smtClean="0">
                <a:latin typeface="Calibri" pitchFamily="34" charset="0"/>
                <a:cs typeface="Calibri" pitchFamily="34" charset="0"/>
                <a:sym typeface="Symbol" pitchFamily="18" charset="2"/>
              </a:rPr>
              <a:t> </a:t>
            </a:r>
            <a:r>
              <a:rPr lang="en-US" altLang="en-US" sz="1800" b="1" i="1" dirty="0" err="1" smtClean="0">
                <a:latin typeface="Calibri" pitchFamily="34" charset="0"/>
                <a:cs typeface="Calibri" pitchFamily="34" charset="0"/>
                <a:sym typeface="Symbol" pitchFamily="18" charset="2"/>
              </a:rPr>
              <a:t>Request</a:t>
            </a:r>
            <a:r>
              <a:rPr lang="en-US" altLang="en-US" sz="1800" b="1" i="1" baseline="-25000" dirty="0" err="1" smtClean="0">
                <a:latin typeface="Calibri" pitchFamily="34" charset="0"/>
                <a:cs typeface="Calibri" pitchFamily="34" charset="0"/>
                <a:sym typeface="Symbol" pitchFamily="18" charset="2"/>
              </a:rPr>
              <a:t>i</a:t>
            </a:r>
            <a:r>
              <a:rPr lang="en-US" altLang="en-US" sz="1800" b="1" i="1" dirty="0" smtClean="0">
                <a:latin typeface="Calibri" pitchFamily="34" charset="0"/>
                <a:cs typeface="Calibri" pitchFamily="34" charset="0"/>
                <a:sym typeface="Symbol" pitchFamily="18" charset="2"/>
              </a:rPr>
              <a:t>;</a:t>
            </a:r>
          </a:p>
          <a:p>
            <a:pPr lvl="3">
              <a:lnSpc>
                <a:spcPct val="90000"/>
              </a:lnSpc>
              <a:buFontTx/>
              <a:buNone/>
            </a:pPr>
            <a:r>
              <a:rPr lang="en-US" altLang="en-US" sz="1800" b="1" dirty="0" smtClean="0">
                <a:latin typeface="Calibri" pitchFamily="34" charset="0"/>
                <a:cs typeface="Calibri" pitchFamily="34" charset="0"/>
                <a:sym typeface="Symbol" pitchFamily="18" charset="2"/>
              </a:rPr>
              <a:t>		</a:t>
            </a:r>
            <a:r>
              <a:rPr lang="en-US" altLang="en-US" sz="1800" b="1" i="1" dirty="0" err="1" smtClean="0">
                <a:latin typeface="Calibri" pitchFamily="34" charset="0"/>
                <a:cs typeface="Calibri" pitchFamily="34" charset="0"/>
                <a:sym typeface="Symbol" pitchFamily="18" charset="2"/>
              </a:rPr>
              <a:t>Allocation</a:t>
            </a:r>
            <a:r>
              <a:rPr lang="en-US" altLang="en-US" sz="1800" b="1" i="1" baseline="-25000" dirty="0" err="1" smtClean="0">
                <a:latin typeface="Calibri" pitchFamily="34" charset="0"/>
                <a:cs typeface="Calibri" pitchFamily="34" charset="0"/>
                <a:sym typeface="Symbol" pitchFamily="18" charset="2"/>
              </a:rPr>
              <a:t>i</a:t>
            </a:r>
            <a:r>
              <a:rPr lang="en-US" altLang="en-US" sz="1800" b="1" baseline="-25000" dirty="0" smtClean="0">
                <a:latin typeface="Calibri" pitchFamily="34" charset="0"/>
                <a:cs typeface="Calibri" pitchFamily="34" charset="0"/>
                <a:sym typeface="Symbol" pitchFamily="18" charset="2"/>
              </a:rPr>
              <a:t> </a:t>
            </a:r>
            <a:r>
              <a:rPr lang="en-US" altLang="en-US" sz="1800" b="1" dirty="0" smtClean="0">
                <a:latin typeface="Calibri" pitchFamily="34" charset="0"/>
                <a:cs typeface="Calibri" pitchFamily="34" charset="0"/>
                <a:sym typeface="Symbol" pitchFamily="18" charset="2"/>
              </a:rPr>
              <a:t>= </a:t>
            </a:r>
            <a:r>
              <a:rPr lang="en-US" altLang="en-US" sz="1800" b="1" i="1" dirty="0" err="1" smtClean="0">
                <a:latin typeface="Calibri" pitchFamily="34" charset="0"/>
                <a:cs typeface="Calibri" pitchFamily="34" charset="0"/>
                <a:sym typeface="Symbol" pitchFamily="18" charset="2"/>
              </a:rPr>
              <a:t>Allocation</a:t>
            </a:r>
            <a:r>
              <a:rPr lang="en-US" altLang="en-US" sz="1800" b="1" i="1" baseline="-25000" dirty="0" err="1" smtClean="0">
                <a:latin typeface="Calibri" pitchFamily="34" charset="0"/>
                <a:cs typeface="Calibri" pitchFamily="34" charset="0"/>
                <a:sym typeface="Symbol" pitchFamily="18" charset="2"/>
              </a:rPr>
              <a:t>i</a:t>
            </a:r>
            <a:r>
              <a:rPr lang="en-US" altLang="en-US" sz="1800" b="1" dirty="0" smtClean="0">
                <a:latin typeface="Calibri" pitchFamily="34" charset="0"/>
                <a:cs typeface="Calibri" pitchFamily="34" charset="0"/>
                <a:sym typeface="Symbol" pitchFamily="18" charset="2"/>
              </a:rPr>
              <a:t> + </a:t>
            </a:r>
            <a:r>
              <a:rPr lang="en-US" altLang="en-US" sz="1800" b="1" i="1" dirty="0" err="1" smtClean="0">
                <a:latin typeface="Calibri" pitchFamily="34" charset="0"/>
                <a:cs typeface="Calibri" pitchFamily="34" charset="0"/>
                <a:sym typeface="Symbol" pitchFamily="18" charset="2"/>
              </a:rPr>
              <a:t>Request</a:t>
            </a:r>
            <a:r>
              <a:rPr lang="en-US" altLang="en-US" sz="1800" b="1" i="1" baseline="-25000" dirty="0" err="1" smtClean="0">
                <a:latin typeface="Calibri" pitchFamily="34" charset="0"/>
                <a:cs typeface="Calibri" pitchFamily="34" charset="0"/>
                <a:sym typeface="Symbol" pitchFamily="18" charset="2"/>
              </a:rPr>
              <a:t>i</a:t>
            </a:r>
            <a:r>
              <a:rPr lang="en-US" altLang="en-US" sz="1800" b="1" dirty="0" smtClean="0">
                <a:latin typeface="Calibri" pitchFamily="34" charset="0"/>
                <a:cs typeface="Calibri" pitchFamily="34" charset="0"/>
                <a:sym typeface="Symbol" pitchFamily="18" charset="2"/>
              </a:rPr>
              <a:t>;</a:t>
            </a:r>
          </a:p>
          <a:p>
            <a:pPr lvl="3">
              <a:lnSpc>
                <a:spcPct val="90000"/>
              </a:lnSpc>
              <a:buFontTx/>
              <a:buNone/>
            </a:pPr>
            <a:r>
              <a:rPr lang="en-US" altLang="en-US" sz="1800" b="1" dirty="0" smtClean="0">
                <a:latin typeface="Calibri" pitchFamily="34" charset="0"/>
                <a:cs typeface="Calibri" pitchFamily="34" charset="0"/>
                <a:sym typeface="Symbol" pitchFamily="18" charset="2"/>
              </a:rPr>
              <a:t>		</a:t>
            </a:r>
            <a:r>
              <a:rPr lang="en-US" altLang="en-US" sz="1800" b="1" i="1" dirty="0" err="1" smtClean="0">
                <a:latin typeface="Calibri" pitchFamily="34" charset="0"/>
                <a:cs typeface="Calibri" pitchFamily="34" charset="0"/>
                <a:sym typeface="Symbol" pitchFamily="18" charset="2"/>
              </a:rPr>
              <a:t>Need</a:t>
            </a:r>
            <a:r>
              <a:rPr lang="en-US" altLang="en-US" sz="1800" b="1" i="1" baseline="-25000" dirty="0" err="1" smtClean="0">
                <a:latin typeface="Calibri" pitchFamily="34" charset="0"/>
                <a:cs typeface="Calibri" pitchFamily="34" charset="0"/>
                <a:sym typeface="Symbol" pitchFamily="18" charset="2"/>
              </a:rPr>
              <a:t>i</a:t>
            </a:r>
            <a:r>
              <a:rPr lang="en-US" altLang="en-US" sz="1800" b="1" i="1" dirty="0" smtClean="0">
                <a:latin typeface="Calibri" pitchFamily="34" charset="0"/>
                <a:cs typeface="Calibri" pitchFamily="34" charset="0"/>
                <a:sym typeface="Symbol" pitchFamily="18" charset="2"/>
              </a:rPr>
              <a:t> </a:t>
            </a:r>
            <a:r>
              <a:rPr lang="en-US" altLang="en-US" sz="1800" b="1" dirty="0" smtClean="0">
                <a:latin typeface="Calibri" pitchFamily="34" charset="0"/>
                <a:cs typeface="Calibri" pitchFamily="34" charset="0"/>
                <a:sym typeface="Symbol" pitchFamily="18" charset="2"/>
              </a:rPr>
              <a:t>=</a:t>
            </a:r>
            <a:r>
              <a:rPr lang="en-US" altLang="en-US" sz="1800" b="1" i="1" dirty="0" smtClean="0">
                <a:latin typeface="Calibri" pitchFamily="34" charset="0"/>
                <a:cs typeface="Calibri" pitchFamily="34" charset="0"/>
                <a:sym typeface="Symbol" pitchFamily="18" charset="2"/>
              </a:rPr>
              <a:t> </a:t>
            </a:r>
            <a:r>
              <a:rPr lang="en-US" altLang="en-US" sz="1800" b="1" i="1" dirty="0" err="1" smtClean="0">
                <a:latin typeface="Calibri" pitchFamily="34" charset="0"/>
                <a:cs typeface="Calibri" pitchFamily="34" charset="0"/>
                <a:sym typeface="Symbol" pitchFamily="18" charset="2"/>
              </a:rPr>
              <a:t>Need</a:t>
            </a:r>
            <a:r>
              <a:rPr lang="en-US" altLang="en-US" sz="1800" b="1" i="1" baseline="-25000" dirty="0" err="1" smtClean="0">
                <a:latin typeface="Calibri" pitchFamily="34" charset="0"/>
                <a:cs typeface="Calibri" pitchFamily="34" charset="0"/>
                <a:sym typeface="Symbol" pitchFamily="18" charset="2"/>
              </a:rPr>
              <a:t>i</a:t>
            </a:r>
            <a:r>
              <a:rPr lang="en-US" altLang="en-US" sz="1800" b="1" dirty="0" smtClean="0">
                <a:latin typeface="Calibri" pitchFamily="34" charset="0"/>
                <a:cs typeface="Calibri" pitchFamily="34" charset="0"/>
                <a:sym typeface="Symbol" pitchFamily="18" charset="2"/>
              </a:rPr>
              <a:t> – </a:t>
            </a:r>
            <a:r>
              <a:rPr lang="en-US" altLang="en-US" sz="1800" b="1" i="1" dirty="0" err="1" smtClean="0">
                <a:latin typeface="Calibri" pitchFamily="34" charset="0"/>
                <a:cs typeface="Calibri" pitchFamily="34" charset="0"/>
                <a:sym typeface="Symbol" pitchFamily="18" charset="2"/>
              </a:rPr>
              <a:t>Request</a:t>
            </a:r>
            <a:r>
              <a:rPr lang="en-US" altLang="en-US" sz="1800" b="1" i="1" baseline="-25000" dirty="0" err="1" smtClean="0">
                <a:latin typeface="Calibri" pitchFamily="34" charset="0"/>
                <a:cs typeface="Calibri" pitchFamily="34" charset="0"/>
                <a:sym typeface="Symbol" pitchFamily="18" charset="2"/>
              </a:rPr>
              <a:t>i</a:t>
            </a:r>
            <a:r>
              <a:rPr lang="en-US" altLang="en-US" sz="1800" b="1" i="1" dirty="0" smtClean="0">
                <a:latin typeface="Calibri" pitchFamily="34" charset="0"/>
                <a:cs typeface="Calibri" pitchFamily="34" charset="0"/>
                <a:sym typeface="Symbol" pitchFamily="18" charset="2"/>
              </a:rPr>
              <a:t>;</a:t>
            </a:r>
          </a:p>
          <a:p>
            <a:pPr lvl="2">
              <a:lnSpc>
                <a:spcPct val="90000"/>
              </a:lnSpc>
              <a:buClr>
                <a:srgbClr val="CC6600"/>
              </a:buClr>
              <a:buSzPct val="80000"/>
              <a:buFont typeface="Monotype Sorts" pitchFamily="-84" charset="2"/>
              <a:buChar char="l"/>
            </a:pPr>
            <a:r>
              <a:rPr lang="en-US" altLang="en-US" sz="1800" dirty="0" smtClean="0">
                <a:latin typeface="Calibri" pitchFamily="34" charset="0"/>
                <a:cs typeface="Calibri" pitchFamily="34" charset="0"/>
                <a:sym typeface="Symbol" pitchFamily="18" charset="2"/>
              </a:rPr>
              <a:t>If safe  the resources are allocated to </a:t>
            </a:r>
            <a:r>
              <a:rPr lang="en-US" altLang="en-US" sz="1800" b="1" i="1" dirty="0" smtClean="0">
                <a:latin typeface="Calibri" pitchFamily="34" charset="0"/>
                <a:cs typeface="Calibri" pitchFamily="34" charset="0"/>
                <a:sym typeface="Symbol" pitchFamily="18" charset="2"/>
              </a:rPr>
              <a:t>P</a:t>
            </a:r>
            <a:r>
              <a:rPr lang="en-US" altLang="en-US" sz="1800" b="1" i="1" baseline="-25000" dirty="0" smtClean="0">
                <a:latin typeface="Calibri" pitchFamily="34" charset="0"/>
                <a:cs typeface="Calibri" pitchFamily="34" charset="0"/>
                <a:sym typeface="Symbol" pitchFamily="18" charset="2"/>
              </a:rPr>
              <a:t>i</a:t>
            </a:r>
          </a:p>
          <a:p>
            <a:pPr lvl="2">
              <a:lnSpc>
                <a:spcPct val="90000"/>
              </a:lnSpc>
              <a:buClr>
                <a:srgbClr val="CC6600"/>
              </a:buClr>
              <a:buSzPct val="80000"/>
              <a:buFont typeface="Monotype Sorts" pitchFamily="-84" charset="2"/>
              <a:buChar char="l"/>
            </a:pPr>
            <a:r>
              <a:rPr lang="en-US" altLang="en-US" sz="1800" dirty="0" smtClean="0">
                <a:latin typeface="Calibri" pitchFamily="34" charset="0"/>
                <a:cs typeface="Calibri" pitchFamily="34" charset="0"/>
                <a:sym typeface="Symbol" pitchFamily="18" charset="2"/>
              </a:rPr>
              <a:t>If unsafe  </a:t>
            </a:r>
            <a:r>
              <a:rPr lang="en-US" altLang="en-US" sz="1800" b="1" i="1" dirty="0" smtClean="0">
                <a:latin typeface="Calibri" pitchFamily="34" charset="0"/>
                <a:cs typeface="Calibri" pitchFamily="34" charset="0"/>
                <a:sym typeface="Symbol" pitchFamily="18" charset="2"/>
              </a:rPr>
              <a:t>P</a:t>
            </a:r>
            <a:r>
              <a:rPr lang="en-US" altLang="en-US" sz="1800" b="1" i="1" baseline="-25000" dirty="0" smtClean="0">
                <a:latin typeface="Calibri" pitchFamily="34" charset="0"/>
                <a:cs typeface="Calibri" pitchFamily="34" charset="0"/>
                <a:sym typeface="Symbol" pitchFamily="18" charset="2"/>
              </a:rPr>
              <a:t>i</a:t>
            </a:r>
            <a:r>
              <a:rPr lang="en-US" altLang="en-US" sz="1800" dirty="0" smtClean="0">
                <a:latin typeface="Calibri" pitchFamily="34" charset="0"/>
                <a:cs typeface="Calibri" pitchFamily="34" charset="0"/>
                <a:sym typeface="Symbol" pitchFamily="18" charset="2"/>
              </a:rPr>
              <a:t> must wait, and the old resource-allocation state is restored</a:t>
            </a:r>
          </a:p>
        </p:txBody>
      </p:sp>
    </p:spTree>
    <p:extLst>
      <p:ext uri="{BB962C8B-B14F-4D97-AF65-F5344CB8AC3E}">
        <p14:creationId xmlns:p14="http://schemas.microsoft.com/office/powerpoint/2010/main" val="457498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909762" y="253603"/>
            <a:ext cx="5748338" cy="432197"/>
          </a:xfrm>
        </p:spPr>
        <p:txBody>
          <a:bodyPr>
            <a:normAutofit fontScale="90000"/>
          </a:bodyPr>
          <a:lstStyle/>
          <a:p>
            <a:pPr eaLnBrk="1" hangingPunct="1"/>
            <a:r>
              <a:rPr lang="en-US" altLang="en-US" dirty="0" smtClean="0">
                <a:latin typeface="Calibri" pitchFamily="34" charset="0"/>
                <a:cs typeface="Calibri" pitchFamily="34" charset="0"/>
              </a:rPr>
              <a:t>Example of Banker</a:t>
            </a:r>
            <a:r>
              <a:rPr lang="ja-JP" altLang="en-US" dirty="0" smtClean="0">
                <a:latin typeface="Calibri" pitchFamily="34" charset="0"/>
                <a:cs typeface="Calibri" pitchFamily="34" charset="0"/>
              </a:rPr>
              <a:t>’</a:t>
            </a:r>
            <a:r>
              <a:rPr lang="en-US" altLang="ja-JP" dirty="0" smtClean="0">
                <a:latin typeface="Calibri" pitchFamily="34" charset="0"/>
                <a:cs typeface="Calibri" pitchFamily="34" charset="0"/>
              </a:rPr>
              <a:t>s Algorithm</a:t>
            </a:r>
            <a:endParaRPr lang="en-US" altLang="en-US" dirty="0" smtClean="0">
              <a:latin typeface="Calibri" pitchFamily="34" charset="0"/>
              <a:cs typeface="Calibri" pitchFamily="34" charset="0"/>
            </a:endParaRPr>
          </a:p>
        </p:txBody>
      </p:sp>
      <p:sp>
        <p:nvSpPr>
          <p:cNvPr id="33795" name="Rectangle 3"/>
          <p:cNvSpPr>
            <a:spLocks noGrp="1" noChangeArrowheads="1"/>
          </p:cNvSpPr>
          <p:nvPr>
            <p:ph type="body" idx="1"/>
          </p:nvPr>
        </p:nvSpPr>
        <p:spPr>
          <a:xfrm>
            <a:off x="1782366" y="1020366"/>
            <a:ext cx="5942409" cy="3405188"/>
          </a:xfrm>
        </p:spPr>
        <p:txBody>
          <a:bodyPr>
            <a:normAutofit fontScale="55000" lnSpcReduction="20000"/>
          </a:bodyPr>
          <a:lstStyle/>
          <a:p>
            <a:pPr>
              <a:tabLst>
                <a:tab pos="1028700" algn="l"/>
                <a:tab pos="1796654" algn="ctr"/>
                <a:tab pos="2695575" algn="ctr"/>
                <a:tab pos="3604022" algn="ctr"/>
              </a:tabLst>
            </a:pPr>
            <a:r>
              <a:rPr lang="en-US" altLang="en-US" smtClean="0">
                <a:latin typeface="Calibri" pitchFamily="34" charset="0"/>
                <a:cs typeface="Calibri" pitchFamily="34" charset="0"/>
              </a:rPr>
              <a:t>5 processes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0  </a:t>
            </a:r>
            <a:r>
              <a:rPr lang="en-US" altLang="en-US" smtClean="0">
                <a:latin typeface="Calibri" pitchFamily="34" charset="0"/>
                <a:cs typeface="Calibri" pitchFamily="34" charset="0"/>
              </a:rPr>
              <a:t>through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4</a:t>
            </a:r>
            <a:r>
              <a:rPr lang="en-US" altLang="en-US" smtClean="0">
                <a:latin typeface="Calibri" pitchFamily="34" charset="0"/>
                <a:cs typeface="Calibri" pitchFamily="34" charset="0"/>
              </a:rPr>
              <a:t>; </a:t>
            </a:r>
          </a:p>
          <a:p>
            <a:pPr>
              <a:buNone/>
              <a:tabLst>
                <a:tab pos="1028700" algn="l"/>
                <a:tab pos="1796654" algn="ctr"/>
                <a:tab pos="2695575" algn="ctr"/>
                <a:tab pos="3604022" algn="ctr"/>
              </a:tabLst>
            </a:pPr>
            <a:r>
              <a:rPr lang="en-US" altLang="en-US" smtClean="0">
                <a:latin typeface="Calibri" pitchFamily="34" charset="0"/>
                <a:cs typeface="Calibri" pitchFamily="34" charset="0"/>
              </a:rPr>
              <a:t>      3 resource types:</a:t>
            </a:r>
          </a:p>
          <a:p>
            <a:pPr>
              <a:buNone/>
              <a:tabLst>
                <a:tab pos="1028700" algn="l"/>
                <a:tab pos="1796654" algn="ctr"/>
                <a:tab pos="2695575" algn="ctr"/>
                <a:tab pos="3604022"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A</a:t>
            </a:r>
            <a:r>
              <a:rPr lang="en-US" altLang="en-US" smtClean="0">
                <a:latin typeface="Calibri" pitchFamily="34" charset="0"/>
                <a:cs typeface="Calibri" pitchFamily="34" charset="0"/>
              </a:rPr>
              <a:t> (10 instances),  </a:t>
            </a:r>
            <a:r>
              <a:rPr lang="en-US" altLang="en-US" i="1" smtClean="0">
                <a:latin typeface="Calibri" pitchFamily="34" charset="0"/>
                <a:cs typeface="Calibri" pitchFamily="34" charset="0"/>
              </a:rPr>
              <a:t>B</a:t>
            </a:r>
            <a:r>
              <a:rPr lang="en-US" altLang="en-US" smtClean="0">
                <a:latin typeface="Calibri" pitchFamily="34" charset="0"/>
                <a:cs typeface="Calibri" pitchFamily="34" charset="0"/>
              </a:rPr>
              <a:t> (5instances), and </a:t>
            </a:r>
            <a:r>
              <a:rPr lang="en-US" altLang="en-US" i="1" smtClean="0">
                <a:latin typeface="Calibri" pitchFamily="34" charset="0"/>
                <a:cs typeface="Calibri" pitchFamily="34" charset="0"/>
              </a:rPr>
              <a:t>C</a:t>
            </a:r>
            <a:r>
              <a:rPr lang="en-US" altLang="en-US" smtClean="0">
                <a:latin typeface="Calibri" pitchFamily="34" charset="0"/>
                <a:cs typeface="Calibri" pitchFamily="34" charset="0"/>
              </a:rPr>
              <a:t> (7 instances)</a:t>
            </a:r>
          </a:p>
          <a:p>
            <a:pPr>
              <a:tabLst>
                <a:tab pos="1028700" algn="l"/>
                <a:tab pos="1796654" algn="ctr"/>
                <a:tab pos="2695575" algn="ctr"/>
                <a:tab pos="3604022" algn="ctr"/>
              </a:tabLst>
            </a:pPr>
            <a:r>
              <a:rPr lang="en-US" altLang="en-US" smtClean="0">
                <a:latin typeface="Calibri" pitchFamily="34" charset="0"/>
                <a:cs typeface="Calibri" pitchFamily="34" charset="0"/>
              </a:rPr>
              <a:t>Snapshot at time </a:t>
            </a:r>
            <a:r>
              <a:rPr lang="en-US" altLang="en-US" i="1" smtClean="0">
                <a:latin typeface="Calibri" pitchFamily="34" charset="0"/>
                <a:cs typeface="Calibri" pitchFamily="34" charset="0"/>
              </a:rPr>
              <a:t>T</a:t>
            </a:r>
            <a:r>
              <a:rPr lang="en-US" altLang="en-US" baseline="-25000" smtClean="0">
                <a:latin typeface="Calibri" pitchFamily="34" charset="0"/>
                <a:cs typeface="Calibri" pitchFamily="34" charset="0"/>
              </a:rPr>
              <a:t>0</a:t>
            </a:r>
            <a:r>
              <a:rPr lang="en-US" altLang="en-US" smtClean="0">
                <a:latin typeface="Calibri" pitchFamily="34" charset="0"/>
                <a:cs typeface="Calibri" pitchFamily="34" charset="0"/>
              </a:rPr>
              <a:t>:</a:t>
            </a:r>
          </a:p>
          <a:p>
            <a:pPr>
              <a:buNone/>
              <a:tabLst>
                <a:tab pos="1028700" algn="l"/>
                <a:tab pos="1796654" algn="ctr"/>
                <a:tab pos="2695575" algn="ctr"/>
                <a:tab pos="3604022" algn="ctr"/>
              </a:tabLst>
            </a:pPr>
            <a:r>
              <a:rPr lang="en-US" altLang="en-US" smtClean="0">
                <a:latin typeface="Calibri" pitchFamily="34" charset="0"/>
                <a:cs typeface="Calibri" pitchFamily="34" charset="0"/>
              </a:rPr>
              <a:t>			</a:t>
            </a:r>
            <a:r>
              <a:rPr lang="en-US" altLang="en-US" i="1" u="sng" smtClean="0">
                <a:latin typeface="Calibri" pitchFamily="34" charset="0"/>
                <a:cs typeface="Calibri" pitchFamily="34" charset="0"/>
              </a:rPr>
              <a:t>Allocation</a:t>
            </a:r>
            <a:r>
              <a:rPr lang="en-US" altLang="en-US" i="1" smtClean="0">
                <a:latin typeface="Calibri" pitchFamily="34" charset="0"/>
                <a:cs typeface="Calibri" pitchFamily="34" charset="0"/>
              </a:rPr>
              <a:t>	  </a:t>
            </a:r>
            <a:r>
              <a:rPr lang="en-US" altLang="en-US" i="1" u="sng" smtClean="0">
                <a:latin typeface="Calibri" pitchFamily="34" charset="0"/>
                <a:cs typeface="Calibri" pitchFamily="34" charset="0"/>
              </a:rPr>
              <a:t>Max</a:t>
            </a:r>
            <a:r>
              <a:rPr lang="en-US" altLang="en-US" i="1" smtClean="0">
                <a:latin typeface="Calibri" pitchFamily="34" charset="0"/>
                <a:cs typeface="Calibri" pitchFamily="34" charset="0"/>
              </a:rPr>
              <a:t>	</a:t>
            </a:r>
            <a:r>
              <a:rPr lang="en-US" altLang="en-US" i="1" u="sng" smtClean="0">
                <a:latin typeface="Calibri" pitchFamily="34" charset="0"/>
                <a:cs typeface="Calibri" pitchFamily="34" charset="0"/>
              </a:rPr>
              <a:t>Available</a:t>
            </a:r>
            <a:endParaRPr lang="en-US" altLang="en-US" i="1" smtClean="0">
              <a:latin typeface="Calibri" pitchFamily="34" charset="0"/>
              <a:cs typeface="Calibri" pitchFamily="34" charset="0"/>
            </a:endParaRPr>
          </a:p>
          <a:p>
            <a:pPr>
              <a:buNone/>
              <a:tabLst>
                <a:tab pos="1028700" algn="l"/>
                <a:tab pos="1796654" algn="ctr"/>
                <a:tab pos="2695575" algn="ctr"/>
                <a:tab pos="3604022" algn="ctr"/>
              </a:tabLst>
            </a:pPr>
            <a:r>
              <a:rPr lang="en-US" altLang="en-US" i="1" smtClean="0">
                <a:latin typeface="Calibri" pitchFamily="34" charset="0"/>
                <a:cs typeface="Calibri" pitchFamily="34" charset="0"/>
              </a:rPr>
              <a:t>			A B C	       A B C 	A B C</a:t>
            </a:r>
          </a:p>
          <a:p>
            <a:pPr>
              <a:buNone/>
              <a:tabLst>
                <a:tab pos="1028700" algn="l"/>
                <a:tab pos="1796654" algn="ctr"/>
                <a:tab pos="2695575" algn="ctr"/>
                <a:tab pos="3604022"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0	</a:t>
            </a:r>
            <a:r>
              <a:rPr lang="en-US" altLang="en-US" smtClean="0">
                <a:latin typeface="Calibri" pitchFamily="34" charset="0"/>
                <a:cs typeface="Calibri" pitchFamily="34" charset="0"/>
              </a:rPr>
              <a:t>0 1 0	         7 5 3 	3 3 2</a:t>
            </a:r>
          </a:p>
          <a:p>
            <a:pPr>
              <a:buNone/>
              <a:tabLst>
                <a:tab pos="1028700" algn="l"/>
                <a:tab pos="1796654" algn="ctr"/>
                <a:tab pos="2695575" algn="ctr"/>
                <a:tab pos="3604022"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1	</a:t>
            </a:r>
            <a:r>
              <a:rPr lang="en-US" altLang="en-US" smtClean="0">
                <a:latin typeface="Calibri" pitchFamily="34" charset="0"/>
                <a:cs typeface="Calibri" pitchFamily="34" charset="0"/>
              </a:rPr>
              <a:t>2 0 0 	        3 2 2  </a:t>
            </a:r>
          </a:p>
          <a:p>
            <a:pPr>
              <a:buNone/>
              <a:tabLst>
                <a:tab pos="1028700" algn="l"/>
                <a:tab pos="1796654" algn="ctr"/>
                <a:tab pos="2695575" algn="ctr"/>
                <a:tab pos="3604022"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2</a:t>
            </a:r>
            <a:r>
              <a:rPr lang="en-US" altLang="en-US" smtClean="0">
                <a:latin typeface="Calibri" pitchFamily="34" charset="0"/>
                <a:cs typeface="Calibri" pitchFamily="34" charset="0"/>
              </a:rPr>
              <a:t>	3 0 2 	        9 0 2</a:t>
            </a:r>
          </a:p>
          <a:p>
            <a:pPr>
              <a:buNone/>
              <a:tabLst>
                <a:tab pos="1028700" algn="l"/>
                <a:tab pos="1796654" algn="ctr"/>
                <a:tab pos="2695575" algn="ctr"/>
                <a:tab pos="3604022"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3</a:t>
            </a:r>
            <a:r>
              <a:rPr lang="en-US" altLang="en-US" smtClean="0">
                <a:latin typeface="Calibri" pitchFamily="34" charset="0"/>
                <a:cs typeface="Calibri" pitchFamily="34" charset="0"/>
              </a:rPr>
              <a:t>	2 1 1 	        2 2 2</a:t>
            </a:r>
          </a:p>
          <a:p>
            <a:pPr>
              <a:buNone/>
              <a:tabLst>
                <a:tab pos="1028700" algn="l"/>
                <a:tab pos="1796654" algn="ctr"/>
                <a:tab pos="2695575" algn="ctr"/>
                <a:tab pos="3604022"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4</a:t>
            </a:r>
            <a:r>
              <a:rPr lang="en-US" altLang="en-US" smtClean="0">
                <a:latin typeface="Calibri" pitchFamily="34" charset="0"/>
                <a:cs typeface="Calibri" pitchFamily="34" charset="0"/>
              </a:rPr>
              <a:t>	0 0 2	         4 3 3  		</a:t>
            </a:r>
          </a:p>
        </p:txBody>
      </p:sp>
    </p:spTree>
    <p:extLst>
      <p:ext uri="{BB962C8B-B14F-4D97-AF65-F5344CB8AC3E}">
        <p14:creationId xmlns:p14="http://schemas.microsoft.com/office/powerpoint/2010/main" val="25418632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485900" y="285750"/>
            <a:ext cx="6172200" cy="742950"/>
          </a:xfrm>
        </p:spPr>
        <p:txBody>
          <a:bodyPr/>
          <a:lstStyle/>
          <a:p>
            <a:pPr eaLnBrk="1" hangingPunct="1"/>
            <a:r>
              <a:rPr lang="en-US" altLang="en-US" dirty="0" smtClean="0">
                <a:latin typeface="Calibri" pitchFamily="34" charset="0"/>
                <a:cs typeface="Calibri" pitchFamily="34" charset="0"/>
              </a:rPr>
              <a:t>Example (Cont.)</a:t>
            </a:r>
          </a:p>
        </p:txBody>
      </p:sp>
      <p:sp>
        <p:nvSpPr>
          <p:cNvPr id="34819" name="Rectangle 3"/>
          <p:cNvSpPr>
            <a:spLocks noGrp="1" noChangeArrowheads="1"/>
          </p:cNvSpPr>
          <p:nvPr>
            <p:ph type="body" idx="1"/>
          </p:nvPr>
        </p:nvSpPr>
        <p:spPr>
          <a:xfrm>
            <a:off x="1841898" y="852488"/>
            <a:ext cx="5793581" cy="3480197"/>
          </a:xfrm>
        </p:spPr>
        <p:txBody>
          <a:bodyPr>
            <a:normAutofit fontScale="55000" lnSpcReduction="20000"/>
          </a:bodyPr>
          <a:lstStyle/>
          <a:p>
            <a:pPr>
              <a:tabLst>
                <a:tab pos="1839516" algn="l"/>
                <a:tab pos="2619375" algn="ctr"/>
              </a:tabLst>
            </a:pPr>
            <a:r>
              <a:rPr lang="en-US" altLang="en-US" smtClean="0">
                <a:latin typeface="Calibri" pitchFamily="34" charset="0"/>
                <a:cs typeface="Calibri" pitchFamily="34" charset="0"/>
              </a:rPr>
              <a:t>The content of the matrix </a:t>
            </a:r>
            <a:r>
              <a:rPr lang="en-US" altLang="en-US" b="1" i="1" smtClean="0">
                <a:latin typeface="Calibri" pitchFamily="34" charset="0"/>
                <a:cs typeface="Calibri" pitchFamily="34" charset="0"/>
              </a:rPr>
              <a:t>Need</a:t>
            </a:r>
            <a:r>
              <a:rPr lang="en-US" altLang="en-US" smtClean="0">
                <a:latin typeface="Calibri" pitchFamily="34" charset="0"/>
                <a:cs typeface="Calibri" pitchFamily="34" charset="0"/>
              </a:rPr>
              <a:t> is defined to be </a:t>
            </a:r>
            <a:r>
              <a:rPr lang="en-US" altLang="en-US" b="1" i="1" smtClean="0">
                <a:latin typeface="Calibri" pitchFamily="34" charset="0"/>
                <a:cs typeface="Calibri" pitchFamily="34" charset="0"/>
              </a:rPr>
              <a:t>Max</a:t>
            </a:r>
            <a:r>
              <a:rPr lang="en-US" altLang="en-US" b="1" smtClean="0">
                <a:latin typeface="Calibri" pitchFamily="34" charset="0"/>
                <a:cs typeface="Calibri" pitchFamily="34" charset="0"/>
              </a:rPr>
              <a:t> – </a:t>
            </a:r>
            <a:r>
              <a:rPr lang="en-US" altLang="en-US" b="1" i="1" smtClean="0">
                <a:latin typeface="Calibri" pitchFamily="34" charset="0"/>
                <a:cs typeface="Calibri" pitchFamily="34" charset="0"/>
              </a:rPr>
              <a:t>Allocation</a:t>
            </a:r>
            <a:endParaRPr lang="en-US" altLang="en-US" b="1" smtClean="0">
              <a:latin typeface="Calibri" pitchFamily="34" charset="0"/>
              <a:cs typeface="Calibri" pitchFamily="34" charset="0"/>
            </a:endParaRPr>
          </a:p>
          <a:p>
            <a:pPr>
              <a:buNone/>
              <a:tabLst>
                <a:tab pos="1839516" algn="l"/>
                <a:tab pos="2619375" algn="ctr"/>
              </a:tabLst>
            </a:pPr>
            <a:endParaRPr lang="en-US" altLang="en-US" smtClean="0">
              <a:latin typeface="Calibri" pitchFamily="34" charset="0"/>
              <a:cs typeface="Calibri" pitchFamily="34" charset="0"/>
            </a:endParaRPr>
          </a:p>
          <a:p>
            <a:pPr>
              <a:buNone/>
              <a:tabLst>
                <a:tab pos="1839516" algn="l"/>
                <a:tab pos="2619375" algn="ctr"/>
              </a:tabLst>
            </a:pPr>
            <a:r>
              <a:rPr lang="en-US" altLang="en-US" smtClean="0">
                <a:latin typeface="Calibri" pitchFamily="34" charset="0"/>
                <a:cs typeface="Calibri" pitchFamily="34" charset="0"/>
              </a:rPr>
              <a:t>			</a:t>
            </a:r>
            <a:r>
              <a:rPr lang="en-US" altLang="en-US" i="1" u="sng" smtClean="0">
                <a:latin typeface="Calibri" pitchFamily="34" charset="0"/>
                <a:cs typeface="Calibri" pitchFamily="34" charset="0"/>
              </a:rPr>
              <a:t>Need</a:t>
            </a:r>
            <a:endParaRPr lang="en-US" altLang="en-US" u="sng" smtClean="0">
              <a:latin typeface="Calibri" pitchFamily="34" charset="0"/>
              <a:cs typeface="Calibri" pitchFamily="34" charset="0"/>
            </a:endParaRPr>
          </a:p>
          <a:p>
            <a:pPr>
              <a:buNone/>
              <a:tabLst>
                <a:tab pos="1839516" algn="l"/>
                <a:tab pos="2619375"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A B C</a:t>
            </a:r>
          </a:p>
          <a:p>
            <a:pPr>
              <a:buNone/>
              <a:tabLst>
                <a:tab pos="1839516" algn="l"/>
                <a:tab pos="2619375"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0	</a:t>
            </a:r>
            <a:r>
              <a:rPr lang="en-US" altLang="en-US" smtClean="0">
                <a:latin typeface="Calibri" pitchFamily="34" charset="0"/>
                <a:cs typeface="Calibri" pitchFamily="34" charset="0"/>
              </a:rPr>
              <a:t>7 4 3 </a:t>
            </a:r>
          </a:p>
          <a:p>
            <a:pPr>
              <a:buNone/>
              <a:tabLst>
                <a:tab pos="1839516" algn="l"/>
                <a:tab pos="2619375"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1	</a:t>
            </a:r>
            <a:r>
              <a:rPr lang="en-US" altLang="en-US" smtClean="0">
                <a:latin typeface="Calibri" pitchFamily="34" charset="0"/>
                <a:cs typeface="Calibri" pitchFamily="34" charset="0"/>
              </a:rPr>
              <a:t>1 2 2 </a:t>
            </a:r>
          </a:p>
          <a:p>
            <a:pPr>
              <a:buNone/>
              <a:tabLst>
                <a:tab pos="1839516" algn="l"/>
                <a:tab pos="2619375"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2</a:t>
            </a:r>
            <a:r>
              <a:rPr lang="en-US" altLang="en-US" smtClean="0">
                <a:latin typeface="Calibri" pitchFamily="34" charset="0"/>
                <a:cs typeface="Calibri" pitchFamily="34" charset="0"/>
              </a:rPr>
              <a:t>	6 0 0 </a:t>
            </a:r>
          </a:p>
          <a:p>
            <a:pPr>
              <a:buNone/>
              <a:tabLst>
                <a:tab pos="1839516" algn="l"/>
                <a:tab pos="2619375"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3</a:t>
            </a:r>
            <a:r>
              <a:rPr lang="en-US" altLang="en-US" smtClean="0">
                <a:latin typeface="Calibri" pitchFamily="34" charset="0"/>
                <a:cs typeface="Calibri" pitchFamily="34" charset="0"/>
              </a:rPr>
              <a:t>	0 1 1</a:t>
            </a:r>
          </a:p>
          <a:p>
            <a:pPr>
              <a:buNone/>
              <a:tabLst>
                <a:tab pos="1839516" algn="l"/>
                <a:tab pos="2619375"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4</a:t>
            </a:r>
            <a:r>
              <a:rPr lang="en-US" altLang="en-US" smtClean="0">
                <a:latin typeface="Calibri" pitchFamily="34" charset="0"/>
                <a:cs typeface="Calibri" pitchFamily="34" charset="0"/>
              </a:rPr>
              <a:t>	4 3 1 </a:t>
            </a:r>
            <a:br>
              <a:rPr lang="en-US" altLang="en-US" smtClean="0">
                <a:latin typeface="Calibri" pitchFamily="34" charset="0"/>
                <a:cs typeface="Calibri" pitchFamily="34" charset="0"/>
              </a:rPr>
            </a:br>
            <a:endParaRPr lang="en-US" altLang="en-US" smtClean="0">
              <a:latin typeface="Calibri" pitchFamily="34" charset="0"/>
              <a:cs typeface="Calibri" pitchFamily="34" charset="0"/>
            </a:endParaRPr>
          </a:p>
          <a:p>
            <a:pPr>
              <a:tabLst>
                <a:tab pos="1839516" algn="l"/>
                <a:tab pos="2619375" algn="ctr"/>
              </a:tabLst>
            </a:pPr>
            <a:r>
              <a:rPr lang="en-US" altLang="en-US" smtClean="0">
                <a:latin typeface="Calibri" pitchFamily="34" charset="0"/>
                <a:cs typeface="Calibri" pitchFamily="34" charset="0"/>
              </a:rPr>
              <a:t>The system is in a safe state since the sequence &lt;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1</a:t>
            </a: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3</a:t>
            </a: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4</a:t>
            </a: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2</a:t>
            </a: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0</a:t>
            </a:r>
            <a:r>
              <a:rPr lang="en-US" altLang="en-US" smtClean="0">
                <a:latin typeface="Calibri" pitchFamily="34" charset="0"/>
                <a:cs typeface="Calibri" pitchFamily="34" charset="0"/>
              </a:rPr>
              <a:t>&gt; satisfies safety criteria</a:t>
            </a:r>
            <a:endParaRPr lang="en-US" altLang="en-US" baseline="-25000" smtClean="0">
              <a:latin typeface="Calibri" pitchFamily="34" charset="0"/>
              <a:cs typeface="Calibri" pitchFamily="34" charset="0"/>
            </a:endParaRPr>
          </a:p>
        </p:txBody>
      </p:sp>
    </p:spTree>
    <p:extLst>
      <p:ext uri="{BB962C8B-B14F-4D97-AF65-F5344CB8AC3E}">
        <p14:creationId xmlns:p14="http://schemas.microsoft.com/office/powerpoint/2010/main" val="20380540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756173" y="160735"/>
            <a:ext cx="5901928" cy="432197"/>
          </a:xfrm>
        </p:spPr>
        <p:txBody>
          <a:bodyPr>
            <a:normAutofit fontScale="90000"/>
          </a:bodyPr>
          <a:lstStyle/>
          <a:p>
            <a:pPr eaLnBrk="1" hangingPunct="1"/>
            <a:r>
              <a:rPr lang="en-US" altLang="en-US" smtClean="0">
                <a:latin typeface="Calibri" pitchFamily="34" charset="0"/>
                <a:cs typeface="Calibri" pitchFamily="34" charset="0"/>
              </a:rPr>
              <a:t>Example: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1</a:t>
            </a:r>
            <a:r>
              <a:rPr lang="en-US" altLang="en-US" smtClean="0">
                <a:latin typeface="Calibri" pitchFamily="34" charset="0"/>
                <a:cs typeface="Calibri" pitchFamily="34" charset="0"/>
              </a:rPr>
              <a:t> Request (1,0,2)</a:t>
            </a:r>
          </a:p>
        </p:txBody>
      </p:sp>
      <p:sp>
        <p:nvSpPr>
          <p:cNvPr id="35843" name="Rectangle 3"/>
          <p:cNvSpPr>
            <a:spLocks noGrp="1" noChangeArrowheads="1"/>
          </p:cNvSpPr>
          <p:nvPr>
            <p:ph type="body" idx="1"/>
          </p:nvPr>
        </p:nvSpPr>
        <p:spPr>
          <a:xfrm>
            <a:off x="1815703" y="827485"/>
            <a:ext cx="5824538" cy="3827859"/>
          </a:xfrm>
        </p:spPr>
        <p:txBody>
          <a:bodyPr>
            <a:normAutofit fontScale="55000" lnSpcReduction="20000"/>
          </a:bodyPr>
          <a:lstStyle/>
          <a:p>
            <a:pPr>
              <a:tabLst>
                <a:tab pos="1158479" algn="l"/>
                <a:tab pos="1839516" algn="ctr"/>
                <a:tab pos="2825354" algn="ctr"/>
                <a:tab pos="3767138" algn="ctr"/>
              </a:tabLst>
            </a:pPr>
            <a:r>
              <a:rPr lang="en-US" altLang="en-US" smtClean="0">
                <a:latin typeface="Calibri" pitchFamily="34" charset="0"/>
                <a:cs typeface="Calibri" pitchFamily="34" charset="0"/>
              </a:rPr>
              <a:t>Check that Request </a:t>
            </a:r>
            <a:r>
              <a:rPr lang="en-US" altLang="en-US" smtClean="0">
                <a:latin typeface="Calibri" pitchFamily="34" charset="0"/>
                <a:cs typeface="Calibri" pitchFamily="34" charset="0"/>
                <a:sym typeface="Symbol" pitchFamily="18" charset="2"/>
              </a:rPr>
              <a:t> Available (that is, (1,0,2)  (3,3,2)  true</a:t>
            </a:r>
            <a:endParaRPr lang="en-US" altLang="en-US" i="1" smtClean="0">
              <a:latin typeface="Calibri" pitchFamily="34" charset="0"/>
              <a:cs typeface="Calibri" pitchFamily="34" charset="0"/>
              <a:sym typeface="Symbol" pitchFamily="18" charset="2"/>
            </a:endParaRPr>
          </a:p>
          <a:p>
            <a:pPr>
              <a:buNone/>
              <a:tabLst>
                <a:tab pos="1158479" algn="l"/>
                <a:tab pos="1839516" algn="ctr"/>
                <a:tab pos="2825354" algn="ctr"/>
                <a:tab pos="3767138" algn="ctr"/>
              </a:tabLst>
            </a:pPr>
            <a:r>
              <a:rPr lang="en-US" altLang="en-US" i="1" smtClean="0">
                <a:latin typeface="Calibri" pitchFamily="34" charset="0"/>
                <a:cs typeface="Calibri" pitchFamily="34" charset="0"/>
              </a:rPr>
              <a:t>			</a:t>
            </a:r>
            <a:r>
              <a:rPr lang="en-US" altLang="en-US" i="1" u="sng" smtClean="0">
                <a:latin typeface="Calibri" pitchFamily="34" charset="0"/>
                <a:cs typeface="Calibri" pitchFamily="34" charset="0"/>
              </a:rPr>
              <a:t>Allocation</a:t>
            </a:r>
            <a:r>
              <a:rPr lang="en-US" altLang="en-US" i="1" smtClean="0">
                <a:latin typeface="Calibri" pitchFamily="34" charset="0"/>
                <a:cs typeface="Calibri" pitchFamily="34" charset="0"/>
              </a:rPr>
              <a:t>	</a:t>
            </a:r>
            <a:r>
              <a:rPr lang="en-US" altLang="en-US" i="1" u="sng" smtClean="0">
                <a:latin typeface="Calibri" pitchFamily="34" charset="0"/>
                <a:cs typeface="Calibri" pitchFamily="34" charset="0"/>
              </a:rPr>
              <a:t>Need</a:t>
            </a:r>
            <a:r>
              <a:rPr lang="en-US" altLang="en-US" i="1" smtClean="0">
                <a:latin typeface="Calibri" pitchFamily="34" charset="0"/>
                <a:cs typeface="Calibri" pitchFamily="34" charset="0"/>
              </a:rPr>
              <a:t>	   </a:t>
            </a:r>
            <a:r>
              <a:rPr lang="en-US" altLang="en-US" i="1" u="sng" smtClean="0">
                <a:latin typeface="Calibri" pitchFamily="34" charset="0"/>
                <a:cs typeface="Calibri" pitchFamily="34" charset="0"/>
              </a:rPr>
              <a:t>Available</a:t>
            </a:r>
            <a:endParaRPr lang="en-US" altLang="en-US" i="1" smtClean="0">
              <a:latin typeface="Calibri" pitchFamily="34" charset="0"/>
              <a:cs typeface="Calibri" pitchFamily="34" charset="0"/>
            </a:endParaRPr>
          </a:p>
          <a:p>
            <a:pPr>
              <a:buNone/>
              <a:tabLst>
                <a:tab pos="1158479" algn="l"/>
                <a:tab pos="1839516" algn="ctr"/>
                <a:tab pos="2825354" algn="ctr"/>
                <a:tab pos="3767138" algn="ctr"/>
              </a:tabLst>
            </a:pPr>
            <a:r>
              <a:rPr lang="en-US" altLang="en-US" i="1" smtClean="0">
                <a:latin typeface="Calibri" pitchFamily="34" charset="0"/>
                <a:cs typeface="Calibri" pitchFamily="34" charset="0"/>
              </a:rPr>
              <a:t>			A B C	A B C	 A B C </a:t>
            </a:r>
          </a:p>
          <a:p>
            <a:pPr>
              <a:buNone/>
              <a:tabLst>
                <a:tab pos="1158479" algn="l"/>
                <a:tab pos="1839516" algn="ctr"/>
                <a:tab pos="2825354" algn="ctr"/>
                <a:tab pos="3767138"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0</a:t>
            </a:r>
            <a:r>
              <a:rPr lang="en-US" altLang="en-US" smtClean="0">
                <a:latin typeface="Calibri" pitchFamily="34" charset="0"/>
                <a:cs typeface="Calibri" pitchFamily="34" charset="0"/>
              </a:rPr>
              <a:t>	0 1 0 	7 4 3 	2 3 0</a:t>
            </a:r>
          </a:p>
          <a:p>
            <a:pPr>
              <a:buNone/>
              <a:tabLst>
                <a:tab pos="1158479" algn="l"/>
                <a:tab pos="1839516" algn="ctr"/>
                <a:tab pos="2825354" algn="ctr"/>
                <a:tab pos="3767138"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1</a:t>
            </a:r>
            <a:r>
              <a:rPr lang="en-US" altLang="en-US" smtClean="0">
                <a:latin typeface="Calibri" pitchFamily="34" charset="0"/>
                <a:cs typeface="Calibri" pitchFamily="34" charset="0"/>
              </a:rPr>
              <a:t>	      3 0 2             0 2 0 	</a:t>
            </a:r>
          </a:p>
          <a:p>
            <a:pPr>
              <a:buNone/>
              <a:tabLst>
                <a:tab pos="1158479" algn="l"/>
                <a:tab pos="1839516" algn="ctr"/>
                <a:tab pos="2825354" algn="ctr"/>
                <a:tab pos="3767138"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2</a:t>
            </a:r>
            <a:r>
              <a:rPr lang="en-US" altLang="en-US" smtClean="0">
                <a:latin typeface="Calibri" pitchFamily="34" charset="0"/>
                <a:cs typeface="Calibri" pitchFamily="34" charset="0"/>
              </a:rPr>
              <a:t>	3 0 2 	 6 0 0 </a:t>
            </a:r>
          </a:p>
          <a:p>
            <a:pPr>
              <a:buNone/>
              <a:tabLst>
                <a:tab pos="1158479" algn="l"/>
                <a:tab pos="1839516" algn="ctr"/>
                <a:tab pos="2825354" algn="ctr"/>
                <a:tab pos="3767138"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3</a:t>
            </a:r>
            <a:r>
              <a:rPr lang="en-US" altLang="en-US" smtClean="0">
                <a:latin typeface="Calibri" pitchFamily="34" charset="0"/>
                <a:cs typeface="Calibri" pitchFamily="34" charset="0"/>
              </a:rPr>
              <a:t>	2 1 1 	0 1 1</a:t>
            </a:r>
          </a:p>
          <a:p>
            <a:pPr>
              <a:buNone/>
              <a:tabLst>
                <a:tab pos="1158479" algn="l"/>
                <a:tab pos="1839516" algn="ctr"/>
                <a:tab pos="2825354" algn="ctr"/>
                <a:tab pos="3767138" algn="ctr"/>
              </a:tabLst>
            </a:pPr>
            <a:r>
              <a:rPr lang="en-US" altLang="en-US" smtClean="0">
                <a:latin typeface="Calibri" pitchFamily="34" charset="0"/>
                <a:cs typeface="Calibri" pitchFamily="34" charset="0"/>
              </a:rPr>
              <a:t>		</a:t>
            </a:r>
            <a:r>
              <a:rPr lang="en-US" altLang="en-US" i="1" smtClean="0">
                <a:latin typeface="Calibri" pitchFamily="34" charset="0"/>
                <a:cs typeface="Calibri" pitchFamily="34" charset="0"/>
              </a:rPr>
              <a:t>P</a:t>
            </a:r>
            <a:r>
              <a:rPr lang="en-US" altLang="en-US" baseline="-25000" smtClean="0">
                <a:latin typeface="Calibri" pitchFamily="34" charset="0"/>
                <a:cs typeface="Calibri" pitchFamily="34" charset="0"/>
              </a:rPr>
              <a:t>4</a:t>
            </a:r>
            <a:r>
              <a:rPr lang="en-US" altLang="en-US" smtClean="0">
                <a:latin typeface="Calibri" pitchFamily="34" charset="0"/>
                <a:cs typeface="Calibri" pitchFamily="34" charset="0"/>
              </a:rPr>
              <a:t>	0 0 2 	 4 3 1 </a:t>
            </a:r>
          </a:p>
          <a:p>
            <a:pPr>
              <a:buNone/>
              <a:tabLst>
                <a:tab pos="1158479" algn="l"/>
                <a:tab pos="1839516" algn="ctr"/>
                <a:tab pos="2825354" algn="ctr"/>
                <a:tab pos="3767138" algn="ctr"/>
              </a:tabLst>
            </a:pPr>
            <a:endParaRPr lang="en-US" altLang="en-US" sz="600">
              <a:latin typeface="Calibri" pitchFamily="34" charset="0"/>
              <a:cs typeface="Calibri" pitchFamily="34" charset="0"/>
            </a:endParaRPr>
          </a:p>
          <a:p>
            <a:pPr>
              <a:tabLst>
                <a:tab pos="1158479" algn="l"/>
                <a:tab pos="1839516" algn="ctr"/>
                <a:tab pos="2825354" algn="ctr"/>
                <a:tab pos="3767138" algn="ctr"/>
              </a:tabLst>
            </a:pPr>
            <a:r>
              <a:rPr lang="en-US" altLang="en-US" smtClean="0">
                <a:latin typeface="Calibri" pitchFamily="34" charset="0"/>
                <a:cs typeface="Calibri" pitchFamily="34" charset="0"/>
              </a:rPr>
              <a:t>Executing safety algorithm shows that sequence &lt; </a:t>
            </a:r>
            <a:r>
              <a:rPr lang="en-US" altLang="en-US" b="1" i="1" smtClean="0">
                <a:latin typeface="Calibri" pitchFamily="34" charset="0"/>
                <a:cs typeface="Calibri" pitchFamily="34" charset="0"/>
              </a:rPr>
              <a:t>P</a:t>
            </a:r>
            <a:r>
              <a:rPr lang="en-US" altLang="en-US" b="1" baseline="-25000" smtClean="0">
                <a:latin typeface="Calibri" pitchFamily="34" charset="0"/>
                <a:cs typeface="Calibri" pitchFamily="34" charset="0"/>
              </a:rPr>
              <a:t>1</a:t>
            </a:r>
            <a:r>
              <a:rPr lang="en-US" altLang="en-US" b="1" smtClean="0">
                <a:latin typeface="Calibri" pitchFamily="34" charset="0"/>
                <a:cs typeface="Calibri" pitchFamily="34" charset="0"/>
              </a:rPr>
              <a:t>, </a:t>
            </a:r>
            <a:r>
              <a:rPr lang="en-US" altLang="en-US" b="1" i="1" smtClean="0">
                <a:latin typeface="Calibri" pitchFamily="34" charset="0"/>
                <a:cs typeface="Calibri" pitchFamily="34" charset="0"/>
              </a:rPr>
              <a:t>P</a:t>
            </a:r>
            <a:r>
              <a:rPr lang="en-US" altLang="en-US" b="1" baseline="-25000" smtClean="0">
                <a:latin typeface="Calibri" pitchFamily="34" charset="0"/>
                <a:cs typeface="Calibri" pitchFamily="34" charset="0"/>
              </a:rPr>
              <a:t>3</a:t>
            </a:r>
            <a:r>
              <a:rPr lang="en-US" altLang="en-US" b="1" smtClean="0">
                <a:latin typeface="Calibri" pitchFamily="34" charset="0"/>
                <a:cs typeface="Calibri" pitchFamily="34" charset="0"/>
              </a:rPr>
              <a:t>, </a:t>
            </a:r>
            <a:r>
              <a:rPr lang="en-US" altLang="en-US" b="1" i="1" smtClean="0">
                <a:latin typeface="Calibri" pitchFamily="34" charset="0"/>
                <a:cs typeface="Calibri" pitchFamily="34" charset="0"/>
              </a:rPr>
              <a:t>P</a:t>
            </a:r>
            <a:r>
              <a:rPr lang="en-US" altLang="en-US" b="1" baseline="-25000" smtClean="0">
                <a:latin typeface="Calibri" pitchFamily="34" charset="0"/>
                <a:cs typeface="Calibri" pitchFamily="34" charset="0"/>
              </a:rPr>
              <a:t>4</a:t>
            </a:r>
            <a:r>
              <a:rPr lang="en-US" altLang="en-US" b="1" smtClean="0">
                <a:latin typeface="Calibri" pitchFamily="34" charset="0"/>
                <a:cs typeface="Calibri" pitchFamily="34" charset="0"/>
              </a:rPr>
              <a:t>, </a:t>
            </a:r>
            <a:r>
              <a:rPr lang="en-US" altLang="en-US" b="1" i="1" smtClean="0">
                <a:latin typeface="Calibri" pitchFamily="34" charset="0"/>
                <a:cs typeface="Calibri" pitchFamily="34" charset="0"/>
              </a:rPr>
              <a:t>P</a:t>
            </a:r>
            <a:r>
              <a:rPr lang="en-US" altLang="en-US" b="1" baseline="-25000" smtClean="0">
                <a:latin typeface="Calibri" pitchFamily="34" charset="0"/>
                <a:cs typeface="Calibri" pitchFamily="34" charset="0"/>
              </a:rPr>
              <a:t>0</a:t>
            </a:r>
            <a:r>
              <a:rPr lang="en-US" altLang="en-US" b="1" smtClean="0">
                <a:latin typeface="Calibri" pitchFamily="34" charset="0"/>
                <a:cs typeface="Calibri" pitchFamily="34" charset="0"/>
              </a:rPr>
              <a:t>, </a:t>
            </a:r>
            <a:r>
              <a:rPr lang="en-US" altLang="en-US" b="1" i="1" smtClean="0">
                <a:latin typeface="Calibri" pitchFamily="34" charset="0"/>
                <a:cs typeface="Calibri" pitchFamily="34" charset="0"/>
              </a:rPr>
              <a:t>P</a:t>
            </a:r>
            <a:r>
              <a:rPr lang="en-US" altLang="en-US" b="1" baseline="-25000" smtClean="0">
                <a:latin typeface="Calibri" pitchFamily="34" charset="0"/>
                <a:cs typeface="Calibri" pitchFamily="34" charset="0"/>
              </a:rPr>
              <a:t>2</a:t>
            </a:r>
            <a:r>
              <a:rPr lang="en-US" altLang="en-US" smtClean="0">
                <a:latin typeface="Calibri" pitchFamily="34" charset="0"/>
                <a:cs typeface="Calibri" pitchFamily="34" charset="0"/>
              </a:rPr>
              <a:t>&gt; satisfies safety requirement</a:t>
            </a:r>
          </a:p>
          <a:p>
            <a:pPr>
              <a:tabLst>
                <a:tab pos="1158479" algn="l"/>
                <a:tab pos="1839516" algn="ctr"/>
                <a:tab pos="2825354" algn="ctr"/>
                <a:tab pos="3767138" algn="ctr"/>
              </a:tabLst>
            </a:pPr>
            <a:endParaRPr lang="en-US" altLang="en-US" sz="600">
              <a:latin typeface="Calibri" pitchFamily="34" charset="0"/>
              <a:cs typeface="Calibri" pitchFamily="34" charset="0"/>
            </a:endParaRPr>
          </a:p>
          <a:p>
            <a:pPr>
              <a:tabLst>
                <a:tab pos="1158479" algn="l"/>
                <a:tab pos="1839516" algn="ctr"/>
                <a:tab pos="2825354" algn="ctr"/>
                <a:tab pos="3767138" algn="ctr"/>
              </a:tabLst>
            </a:pPr>
            <a:r>
              <a:rPr lang="en-US" altLang="en-US" smtClean="0">
                <a:latin typeface="Calibri" pitchFamily="34" charset="0"/>
                <a:cs typeface="Calibri" pitchFamily="34" charset="0"/>
              </a:rPr>
              <a:t>Can request for (3,3,0) by </a:t>
            </a:r>
            <a:r>
              <a:rPr lang="en-US" altLang="en-US" b="1" i="1" smtClean="0">
                <a:latin typeface="Calibri" pitchFamily="34" charset="0"/>
                <a:cs typeface="Calibri" pitchFamily="34" charset="0"/>
              </a:rPr>
              <a:t>P</a:t>
            </a:r>
            <a:r>
              <a:rPr lang="en-US" altLang="en-US" b="1" baseline="-25000" smtClean="0">
                <a:latin typeface="Calibri" pitchFamily="34" charset="0"/>
                <a:cs typeface="Calibri" pitchFamily="34" charset="0"/>
              </a:rPr>
              <a:t>4</a:t>
            </a:r>
            <a:r>
              <a:rPr lang="en-US" altLang="en-US" smtClean="0">
                <a:latin typeface="Calibri" pitchFamily="34" charset="0"/>
                <a:cs typeface="Calibri" pitchFamily="34" charset="0"/>
              </a:rPr>
              <a:t> be granted?</a:t>
            </a:r>
          </a:p>
          <a:p>
            <a:pPr>
              <a:tabLst>
                <a:tab pos="1158479" algn="l"/>
                <a:tab pos="1839516" algn="ctr"/>
                <a:tab pos="2825354" algn="ctr"/>
                <a:tab pos="3767138" algn="ctr"/>
              </a:tabLst>
            </a:pPr>
            <a:endParaRPr lang="en-US" altLang="en-US" sz="600">
              <a:latin typeface="Calibri" pitchFamily="34" charset="0"/>
              <a:cs typeface="Calibri" pitchFamily="34" charset="0"/>
            </a:endParaRPr>
          </a:p>
          <a:p>
            <a:pPr>
              <a:tabLst>
                <a:tab pos="1158479" algn="l"/>
                <a:tab pos="1839516" algn="ctr"/>
                <a:tab pos="2825354" algn="ctr"/>
                <a:tab pos="3767138" algn="ctr"/>
              </a:tabLst>
            </a:pPr>
            <a:r>
              <a:rPr lang="en-US" altLang="en-US" smtClean="0">
                <a:latin typeface="Calibri" pitchFamily="34" charset="0"/>
                <a:cs typeface="Calibri" pitchFamily="34" charset="0"/>
              </a:rPr>
              <a:t>Can request for (0,2,0) by </a:t>
            </a:r>
            <a:r>
              <a:rPr lang="en-US" altLang="en-US" b="1" i="1" smtClean="0">
                <a:latin typeface="Calibri" pitchFamily="34" charset="0"/>
                <a:cs typeface="Calibri" pitchFamily="34" charset="0"/>
              </a:rPr>
              <a:t>P</a:t>
            </a:r>
            <a:r>
              <a:rPr lang="en-US" altLang="en-US" b="1" baseline="-25000" smtClean="0">
                <a:latin typeface="Calibri" pitchFamily="34" charset="0"/>
                <a:cs typeface="Calibri" pitchFamily="34" charset="0"/>
              </a:rPr>
              <a:t>0</a:t>
            </a:r>
            <a:r>
              <a:rPr lang="en-US" altLang="en-US" smtClean="0">
                <a:latin typeface="Calibri" pitchFamily="34" charset="0"/>
                <a:cs typeface="Calibri" pitchFamily="34" charset="0"/>
              </a:rPr>
              <a:t> be granted?</a:t>
            </a:r>
          </a:p>
          <a:p>
            <a:pPr>
              <a:buNone/>
              <a:tabLst>
                <a:tab pos="1158479" algn="l"/>
                <a:tab pos="1839516" algn="ctr"/>
                <a:tab pos="2825354" algn="ctr"/>
                <a:tab pos="3767138" algn="ctr"/>
              </a:tabLst>
            </a:pPr>
            <a:endParaRPr lang="en-US" altLang="en-US" smtClean="0">
              <a:latin typeface="Calibri" pitchFamily="34" charset="0"/>
              <a:cs typeface="Calibri" pitchFamily="34" charset="0"/>
            </a:endParaRPr>
          </a:p>
        </p:txBody>
      </p:sp>
    </p:spTree>
    <p:extLst>
      <p:ext uri="{BB962C8B-B14F-4D97-AF65-F5344CB8AC3E}">
        <p14:creationId xmlns:p14="http://schemas.microsoft.com/office/powerpoint/2010/main" val="24136426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2523972" y="3579862"/>
            <a:ext cx="4096505" cy="1563637"/>
            <a:chOff x="152400" y="152400"/>
            <a:chExt cx="9126287" cy="5143500"/>
          </a:xfrm>
        </p:grpSpPr>
        <p:sp>
          <p:nvSpPr>
            <p:cNvPr id="12" name="Rectangle 11"/>
            <p:cNvSpPr/>
            <p:nvPr/>
          </p:nvSpPr>
          <p:spPr>
            <a:xfrm>
              <a:off x="152400" y="152400"/>
              <a:ext cx="2286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Rectangle 12"/>
            <p:cNvSpPr/>
            <p:nvPr/>
          </p:nvSpPr>
          <p:spPr>
            <a:xfrm>
              <a:off x="2436046" y="152400"/>
              <a:ext cx="2286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4" name="Rectangle 13"/>
            <p:cNvSpPr/>
            <p:nvPr/>
          </p:nvSpPr>
          <p:spPr>
            <a:xfrm>
              <a:off x="4722046" y="152400"/>
              <a:ext cx="2286000"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 name="Rectangle 14"/>
            <p:cNvSpPr/>
            <p:nvPr/>
          </p:nvSpPr>
          <p:spPr>
            <a:xfrm>
              <a:off x="6992687" y="152400"/>
              <a:ext cx="2286000"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sp>
        <p:nvSpPr>
          <p:cNvPr id="3" name="Title 1"/>
          <p:cNvSpPr txBox="1">
            <a:spLocks/>
          </p:cNvSpPr>
          <p:nvPr/>
        </p:nvSpPr>
        <p:spPr>
          <a:xfrm>
            <a:off x="1835415" y="3802059"/>
            <a:ext cx="5472608" cy="542078"/>
          </a:xfrm>
          <a:prstGeom prst="rect">
            <a:avLst/>
          </a:prstGeom>
        </p:spPr>
        <p:txBody>
          <a:bodyPr anchor="ctr"/>
          <a:lstStyle>
            <a:lvl1pPr algn="ctr" defTabSz="914400" rtl="0" eaLnBrk="1" latinLnBrk="1" hangingPunct="1">
              <a:spcBef>
                <a:spcPct val="0"/>
              </a:spcBef>
              <a:buNone/>
              <a:defRPr sz="3600" b="1" kern="1200" baseline="0">
                <a:solidFill>
                  <a:schemeClr val="tx1">
                    <a:lumMod val="75000"/>
                    <a:lumOff val="25000"/>
                  </a:schemeClr>
                </a:solidFill>
                <a:latin typeface="Arial" pitchFamily="34" charset="0"/>
                <a:ea typeface="+mj-ea"/>
                <a:cs typeface="Arial" pitchFamily="34" charset="0"/>
              </a:defRPr>
            </a:lvl1pPr>
          </a:lstStyle>
          <a:p>
            <a:r>
              <a:rPr lang="en-US" altLang="ko-KR" dirty="0">
                <a:solidFill>
                  <a:schemeClr val="bg1"/>
                </a:solidFill>
                <a:latin typeface="+mj-lt"/>
              </a:rPr>
              <a:t>Thank you</a:t>
            </a:r>
            <a:endParaRPr lang="ko-KR" altLang="en-US" dirty="0">
              <a:solidFill>
                <a:schemeClr val="bg1"/>
              </a:solidFill>
              <a:latin typeface="+mj-lt"/>
            </a:endParaRPr>
          </a:p>
        </p:txBody>
      </p:sp>
      <p:graphicFrame>
        <p:nvGraphicFramePr>
          <p:cNvPr id="10" name="Picture Placeholder 9"/>
          <p:cNvGraphicFramePr>
            <a:graphicFrameLocks noGrp="1" noChangeAspect="1"/>
          </p:cNvGraphicFramePr>
          <p:nvPr>
            <p:ph type="pic" idx="1"/>
            <p:extLst>
              <p:ext uri="{D42A27DB-BD31-4B8C-83A1-F6EECF244321}">
                <p14:modId xmlns:p14="http://schemas.microsoft.com/office/powerpoint/2010/main" val="2870056286"/>
              </p:ext>
            </p:extLst>
          </p:nvPr>
        </p:nvGraphicFramePr>
        <p:xfrm>
          <a:off x="2933931" y="771550"/>
          <a:ext cx="3087588" cy="1944216"/>
        </p:xfrm>
        <a:graphic>
          <a:graphicData uri="http://schemas.openxmlformats.org/presentationml/2006/ole">
            <mc:AlternateContent xmlns:mc="http://schemas.openxmlformats.org/markup-compatibility/2006">
              <mc:Choice xmlns:v="urn:schemas-microsoft-com:vml" Requires="v">
                <p:oleObj spid="_x0000_s11535" name="Bitmap Image" r:id="rId3" imgW="2286000" imgH="1280160" progId="PBrush">
                  <p:embed/>
                </p:oleObj>
              </mc:Choice>
              <mc:Fallback>
                <p:oleObj name="Bitmap Image" r:id="rId3" imgW="2286000" imgH="1280160" progId="PBrush">
                  <p:embed/>
                  <p:pic>
                    <p:nvPicPr>
                      <p:cNvPr id="2" name="Object 1"/>
                      <p:cNvPicPr/>
                      <p:nvPr/>
                    </p:nvPicPr>
                    <p:blipFill>
                      <a:blip r:embed="rId4"/>
                      <a:stretch>
                        <a:fillRect/>
                      </a:stretch>
                    </p:blipFill>
                    <p:spPr>
                      <a:xfrm>
                        <a:off x="2933931" y="771550"/>
                        <a:ext cx="3087588" cy="1944216"/>
                      </a:xfrm>
                      <a:prstGeom prst="rect">
                        <a:avLst/>
                      </a:prstGeom>
                    </p:spPr>
                  </p:pic>
                </p:oleObj>
              </mc:Fallback>
            </mc:AlternateContent>
          </a:graphicData>
        </a:graphic>
      </p:graphicFrame>
    </p:spTree>
    <p:extLst>
      <p:ext uri="{BB962C8B-B14F-4D97-AF65-F5344CB8AC3E}">
        <p14:creationId xmlns:p14="http://schemas.microsoft.com/office/powerpoint/2010/main" val="2030636767"/>
      </p:ext>
    </p:extLst>
  </p:cSld>
  <p:clrMapOvr>
    <a:masterClrMapping/>
  </p:clrMapOvr>
  <p:timing>
    <p:tnLst>
      <p:par>
        <p:cTn id="1" dur="indefinite" restart="never" nodeType="tmRoot"/>
      </p:par>
    </p:tnLst>
  </p:timing>
</p:sld>
</file>

<file path=ppt/theme/theme1.xml><?xml version="1.0" encoding="utf-8"?>
<a:theme xmlns:a="http://schemas.openxmlformats.org/drawingml/2006/main" name="Cover and End Slide Master">
  <a:themeElements>
    <a:clrScheme name="ALLPPT-COLOR-A04">
      <a:dk1>
        <a:sysClr val="windowText" lastClr="000000"/>
      </a:dk1>
      <a:lt1>
        <a:sysClr val="window" lastClr="FFFFFF"/>
      </a:lt1>
      <a:dk2>
        <a:srgbClr val="1F497D"/>
      </a:dk2>
      <a:lt2>
        <a:srgbClr val="EEECE1"/>
      </a:lt2>
      <a:accent1>
        <a:srgbClr val="76B1D1"/>
      </a:accent1>
      <a:accent2>
        <a:srgbClr val="A0C358"/>
      </a:accent2>
      <a:accent3>
        <a:srgbClr val="F3C04A"/>
      </a:accent3>
      <a:accent4>
        <a:srgbClr val="F26D9A"/>
      </a:accent4>
      <a:accent5>
        <a:srgbClr val="57687C"/>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04">
      <a:dk1>
        <a:sysClr val="windowText" lastClr="000000"/>
      </a:dk1>
      <a:lt1>
        <a:sysClr val="window" lastClr="FFFFFF"/>
      </a:lt1>
      <a:dk2>
        <a:srgbClr val="1F497D"/>
      </a:dk2>
      <a:lt2>
        <a:srgbClr val="EEECE1"/>
      </a:lt2>
      <a:accent1>
        <a:srgbClr val="76B1D1"/>
      </a:accent1>
      <a:accent2>
        <a:srgbClr val="A0C358"/>
      </a:accent2>
      <a:accent3>
        <a:srgbClr val="F3C04A"/>
      </a:accent3>
      <a:accent4>
        <a:srgbClr val="F26D9A"/>
      </a:accent4>
      <a:accent5>
        <a:srgbClr val="57687C"/>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Section Break Slide Master">
  <a:themeElements>
    <a:clrScheme name="ALLPPT-COLOR-A04">
      <a:dk1>
        <a:sysClr val="windowText" lastClr="000000"/>
      </a:dk1>
      <a:lt1>
        <a:sysClr val="window" lastClr="FFFFFF"/>
      </a:lt1>
      <a:dk2>
        <a:srgbClr val="1F497D"/>
      </a:dk2>
      <a:lt2>
        <a:srgbClr val="EEECE1"/>
      </a:lt2>
      <a:accent1>
        <a:srgbClr val="76B1D1"/>
      </a:accent1>
      <a:accent2>
        <a:srgbClr val="A0C358"/>
      </a:accent2>
      <a:accent3>
        <a:srgbClr val="F3C04A"/>
      </a:accent3>
      <a:accent4>
        <a:srgbClr val="F26D9A"/>
      </a:accent4>
      <a:accent5>
        <a:srgbClr val="57687C"/>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21758</TotalTime>
  <Words>3885</Words>
  <Application>Microsoft Office PowerPoint</Application>
  <PresentationFormat>On-screen Show (16:9)</PresentationFormat>
  <Paragraphs>500</Paragraphs>
  <Slides>43</Slides>
  <Notes>20</Notes>
  <HiddenSlides>0</HiddenSlides>
  <MMClips>0</MMClips>
  <ScaleCrop>false</ScaleCrop>
  <HeadingPairs>
    <vt:vector size="8" baseType="variant">
      <vt:variant>
        <vt:lpstr>Fonts Used</vt:lpstr>
      </vt:variant>
      <vt:variant>
        <vt:i4>15</vt:i4>
      </vt:variant>
      <vt:variant>
        <vt:lpstr>Theme</vt:lpstr>
      </vt:variant>
      <vt:variant>
        <vt:i4>3</vt:i4>
      </vt:variant>
      <vt:variant>
        <vt:lpstr>Embedded OLE Servers</vt:lpstr>
      </vt:variant>
      <vt:variant>
        <vt:i4>1</vt:i4>
      </vt:variant>
      <vt:variant>
        <vt:lpstr>Slide Titles</vt:lpstr>
      </vt:variant>
      <vt:variant>
        <vt:i4>43</vt:i4>
      </vt:variant>
    </vt:vector>
  </HeadingPairs>
  <TitlesOfParts>
    <vt:vector size="62" baseType="lpstr">
      <vt:lpstr>Arial Unicode MS</vt:lpstr>
      <vt:lpstr>IBMPlexSans</vt:lpstr>
      <vt:lpstr>inherit</vt:lpstr>
      <vt:lpstr>맑은 고딕</vt:lpstr>
      <vt:lpstr>Monotype Sorts</vt:lpstr>
      <vt:lpstr>MS PGothic</vt:lpstr>
      <vt:lpstr>Nunito</vt:lpstr>
      <vt:lpstr>Source Sans Pro</vt:lpstr>
      <vt:lpstr>Arial</vt:lpstr>
      <vt:lpstr>Calibri</vt:lpstr>
      <vt:lpstr>Courier New</vt:lpstr>
      <vt:lpstr>Symbol</vt:lpstr>
      <vt:lpstr>Times New Roman</vt:lpstr>
      <vt:lpstr>Webdings</vt:lpstr>
      <vt:lpstr>Wingdings</vt:lpstr>
      <vt:lpstr>Cover and End Slide Master</vt:lpstr>
      <vt:lpstr>Contents Slide Master</vt:lpstr>
      <vt:lpstr>Section Break Slide Master</vt:lpstr>
      <vt:lpstr>Bitmap Image</vt:lpstr>
      <vt:lpstr>Operating systems</vt:lpstr>
      <vt:lpstr>Content Lecture#9</vt:lpstr>
      <vt:lpstr>Lets take a Break</vt:lpstr>
      <vt:lpstr>PowerPoint Presentation</vt:lpstr>
      <vt:lpstr>PowerPoint Presentation</vt:lpstr>
      <vt:lpstr>Mutex Locks</vt:lpstr>
      <vt:lpstr>Semaphores</vt:lpstr>
      <vt:lpstr>Semaphore</vt:lpstr>
      <vt:lpstr>Semaphore</vt:lpstr>
      <vt:lpstr>Semaphore Properties</vt:lpstr>
      <vt:lpstr>Semaphore-Examples</vt:lpstr>
      <vt:lpstr>Semaphores : Producer Consumer</vt:lpstr>
      <vt:lpstr>Semaphores : Producer Consumer</vt:lpstr>
      <vt:lpstr>Semaphore: Unix</vt:lpstr>
      <vt:lpstr>Semaphore vs Mutex</vt:lpstr>
      <vt:lpstr>Dining Philosophers Problem</vt:lpstr>
      <vt:lpstr>Semaphores</vt:lpstr>
      <vt:lpstr>Mutex vs Semaphore</vt:lpstr>
      <vt:lpstr>Mutex &amp; Semaphore</vt:lpstr>
      <vt:lpstr>Reader-Writer Algorithm</vt:lpstr>
      <vt:lpstr>Producer-Consumer Problem</vt:lpstr>
      <vt:lpstr>Bounded Buffer problem</vt:lpstr>
      <vt:lpstr>Dining Philosopher</vt:lpstr>
      <vt:lpstr>H2O </vt:lpstr>
      <vt:lpstr>Condition Variable</vt:lpstr>
      <vt:lpstr>Condition Variable</vt:lpstr>
      <vt:lpstr>Deadlock Avoidance</vt:lpstr>
      <vt:lpstr>Safe State</vt:lpstr>
      <vt:lpstr>Basic Facts</vt:lpstr>
      <vt:lpstr>Safe, Unsafe,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Data Structures for the Banker’s Algorithm </vt:lpstr>
      <vt:lpstr>Safety Algorithm</vt:lpstr>
      <vt:lpstr>Resource-Request Algorithm for Process Pi</vt:lpstr>
      <vt:lpstr>Example of Banker’s Algorithm</vt:lpstr>
      <vt:lpstr>Example (Cont.)</vt:lpstr>
      <vt:lpstr>Example:  P1 Request (1,0,2)</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Googlesliesppt.com;allppt.com</dc:creator>
  <cp:lastModifiedBy>Mahrukh Batool</cp:lastModifiedBy>
  <cp:revision>401</cp:revision>
  <dcterms:created xsi:type="dcterms:W3CDTF">2016-11-15T01:04:21Z</dcterms:created>
  <dcterms:modified xsi:type="dcterms:W3CDTF">2025-12-20T14:38:02Z</dcterms:modified>
</cp:coreProperties>
</file>