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theme/theme6.xml" ContentType="application/vnd.openxmlformats-officedocument.theme+xml"/>
  <Override PartName="/ppt/slideLayouts/slideLayout8.xml" ContentType="application/vnd.openxmlformats-officedocument.presentationml.slideLayout+xml"/>
  <Override PartName="/ppt/theme/theme7.xml" ContentType="application/vnd.openxmlformats-officedocument.theme+xml"/>
  <Override PartName="/ppt/slideLayouts/slideLayout9.xml" ContentType="application/vnd.openxmlformats-officedocument.presentationml.slideLayout+xml"/>
  <Override PartName="/ppt/theme/theme8.xml" ContentType="application/vnd.openxmlformats-officedocument.theme+xml"/>
  <Override PartName="/ppt/slideLayouts/slideLayout10.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0" r:id="rId2"/>
    <p:sldMasterId id="2147483663" r:id="rId3"/>
    <p:sldMasterId id="2147483665" r:id="rId4"/>
    <p:sldMasterId id="2147483668" r:id="rId5"/>
    <p:sldMasterId id="2147483678" r:id="rId6"/>
    <p:sldMasterId id="2147483670" r:id="rId7"/>
    <p:sldMasterId id="2147483675" r:id="rId8"/>
    <p:sldMasterId id="2147483672" r:id="rId9"/>
  </p:sldMasterIdLst>
  <p:notesMasterIdLst>
    <p:notesMasterId r:id="rId38"/>
  </p:notesMasterIdLst>
  <p:handoutMasterIdLst>
    <p:handoutMasterId r:id="rId39"/>
  </p:handoutMasterIdLst>
  <p:sldIdLst>
    <p:sldId id="256" r:id="rId10"/>
    <p:sldId id="298" r:id="rId11"/>
    <p:sldId id="263" r:id="rId12"/>
    <p:sldId id="264" r:id="rId13"/>
    <p:sldId id="265" r:id="rId14"/>
    <p:sldId id="268" r:id="rId15"/>
    <p:sldId id="269" r:id="rId16"/>
    <p:sldId id="291" r:id="rId17"/>
    <p:sldId id="271" r:id="rId18"/>
    <p:sldId id="299" r:id="rId19"/>
    <p:sldId id="272" r:id="rId20"/>
    <p:sldId id="274" r:id="rId21"/>
    <p:sldId id="266" r:id="rId22"/>
    <p:sldId id="277" r:id="rId23"/>
    <p:sldId id="278" r:id="rId24"/>
    <p:sldId id="304" r:id="rId25"/>
    <p:sldId id="305" r:id="rId26"/>
    <p:sldId id="281" r:id="rId27"/>
    <p:sldId id="307" r:id="rId28"/>
    <p:sldId id="306" r:id="rId29"/>
    <p:sldId id="267" r:id="rId30"/>
    <p:sldId id="285" r:id="rId31"/>
    <p:sldId id="309" r:id="rId32"/>
    <p:sldId id="287" r:id="rId33"/>
    <p:sldId id="288" r:id="rId34"/>
    <p:sldId id="310" r:id="rId35"/>
    <p:sldId id="311" r:id="rId36"/>
    <p:sldId id="312"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1221"/>
    <a:srgbClr val="005E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81750" autoAdjust="0"/>
  </p:normalViewPr>
  <p:slideViewPr>
    <p:cSldViewPr>
      <p:cViewPr varScale="1">
        <p:scale>
          <a:sx n="59" d="100"/>
          <a:sy n="59" d="100"/>
        </p:scale>
        <p:origin x="1716" y="72"/>
      </p:cViewPr>
      <p:guideLst>
        <p:guide orient="horz" pos="2160"/>
        <p:guide pos="2880"/>
      </p:guideLst>
    </p:cSldViewPr>
  </p:slideViewPr>
  <p:outlineViewPr>
    <p:cViewPr>
      <p:scale>
        <a:sx n="33" d="100"/>
        <a:sy n="33" d="100"/>
      </p:scale>
      <p:origin x="0" y="28086"/>
    </p:cViewPr>
  </p:outlineViewPr>
  <p:notesTextViewPr>
    <p:cViewPr>
      <p:scale>
        <a:sx n="1" d="1"/>
        <a:sy n="1" d="1"/>
      </p:scale>
      <p:origin x="0" y="0"/>
    </p:cViewPr>
  </p:notesTextViewPr>
  <p:sorterViewPr>
    <p:cViewPr>
      <p:scale>
        <a:sx n="70" d="100"/>
        <a:sy n="70" d="100"/>
      </p:scale>
      <p:origin x="0" y="0"/>
    </p:cViewPr>
  </p:sorterViewPr>
  <p:notesViewPr>
    <p:cSldViewPr>
      <p:cViewPr varScale="1">
        <p:scale>
          <a:sx n="53" d="100"/>
          <a:sy n="53" d="100"/>
        </p:scale>
        <p:origin x="-290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handoutMaster" Target="handoutMasters/handoutMaster1.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tableStyles" Target="tableStyle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F4B92AC-2CC7-4042-BEF7-3CA41082782D}" type="datetimeFigureOut">
              <a:rPr lang="en-US" smtClean="0"/>
              <a:t>10/25/2023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76B34F2-DA79-4CF3-8632-3FEAF0100E67}" type="slidenum">
              <a:rPr lang="en-US" smtClean="0"/>
              <a:t>‹#›</a:t>
            </a:fld>
            <a:endParaRPr lang="en-US"/>
          </a:p>
        </p:txBody>
      </p:sp>
    </p:spTree>
    <p:extLst>
      <p:ext uri="{BB962C8B-B14F-4D97-AF65-F5344CB8AC3E}">
        <p14:creationId xmlns:p14="http://schemas.microsoft.com/office/powerpoint/2010/main" val="17539113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5DD168-A957-4784-9C8A-5438585B9AF9}" type="datetimeFigureOut">
              <a:rPr lang="en-US" smtClean="0"/>
              <a:t>10/25/2023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spcBef>
                <a:spcPct val="0"/>
              </a:spcBef>
            </a:pPr>
            <a:r>
              <a:rPr lang="en-US" sz="1000" dirty="0"/>
              <a:t>Dear</a:t>
            </a:r>
            <a:r>
              <a:rPr lang="en-US" sz="1000" baseline="0" dirty="0"/>
              <a:t> Instructor:</a:t>
            </a:r>
          </a:p>
          <a:p>
            <a:pPr eaLnBrk="1" hangingPunct="1">
              <a:lnSpc>
                <a:spcPct val="90000"/>
              </a:lnSpc>
              <a:spcBef>
                <a:spcPct val="0"/>
              </a:spcBef>
            </a:pPr>
            <a:endParaRPr lang="en-US" sz="1000" baseline="0" dirty="0"/>
          </a:p>
          <a:p>
            <a:pPr eaLnBrk="1" hangingPunct="1">
              <a:lnSpc>
                <a:spcPct val="90000"/>
              </a:lnSpc>
              <a:spcBef>
                <a:spcPct val="0"/>
              </a:spcBef>
            </a:pPr>
            <a:r>
              <a:rPr lang="en-US" sz="1000" baseline="0" dirty="0"/>
              <a:t>Thank you for using the Premium PowerPoints for Mankiw’s Principles of Economics textbooks.  </a:t>
            </a:r>
          </a:p>
          <a:p>
            <a:pPr eaLnBrk="1" hangingPunct="1">
              <a:lnSpc>
                <a:spcPct val="90000"/>
              </a:lnSpc>
              <a:spcBef>
                <a:spcPct val="0"/>
              </a:spcBef>
            </a:pPr>
            <a:endParaRPr lang="en-US" sz="1000" baseline="0" dirty="0"/>
          </a:p>
          <a:p>
            <a:pPr eaLnBrk="1" hangingPunct="1">
              <a:lnSpc>
                <a:spcPct val="90000"/>
              </a:lnSpc>
              <a:spcBef>
                <a:spcPct val="0"/>
              </a:spcBef>
            </a:pPr>
            <a:r>
              <a:rPr lang="en-US" sz="1000" dirty="0"/>
              <a:t>This area is the “notes” section.</a:t>
            </a:r>
            <a:r>
              <a:rPr lang="en-US" sz="1000" baseline="0" dirty="0"/>
              <a:t>  For many slides, it</a:t>
            </a:r>
            <a:r>
              <a:rPr lang="en-US" sz="1000" dirty="0"/>
              <a:t> includes notes that are visible only to you and will not display during your presentation in class.  In slides with data tables or charts, the notes area provides the source information (often a URL or web address to the original data).  In other slides, the notes area provides information that might be helpful when teaching this material, particularly for new instructors and graduate assistant teachers.  </a:t>
            </a:r>
          </a:p>
          <a:p>
            <a:pPr eaLnBrk="1" hangingPunct="1">
              <a:lnSpc>
                <a:spcPct val="90000"/>
              </a:lnSpc>
              <a:spcBef>
                <a:spcPct val="0"/>
              </a:spcBef>
            </a:pPr>
            <a:endParaRPr lang="en-US" sz="1000" dirty="0"/>
          </a:p>
          <a:p>
            <a:pPr eaLnBrk="1" hangingPunct="1">
              <a:lnSpc>
                <a:spcPct val="90000"/>
              </a:lnSpc>
              <a:spcBef>
                <a:spcPct val="0"/>
              </a:spcBef>
            </a:pPr>
            <a:r>
              <a:rPr lang="en-US" sz="1000" dirty="0"/>
              <a:t>Notes about Chapter 1:</a:t>
            </a:r>
          </a:p>
          <a:p>
            <a:pPr eaLnBrk="1" hangingPunct="1">
              <a:lnSpc>
                <a:spcPct val="90000"/>
              </a:lnSpc>
              <a:spcBef>
                <a:spcPct val="0"/>
              </a:spcBef>
            </a:pPr>
            <a:endParaRPr lang="en-US" sz="1000" dirty="0"/>
          </a:p>
          <a:p>
            <a:pPr eaLnBrk="1" hangingPunct="1">
              <a:lnSpc>
                <a:spcPct val="90000"/>
              </a:lnSpc>
              <a:spcBef>
                <a:spcPct val="0"/>
              </a:spcBef>
            </a:pPr>
            <a:r>
              <a:rPr lang="en-US" sz="1000" dirty="0"/>
              <a:t>Most instructors try to cover this chapter in a single class session (especially those that are teaching the second of a two-semester sequence).  If you are teaching principles of microeconomics, you might consider skipping Principles 8-10, which deal with macroeconomics.  </a:t>
            </a:r>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a:p>
        </p:txBody>
      </p:sp>
    </p:spTree>
    <p:extLst>
      <p:ext uri="{BB962C8B-B14F-4D97-AF65-F5344CB8AC3E}">
        <p14:creationId xmlns:p14="http://schemas.microsoft.com/office/powerpoint/2010/main" val="854248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1624380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pPr>
            <a:r>
              <a:rPr lang="en-US" dirty="0"/>
              <a:t>You might want to elaborate a bit on some of the points made here.  Some examples:</a:t>
            </a:r>
          </a:p>
          <a:p>
            <a:pPr eaLnBrk="1" hangingPunct="1">
              <a:lnSpc>
                <a:spcPct val="90000"/>
              </a:lnSpc>
            </a:pPr>
            <a:endParaRPr lang="en-US" dirty="0"/>
          </a:p>
          <a:p>
            <a:pPr>
              <a:lnSpc>
                <a:spcPct val="90000"/>
              </a:lnSpc>
            </a:pPr>
            <a:r>
              <a:rPr lang="en-US" dirty="0"/>
              <a:t>“How do people decide how much to work?”  Time is scarce resource—there’s just not enough time to do everything we’d like to do.  How do we decide how much of our time to spend working?  There’s a tradeoff:  the more time we spend working, the higher our income, and therefore the more stuff we can buy.  But, the more time we spend working, the less time we have for leisure—hanging out with friends, going hiking, watching movies, etc.  (You might want to ask your students how THEY decide how much time to spend working.  Some will say it depends on how many classes they are taking, or the time requirements of the available jobs.  But probably at least a few will say the wage:  the higher the wage, the more worthwhile to work.)</a:t>
            </a:r>
          </a:p>
          <a:p>
            <a:pPr eaLnBrk="1" hangingPunct="1">
              <a:lnSpc>
                <a:spcPct val="90000"/>
              </a:lnSpc>
            </a:pPr>
            <a:endParaRPr lang="en-US" dirty="0"/>
          </a:p>
          <a:p>
            <a:pPr eaLnBrk="1" hangingPunct="1">
              <a:lnSpc>
                <a:spcPct val="90000"/>
              </a:lnSpc>
            </a:pPr>
            <a:r>
              <a:rPr lang="en-US" dirty="0"/>
              <a:t>“How do firms decide what kind of labor to hire?”  Firms can hire unskilled or skilled workers.  The skilled workers are more productive, but cost more than the unskilled workers.  </a:t>
            </a:r>
          </a:p>
          <a:p>
            <a:pPr eaLnBrk="1" hangingPunct="1">
              <a:lnSpc>
                <a:spcPct val="90000"/>
              </a:lnSpc>
            </a:pPr>
            <a:endParaRPr lang="en-US" dirty="0"/>
          </a:p>
          <a:p>
            <a:pPr eaLnBrk="1" hangingPunct="1">
              <a:lnSpc>
                <a:spcPct val="90000"/>
              </a:lnSpc>
            </a:pPr>
            <a:r>
              <a:rPr lang="en-US" dirty="0"/>
              <a:t>“How do firms decide how much to produce?”   Ask your students, and see if any of them say, “It depends on the price of the product they sell.”  (Probably some will say “it depends on whether there’s a lot of demand for the product”.  To which you might respond “and if there’s a lot of demand for the product, what does that mean for the price that firms can get for the product?”)</a:t>
            </a:r>
          </a:p>
        </p:txBody>
      </p:sp>
      <p:sp>
        <p:nvSpPr>
          <p:cNvPr id="4" name="Slide Number Placeholder 3"/>
          <p:cNvSpPr>
            <a:spLocks noGrp="1"/>
          </p:cNvSpPr>
          <p:nvPr>
            <p:ph type="sldNum" sz="quarter" idx="10"/>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134008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Decision-making is at the heart of economics.  The individual must decide how much to save for retirement, how much to spend on different goods and services, how many hours a week to work.  The firm must decide how much to produce, what kind of labor to hire.  Society as a whole must decide how much to spend on national defense (“guns”) versus how much to spend on consumer goods (“butter”).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3211259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2749170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7</a:t>
            </a:fld>
            <a:endParaRPr lang="en-US"/>
          </a:p>
        </p:txBody>
      </p:sp>
    </p:spTree>
    <p:extLst>
      <p:ext uri="{BB962C8B-B14F-4D97-AF65-F5344CB8AC3E}">
        <p14:creationId xmlns:p14="http://schemas.microsoft.com/office/powerpoint/2010/main" val="2900905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want to elaborate verbally on the last bullet to insure that the point is clear.  </a:t>
            </a:r>
          </a:p>
          <a:p>
            <a:endParaRPr lang="en-US" dirty="0"/>
          </a:p>
          <a:p>
            <a:r>
              <a:rPr lang="en-US" dirty="0"/>
              <a:t>“Redistribute income from wealthy to poor.”  This is accomplished through the progressive tax system, as well as social programs like food stamps and unemployment insurance that provide a safety net for people at the low end of the income distribution.  </a:t>
            </a:r>
          </a:p>
          <a:p>
            <a:endParaRPr lang="en-US" dirty="0"/>
          </a:p>
          <a:p>
            <a:r>
              <a:rPr lang="en-US" dirty="0"/>
              <a:t>“But this reduces the incentive to work…”  The reward for working hard is a high income.  Taxes reduce this reward, and therefore reduce the incentive to work hard. </a:t>
            </a:r>
          </a:p>
        </p:txBody>
      </p:sp>
      <p:sp>
        <p:nvSpPr>
          <p:cNvPr id="4" name="Slide Number Placeholder 3"/>
          <p:cNvSpPr>
            <a:spLocks noGrp="1"/>
          </p:cNvSpPr>
          <p:nvPr>
            <p:ph type="sldNum" sz="quarter" idx="10"/>
          </p:nvPr>
        </p:nvSpPr>
        <p:spPr/>
        <p:txBody>
          <a:bodyPr/>
          <a:lstStyle/>
          <a:p>
            <a:fld id="{2CAF6792-DBE1-4461-97FA-F85A7B48814E}" type="slidenum">
              <a:rPr lang="en-US" smtClean="0"/>
              <a:t>8</a:t>
            </a:fld>
            <a:endParaRPr lang="en-US"/>
          </a:p>
        </p:txBody>
      </p:sp>
    </p:spTree>
    <p:extLst>
      <p:ext uri="{BB962C8B-B14F-4D97-AF65-F5344CB8AC3E}">
        <p14:creationId xmlns:p14="http://schemas.microsoft.com/office/powerpoint/2010/main" val="4165080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9</a:t>
            </a:fld>
            <a:endParaRPr lang="en-US"/>
          </a:p>
        </p:txBody>
      </p:sp>
    </p:spTree>
    <p:extLst>
      <p:ext uri="{BB962C8B-B14F-4D97-AF65-F5344CB8AC3E}">
        <p14:creationId xmlns:p14="http://schemas.microsoft.com/office/powerpoint/2010/main" val="2665275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Here’s a fun tangent if you have the class time and are so inclined:</a:t>
            </a:r>
          </a:p>
          <a:p>
            <a:pPr eaLnBrk="1" hangingPunct="1"/>
            <a:endParaRPr lang="en-US" sz="1200" dirty="0"/>
          </a:p>
          <a:p>
            <a:pPr eaLnBrk="1" hangingPunct="1"/>
            <a:r>
              <a:rPr lang="en-US" sz="1200" dirty="0"/>
              <a:t>Ask your students about the saying “The best things in life are free.”  Ask them to name some of these things that supposedly are free.  Ask them what “free” means in this context.  The idea here is to get them to see that even things without an explicit monetary cost are not truly “free” because they have an opportunity cost. </a:t>
            </a:r>
          </a:p>
          <a:p>
            <a:pPr eaLnBrk="1" hangingPunct="1"/>
            <a:endParaRPr lang="en-US" sz="1200" dirty="0"/>
          </a:p>
          <a:p>
            <a:pPr eaLnBrk="1" hangingPunct="1"/>
            <a:r>
              <a:rPr lang="en-US" sz="1200" dirty="0"/>
              <a:t>For example, when you ask them to name the “best things” that are “free,” they will respond with answers like love, sitting at the top of a mountain you just climbed and enjoying an awesome view, or maybe witnessing the joy of a child who has just been given a new toy. In each case, there is no explicit monetary cost, but there’s an opportunity cost.  </a:t>
            </a:r>
          </a:p>
          <a:p>
            <a:pPr eaLnBrk="1" hangingPunct="1"/>
            <a:endParaRPr lang="en-US" sz="1200" dirty="0"/>
          </a:p>
          <a:p>
            <a:pPr eaLnBrk="1" hangingPunct="1"/>
            <a:r>
              <a:rPr lang="en-US" sz="1200" dirty="0"/>
              <a:t>For example, a day spent climbing a mountain represents a day of foregone wages.  And the fact that the mountain offers the incredible view probably means that land has been set aside for a national park that might otherwise have been used to produce industrial chemicals, or for a subdivision of million-dollar homes. </a:t>
            </a:r>
          </a:p>
          <a:p>
            <a:pPr eaLnBrk="1" hangingPunct="1"/>
            <a:endParaRPr lang="en-US" sz="1200" dirty="0"/>
          </a:p>
          <a:p>
            <a:pPr eaLnBrk="1" hangingPunct="1"/>
            <a:r>
              <a:rPr lang="en-US" sz="1200" dirty="0"/>
              <a:t>With love, it’s less obvious, but if prodded enough, your students will be able to think of non-monetary costs associated with love.  For example, you might not want to see the latest “Scary Movie” or “Paranormal Activity” but someone you love might be DYING to see it and BEGGING you to take them.  So you take them.  That’s true love, don’t you think?  And it’s certainly not free.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10</a:t>
            </a:fld>
            <a:endParaRPr lang="en-US"/>
          </a:p>
        </p:txBody>
      </p:sp>
    </p:spTree>
    <p:extLst>
      <p:ext uri="{BB962C8B-B14F-4D97-AF65-F5344CB8AC3E}">
        <p14:creationId xmlns:p14="http://schemas.microsoft.com/office/powerpoint/2010/main" val="457302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11</a:t>
            </a:fld>
            <a:endParaRPr lang="en-US"/>
          </a:p>
        </p:txBody>
      </p:sp>
    </p:spTree>
    <p:extLst>
      <p:ext uri="{BB962C8B-B14F-4D97-AF65-F5344CB8AC3E}">
        <p14:creationId xmlns:p14="http://schemas.microsoft.com/office/powerpoint/2010/main" val="21425675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Seat belt law alters a driver’s cost–benefit calculation:</a:t>
            </a:r>
          </a:p>
          <a:p>
            <a:pPr marL="171450" lvl="0" indent="-171450" eaLnBrk="1" hangingPunct="1">
              <a:buFont typeface="Arial" panose="020B0604020202020204" pitchFamily="34" charset="0"/>
              <a:buChar char="•"/>
            </a:pPr>
            <a:r>
              <a:rPr lang="en-US" altLang="en-US" dirty="0"/>
              <a:t>Seat belts make accidents less costly (reduce the likelihood of injury or death), and reduce the benefits of slow, careful driving</a:t>
            </a:r>
          </a:p>
          <a:p>
            <a:pPr marL="171450" lvl="0" indent="-171450" eaLnBrk="1" hangingPunct="1">
              <a:buFont typeface="Arial" panose="020B0604020202020204" pitchFamily="34" charset="0"/>
              <a:buChar char="•"/>
            </a:pPr>
            <a:r>
              <a:rPr lang="en-US" altLang="en-US" dirty="0"/>
              <a:t>People will drive faster and less carefully,</a:t>
            </a:r>
            <a:r>
              <a:rPr lang="en-US" altLang="en-US" baseline="0" dirty="0"/>
              <a:t> which leads to a l</a:t>
            </a:r>
            <a:r>
              <a:rPr lang="en-US" altLang="en-US" dirty="0"/>
              <a:t>arger number of accidents</a:t>
            </a:r>
          </a:p>
          <a:p>
            <a:pPr marL="0" lvl="0" indent="0" eaLnBrk="1" hangingPunct="1">
              <a:buFont typeface="Arial" panose="020B0604020202020204" pitchFamily="34" charset="0"/>
              <a:buNone/>
            </a:pPr>
            <a:r>
              <a:rPr lang="en-US" altLang="en-US" dirty="0"/>
              <a:t>1975 study, Sam </a:t>
            </a:r>
            <a:r>
              <a:rPr lang="en-US" altLang="en-US" dirty="0" err="1"/>
              <a:t>Peltzman</a:t>
            </a:r>
            <a:r>
              <a:rPr lang="en-US" altLang="en-US" dirty="0"/>
              <a:t> concluded</a:t>
            </a:r>
            <a:r>
              <a:rPr lang="en-US" altLang="en-US" baseline="0" dirty="0"/>
              <a:t> that the n</a:t>
            </a:r>
            <a:r>
              <a:rPr lang="en-US" altLang="en-US" dirty="0"/>
              <a:t>et result is little change in the number of driver deaths and an increase in the number of pedestrian deaths</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12</a:t>
            </a:fld>
            <a:endParaRPr lang="en-US"/>
          </a:p>
        </p:txBody>
      </p:sp>
    </p:spTree>
    <p:extLst>
      <p:ext uri="{BB962C8B-B14F-4D97-AF65-F5344CB8AC3E}">
        <p14:creationId xmlns:p14="http://schemas.microsoft.com/office/powerpoint/2010/main" val="19407046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Whether we’re talking about the U.S. economy or the local economy, the term “economy” simply means a group of people interacting with each other.  </a:t>
            </a:r>
          </a:p>
          <a:p>
            <a:pPr eaLnBrk="1" hangingPunct="1"/>
            <a:endParaRPr lang="en-US" dirty="0"/>
          </a:p>
          <a:p>
            <a:pPr eaLnBrk="1" hangingPunct="1"/>
            <a:r>
              <a:rPr lang="en-US" dirty="0"/>
              <a:t>These interactions play a critical role in the allocation of society’s scarce resources.  For example, the interaction of buyers and sellers determines the prices of goods and the amounts produced and sold.  These interactions are an important part of what economists study.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13</a:t>
            </a:fld>
            <a:endParaRPr lang="en-US"/>
          </a:p>
        </p:txBody>
      </p:sp>
    </p:spTree>
    <p:extLst>
      <p:ext uri="{BB962C8B-B14F-4D97-AF65-F5344CB8AC3E}">
        <p14:creationId xmlns:p14="http://schemas.microsoft.com/office/powerpoint/2010/main" val="3786430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If each person had to grow his own food, make his own clothes, cut his own hair, we would have a world full of skinny, unfashionable, poor people having bad hair days every day of the week.   </a:t>
            </a:r>
          </a:p>
          <a:p>
            <a:pPr eaLnBrk="1" hangingPunct="1"/>
            <a:endParaRPr lang="en-US" dirty="0"/>
          </a:p>
          <a:p>
            <a:pPr eaLnBrk="1" hangingPunct="1"/>
            <a:r>
              <a:rPr lang="en-US" dirty="0"/>
              <a:t>It’s far more efficient for each person to specialize in producing a good or service, and then exchanging it with other people for the things they produce.  </a:t>
            </a:r>
          </a:p>
          <a:p>
            <a:pPr eaLnBrk="1" hangingPunct="1"/>
            <a:endParaRPr lang="en-US" dirty="0"/>
          </a:p>
          <a:p>
            <a:pPr eaLnBrk="1" hangingPunct="1"/>
            <a:r>
              <a:rPr lang="en-US" dirty="0"/>
              <a:t>The statement “trade can make everyone better off” should not be hard to understand, if you think about it for a moment:  Each of two parties would not voluntarily enter into an exchange if it made either of them worse off, would they?</a:t>
            </a:r>
          </a:p>
          <a:p>
            <a:pPr eaLnBrk="1" hangingPunct="1"/>
            <a:endParaRPr lang="en-US" dirty="0"/>
          </a:p>
          <a:p>
            <a:pPr eaLnBrk="1" hangingPunct="1"/>
            <a:r>
              <a:rPr lang="en-US" dirty="0"/>
              <a:t>The same principles apply at the national and international level:  International trade allows countries to sell their exports abroad and get a higher price, and to buy things from abroad more cheaply than they could produce at home.  </a:t>
            </a:r>
          </a:p>
          <a:p>
            <a:pPr eaLnBrk="1" hangingPunct="1"/>
            <a:endParaRPr lang="en-US" dirty="0"/>
          </a:p>
          <a:p>
            <a:pPr eaLnBrk="1" hangingPunct="1"/>
            <a:r>
              <a:rPr lang="en-US" dirty="0"/>
              <a:t>In addition, trade gives a country’s consumers access to a greater variety of goods – including goods they might not be able to get at all.  For example, U.S. consumers enjoy a variety of fresh produce year-round.  This would not be possible without international trade.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14</a:t>
            </a:fld>
            <a:endParaRPr lang="en-US"/>
          </a:p>
        </p:txBody>
      </p:sp>
    </p:spTree>
    <p:extLst>
      <p:ext uri="{BB962C8B-B14F-4D97-AF65-F5344CB8AC3E}">
        <p14:creationId xmlns:p14="http://schemas.microsoft.com/office/powerpoint/2010/main" val="24752129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A market economy is “decentralized,” meaning that there is no government committee that makes the decisions about what goods to produce and so forth.  Instead, many households and firms make their own decisions:  </a:t>
            </a:r>
          </a:p>
          <a:p>
            <a:pPr eaLnBrk="1" hangingPunct="1"/>
            <a:endParaRPr lang="en-US" dirty="0"/>
          </a:p>
          <a:p>
            <a:pPr eaLnBrk="1" hangingPunct="1"/>
            <a:r>
              <a:rPr lang="en-US" dirty="0"/>
              <a:t>* Each of many households decides who to work for and what goods to buy. </a:t>
            </a:r>
          </a:p>
          <a:p>
            <a:pPr eaLnBrk="1" hangingPunct="1"/>
            <a:endParaRPr lang="en-US" dirty="0"/>
          </a:p>
          <a:p>
            <a:pPr eaLnBrk="1" hangingPunct="1"/>
            <a:r>
              <a:rPr lang="en-US" dirty="0"/>
              <a:t>* Each of many firms decides whom to hire and what goods to produce.  </a:t>
            </a:r>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15</a:t>
            </a:fld>
            <a:endParaRPr lang="en-US"/>
          </a:p>
        </p:txBody>
      </p:sp>
    </p:spTree>
    <p:extLst>
      <p:ext uri="{BB962C8B-B14F-4D97-AF65-F5344CB8AC3E}">
        <p14:creationId xmlns:p14="http://schemas.microsoft.com/office/powerpoint/2010/main" val="41745636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 all versions of this textbook except </a:t>
            </a:r>
            <a:r>
              <a:rPr lang="en-US" i="1" dirty="0"/>
              <a:t>Brief Principles of Macroeconomics</a:t>
            </a:r>
            <a:r>
              <a:rPr lang="en-US" dirty="0"/>
              <a:t>, market efficiency and the invisible hand are covered more thoroughly in Chapter 7.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Milton Friedman introduces</a:t>
            </a:r>
            <a:r>
              <a:rPr lang="en-US" baseline="0" dirty="0"/>
              <a:t> these concepts using a very famous, simple, effective story.  See it here: </a:t>
            </a:r>
            <a:r>
              <a:rPr lang="en-US" dirty="0"/>
              <a:t>http://www.youtube.com/watch?v=4ERbC7JyCfU</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16</a:t>
            </a:fld>
            <a:endParaRPr lang="en-US"/>
          </a:p>
        </p:txBody>
      </p:sp>
    </p:spTree>
    <p:extLst>
      <p:ext uri="{BB962C8B-B14F-4D97-AF65-F5344CB8AC3E}">
        <p14:creationId xmlns:p14="http://schemas.microsoft.com/office/powerpoint/2010/main" val="4174563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The case study ‘Adam Smith would have loved Uber’</a:t>
            </a:r>
            <a:r>
              <a:rPr lang="en-US" baseline="0" dirty="0"/>
              <a:t> is a great example of the invisible hand at work. </a:t>
            </a:r>
          </a:p>
          <a:p>
            <a:pPr marL="171450" indent="-171450" eaLnBrk="1" hangingPunct="1">
              <a:buFont typeface="Arial" panose="020B0604020202020204" pitchFamily="34" charset="0"/>
              <a:buChar char="•"/>
            </a:pPr>
            <a:r>
              <a:rPr lang="en-US" baseline="0" dirty="0"/>
              <a:t>It starts by discussing the strict controls in the market for taxis (</a:t>
            </a:r>
            <a:r>
              <a:rPr lang="en-US" dirty="0"/>
              <a:t>limited number of taxi medallions or permits)</a:t>
            </a:r>
          </a:p>
          <a:p>
            <a:pPr marL="628650" lvl="1" indent="-171450">
              <a:buFont typeface="Arial" panose="020B0604020202020204" pitchFamily="34" charset="0"/>
              <a:buChar char="•"/>
            </a:pPr>
            <a:r>
              <a:rPr lang="en-US" dirty="0"/>
              <a:t>May determine the prices that taxis are allowed to charge</a:t>
            </a:r>
          </a:p>
          <a:p>
            <a:pPr marL="628650" lvl="1" indent="-171450">
              <a:buFont typeface="Arial" panose="020B0604020202020204" pitchFamily="34" charset="0"/>
              <a:buChar char="•"/>
            </a:pPr>
            <a:r>
              <a:rPr lang="en-US" dirty="0"/>
              <a:t>To keep unauthorized drivers off the streets and to prevent all drivers from charging unauthorized prices</a:t>
            </a:r>
          </a:p>
          <a:p>
            <a:pPr marL="171450" indent="-171450">
              <a:buFont typeface="Arial" panose="020B0604020202020204" pitchFamily="34" charset="0"/>
              <a:buChar char="•"/>
            </a:pPr>
            <a:r>
              <a:rPr lang="en-US" dirty="0"/>
              <a:t>Continues with information about Uber, launched in 2009</a:t>
            </a:r>
          </a:p>
          <a:p>
            <a:pPr marL="628650" lvl="1" indent="-171450">
              <a:buFont typeface="Arial" panose="020B0604020202020204" pitchFamily="34" charset="0"/>
              <a:buChar char="•"/>
            </a:pPr>
            <a:r>
              <a:rPr lang="en-US" dirty="0"/>
              <a:t>App for smartphones that connects passengers and drivers</a:t>
            </a:r>
          </a:p>
          <a:p>
            <a:pPr marL="628650" lvl="1" indent="-171450">
              <a:buFont typeface="Arial" panose="020B0604020202020204" pitchFamily="34" charset="0"/>
              <a:buChar char="•"/>
            </a:pPr>
            <a:r>
              <a:rPr lang="en-US" dirty="0"/>
              <a:t>Uber cars do not roam the streets looking for taxi-hailing</a:t>
            </a:r>
          </a:p>
          <a:p>
            <a:pPr marL="171450" indent="-171450">
              <a:buFont typeface="Arial" panose="020B0604020202020204" pitchFamily="34" charset="0"/>
              <a:buChar char="•"/>
            </a:pPr>
            <a:r>
              <a:rPr lang="en-US" dirty="0"/>
              <a:t>Not everyone is fond of Uber: Traditional taxi drivers (dislike additional competition)</a:t>
            </a:r>
          </a:p>
          <a:p>
            <a:pPr marL="171450" indent="-171450">
              <a:buFont typeface="Arial" panose="020B0604020202020204" pitchFamily="34" charset="0"/>
              <a:buChar char="•"/>
            </a:pPr>
            <a:r>
              <a:rPr lang="en-US" dirty="0"/>
              <a:t>Economists love Uber: Increase consumer well-being</a:t>
            </a:r>
          </a:p>
          <a:p>
            <a:pPr marL="171450" indent="-171450">
              <a:buFont typeface="Arial" panose="020B0604020202020204" pitchFamily="34" charset="0"/>
              <a:buChar char="•"/>
            </a:pPr>
            <a:r>
              <a:rPr lang="en-US" dirty="0"/>
              <a:t>Surge pricing </a:t>
            </a:r>
          </a:p>
          <a:p>
            <a:pPr marL="628650" lvl="1" indent="-171450">
              <a:buFont typeface="Arial" panose="020B0604020202020204" pitchFamily="34" charset="0"/>
              <a:buChar char="•"/>
            </a:pPr>
            <a:r>
              <a:rPr lang="en-US" dirty="0"/>
              <a:t>Increases the quantity of car services supplied when they are most needed</a:t>
            </a:r>
          </a:p>
          <a:p>
            <a:pPr marL="628650" lvl="1" indent="-171450">
              <a:buFont typeface="Arial" panose="020B0604020202020204" pitchFamily="34" charset="0"/>
              <a:buChar char="•"/>
            </a:pPr>
            <a:r>
              <a:rPr lang="en-US" dirty="0"/>
              <a:t>Allocate the services to those consumers who value them most highly </a:t>
            </a:r>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41745636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Two examples of the idea in the second bullet point:</a:t>
            </a:r>
          </a:p>
          <a:p>
            <a:pPr marL="227013" lvl="1" indent="-112713" eaLnBrk="1" hangingPunct="1">
              <a:spcBef>
                <a:spcPct val="25000"/>
              </a:spcBef>
              <a:buFontTx/>
              <a:buChar char="•"/>
            </a:pPr>
            <a:r>
              <a:rPr lang="en-US" dirty="0"/>
              <a:t>A restaurant won’t serve meals if customers do not pay before they leave. </a:t>
            </a:r>
          </a:p>
          <a:p>
            <a:pPr marL="227013" lvl="1" indent="-112713" eaLnBrk="1" hangingPunct="1">
              <a:spcBef>
                <a:spcPct val="25000"/>
              </a:spcBef>
              <a:buFontTx/>
              <a:buChar char="•"/>
            </a:pPr>
            <a:r>
              <a:rPr lang="en-US" dirty="0"/>
              <a:t>A record company won’t produce CDs if too many people avoid paying by making illegal copies.</a:t>
            </a:r>
          </a:p>
          <a:p>
            <a:pPr eaLnBrk="1" hangingPunct="1"/>
            <a:endParaRPr lang="en-US" dirty="0"/>
          </a:p>
          <a:p>
            <a:pPr eaLnBrk="1" hangingPunct="1"/>
            <a:r>
              <a:rPr lang="en-US" dirty="0"/>
              <a:t>Many fledging market economies are struggling through the transition from central planning because they have not developed institutions that protect and enforce property rights.  The British news magazine </a:t>
            </a:r>
            <a:r>
              <a:rPr lang="en-US" i="1" dirty="0"/>
              <a:t>The Economist</a:t>
            </a:r>
            <a:r>
              <a:rPr lang="en-US" dirty="0"/>
              <a:t> has lots of current examples of this.  An older but still interesting example comes from a column that Mankiw wrote in the June 12, 2000, issue of </a:t>
            </a:r>
            <a:r>
              <a:rPr lang="en-US" i="1" dirty="0"/>
              <a:t>Fortune</a:t>
            </a:r>
            <a:r>
              <a:rPr lang="en-US" dirty="0"/>
              <a:t> magazine entitled “Ukraine:  How Not To Run An Economy.”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18</a:t>
            </a:fld>
            <a:endParaRPr lang="en-US"/>
          </a:p>
        </p:txBody>
      </p:sp>
    </p:spTree>
    <p:extLst>
      <p:ext uri="{BB962C8B-B14F-4D97-AF65-F5344CB8AC3E}">
        <p14:creationId xmlns:p14="http://schemas.microsoft.com/office/powerpoint/2010/main" val="38224308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2292320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20</a:t>
            </a:fld>
            <a:endParaRPr lang="en-US"/>
          </a:p>
        </p:txBody>
      </p:sp>
    </p:spTree>
    <p:extLst>
      <p:ext uri="{BB962C8B-B14F-4D97-AF65-F5344CB8AC3E}">
        <p14:creationId xmlns:p14="http://schemas.microsoft.com/office/powerpoint/2010/main" val="4225509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itchFamily="34" charset="0"/>
              </a:defRPr>
            </a:lvl1pPr>
            <a:lvl2pPr marL="742950" indent="-285750" algn="l" eaLnBrk="0" hangingPunct="0">
              <a:spcBef>
                <a:spcPct val="30000"/>
              </a:spcBef>
              <a:defRPr sz="1200">
                <a:solidFill>
                  <a:schemeClr val="tx1"/>
                </a:solidFill>
                <a:latin typeface="Arial" pitchFamily="34" charset="0"/>
              </a:defRPr>
            </a:lvl2pPr>
            <a:lvl3pPr marL="1143000" indent="-228600" algn="l" eaLnBrk="0" hangingPunct="0">
              <a:spcBef>
                <a:spcPct val="30000"/>
              </a:spcBef>
              <a:defRPr sz="1200">
                <a:solidFill>
                  <a:schemeClr val="tx1"/>
                </a:solidFill>
                <a:latin typeface="Arial" pitchFamily="34" charset="0"/>
              </a:defRPr>
            </a:lvl3pPr>
            <a:lvl4pPr marL="1600200" indent="-228600" algn="l" eaLnBrk="0" hangingPunct="0">
              <a:spcBef>
                <a:spcPct val="30000"/>
              </a:spcBef>
              <a:defRPr sz="1200">
                <a:solidFill>
                  <a:schemeClr val="tx1"/>
                </a:solidFill>
                <a:latin typeface="Arial" pitchFamily="34" charset="0"/>
              </a:defRPr>
            </a:lvl4pPr>
            <a:lvl5pPr marL="2057400" indent="-228600" algn="l" eaLnBrk="0" hangingPunct="0">
              <a:spcBef>
                <a:spcPct val="30000"/>
              </a:spcBef>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pPr algn="r" eaLnBrk="1" hangingPunct="1">
              <a:spcBef>
                <a:spcPct val="0"/>
              </a:spcBef>
            </a:pPr>
            <a:fld id="{66F30B28-DA85-4AF5-B45F-C37DEA4113D9}" type="slidenum">
              <a:rPr lang="en-US" altLang="en-US">
                <a:solidFill>
                  <a:prstClr val="black"/>
                </a:solidFill>
              </a:rPr>
              <a:pPr algn="r" eaLnBrk="1" hangingPunct="1">
                <a:spcBef>
                  <a:spcPct val="0"/>
                </a:spcBef>
              </a:pPr>
              <a:t>21</a:t>
            </a:fld>
            <a:endParaRPr lang="en-US" alt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“Rich countries” refers to countries like the U.S. and Germany.  </a:t>
            </a:r>
          </a:p>
          <a:p>
            <a:pPr eaLnBrk="1" hangingPunct="1"/>
            <a:endParaRPr lang="en-US" sz="1200" dirty="0"/>
          </a:p>
          <a:p>
            <a:pPr eaLnBrk="1" hangingPunct="1"/>
            <a:r>
              <a:rPr lang="en-US" sz="1200" dirty="0"/>
              <a:t>“Poor countries” refers to countries like India, Indonesia, and Nigeria.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22</a:t>
            </a:fld>
            <a:endParaRPr lang="en-US"/>
          </a:p>
        </p:txBody>
      </p:sp>
    </p:spTree>
    <p:extLst>
      <p:ext uri="{BB962C8B-B14F-4D97-AF65-F5344CB8AC3E}">
        <p14:creationId xmlns:p14="http://schemas.microsoft.com/office/powerpoint/2010/main" val="21458149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23</a:t>
            </a:fld>
            <a:endParaRPr lang="en-US"/>
          </a:p>
        </p:txBody>
      </p:sp>
    </p:spTree>
    <p:extLst>
      <p:ext uri="{BB962C8B-B14F-4D97-AF65-F5344CB8AC3E}">
        <p14:creationId xmlns:p14="http://schemas.microsoft.com/office/powerpoint/2010/main" val="21458149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24</a:t>
            </a:fld>
            <a:endParaRPr lang="en-US"/>
          </a:p>
        </p:txBody>
      </p:sp>
    </p:spTree>
    <p:extLst>
      <p:ext uri="{BB962C8B-B14F-4D97-AF65-F5344CB8AC3E}">
        <p14:creationId xmlns:p14="http://schemas.microsoft.com/office/powerpoint/2010/main" val="33521425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long-run effect of increasing the quantity of money is inflation, the short-run effects are more complicated—and controversial.  </a:t>
            </a:r>
          </a:p>
          <a:p>
            <a:r>
              <a:rPr lang="en-US" dirty="0"/>
              <a:t>However, most mainstream economists believe the following:  An increase in the quantity of money causes spending to rise, which causes prices to rise, which induces firms to produce more goods and services, which requires that they hire more workers.  Hence, in the short-run, increasing the quantity of money causes inflation to rise, but unemployment to fall.  </a:t>
            </a:r>
          </a:p>
          <a:p>
            <a:pPr eaLnBrk="1" hangingPunct="1"/>
            <a:endParaRPr lang="en-US" dirty="0"/>
          </a:p>
          <a:p>
            <a:pPr eaLnBrk="1" hangingPunct="1"/>
            <a:r>
              <a:rPr lang="en-US" dirty="0"/>
              <a:t>Of course, REDUCING the quantity of money would have the opposite effects (inflation would fall, while unemployment would rise) in the short run. </a:t>
            </a:r>
          </a:p>
          <a:p>
            <a:pPr eaLnBrk="1" hangingPunct="1"/>
            <a:r>
              <a:rPr lang="en-US" dirty="0"/>
              <a:t>Keep in mind, though, the lesson from Principle 9: In the long run, changing the quantity of money only affects inflation.  We will learn in a later chapter what determines the rate of unemployment in the long run, and we will see that it has nothing to do with the quantity of money.  </a:t>
            </a:r>
          </a:p>
          <a:p>
            <a:pPr eaLnBrk="1" hangingPunct="1"/>
            <a:endParaRPr lang="en-US" dirty="0"/>
          </a:p>
          <a:p>
            <a:pPr eaLnBrk="1" hangingPunct="1"/>
            <a:r>
              <a:rPr lang="en-US" dirty="0"/>
              <a:t>The second bullet addresses the following point:  In </a:t>
            </a:r>
            <a:r>
              <a:rPr lang="en-US" dirty="0" err="1"/>
              <a:t>som</a:t>
            </a:r>
            <a:r>
              <a:rPr lang="en-US" dirty="0"/>
              <a:t> decades, due to factors outside of the control of policymakers, inflation and unemployment are both high (e.g. 1970s)  or both low (e.g. 1990s).  Yet, given these other factors, policymakers can always reduce unemployment temporarily by creating more inflation, or vice versa.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25</a:t>
            </a:fld>
            <a:endParaRPr lang="en-US"/>
          </a:p>
        </p:txBody>
      </p:sp>
    </p:spTree>
    <p:extLst>
      <p:ext uri="{BB962C8B-B14F-4D97-AF65-F5344CB8AC3E}">
        <p14:creationId xmlns:p14="http://schemas.microsoft.com/office/powerpoint/2010/main" val="10205387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26</a:t>
            </a:fld>
            <a:endParaRPr lang="en-US"/>
          </a:p>
        </p:txBody>
      </p:sp>
    </p:spTree>
    <p:extLst>
      <p:ext uri="{BB962C8B-B14F-4D97-AF65-F5344CB8AC3E}">
        <p14:creationId xmlns:p14="http://schemas.microsoft.com/office/powerpoint/2010/main" val="42658521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13896926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28</a:t>
            </a:fld>
            <a:endParaRPr lang="en-US"/>
          </a:p>
        </p:txBody>
      </p:sp>
    </p:spTree>
    <p:extLst>
      <p:ext uri="{BB962C8B-B14F-4D97-AF65-F5344CB8AC3E}">
        <p14:creationId xmlns:p14="http://schemas.microsoft.com/office/powerpoint/2010/main" val="2013448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11"/>
          <p:cNvSpPr>
            <a:spLocks noChangeArrowheads="1"/>
          </p:cNvSpPr>
          <p:nvPr userDrawn="1"/>
        </p:nvSpPr>
        <p:spPr bwMode="auto">
          <a:xfrm>
            <a:off x="5638800" y="5707063"/>
            <a:ext cx="3505201"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Premium 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t>
            </a:r>
            <a:r>
              <a:rPr lang="en-US" altLang="en-US" sz="1400" dirty="0" err="1">
                <a:solidFill>
                  <a:srgbClr val="000000"/>
                </a:solidFill>
              </a:rPr>
              <a:t>Andreea</a:t>
            </a:r>
            <a:r>
              <a:rPr lang="en-US" altLang="en-US" sz="1400" dirty="0">
                <a:solidFill>
                  <a:srgbClr val="000000"/>
                </a:solidFill>
              </a:rPr>
              <a:t>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
        <p:nvSpPr>
          <p:cNvPr id="10" name="Text Placeholder 9"/>
          <p:cNvSpPr>
            <a:spLocks noGrp="1"/>
          </p:cNvSpPr>
          <p:nvPr>
            <p:ph type="body" sz="quarter" idx="12" hasCustomPrompt="1"/>
          </p:nvPr>
        </p:nvSpPr>
        <p:spPr>
          <a:xfrm>
            <a:off x="2207172" y="3276600"/>
            <a:ext cx="6936827" cy="1812925"/>
          </a:xfrm>
          <a:prstGeom prst="rect">
            <a:avLst/>
          </a:prstGeom>
        </p:spPr>
        <p:txBody>
          <a:bodyPr/>
          <a:lstStyle>
            <a:lvl1pPr marL="0" indent="0" algn="ctr">
              <a:buNone/>
              <a:defRPr sz="6000">
                <a:solidFill>
                  <a:srgbClr val="AE122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pPr lvl="0"/>
            <a:r>
              <a:rPr lang="en-US" dirty="0"/>
              <a:t>Chapter title</a:t>
            </a:r>
          </a:p>
        </p:txBody>
      </p:sp>
      <p:sp>
        <p:nvSpPr>
          <p:cNvPr id="6" name="Slide Number Placeholder 3"/>
          <p:cNvSpPr>
            <a:spLocks noGrp="1"/>
          </p:cNvSpPr>
          <p:nvPr>
            <p:ph type="sldNum" sz="quarter" idx="14"/>
          </p:nvPr>
        </p:nvSpPr>
        <p:spPr/>
        <p:txBody>
          <a:bodyPr/>
          <a:lstStyle>
            <a:lvl1pPr>
              <a:defRPr/>
            </a:lvl1pPr>
          </a:lstStyle>
          <a:p>
            <a:pPr>
              <a:defRPr/>
            </a:pPr>
            <a:fld id="{CABCAE2A-3771-4BE5-9C85-74C66AABFB75}" type="slidenum">
              <a:rPr lang="en-US">
                <a:solidFill>
                  <a:srgbClr val="FFFFFF"/>
                </a:solidFill>
              </a:rPr>
              <a:pPr>
                <a:defRPr/>
              </a:pPr>
              <a:t>‹#›</a:t>
            </a:fld>
            <a:endParaRPr lang="en-US" dirty="0">
              <a:solidFill>
                <a:srgbClr val="FFFFFF"/>
              </a:solidFill>
            </a:endParaRPr>
          </a:p>
        </p:txBody>
      </p:sp>
      <p:sp>
        <p:nvSpPr>
          <p:cNvPr id="7" name="Footer Placeholder 4"/>
          <p:cNvSpPr>
            <a:spLocks noGrp="1"/>
          </p:cNvSpPr>
          <p:nvPr>
            <p:ph type="ftr" sz="quarter" idx="15"/>
          </p:nvPr>
        </p:nvSpPr>
        <p:spPr/>
        <p:txBody>
          <a:bodyPr/>
          <a:lstStyle>
            <a:lvl1pPr>
              <a:defRPr/>
            </a:lvl1pPr>
          </a:lstStyle>
          <a:p>
            <a:pPr>
              <a:defRPr/>
            </a:pPr>
            <a:r>
              <a:rPr lang="en-US" dirty="0">
                <a:solidFill>
                  <a:srgbClr val="FFFFFF"/>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3" name="Text Placeholder 2"/>
          <p:cNvSpPr>
            <a:spLocks noGrp="1"/>
          </p:cNvSpPr>
          <p:nvPr>
            <p:ph type="body" sz="quarter" idx="16" hasCustomPrompt="1"/>
          </p:nvPr>
        </p:nvSpPr>
        <p:spPr>
          <a:xfrm>
            <a:off x="0" y="3505200"/>
            <a:ext cx="1981200" cy="1828800"/>
          </a:xfrm>
          <a:prstGeom prst="rect">
            <a:avLst/>
          </a:prstGeom>
        </p:spPr>
        <p:txBody>
          <a:bodyPr/>
          <a:lstStyle>
            <a:lvl1pPr marL="0" indent="0" algn="ctr">
              <a:buNone/>
              <a:defRPr>
                <a:solidFill>
                  <a:srgbClr val="005EA4"/>
                </a:solidFill>
                <a:effectLst>
                  <a:outerShdw blurRad="38100" dist="38100" dir="2700000" algn="tl">
                    <a:srgbClr val="000000">
                      <a:alpha val="43137"/>
                    </a:srgbClr>
                  </a:outerShdw>
                </a:effectLst>
                <a:latin typeface="Arial Narrow" panose="020B0606020202030204" pitchFamily="34" charset="0"/>
              </a:defRPr>
            </a:lvl1pPr>
          </a:lstStyle>
          <a:p>
            <a:pPr lvl="0"/>
            <a:r>
              <a:rPr lang="en-US" dirty="0"/>
              <a:t>CHAPTER</a:t>
            </a:r>
          </a:p>
          <a:p>
            <a:pPr lvl="0"/>
            <a:r>
              <a:rPr lang="en-US" dirty="0"/>
              <a:t>#</a:t>
            </a:r>
          </a:p>
        </p:txBody>
      </p:sp>
      <p:sp>
        <p:nvSpPr>
          <p:cNvPr id="2" name="TextBox 1"/>
          <p:cNvSpPr txBox="1"/>
          <p:nvPr userDrawn="1"/>
        </p:nvSpPr>
        <p:spPr>
          <a:xfrm>
            <a:off x="0" y="0"/>
            <a:ext cx="4572000" cy="2585323"/>
          </a:xfrm>
          <a:prstGeom prst="rect">
            <a:avLst/>
          </a:prstGeom>
          <a:noFill/>
        </p:spPr>
        <p:txBody>
          <a:bodyPr wrap="square" rtlCol="0">
            <a:spAutoFit/>
          </a:bodyPr>
          <a:lstStyle/>
          <a:p>
            <a:pPr algn="ctr"/>
            <a:r>
              <a:rPr lang="en-US" sz="3200" dirty="0">
                <a:solidFill>
                  <a:schemeClr val="bg1"/>
                </a:solidFill>
                <a:latin typeface="+mj-lt"/>
                <a:cs typeface="Times New Roman" panose="02020603050405020304" pitchFamily="18" charset="0"/>
              </a:rPr>
              <a:t>N. GREGORY MANKIW</a:t>
            </a:r>
            <a:b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b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2800" dirty="0">
                <a:solidFill>
                  <a:schemeClr val="tx1">
                    <a:lumMod val="50000"/>
                    <a:lumOff val="50000"/>
                  </a:schemeClr>
                </a:solidFill>
                <a:latin typeface="Times New Roman" panose="02020603050405020304" pitchFamily="18" charset="0"/>
                <a:cs typeface="Times New Roman" panose="02020603050405020304" pitchFamily="18" charset="0"/>
              </a:rPr>
              <a:t>PRINCIPLES OF</a:t>
            </a:r>
            <a:br>
              <a:rPr lang="en-US" sz="2400" dirty="0">
                <a:latin typeface="Times New Roman" panose="02020603050405020304" pitchFamily="18" charset="0"/>
                <a:cs typeface="Times New Roman" panose="02020603050405020304" pitchFamily="18" charset="0"/>
              </a:rPr>
            </a:br>
            <a:r>
              <a:rPr lang="en-US" sz="5400" dirty="0">
                <a:latin typeface="+mj-lt"/>
              </a:rPr>
              <a:t>ECONOMICS</a:t>
            </a:r>
            <a:br>
              <a:rPr lang="en-US" dirty="0"/>
            </a:br>
            <a:r>
              <a:rPr lang="en-US" sz="2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Eighth</a:t>
            </a:r>
            <a:r>
              <a:rPr lang="en-US" sz="2800" i="1" baseline="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Edition </a:t>
            </a:r>
            <a:endParaRPr lang="en-US" dirty="0"/>
          </a:p>
        </p:txBody>
      </p:sp>
    </p:spTree>
    <p:extLst>
      <p:ext uri="{BB962C8B-B14F-4D97-AF65-F5344CB8AC3E}">
        <p14:creationId xmlns:p14="http://schemas.microsoft.com/office/powerpoint/2010/main" val="868237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1" y="100939"/>
            <a:ext cx="8686800" cy="860961"/>
          </a:xfrm>
        </p:spPr>
        <p:txBody>
          <a:bodyPr/>
          <a:lstStyle>
            <a:lvl1pPr>
              <a:defRPr sz="3600">
                <a:solidFill>
                  <a:srgbClr val="005EA4"/>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31864117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0068" y="100939"/>
            <a:ext cx="7803931" cy="860961"/>
          </a:xfrm>
        </p:spPr>
        <p:txBody>
          <a:bodyPr/>
          <a:lstStyle/>
          <a:p>
            <a:r>
              <a:rPr lang="en-US" dirty="0"/>
              <a:t>Click to edit Master title style</a:t>
            </a:r>
          </a:p>
        </p:txBody>
      </p:sp>
      <p:sp>
        <p:nvSpPr>
          <p:cNvPr id="3" name="Content Placeholder 2"/>
          <p:cNvSpPr>
            <a:spLocks noGrp="1"/>
          </p:cNvSpPr>
          <p:nvPr>
            <p:ph idx="1"/>
          </p:nvPr>
        </p:nvSpPr>
        <p:spPr/>
        <p:txBody>
          <a:bodyPr/>
          <a:lstStyle>
            <a:lvl1pPr>
              <a:defRPr>
                <a:solidFill>
                  <a:srgbClr val="005EA4"/>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304672751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0068" y="100939"/>
            <a:ext cx="7803931" cy="860961"/>
          </a:xfrm>
        </p:spPr>
        <p:txBody>
          <a:body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005EA4"/>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chemeClr val="accent6">
                    <a:lumMod val="50000"/>
                  </a:schemeClr>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Tree>
    <p:extLst>
      <p:ext uri="{BB962C8B-B14F-4D97-AF65-F5344CB8AC3E}">
        <p14:creationId xmlns:p14="http://schemas.microsoft.com/office/powerpoint/2010/main" val="260046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99757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1888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100939"/>
            <a:ext cx="8839200" cy="661061"/>
          </a:xfrm>
        </p:spPr>
        <p:txBody>
          <a:bodyPr/>
          <a:lstStyle>
            <a:lvl1pPr>
              <a:defRPr sz="3200">
                <a:solidFill>
                  <a:schemeClr val="accent6">
                    <a:lumMod val="50000"/>
                  </a:schemeClr>
                </a:solidFill>
              </a:defRPr>
            </a:lvl1pPr>
          </a:lstStyle>
          <a:p>
            <a:r>
              <a:rPr lang="en-US" dirty="0"/>
              <a:t>Click to edit Master title style</a:t>
            </a:r>
          </a:p>
        </p:txBody>
      </p:sp>
      <p:sp>
        <p:nvSpPr>
          <p:cNvPr id="3" name="Content Placeholder 2"/>
          <p:cNvSpPr>
            <a:spLocks noGrp="1"/>
          </p:cNvSpPr>
          <p:nvPr>
            <p:ph idx="1"/>
          </p:nvPr>
        </p:nvSpPr>
        <p:spPr>
          <a:xfrm>
            <a:off x="347241" y="762000"/>
            <a:ext cx="8518947" cy="56864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67569626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64246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4" name="Footer Placeholder 3"/>
          <p:cNvSpPr>
            <a:spLocks noGrp="1"/>
          </p:cNvSpPr>
          <p:nvPr>
            <p:ph type="ftr" sz="quarter" idx="11"/>
          </p:nvPr>
        </p:nvSpPr>
        <p:spPr/>
        <p:txBody>
          <a:bodyPr/>
          <a:lstStyle/>
          <a:p>
            <a:pPr fontAlgn="base">
              <a:spcBef>
                <a:spcPct val="20000"/>
              </a:spcBef>
              <a:spcAft>
                <a:spcPct val="0"/>
              </a:spcAft>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6" name="Text Placeholder 5"/>
          <p:cNvSpPr>
            <a:spLocks noGrp="1"/>
          </p:cNvSpPr>
          <p:nvPr>
            <p:ph type="body" sz="quarter" idx="12"/>
          </p:nvPr>
        </p:nvSpPr>
        <p:spPr>
          <a:xfrm>
            <a:off x="457200" y="533400"/>
            <a:ext cx="8458200" cy="533400"/>
          </a:xfrm>
        </p:spPr>
        <p:txBody>
          <a:bodyPr/>
          <a:lstStyle>
            <a:lvl1pPr marL="0" indent="0">
              <a:buNone/>
              <a:defRPr sz="320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1"/>
            <a:r>
              <a:rPr lang="en-US" dirty="0"/>
              <a:t>Click to edit Master text styles</a:t>
            </a:r>
          </a:p>
        </p:txBody>
      </p:sp>
      <p:sp>
        <p:nvSpPr>
          <p:cNvPr id="9" name="Text Placeholder 5"/>
          <p:cNvSpPr>
            <a:spLocks noGrp="1"/>
          </p:cNvSpPr>
          <p:nvPr>
            <p:ph type="body" sz="quarter" idx="14"/>
          </p:nvPr>
        </p:nvSpPr>
        <p:spPr>
          <a:xfrm>
            <a:off x="533400" y="1295400"/>
            <a:ext cx="8077200" cy="2209800"/>
          </a:xfrm>
        </p:spPr>
        <p:txBody>
          <a:bodyPr/>
          <a:lstStyle>
            <a:lvl1pPr marL="0" indent="0">
              <a:buNone/>
              <a:defRPr sz="3200" i="1">
                <a:solidFill>
                  <a:schemeClr val="accent6">
                    <a:lumMod val="50000"/>
                  </a:schemeClr>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Tree>
    <p:extLst>
      <p:ext uri="{BB962C8B-B14F-4D97-AF65-F5344CB8AC3E}">
        <p14:creationId xmlns:p14="http://schemas.microsoft.com/office/powerpoint/2010/main" val="3695449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7FD95AB8-5D89-46A9-8508-FFECD7F10317}" type="slidenum">
              <a:rPr lang="en-US"/>
              <a:pPr>
                <a:defRPr/>
              </a:pPr>
              <a:t>‹#›</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503719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theme" Target="../theme/theme5.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6.xml"/><Relationship Id="rId1" Type="http://schemas.openxmlformats.org/officeDocument/2006/relationships/slideLayout" Target="../slideLayouts/slideLayout7.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theme" Target="../theme/theme7.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theme" Target="../theme/theme8.xml"/><Relationship Id="rId1" Type="http://schemas.openxmlformats.org/officeDocument/2006/relationships/slideLayout" Target="../slideLayouts/slideLayout9.xml"/><Relationship Id="rId5" Type="http://schemas.openxmlformats.org/officeDocument/2006/relationships/image" Target="../media/image22.png"/><Relationship Id="rId4" Type="http://schemas.openxmlformats.org/officeDocument/2006/relationships/image" Target="../media/image21.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theme" Target="../theme/theme9.xml"/><Relationship Id="rId1" Type="http://schemas.openxmlformats.org/officeDocument/2006/relationships/slideLayout" Target="../slideLayouts/slideLayout10.xml"/><Relationship Id="rId5" Type="http://schemas.openxmlformats.org/officeDocument/2006/relationships/image" Target="../media/image25.png"/><Relationship Id="rId4" Type="http://schemas.openxmlformats.org/officeDocument/2006/relationships/image" Target="../media/image2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484188"/>
            <a:ext cx="9144000" cy="6326187"/>
          </a:xfrm>
          <a:prstGeom prst="rect">
            <a:avLst/>
          </a:prstGeom>
          <a:noFill/>
          <a:ln>
            <a:noFill/>
          </a:ln>
          <a:effectLst>
            <a:outerShdw sx="999" sy="999"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1027" name="Picture 9"/>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6400800"/>
            <a:ext cx="9144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pic>
        <p:nvPicPr>
          <p:cNvPr id="1030" name="Picture 9"/>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527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18" name="Content Placeholder 7"/>
          <p:cNvSpPr txBox="1">
            <a:spLocks/>
          </p:cNvSpPr>
          <p:nvPr userDrawn="1"/>
        </p:nvSpPr>
        <p:spPr>
          <a:xfrm>
            <a:off x="31750" y="766763"/>
            <a:ext cx="4540250" cy="203993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spcBef>
                <a:spcPts val="0"/>
              </a:spcBef>
              <a:buFontTx/>
              <a:buNone/>
              <a:defRPr/>
            </a:pPr>
            <a:endParaRPr lang="en-US" sz="2200" i="1" kern="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032" name="Picture 17"/>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72000" y="150813"/>
            <a:ext cx="4572000" cy="3028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3" name="Footer Placeholder 2"/>
          <p:cNvSpPr>
            <a:spLocks noGrp="1"/>
          </p:cNvSpPr>
          <p:nvPr>
            <p:ph type="ftr" sz="quarter" idx="3"/>
          </p:nvPr>
        </p:nvSpPr>
        <p:spPr>
          <a:xfrm>
            <a:off x="0" y="6400800"/>
            <a:ext cx="8540750" cy="457200"/>
          </a:xfrm>
          <a:prstGeom prst="rect">
            <a:avLst/>
          </a:prstGeom>
          <a:noFill/>
        </p:spPr>
        <p:txBody>
          <a:bodyPr vert="horz" lIns="91440" tIns="45720" rIns="91440" bIns="45720" rtlCol="0" anchor="ctr"/>
          <a:lstStyle>
            <a:lvl1pPr algn="l">
              <a:buNone/>
              <a:defRPr sz="1000">
                <a:solidFill>
                  <a:schemeClr val="bg1"/>
                </a:solidFill>
                <a:cs typeface="Arial" pitchFamily="34" charset="0"/>
              </a:defRPr>
            </a:lvl1pPr>
          </a:lstStyle>
          <a:p>
            <a:pPr fontAlgn="base">
              <a:spcAft>
                <a:spcPct val="0"/>
              </a:spcAft>
              <a:defRPr/>
            </a:pPr>
            <a:r>
              <a:rPr lang="en-US" dirty="0">
                <a:solidFill>
                  <a:srgbClr val="FFFFFF"/>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3130776066"/>
      </p:ext>
    </p:extLst>
  </p:cSld>
  <p:clrMap bg1="lt1" tx1="dk1" bg2="lt2" tx2="dk2" accent1="accent1" accent2="accent2" accent3="accent3" accent4="accent4" accent5="accent5" accent6="accent6" hlink="hlink" folHlink="folHlink"/>
  <p:sldLayoutIdLst>
    <p:sldLayoutId id="2147483661" r:id="rId1"/>
  </p:sldLayoutIdLst>
  <p:hf hdr="0" dt="0"/>
  <p:txStyles>
    <p:titleStyle>
      <a:lvl1pPr algn="l" rtl="0" eaLnBrk="0" fontAlgn="base" hangingPunct="0">
        <a:spcBef>
          <a:spcPct val="0"/>
        </a:spcBef>
        <a:spcAft>
          <a:spcPct val="0"/>
        </a:spcAft>
        <a:defRPr sz="4400">
          <a:solidFill>
            <a:schemeClr val="accent2"/>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
            <a:ext cx="9144000" cy="6400799"/>
            <a:chOff x="0" y="1"/>
            <a:chExt cx="9144000" cy="6477001"/>
          </a:xfrm>
        </p:grpSpPr>
        <p:pic>
          <p:nvPicPr>
            <p:cNvPr id="102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066801"/>
              <a:ext cx="91440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2"/>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8858250" y="1"/>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1"/>
            <a:ext cx="8605838" cy="4572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81" r:id="rId1"/>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3600">
          <a:solidFill>
            <a:srgbClr val="005EA4"/>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1474788" cy="1131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2051" name="Picture 10"/>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57163" y="941388"/>
            <a:ext cx="8829675"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205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57163" y="6248400"/>
            <a:ext cx="8829675"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1324303" y="77788"/>
            <a:ext cx="7819697"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a:t>Name fgchmvb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 stClick to edit Master yles</a:t>
            </a:r>
          </a:p>
          <a:p>
            <a:pPr lvl="1"/>
            <a:r>
              <a:rPr lang="en-US" altLang="en-US"/>
              <a:t>Second level</a:t>
            </a:r>
          </a:p>
          <a:p>
            <a:pPr lvl="2"/>
            <a:r>
              <a:rPr lang="en-US" altLang="en-US"/>
              <a:t>Thirdlevel</a:t>
            </a:r>
          </a:p>
          <a:p>
            <a:pPr lvl="2"/>
            <a:r>
              <a:rPr lang="en-US" altLang="en-US"/>
              <a:t> Fourth level</a:t>
            </a:r>
          </a:p>
          <a:p>
            <a:pPr lvl="4"/>
            <a:r>
              <a:rPr lang="en-US" altLang="en-US"/>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359857"/>
            <a:ext cx="8605838" cy="498143"/>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74"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5E12E99D-42F8-4B90-BC1F-2FD222301686}"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0"/>
            <a:ext cx="8615363" cy="516114"/>
          </a:xfrm>
          <a:prstGeom prst="rect">
            <a:avLst/>
          </a:prstGeom>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11" name="Group 10"/>
          <p:cNvGrpSpPr/>
          <p:nvPr userDrawn="1"/>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userDrawn="1">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Table 1</a:t>
            </a:r>
          </a:p>
        </p:txBody>
      </p:sp>
      <p:sp>
        <p:nvSpPr>
          <p:cNvPr id="3077" name="Rectangle 3"/>
          <p:cNvSpPr>
            <a:spLocks noGrp="1" noChangeArrowheads="1"/>
          </p:cNvSpPr>
          <p:nvPr userDrawn="1">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userDrawn="1">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5E12E99D-42F8-4B90-BC1F-2FD222301686}" type="slidenum">
              <a:rPr lang="en-US"/>
              <a:pPr fontAlgn="base">
                <a:spcAft>
                  <a:spcPct val="0"/>
                </a:spcAft>
                <a:defRPr/>
              </a:pPr>
              <a:t>‹#›</a:t>
            </a:fld>
            <a:endParaRPr lang="en-US" dirty="0"/>
          </a:p>
        </p:txBody>
      </p:sp>
      <p:grpSp>
        <p:nvGrpSpPr>
          <p:cNvPr id="4" name="Group 3"/>
          <p:cNvGrpSpPr/>
          <p:nvPr userDrawn="1"/>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userDrawn="1"/>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userDrawn="1">
            <p:ph type="ftr" sz="quarter" idx="3"/>
          </p:nvPr>
        </p:nvSpPr>
        <p:spPr>
          <a:xfrm>
            <a:off x="0" y="6400800"/>
            <a:ext cx="8615363" cy="505303"/>
          </a:xfrm>
          <a:prstGeom prst="rect">
            <a:avLst/>
          </a:prstGeom>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6200000">
            <a:off x="-2647949" y="3409951"/>
            <a:ext cx="56388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76201" y="77788"/>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324601"/>
            <a:ext cx="8605838" cy="5334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9"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6191250" y="3409951"/>
            <a:ext cx="56388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Text Placeholder 1"/>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500"/>
                                        <p:tgtEl>
                                          <p:spTgt spid="2">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left)">
                                      <p:cBhvr>
                                        <p:cTn id="15" dur="500"/>
                                        <p:tgtEl>
                                          <p:spTgt spid="2">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left)">
                                      <p:cBhvr>
                                        <p:cTn id="23"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Lst>
      </p:bldP>
    </p:bldLst>
  </p:timing>
  <p:hf hdr="0" dt="0"/>
  <p:txStyles>
    <p:titleStyle>
      <a:lvl1pPr algn="ctr" rtl="0" eaLnBrk="0" fontAlgn="base" hangingPunct="0">
        <a:spcBef>
          <a:spcPct val="0"/>
        </a:spcBef>
        <a:spcAft>
          <a:spcPct val="0"/>
        </a:spcAft>
        <a:defRPr sz="4000">
          <a:solidFill>
            <a:schemeClr val="accent6">
              <a:lumMod val="50000"/>
            </a:schemeClr>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CFA536BC-3ED5-4293-8323-16A4258B4A0B}"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1"/>
            <a:ext cx="8643938" cy="457200"/>
          </a:xfrm>
          <a:prstGeom prst="rect">
            <a:avLst/>
          </a:prstGeom>
          <a:noFill/>
        </p:spPr>
        <p:txBody>
          <a:bodyPr vert="horz" lIns="91440" tIns="45720" rIns="91440" bIns="45720" rtlCol="0" anchor="ctr"/>
          <a:lstStyle>
            <a:lvl1pPr algn="l">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5126" name="Picture 1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nvGrpSpPr>
          <p:cNvPr id="5127" name="Group 2"/>
          <p:cNvGrpSpPr>
            <a:grpSpLocks/>
          </p:cNvGrpSpPr>
          <p:nvPr userDrawn="1"/>
        </p:nvGrpSpPr>
        <p:grpSpPr bwMode="auto">
          <a:xfrm>
            <a:off x="8561388" y="0"/>
            <a:ext cx="582612" cy="609600"/>
            <a:chOff x="8513384" y="0"/>
            <a:chExt cx="582991" cy="609600"/>
          </a:xfrm>
        </p:grpSpPr>
        <p:pic>
          <p:nvPicPr>
            <p:cNvPr id="5128" name="Picture 18"/>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513384" y="138345"/>
              <a:ext cx="36195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5129" name="Picture 19"/>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915400" y="0"/>
              <a:ext cx="180975"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8" name="Picture 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990599"/>
            <a:ext cx="9144000" cy="53507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150" name="Rectangle 3"/>
          <p:cNvSpPr>
            <a:spLocks noGrp="1" noChangeAspect="1" noChangeArrowheads="1"/>
          </p:cNvSpPr>
          <p:nvPr>
            <p:ph type="body" idx="1"/>
          </p:nvPr>
        </p:nvSpPr>
        <p:spPr bwMode="auto">
          <a:xfrm>
            <a:off x="457200" y="1524000"/>
            <a:ext cx="84582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CFA536BC-3ED5-4293-8323-16A4258B4A0B}"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1"/>
            <a:ext cx="8643938" cy="457200"/>
          </a:xfrm>
          <a:prstGeom prst="rect">
            <a:avLst/>
          </a:prstGeom>
          <a:noFill/>
        </p:spPr>
        <p:txBody>
          <a:bodyPr vert="horz" lIns="91440" tIns="45720" rIns="91440" bIns="45720" rtlCol="0" anchor="ctr"/>
          <a:lstStyle>
            <a:lvl1pPr algn="l">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102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576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ASK THE EXPERTS</a:t>
            </a:r>
          </a:p>
        </p:txBody>
      </p:sp>
      <p:pic>
        <p:nvPicPr>
          <p:cNvPr id="1027"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533400"/>
            <a:ext cx="9144000" cy="576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bwMode="auto">
          <a:xfrm>
            <a:off x="2008332" y="0"/>
            <a:ext cx="713566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FCD5D5FD-C24C-4EC1-877A-4A06FFD43F54}" type="slidenum">
              <a:rPr lang="en-US"/>
              <a:pPr fontAlgn="base">
                <a:spcAft>
                  <a:spcPct val="0"/>
                </a:spcAft>
                <a:defRPr/>
              </a:pPr>
              <a:t>‹#›</a:t>
            </a:fld>
            <a:endParaRPr lang="en-US" dirty="0"/>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3" name="Group 2"/>
          <p:cNvGrpSpPr/>
          <p:nvPr userDrawn="1"/>
        </p:nvGrpSpPr>
        <p:grpSpPr>
          <a:xfrm>
            <a:off x="32017" y="72581"/>
            <a:ext cx="1976315" cy="6252019"/>
            <a:chOff x="26319" y="75430"/>
            <a:chExt cx="1976315" cy="6409508"/>
          </a:xfrm>
        </p:grpSpPr>
        <p:pic>
          <p:nvPicPr>
            <p:cNvPr id="615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319" y="75430"/>
              <a:ext cx="1976315" cy="52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6"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319" y="563034"/>
              <a:ext cx="391023" cy="592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2" name="Group 1"/>
          <p:cNvGrpSpPr/>
          <p:nvPr userDrawn="1"/>
        </p:nvGrpSpPr>
        <p:grpSpPr>
          <a:xfrm>
            <a:off x="8218204" y="750888"/>
            <a:ext cx="893380" cy="5573712"/>
            <a:chOff x="8229600" y="750888"/>
            <a:chExt cx="893380" cy="5734050"/>
          </a:xfrm>
        </p:grpSpPr>
        <p:pic>
          <p:nvPicPr>
            <p:cNvPr id="13"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32905" y="750888"/>
              <a:ext cx="90075"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7" name="Picture 1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229600" y="6434982"/>
              <a:ext cx="893380" cy="49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sp>
        <p:nvSpPr>
          <p:cNvPr id="5" name="Footer Placeholder 4"/>
          <p:cNvSpPr>
            <a:spLocks noGrp="1"/>
          </p:cNvSpPr>
          <p:nvPr>
            <p:ph type="ftr" sz="quarter" idx="3"/>
          </p:nvPr>
        </p:nvSpPr>
        <p:spPr>
          <a:xfrm>
            <a:off x="0" y="6324600"/>
            <a:ext cx="8637588" cy="533401"/>
          </a:xfrm>
          <a:prstGeom prst="rect">
            <a:avLst/>
          </a:prstGeom>
        </p:spPr>
        <p:txBody>
          <a:bodyPr vert="horz" lIns="91440" tIns="45720" rIns="91440" bIns="45720" rtlCol="0" anchor="ctr"/>
          <a:lstStyle>
            <a:lvl1pPr algn="l">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578277993"/>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Arial" pitchFamily="34" charset="0"/>
        </a:defRPr>
      </a:lvl2pPr>
      <a:lvl3pPr algn="l" rtl="0" eaLnBrk="0" fontAlgn="base" hangingPunct="0">
        <a:spcBef>
          <a:spcPct val="0"/>
        </a:spcBef>
        <a:spcAft>
          <a:spcPct val="0"/>
        </a:spcAft>
        <a:defRPr sz="3400">
          <a:solidFill>
            <a:schemeClr val="tx1"/>
          </a:solidFill>
          <a:latin typeface="Arial" pitchFamily="34" charset="0"/>
        </a:defRPr>
      </a:lvl3pPr>
      <a:lvl4pPr algn="l" rtl="0" eaLnBrk="0" fontAlgn="base" hangingPunct="0">
        <a:spcBef>
          <a:spcPct val="0"/>
        </a:spcBef>
        <a:spcAft>
          <a:spcPct val="0"/>
        </a:spcAft>
        <a:defRPr sz="3400">
          <a:solidFill>
            <a:schemeClr val="tx1"/>
          </a:solidFill>
          <a:latin typeface="Arial" pitchFamily="34" charset="0"/>
        </a:defRPr>
      </a:lvl4pPr>
      <a:lvl5pPr algn="l" rtl="0" eaLnBrk="0" fontAlgn="base" hangingPunct="0">
        <a:spcBef>
          <a:spcPct val="0"/>
        </a:spcBef>
        <a:spcAft>
          <a:spcPct val="0"/>
        </a:spcAft>
        <a:defRPr sz="3400">
          <a:solidFill>
            <a:schemeClr val="tx1"/>
          </a:solidFill>
          <a:latin typeface="Arial"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2"/>
          </p:nvPr>
        </p:nvSpPr>
        <p:spPr/>
        <p:txBody>
          <a:bodyPr/>
          <a:lstStyle/>
          <a:p>
            <a:pPr>
              <a:defRPr/>
            </a:pPr>
            <a:r>
              <a:rPr lang="en-US" dirty="0"/>
              <a:t>Ten Principles of Economics</a:t>
            </a:r>
          </a:p>
        </p:txBody>
      </p:sp>
      <p:sp>
        <p:nvSpPr>
          <p:cNvPr id="11" name="Text Placeholder 10"/>
          <p:cNvSpPr>
            <a:spLocks noGrp="1"/>
          </p:cNvSpPr>
          <p:nvPr>
            <p:ph type="body" sz="quarter" idx="16"/>
          </p:nvPr>
        </p:nvSpPr>
        <p:spPr/>
        <p:txBody>
          <a:bodyPr/>
          <a:lstStyle/>
          <a:p>
            <a:r>
              <a:rPr lang="en-US" dirty="0"/>
              <a:t>CHAPTER</a:t>
            </a:r>
          </a:p>
          <a:p>
            <a:r>
              <a:rPr lang="en-US" sz="6600" dirty="0">
                <a:solidFill>
                  <a:schemeClr val="tx2"/>
                </a:solidFill>
                <a:latin typeface="Cambria Math" panose="02040503050406030204" pitchFamily="18" charset="0"/>
                <a:ea typeface="Cambria Math" panose="02040503050406030204" pitchFamily="18" charset="0"/>
              </a:rPr>
              <a:t>1</a:t>
            </a:r>
          </a:p>
        </p:txBody>
      </p:sp>
      <p:sp>
        <p:nvSpPr>
          <p:cNvPr id="6" name="Slide Number Placeholder 5"/>
          <p:cNvSpPr>
            <a:spLocks noGrp="1"/>
          </p:cNvSpPr>
          <p:nvPr>
            <p:ph type="sldNum" sz="quarter" idx="14"/>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Tree>
    <p:extLst>
      <p:ext uri="{BB962C8B-B14F-4D97-AF65-F5344CB8AC3E}">
        <p14:creationId xmlns:p14="http://schemas.microsoft.com/office/powerpoint/2010/main" val="296230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Look for the answers to these questions:</a:t>
            </a:r>
          </a:p>
        </p:txBody>
      </p:sp>
      <p:sp>
        <p:nvSpPr>
          <p:cNvPr id="3" name="Content Placeholder 2"/>
          <p:cNvSpPr>
            <a:spLocks noGrp="1"/>
          </p:cNvSpPr>
          <p:nvPr>
            <p:ph idx="1"/>
          </p:nvPr>
        </p:nvSpPr>
        <p:spPr/>
        <p:txBody>
          <a:bodyPr/>
          <a:lstStyle/>
          <a:p>
            <a:r>
              <a:rPr lang="en-US" dirty="0"/>
              <a:t>What kinds of questions does economics address?</a:t>
            </a:r>
          </a:p>
          <a:p>
            <a:r>
              <a:rPr lang="en-US" dirty="0"/>
              <a:t>What are the principles of how people make decisions? </a:t>
            </a:r>
          </a:p>
          <a:p>
            <a:r>
              <a:rPr lang="en-US" dirty="0"/>
              <a:t>What are the principles of how people interact?</a:t>
            </a:r>
          </a:p>
          <a:p>
            <a:r>
              <a:rPr lang="en-US" dirty="0"/>
              <a:t>What are the principles of how the economy as a whole works?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a:p>
        </p:txBody>
      </p:sp>
      <p:sp>
        <p:nvSpPr>
          <p:cNvPr id="5" name="Footer Placeholder 4"/>
          <p:cNvSpPr>
            <a:spLocks noGrp="1"/>
          </p:cNvSpPr>
          <p:nvPr>
            <p:ph type="ftr" sz="quarter" idx="11"/>
          </p:nvPr>
        </p:nvSpPr>
        <p:spPr/>
        <p:txBody>
          <a:bodyPr/>
          <a:lstStyle/>
          <a:p>
            <a:pPr>
              <a:defRPr/>
            </a:pPr>
            <a:endParaRPr lang="en-US" dirty="0">
              <a:solidFill>
                <a:srgbClr val="000000"/>
              </a:solidFill>
            </a:endParaRPr>
          </a:p>
        </p:txBody>
      </p:sp>
    </p:spTree>
    <p:extLst>
      <p:ext uri="{BB962C8B-B14F-4D97-AF65-F5344CB8AC3E}">
        <p14:creationId xmlns:p14="http://schemas.microsoft.com/office/powerpoint/2010/main" val="8576434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wrap="square" anchor="t"/>
          <a:lstStyle/>
          <a:p>
            <a:pPr eaLnBrk="1" hangingPunct="1"/>
            <a:r>
              <a:rPr lang="en-US" altLang="en-US"/>
              <a:t>Ten Principles of Economics</a:t>
            </a:r>
          </a:p>
        </p:txBody>
      </p:sp>
      <p:sp>
        <p:nvSpPr>
          <p:cNvPr id="14339" name="Content Placeholder 2"/>
          <p:cNvSpPr>
            <a:spLocks noGrp="1"/>
          </p:cNvSpPr>
          <p:nvPr>
            <p:ph idx="1"/>
          </p:nvPr>
        </p:nvSpPr>
        <p:spPr>
          <a:xfrm>
            <a:off x="277813" y="1025525"/>
            <a:ext cx="8637587" cy="5422900"/>
          </a:xfrm>
        </p:spPr>
        <p:txBody>
          <a:bodyPr/>
          <a:lstStyle/>
          <a:p>
            <a:pPr eaLnBrk="1" hangingPunct="1"/>
            <a:r>
              <a:rPr lang="en-US" altLang="en-US" dirty="0"/>
              <a:t>Resources are scarce</a:t>
            </a:r>
          </a:p>
          <a:p>
            <a:pPr eaLnBrk="1" hangingPunct="1"/>
            <a:r>
              <a:rPr lang="en-US" altLang="en-US" dirty="0"/>
              <a:t>Scarcity: </a:t>
            </a:r>
            <a:r>
              <a:rPr lang="en-US" altLang="en-US" sz="3200" dirty="0">
                <a:solidFill>
                  <a:schemeClr val="tx2"/>
                </a:solidFill>
              </a:rPr>
              <a:t>the limited nature of society’s resources</a:t>
            </a:r>
          </a:p>
          <a:p>
            <a:pPr lvl="1"/>
            <a:r>
              <a:rPr lang="en-US" altLang="en-US" dirty="0"/>
              <a:t>Society has limited resources</a:t>
            </a:r>
          </a:p>
          <a:p>
            <a:pPr lvl="2"/>
            <a:r>
              <a:rPr lang="en-US" altLang="en-US" dirty="0"/>
              <a:t>Cannot produce all the goods and services people wish to have</a:t>
            </a:r>
          </a:p>
          <a:p>
            <a:pPr eaLnBrk="1" hangingPunct="1"/>
            <a:r>
              <a:rPr lang="en-US" altLang="en-US" dirty="0"/>
              <a:t>Economics</a:t>
            </a:r>
            <a:endParaRPr lang="en-US" altLang="en-US" sz="3200" dirty="0"/>
          </a:p>
          <a:p>
            <a:pPr lvl="1" eaLnBrk="1" hangingPunct="1"/>
            <a:r>
              <a:rPr lang="en-US" altLang="en-US" dirty="0"/>
              <a:t>The study of how society manages its scarce resources</a:t>
            </a:r>
          </a:p>
        </p:txBody>
      </p:sp>
      <p:sp>
        <p:nvSpPr>
          <p:cNvPr id="1434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17BCA5F9-B099-43C5-B92C-ED3A97046A4A}" type="slidenum">
              <a:rPr lang="en-US" altLang="en-US" sz="1200" smtClean="0">
                <a:solidFill>
                  <a:srgbClr val="002060"/>
                </a:solidFill>
              </a:rPr>
              <a:pPr algn="ctr" eaLnBrk="1" hangingPunct="1"/>
              <a:t>3</a:t>
            </a:fld>
            <a:endParaRPr lang="en-US" altLang="en-US" sz="1200">
              <a:solidFill>
                <a:srgbClr val="002060"/>
              </a:solidFill>
            </a:endParaRPr>
          </a:p>
        </p:txBody>
      </p:sp>
      <p:sp>
        <p:nvSpPr>
          <p:cNvPr id="1434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2377437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wrap="square" anchor="t"/>
          <a:lstStyle/>
          <a:p>
            <a:pPr eaLnBrk="1" hangingPunct="1"/>
            <a:r>
              <a:rPr lang="en-US" altLang="en-US"/>
              <a:t>Ten Principles of Economics</a:t>
            </a:r>
          </a:p>
        </p:txBody>
      </p:sp>
      <p:sp>
        <p:nvSpPr>
          <p:cNvPr id="15363" name="Content Placeholder 2"/>
          <p:cNvSpPr>
            <a:spLocks noGrp="1"/>
          </p:cNvSpPr>
          <p:nvPr>
            <p:ph idx="1"/>
          </p:nvPr>
        </p:nvSpPr>
        <p:spPr>
          <a:xfrm>
            <a:off x="277813" y="1025525"/>
            <a:ext cx="8866187" cy="5422900"/>
          </a:xfrm>
        </p:spPr>
        <p:txBody>
          <a:bodyPr/>
          <a:lstStyle/>
          <a:p>
            <a:pPr eaLnBrk="1" hangingPunct="1"/>
            <a:r>
              <a:rPr lang="en-US" altLang="en-US" dirty="0"/>
              <a:t>Economists study:</a:t>
            </a:r>
          </a:p>
          <a:p>
            <a:pPr lvl="1" eaLnBrk="1" hangingPunct="1"/>
            <a:r>
              <a:rPr lang="en-US" altLang="en-US" dirty="0"/>
              <a:t>How people decide what to buy, </a:t>
            </a:r>
            <a:br>
              <a:rPr lang="en-US" altLang="en-US" dirty="0"/>
            </a:br>
            <a:r>
              <a:rPr lang="en-US" altLang="en-US" dirty="0"/>
              <a:t>how much to work, save, and spend</a:t>
            </a:r>
          </a:p>
          <a:p>
            <a:pPr lvl="1" eaLnBrk="1" hangingPunct="1"/>
            <a:r>
              <a:rPr lang="en-US" altLang="en-US" dirty="0"/>
              <a:t>How firms decide how much to produce, </a:t>
            </a:r>
            <a:br>
              <a:rPr lang="en-US" altLang="en-US" dirty="0"/>
            </a:br>
            <a:r>
              <a:rPr lang="en-US" altLang="en-US" dirty="0"/>
              <a:t>how many workers to hire</a:t>
            </a:r>
          </a:p>
        </p:txBody>
      </p:sp>
      <p:sp>
        <p:nvSpPr>
          <p:cNvPr id="1536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013A710A-9E5E-47A7-9972-91E080D99839}" type="slidenum">
              <a:rPr lang="en-US" altLang="en-US" sz="1200" smtClean="0">
                <a:solidFill>
                  <a:srgbClr val="002060"/>
                </a:solidFill>
              </a:rPr>
              <a:pPr algn="ctr" eaLnBrk="1" hangingPunct="1"/>
              <a:t>4</a:t>
            </a:fld>
            <a:endParaRPr lang="en-US" altLang="en-US" sz="1200">
              <a:solidFill>
                <a:srgbClr val="002060"/>
              </a:solidFill>
            </a:endParaRPr>
          </a:p>
        </p:txBody>
      </p:sp>
      <p:sp>
        <p:nvSpPr>
          <p:cNvPr id="1536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2338164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wrap="square" anchor="t"/>
          <a:lstStyle/>
          <a:p>
            <a:pPr eaLnBrk="1" hangingPunct="1"/>
            <a:r>
              <a:rPr lang="en-US" altLang="en-US" dirty="0"/>
              <a:t>How People Make Decisions</a:t>
            </a:r>
          </a:p>
        </p:txBody>
      </p:sp>
      <p:sp>
        <p:nvSpPr>
          <p:cNvPr id="16387" name="Content Placeholder 2"/>
          <p:cNvSpPr>
            <a:spLocks noGrp="1"/>
          </p:cNvSpPr>
          <p:nvPr>
            <p:ph idx="1"/>
          </p:nvPr>
        </p:nvSpPr>
        <p:spPr/>
        <p:txBody>
          <a:bodyPr/>
          <a:lstStyle/>
          <a:p>
            <a:pPr marL="57150" indent="0">
              <a:buNone/>
            </a:pPr>
            <a:endParaRPr lang="en-US" altLang="en-US" dirty="0">
              <a:solidFill>
                <a:srgbClr val="AE1221"/>
              </a:solidFill>
            </a:endParaRPr>
          </a:p>
          <a:p>
            <a:pPr marL="57150" indent="0">
              <a:buNone/>
            </a:pPr>
            <a:r>
              <a:rPr lang="en-US" altLang="en-US" dirty="0">
                <a:solidFill>
                  <a:srgbClr val="AE1221"/>
                </a:solidFill>
              </a:rPr>
              <a:t>Principle 1: </a:t>
            </a:r>
            <a:r>
              <a:rPr lang="en-US" altLang="en-US" dirty="0"/>
              <a:t>People face trade-offs</a:t>
            </a:r>
          </a:p>
          <a:p>
            <a:pPr marL="57150" indent="0">
              <a:buNone/>
            </a:pPr>
            <a:r>
              <a:rPr lang="en-US" altLang="en-US" dirty="0">
                <a:solidFill>
                  <a:srgbClr val="AE1221"/>
                </a:solidFill>
              </a:rPr>
              <a:t>Principle 2: </a:t>
            </a:r>
            <a:r>
              <a:rPr lang="en-US" altLang="en-US" dirty="0"/>
              <a:t>The cost of something is what you give up to get it</a:t>
            </a:r>
          </a:p>
          <a:p>
            <a:pPr marL="57150" indent="0">
              <a:buNone/>
            </a:pPr>
            <a:r>
              <a:rPr lang="en-US" altLang="en-US" dirty="0">
                <a:solidFill>
                  <a:srgbClr val="AE1221"/>
                </a:solidFill>
              </a:rPr>
              <a:t>Principle 3: </a:t>
            </a:r>
            <a:r>
              <a:rPr lang="en-US" altLang="en-US" dirty="0"/>
              <a:t>Rational people think at the margin</a:t>
            </a:r>
          </a:p>
          <a:p>
            <a:pPr marL="57150" indent="0">
              <a:buNone/>
            </a:pPr>
            <a:r>
              <a:rPr lang="en-US" altLang="en-US" dirty="0">
                <a:solidFill>
                  <a:srgbClr val="AE1221"/>
                </a:solidFill>
              </a:rPr>
              <a:t>Principle 4: </a:t>
            </a:r>
            <a:r>
              <a:rPr lang="en-US" altLang="en-US" dirty="0"/>
              <a:t>People respond to incentives</a:t>
            </a:r>
          </a:p>
        </p:txBody>
      </p:sp>
      <p:sp>
        <p:nvSpPr>
          <p:cNvPr id="1638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1AB23D93-402D-4923-B421-446B13E82257}" type="slidenum">
              <a:rPr lang="en-US" altLang="en-US" sz="1200" smtClean="0">
                <a:solidFill>
                  <a:srgbClr val="002060"/>
                </a:solidFill>
              </a:rPr>
              <a:pPr algn="ctr" eaLnBrk="1" hangingPunct="1"/>
              <a:t>5</a:t>
            </a:fld>
            <a:endParaRPr lang="en-US" altLang="en-US" sz="1200">
              <a:solidFill>
                <a:srgbClr val="002060"/>
              </a:solidFill>
            </a:endParaRPr>
          </a:p>
        </p:txBody>
      </p:sp>
      <p:sp>
        <p:nvSpPr>
          <p:cNvPr id="1638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3319625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wrap="square" anchor="t"/>
          <a:lstStyle/>
          <a:p>
            <a:pPr eaLnBrk="1" hangingPunct="1"/>
            <a:r>
              <a:rPr lang="en-US" altLang="en-US" sz="3600" dirty="0"/>
              <a:t>Principle 1: People Face Trade-offs</a:t>
            </a:r>
          </a:p>
        </p:txBody>
      </p:sp>
      <p:sp>
        <p:nvSpPr>
          <p:cNvPr id="19459" name="Content Placeholder 2"/>
          <p:cNvSpPr>
            <a:spLocks noGrp="1"/>
          </p:cNvSpPr>
          <p:nvPr>
            <p:ph idx="1"/>
          </p:nvPr>
        </p:nvSpPr>
        <p:spPr/>
        <p:txBody>
          <a:bodyPr/>
          <a:lstStyle/>
          <a:p>
            <a:pPr eaLnBrk="1" hangingPunct="1"/>
            <a:r>
              <a:rPr lang="en-US" altLang="en-US" sz="3200" dirty="0"/>
              <a:t>To get something that we like, we have to give up something else that we also like</a:t>
            </a:r>
          </a:p>
          <a:p>
            <a:pPr lvl="1"/>
            <a:r>
              <a:rPr lang="en-US" altLang="en-US" dirty="0"/>
              <a:t>Going to a party the night before an exam</a:t>
            </a:r>
          </a:p>
          <a:p>
            <a:pPr lvl="2"/>
            <a:r>
              <a:rPr lang="en-US" altLang="en-US" dirty="0"/>
              <a:t>Less time for studying</a:t>
            </a:r>
          </a:p>
          <a:p>
            <a:pPr lvl="1"/>
            <a:r>
              <a:rPr lang="en-US" altLang="en-US" dirty="0"/>
              <a:t>Having more money to buy stuff </a:t>
            </a:r>
          </a:p>
          <a:p>
            <a:pPr lvl="2"/>
            <a:r>
              <a:rPr lang="en-US" altLang="en-US" dirty="0"/>
              <a:t>Working longer hours, less time for leisure</a:t>
            </a:r>
          </a:p>
          <a:p>
            <a:pPr lvl="1"/>
            <a:r>
              <a:rPr lang="en-US" altLang="en-US" dirty="0"/>
              <a:t>Protecting the environment </a:t>
            </a:r>
          </a:p>
          <a:p>
            <a:pPr lvl="2"/>
            <a:r>
              <a:rPr lang="en-US" altLang="en-US" dirty="0"/>
              <a:t>Resources could be used to produce consumer goods</a:t>
            </a:r>
          </a:p>
        </p:txBody>
      </p:sp>
      <p:sp>
        <p:nvSpPr>
          <p:cNvPr id="1946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0E65CE01-5A9C-46B5-AFD4-E19883202A25}" type="slidenum">
              <a:rPr lang="en-US" altLang="en-US" sz="1200" smtClean="0">
                <a:solidFill>
                  <a:srgbClr val="002060"/>
                </a:solidFill>
              </a:rPr>
              <a:pPr algn="ctr" eaLnBrk="1" hangingPunct="1"/>
              <a:t>6</a:t>
            </a:fld>
            <a:endParaRPr lang="en-US" altLang="en-US" sz="1200">
              <a:solidFill>
                <a:srgbClr val="002060"/>
              </a:solidFill>
            </a:endParaRPr>
          </a:p>
        </p:txBody>
      </p:sp>
      <p:sp>
        <p:nvSpPr>
          <p:cNvPr id="1946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3150648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wrap="square" anchor="t"/>
          <a:lstStyle/>
          <a:p>
            <a:pPr eaLnBrk="1" hangingPunct="1"/>
            <a:r>
              <a:rPr lang="en-US" altLang="en-US" sz="3600" dirty="0"/>
              <a:t>Principle 1: People Face Trade-offs</a:t>
            </a:r>
          </a:p>
        </p:txBody>
      </p:sp>
      <p:sp>
        <p:nvSpPr>
          <p:cNvPr id="20483" name="Content Placeholder 2"/>
          <p:cNvSpPr>
            <a:spLocks noGrp="1"/>
          </p:cNvSpPr>
          <p:nvPr>
            <p:ph idx="1"/>
          </p:nvPr>
        </p:nvSpPr>
        <p:spPr/>
        <p:txBody>
          <a:bodyPr/>
          <a:lstStyle/>
          <a:p>
            <a:pPr eaLnBrk="1" hangingPunct="1"/>
            <a:r>
              <a:rPr lang="en-US" altLang="en-US" dirty="0"/>
              <a:t>Society faces trade-offs:</a:t>
            </a:r>
          </a:p>
          <a:p>
            <a:pPr lvl="1" eaLnBrk="1" hangingPunct="1"/>
            <a:r>
              <a:rPr lang="en-US" altLang="en-US" dirty="0"/>
              <a:t>The more it spends on national defense (guns) to protect its shores</a:t>
            </a:r>
          </a:p>
          <a:p>
            <a:pPr lvl="1" eaLnBrk="1" hangingPunct="1"/>
            <a:r>
              <a:rPr lang="en-US" altLang="en-US" dirty="0"/>
              <a:t>Pollution regulations: cleaner environment and improved health</a:t>
            </a:r>
          </a:p>
          <a:p>
            <a:pPr lvl="2" eaLnBrk="1" hangingPunct="1"/>
            <a:r>
              <a:rPr lang="en-US" altLang="en-US" dirty="0"/>
              <a:t>But at the cost of reducing the incomes of the firms’ owners, workers, and customers</a:t>
            </a:r>
          </a:p>
        </p:txBody>
      </p:sp>
      <p:sp>
        <p:nvSpPr>
          <p:cNvPr id="2048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C667A295-9C93-4A83-8AB7-A788A6F4EEA8}" type="slidenum">
              <a:rPr lang="en-US" altLang="en-US" sz="1200" smtClean="0">
                <a:solidFill>
                  <a:srgbClr val="002060"/>
                </a:solidFill>
              </a:rPr>
              <a:pPr algn="ctr" eaLnBrk="1" hangingPunct="1"/>
              <a:t>7</a:t>
            </a:fld>
            <a:endParaRPr lang="en-US" altLang="en-US" sz="1200">
              <a:solidFill>
                <a:srgbClr val="002060"/>
              </a:solidFill>
            </a:endParaRPr>
          </a:p>
        </p:txBody>
      </p:sp>
      <p:sp>
        <p:nvSpPr>
          <p:cNvPr id="2048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343359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wrap="square" anchor="t"/>
          <a:lstStyle/>
          <a:p>
            <a:pPr eaLnBrk="1" hangingPunct="1"/>
            <a:r>
              <a:rPr lang="en-US" altLang="en-US" sz="3600" dirty="0"/>
              <a:t>Principle 1: People Face Trade-offs</a:t>
            </a:r>
          </a:p>
        </p:txBody>
      </p:sp>
      <p:sp>
        <p:nvSpPr>
          <p:cNvPr id="21507" name="Content Placeholder 2"/>
          <p:cNvSpPr>
            <a:spLocks noGrp="1"/>
          </p:cNvSpPr>
          <p:nvPr>
            <p:ph idx="1"/>
          </p:nvPr>
        </p:nvSpPr>
        <p:spPr>
          <a:xfrm>
            <a:off x="277813" y="1025525"/>
            <a:ext cx="8713787" cy="5422900"/>
          </a:xfrm>
        </p:spPr>
        <p:txBody>
          <a:bodyPr/>
          <a:lstStyle/>
          <a:p>
            <a:r>
              <a:rPr lang="en-US" altLang="en-US" dirty="0"/>
              <a:t>Efficiency: </a:t>
            </a:r>
            <a:r>
              <a:rPr lang="en-US" altLang="en-US" sz="3200" dirty="0">
                <a:solidFill>
                  <a:schemeClr val="tx1"/>
                </a:solidFill>
              </a:rPr>
              <a:t>society gets the most from its scarce resources</a:t>
            </a:r>
          </a:p>
          <a:p>
            <a:r>
              <a:rPr lang="en-US" altLang="en-US" dirty="0"/>
              <a:t>Equality: </a:t>
            </a:r>
            <a:r>
              <a:rPr lang="en-US" altLang="en-US" sz="3200" dirty="0">
                <a:solidFill>
                  <a:schemeClr val="tx1"/>
                </a:solidFill>
              </a:rPr>
              <a:t>prosperity is distributed uniformly among society’s members</a:t>
            </a:r>
            <a:endParaRPr lang="en-US" altLang="en-US" dirty="0">
              <a:solidFill>
                <a:schemeClr val="tx1"/>
              </a:solidFill>
            </a:endParaRPr>
          </a:p>
          <a:p>
            <a:r>
              <a:rPr lang="en-US" altLang="en-US" dirty="0"/>
              <a:t>Tradeoff:  </a:t>
            </a:r>
          </a:p>
          <a:p>
            <a:pPr lvl="1"/>
            <a:r>
              <a:rPr lang="en-US" altLang="en-US" dirty="0"/>
              <a:t>To achieve greater equality, could redistribute income from wealthy to poor</a:t>
            </a:r>
          </a:p>
          <a:p>
            <a:pPr marL="914400" lvl="2" indent="0">
              <a:buNone/>
            </a:pPr>
            <a:endParaRPr lang="en-US" altLang="en-US" dirty="0"/>
          </a:p>
        </p:txBody>
      </p:sp>
      <p:sp>
        <p:nvSpPr>
          <p:cNvPr id="2150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66EE1A1-B04E-4D8E-936F-E4C78BD6CFEC}" type="slidenum">
              <a:rPr lang="en-US" altLang="en-US" sz="1200" smtClean="0">
                <a:solidFill>
                  <a:srgbClr val="002060"/>
                </a:solidFill>
              </a:rPr>
              <a:pPr algn="ctr" eaLnBrk="1" hangingPunct="1"/>
              <a:t>8</a:t>
            </a:fld>
            <a:endParaRPr lang="en-US" altLang="en-US" sz="1200">
              <a:solidFill>
                <a:srgbClr val="002060"/>
              </a:solidFill>
            </a:endParaRPr>
          </a:p>
        </p:txBody>
      </p:sp>
      <p:sp>
        <p:nvSpPr>
          <p:cNvPr id="2150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677802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1340068" y="0"/>
            <a:ext cx="7803931" cy="860961"/>
          </a:xfrm>
        </p:spPr>
        <p:txBody>
          <a:bodyPr wrap="square" anchor="t"/>
          <a:lstStyle/>
          <a:p>
            <a:pPr marL="0" indent="0" eaLnBrk="1" hangingPunct="1">
              <a:defRPr/>
            </a:pPr>
            <a:r>
              <a:rPr lang="en-US" sz="3200" dirty="0"/>
              <a:t>Principle 2: The Cost of Something Is What You Give Up to Get It</a:t>
            </a:r>
          </a:p>
        </p:txBody>
      </p:sp>
      <p:sp>
        <p:nvSpPr>
          <p:cNvPr id="25603" name="Content Placeholder 2"/>
          <p:cNvSpPr>
            <a:spLocks noGrp="1"/>
          </p:cNvSpPr>
          <p:nvPr>
            <p:ph idx="1"/>
          </p:nvPr>
        </p:nvSpPr>
        <p:spPr/>
        <p:txBody>
          <a:bodyPr/>
          <a:lstStyle/>
          <a:p>
            <a:pPr eaLnBrk="1" hangingPunct="1">
              <a:defRPr/>
            </a:pPr>
            <a:r>
              <a:rPr lang="en-US" dirty="0"/>
              <a:t>Making decisions:</a:t>
            </a:r>
          </a:p>
          <a:p>
            <a:pPr lvl="1" eaLnBrk="1" hangingPunct="1">
              <a:defRPr/>
            </a:pPr>
            <a:r>
              <a:rPr lang="en-US" dirty="0"/>
              <a:t>Compare costs with benefits of alternatives</a:t>
            </a:r>
          </a:p>
          <a:p>
            <a:pPr lvl="1" eaLnBrk="1" hangingPunct="1">
              <a:defRPr/>
            </a:pPr>
            <a:r>
              <a:rPr lang="en-US" dirty="0"/>
              <a:t>Need to include opportunity costs</a:t>
            </a:r>
          </a:p>
          <a:p>
            <a:pPr eaLnBrk="1" hangingPunct="1">
              <a:defRPr/>
            </a:pPr>
            <a:r>
              <a:rPr lang="en-US" dirty="0"/>
              <a:t>Opportunity cost</a:t>
            </a:r>
          </a:p>
          <a:p>
            <a:pPr lvl="1" eaLnBrk="1" hangingPunct="1">
              <a:defRPr/>
            </a:pPr>
            <a:r>
              <a:rPr lang="en-US" dirty="0"/>
              <a:t>Whatever must be given up to obtain some item</a:t>
            </a:r>
          </a:p>
        </p:txBody>
      </p:sp>
      <p:sp>
        <p:nvSpPr>
          <p:cNvPr id="2253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258DB1D5-1407-4B75-87C6-A1F79120C6B8}" type="slidenum">
              <a:rPr lang="en-US" altLang="en-US" sz="1200" smtClean="0">
                <a:solidFill>
                  <a:srgbClr val="002060"/>
                </a:solidFill>
              </a:rPr>
              <a:pPr algn="ctr" eaLnBrk="1" hangingPunct="1"/>
              <a:t>9</a:t>
            </a:fld>
            <a:endParaRPr lang="en-US" altLang="en-US" sz="1200">
              <a:solidFill>
                <a:srgbClr val="002060"/>
              </a:solidFill>
            </a:endParaRPr>
          </a:p>
        </p:txBody>
      </p:sp>
      <p:sp>
        <p:nvSpPr>
          <p:cNvPr id="2253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3356039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1340068" y="0"/>
            <a:ext cx="7803931" cy="860961"/>
          </a:xfrm>
        </p:spPr>
        <p:txBody>
          <a:bodyPr wrap="square" anchor="t"/>
          <a:lstStyle/>
          <a:p>
            <a:pPr marL="0" indent="0" eaLnBrk="1" hangingPunct="1">
              <a:defRPr/>
            </a:pPr>
            <a:r>
              <a:rPr lang="en-US" sz="3200" dirty="0"/>
              <a:t>Principle 2: The Cost of Something Is What You Give Up to Get It</a:t>
            </a:r>
          </a:p>
        </p:txBody>
      </p:sp>
      <p:sp>
        <p:nvSpPr>
          <p:cNvPr id="25603" name="Content Placeholder 2"/>
          <p:cNvSpPr>
            <a:spLocks noGrp="1"/>
          </p:cNvSpPr>
          <p:nvPr>
            <p:ph idx="1"/>
          </p:nvPr>
        </p:nvSpPr>
        <p:spPr/>
        <p:txBody>
          <a:bodyPr/>
          <a:lstStyle/>
          <a:p>
            <a:pPr eaLnBrk="1" hangingPunct="1">
              <a:defRPr/>
            </a:pPr>
            <a:r>
              <a:rPr lang="en-US" dirty="0"/>
              <a:t>The opportunity cost of:</a:t>
            </a:r>
          </a:p>
          <a:p>
            <a:pPr lvl="1" eaLnBrk="1" hangingPunct="1">
              <a:defRPr/>
            </a:pPr>
            <a:r>
              <a:rPr lang="en-US" dirty="0"/>
              <a:t>Going to college for a year </a:t>
            </a:r>
          </a:p>
          <a:p>
            <a:pPr lvl="2" eaLnBrk="1" hangingPunct="1">
              <a:defRPr/>
            </a:pPr>
            <a:r>
              <a:rPr lang="en-US" dirty="0"/>
              <a:t>Tuition, books, and fees</a:t>
            </a:r>
          </a:p>
          <a:p>
            <a:pPr lvl="2" eaLnBrk="1" hangingPunct="1">
              <a:defRPr/>
            </a:pPr>
            <a:r>
              <a:rPr lang="en-US" dirty="0"/>
              <a:t>PLUS foregone wages</a:t>
            </a:r>
          </a:p>
          <a:p>
            <a:pPr lvl="1" eaLnBrk="1" hangingPunct="1">
              <a:defRPr/>
            </a:pPr>
            <a:r>
              <a:rPr lang="en-US" dirty="0"/>
              <a:t>Going to the movies </a:t>
            </a:r>
          </a:p>
          <a:p>
            <a:pPr lvl="2" eaLnBrk="1" hangingPunct="1">
              <a:defRPr/>
            </a:pPr>
            <a:r>
              <a:rPr lang="en-US" dirty="0"/>
              <a:t>The price of the movie ticket</a:t>
            </a:r>
          </a:p>
          <a:p>
            <a:pPr lvl="2" eaLnBrk="1" hangingPunct="1">
              <a:defRPr/>
            </a:pPr>
            <a:r>
              <a:rPr lang="en-US" dirty="0"/>
              <a:t>PLUS the value of the time you spend in the theater</a:t>
            </a:r>
          </a:p>
        </p:txBody>
      </p:sp>
      <p:sp>
        <p:nvSpPr>
          <p:cNvPr id="2253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258DB1D5-1407-4B75-87C6-A1F79120C6B8}" type="slidenum">
              <a:rPr lang="en-US" altLang="en-US" sz="1200" smtClean="0">
                <a:solidFill>
                  <a:srgbClr val="002060"/>
                </a:solidFill>
              </a:rPr>
              <a:pPr algn="ctr" eaLnBrk="1" hangingPunct="1"/>
              <a:t>10</a:t>
            </a:fld>
            <a:endParaRPr lang="en-US" altLang="en-US" sz="1200">
              <a:solidFill>
                <a:srgbClr val="002060"/>
              </a:solidFill>
            </a:endParaRPr>
          </a:p>
        </p:txBody>
      </p:sp>
      <p:sp>
        <p:nvSpPr>
          <p:cNvPr id="2253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2799052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340068" y="0"/>
            <a:ext cx="7803931" cy="860961"/>
          </a:xfrm>
        </p:spPr>
        <p:txBody>
          <a:bodyPr wrap="square" anchor="t"/>
          <a:lstStyle/>
          <a:p>
            <a:pPr marL="0" indent="0" eaLnBrk="1" hangingPunct="1">
              <a:defRPr/>
            </a:pPr>
            <a:r>
              <a:rPr lang="en-US" sz="3200" dirty="0"/>
              <a:t>Principle 3: Rational People Think at the Margin</a:t>
            </a:r>
          </a:p>
        </p:txBody>
      </p:sp>
      <p:sp>
        <p:nvSpPr>
          <p:cNvPr id="26627" name="Content Placeholder 2"/>
          <p:cNvSpPr>
            <a:spLocks noGrp="1"/>
          </p:cNvSpPr>
          <p:nvPr>
            <p:ph idx="1"/>
          </p:nvPr>
        </p:nvSpPr>
        <p:spPr/>
        <p:txBody>
          <a:bodyPr/>
          <a:lstStyle/>
          <a:p>
            <a:pPr eaLnBrk="1" hangingPunct="1">
              <a:defRPr/>
            </a:pPr>
            <a:r>
              <a:rPr lang="en-US" dirty="0"/>
              <a:t>Rational people</a:t>
            </a:r>
          </a:p>
          <a:p>
            <a:pPr lvl="1" eaLnBrk="1" hangingPunct="1">
              <a:defRPr/>
            </a:pPr>
            <a:r>
              <a:rPr lang="en-US" dirty="0"/>
              <a:t>Systematically and purposefully do the best they can to achieve their objectives</a:t>
            </a:r>
          </a:p>
          <a:p>
            <a:pPr lvl="1" eaLnBrk="1" hangingPunct="1">
              <a:defRPr/>
            </a:pPr>
            <a:r>
              <a:rPr lang="en-US" dirty="0"/>
              <a:t>Given the available opportunities</a:t>
            </a:r>
          </a:p>
          <a:p>
            <a:pPr lvl="1" eaLnBrk="1" hangingPunct="1">
              <a:defRPr/>
            </a:pPr>
            <a:r>
              <a:rPr lang="en-US" dirty="0"/>
              <a:t>Make decisions by evaluating costs and benefits of marginal changes</a:t>
            </a:r>
          </a:p>
          <a:p>
            <a:pPr lvl="2" eaLnBrk="1" hangingPunct="1">
              <a:defRPr/>
            </a:pPr>
            <a:r>
              <a:rPr lang="en-US" dirty="0"/>
              <a:t>Small incremental adjustments to a plan of action</a:t>
            </a:r>
          </a:p>
        </p:txBody>
      </p:sp>
      <p:sp>
        <p:nvSpPr>
          <p:cNvPr id="2355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F271B6E0-2532-4410-8637-573066390243}" type="slidenum">
              <a:rPr lang="en-US" altLang="en-US" sz="1200" smtClean="0">
                <a:solidFill>
                  <a:srgbClr val="002060"/>
                </a:solidFill>
              </a:rPr>
              <a:pPr algn="ctr" eaLnBrk="1" hangingPunct="1"/>
              <a:t>11</a:t>
            </a:fld>
            <a:endParaRPr lang="en-US" altLang="en-US" sz="1200">
              <a:solidFill>
                <a:srgbClr val="002060"/>
              </a:solidFill>
            </a:endParaRPr>
          </a:p>
        </p:txBody>
      </p:sp>
      <p:sp>
        <p:nvSpPr>
          <p:cNvPr id="2355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3915927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340068" y="129639"/>
            <a:ext cx="7803931" cy="860961"/>
          </a:xfrm>
        </p:spPr>
        <p:txBody>
          <a:bodyPr wrap="square" anchor="t"/>
          <a:lstStyle/>
          <a:p>
            <a:pPr eaLnBrk="1" hangingPunct="1"/>
            <a:r>
              <a:rPr lang="en-US" altLang="en-US" sz="3200" dirty="0"/>
              <a:t>Principle 4: People Respond to Incentives</a:t>
            </a:r>
          </a:p>
        </p:txBody>
      </p:sp>
      <p:sp>
        <p:nvSpPr>
          <p:cNvPr id="25603" name="Content Placeholder 2"/>
          <p:cNvSpPr>
            <a:spLocks noGrp="1"/>
          </p:cNvSpPr>
          <p:nvPr>
            <p:ph idx="1"/>
          </p:nvPr>
        </p:nvSpPr>
        <p:spPr/>
        <p:txBody>
          <a:bodyPr/>
          <a:lstStyle/>
          <a:p>
            <a:pPr eaLnBrk="1" hangingPunct="1"/>
            <a:r>
              <a:rPr lang="en-US" altLang="en-US" dirty="0"/>
              <a:t>Incentive</a:t>
            </a:r>
          </a:p>
          <a:p>
            <a:pPr lvl="1" eaLnBrk="1" hangingPunct="1"/>
            <a:r>
              <a:rPr lang="en-US" altLang="en-US" dirty="0"/>
              <a:t>Something that induces a person to act</a:t>
            </a:r>
          </a:p>
          <a:p>
            <a:pPr eaLnBrk="1" hangingPunct="1"/>
            <a:r>
              <a:rPr lang="en-US" altLang="en-US" dirty="0"/>
              <a:t>Examples:</a:t>
            </a:r>
          </a:p>
          <a:p>
            <a:pPr lvl="1" eaLnBrk="1" hangingPunct="1"/>
            <a:r>
              <a:rPr lang="en-US" altLang="en-US" dirty="0"/>
              <a:t>When gas prices rise, consumers buy more hybrid cars and fewer gas guzzling SUVs</a:t>
            </a:r>
          </a:p>
          <a:p>
            <a:pPr lvl="1" eaLnBrk="1" hangingPunct="1"/>
            <a:r>
              <a:rPr lang="en-US" altLang="en-US" dirty="0"/>
              <a:t>When cigarette taxes increase, </a:t>
            </a:r>
            <a:br>
              <a:rPr lang="en-US" altLang="en-US" dirty="0"/>
            </a:br>
            <a:r>
              <a:rPr lang="en-US" altLang="en-US" dirty="0"/>
              <a:t>teen smoking falls </a:t>
            </a:r>
          </a:p>
        </p:txBody>
      </p:sp>
      <p:sp>
        <p:nvSpPr>
          <p:cNvPr id="2560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8A71E2BD-391E-4B64-8867-9A644780BAF4}" type="slidenum">
              <a:rPr lang="en-US" altLang="en-US" sz="1200" smtClean="0">
                <a:solidFill>
                  <a:srgbClr val="002060"/>
                </a:solidFill>
              </a:rPr>
              <a:pPr algn="ctr" eaLnBrk="1" hangingPunct="1"/>
              <a:t>12</a:t>
            </a:fld>
            <a:endParaRPr lang="en-US" altLang="en-US" sz="1200">
              <a:solidFill>
                <a:srgbClr val="002060"/>
              </a:solidFill>
            </a:endParaRPr>
          </a:p>
        </p:txBody>
      </p:sp>
      <p:sp>
        <p:nvSpPr>
          <p:cNvPr id="2560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2733251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wrap="square" anchor="t"/>
          <a:lstStyle/>
          <a:p>
            <a:pPr eaLnBrk="1" hangingPunct="1"/>
            <a:r>
              <a:rPr lang="en-US" altLang="en-US" dirty="0"/>
              <a:t>How People Interact</a:t>
            </a:r>
          </a:p>
        </p:txBody>
      </p:sp>
      <p:sp>
        <p:nvSpPr>
          <p:cNvPr id="17411" name="Content Placeholder 2"/>
          <p:cNvSpPr>
            <a:spLocks noGrp="1"/>
          </p:cNvSpPr>
          <p:nvPr>
            <p:ph idx="1"/>
          </p:nvPr>
        </p:nvSpPr>
        <p:spPr/>
        <p:txBody>
          <a:bodyPr/>
          <a:lstStyle/>
          <a:p>
            <a:pPr marL="57150" indent="0">
              <a:buNone/>
            </a:pPr>
            <a:endParaRPr lang="en-US" altLang="en-US" dirty="0">
              <a:solidFill>
                <a:srgbClr val="AE1221"/>
              </a:solidFill>
            </a:endParaRPr>
          </a:p>
          <a:p>
            <a:pPr marL="57150" indent="0">
              <a:buNone/>
            </a:pPr>
            <a:r>
              <a:rPr lang="en-US" altLang="en-US" dirty="0">
                <a:solidFill>
                  <a:srgbClr val="AE1221"/>
                </a:solidFill>
              </a:rPr>
              <a:t>Principle 5: </a:t>
            </a:r>
            <a:r>
              <a:rPr lang="en-US" altLang="en-US" dirty="0"/>
              <a:t>Trade can make everyone better off</a:t>
            </a:r>
          </a:p>
          <a:p>
            <a:pPr marL="57150" indent="0">
              <a:buNone/>
            </a:pPr>
            <a:r>
              <a:rPr lang="en-US" altLang="en-US" dirty="0">
                <a:solidFill>
                  <a:srgbClr val="AE1221"/>
                </a:solidFill>
              </a:rPr>
              <a:t>Principle 6: </a:t>
            </a:r>
            <a:r>
              <a:rPr lang="en-US" altLang="en-US" dirty="0"/>
              <a:t>Markets are usually a good way to organize economic activity</a:t>
            </a:r>
          </a:p>
          <a:p>
            <a:pPr marL="57150" indent="0">
              <a:buNone/>
            </a:pPr>
            <a:r>
              <a:rPr lang="en-US" altLang="en-US" dirty="0">
                <a:solidFill>
                  <a:srgbClr val="AE1221"/>
                </a:solidFill>
              </a:rPr>
              <a:t>Principle 7: </a:t>
            </a:r>
            <a:r>
              <a:rPr lang="en-US" altLang="en-US" dirty="0"/>
              <a:t>Governments can sometimes improve market outcomes</a:t>
            </a:r>
          </a:p>
        </p:txBody>
      </p:sp>
      <p:sp>
        <p:nvSpPr>
          <p:cNvPr id="1741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4D1C4DBB-5F95-43A5-917E-4A2A41CF0E38}" type="slidenum">
              <a:rPr lang="en-US" altLang="en-US" sz="1200" smtClean="0">
                <a:solidFill>
                  <a:srgbClr val="002060"/>
                </a:solidFill>
              </a:rPr>
              <a:pPr algn="ctr" eaLnBrk="1" hangingPunct="1"/>
              <a:t>13</a:t>
            </a:fld>
            <a:endParaRPr lang="en-US" altLang="en-US" sz="1200">
              <a:solidFill>
                <a:srgbClr val="002060"/>
              </a:solidFill>
            </a:endParaRPr>
          </a:p>
        </p:txBody>
      </p:sp>
      <p:sp>
        <p:nvSpPr>
          <p:cNvPr id="1741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2731532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340068" y="0"/>
            <a:ext cx="7803931" cy="860961"/>
          </a:xfrm>
        </p:spPr>
        <p:txBody>
          <a:bodyPr wrap="square" anchor="t"/>
          <a:lstStyle/>
          <a:p>
            <a:pPr marL="0" indent="0" eaLnBrk="1" hangingPunct="1">
              <a:defRPr/>
            </a:pPr>
            <a:r>
              <a:rPr lang="en-US" sz="3200" dirty="0"/>
              <a:t>Principle 5: Trade Can Make Everyone Better Off </a:t>
            </a:r>
          </a:p>
        </p:txBody>
      </p:sp>
      <p:sp>
        <p:nvSpPr>
          <p:cNvPr id="31747" name="Content Placeholder 2"/>
          <p:cNvSpPr>
            <a:spLocks noGrp="1"/>
          </p:cNvSpPr>
          <p:nvPr>
            <p:ph idx="1"/>
          </p:nvPr>
        </p:nvSpPr>
        <p:spPr/>
        <p:txBody>
          <a:bodyPr/>
          <a:lstStyle/>
          <a:p>
            <a:pPr>
              <a:defRPr/>
            </a:pPr>
            <a:r>
              <a:rPr lang="en-US" dirty="0"/>
              <a:t>People benefit from trade:</a:t>
            </a:r>
          </a:p>
          <a:p>
            <a:pPr lvl="1">
              <a:defRPr/>
            </a:pPr>
            <a:r>
              <a:rPr lang="en-US" dirty="0"/>
              <a:t>People can buy a greater variety of goods and services at lower cost</a:t>
            </a:r>
          </a:p>
          <a:p>
            <a:pPr>
              <a:defRPr/>
            </a:pPr>
            <a:r>
              <a:rPr lang="en-US" dirty="0"/>
              <a:t>Countries benefit from trade and specialization</a:t>
            </a:r>
          </a:p>
          <a:p>
            <a:pPr lvl="1">
              <a:defRPr/>
            </a:pPr>
            <a:r>
              <a:rPr lang="en-US" dirty="0"/>
              <a:t>Get a better price abroad for goods they produce</a:t>
            </a:r>
          </a:p>
          <a:p>
            <a:pPr lvl="1">
              <a:defRPr/>
            </a:pPr>
            <a:r>
              <a:rPr lang="en-US" dirty="0"/>
              <a:t>Buy other goods more cheaply from abroad than could be produced at home</a:t>
            </a:r>
          </a:p>
        </p:txBody>
      </p:sp>
      <p:sp>
        <p:nvSpPr>
          <p:cNvPr id="28678" name="Slide Number Placehold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D200C29-04A1-47D3-82E8-455512A44AD6}" type="slidenum">
              <a:rPr lang="en-US" altLang="en-US" sz="1200" smtClean="0">
                <a:solidFill>
                  <a:srgbClr val="002060"/>
                </a:solidFill>
              </a:rPr>
              <a:pPr algn="ctr" eaLnBrk="1" hangingPunct="1"/>
              <a:t>14</a:t>
            </a:fld>
            <a:endParaRPr lang="en-US" altLang="en-US" sz="1200">
              <a:solidFill>
                <a:srgbClr val="002060"/>
              </a:solidFill>
            </a:endParaRPr>
          </a:p>
        </p:txBody>
      </p:sp>
      <p:sp>
        <p:nvSpPr>
          <p:cNvPr id="2867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201751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340068" y="0"/>
            <a:ext cx="7803931" cy="990600"/>
          </a:xfrm>
        </p:spPr>
        <p:txBody>
          <a:bodyPr wrap="square" anchor="t"/>
          <a:lstStyle/>
          <a:p>
            <a:pPr marL="0" indent="0" eaLnBrk="1" hangingPunct="1">
              <a:defRPr/>
            </a:pPr>
            <a:r>
              <a:rPr lang="en-US" sz="3200" dirty="0"/>
              <a:t>Principle 6: Markets Are Usually a Good Way to Organize Economic Activity</a:t>
            </a:r>
          </a:p>
        </p:txBody>
      </p:sp>
      <p:sp>
        <p:nvSpPr>
          <p:cNvPr id="32771" name="Content Placeholder 2"/>
          <p:cNvSpPr>
            <a:spLocks noGrp="1"/>
          </p:cNvSpPr>
          <p:nvPr>
            <p:ph idx="1"/>
          </p:nvPr>
        </p:nvSpPr>
        <p:spPr/>
        <p:txBody>
          <a:bodyPr/>
          <a:lstStyle/>
          <a:p>
            <a:pPr eaLnBrk="1" hangingPunct="1">
              <a:defRPr/>
            </a:pPr>
            <a:r>
              <a:rPr lang="en-US" dirty="0"/>
              <a:t>Market</a:t>
            </a:r>
          </a:p>
          <a:p>
            <a:pPr lvl="1" eaLnBrk="1" hangingPunct="1">
              <a:defRPr/>
            </a:pPr>
            <a:r>
              <a:rPr lang="en-US" dirty="0"/>
              <a:t>A group of buyers and sellers (need not be in a single location)</a:t>
            </a:r>
          </a:p>
          <a:p>
            <a:pPr eaLnBrk="1" hangingPunct="1">
              <a:defRPr/>
            </a:pPr>
            <a:r>
              <a:rPr lang="en-US" dirty="0"/>
              <a:t>“Organize economic activity” means determining </a:t>
            </a:r>
          </a:p>
          <a:p>
            <a:pPr lvl="1" eaLnBrk="1" hangingPunct="1">
              <a:defRPr/>
            </a:pPr>
            <a:r>
              <a:rPr lang="en-US" dirty="0"/>
              <a:t>What goods and services to produce </a:t>
            </a:r>
          </a:p>
          <a:p>
            <a:pPr lvl="1" eaLnBrk="1" hangingPunct="1">
              <a:defRPr/>
            </a:pPr>
            <a:r>
              <a:rPr lang="en-US" dirty="0"/>
              <a:t>How much of each to produce</a:t>
            </a:r>
          </a:p>
          <a:p>
            <a:pPr lvl="1" eaLnBrk="1" hangingPunct="1">
              <a:defRPr/>
            </a:pPr>
            <a:r>
              <a:rPr lang="en-US" dirty="0"/>
              <a:t>Who produced and consumed these</a:t>
            </a:r>
          </a:p>
        </p:txBody>
      </p:sp>
      <p:sp>
        <p:nvSpPr>
          <p:cNvPr id="2970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BDBDC2E0-4983-4259-8533-2E0129C4221D}" type="slidenum">
              <a:rPr lang="en-US" altLang="en-US" sz="1200" smtClean="0">
                <a:solidFill>
                  <a:srgbClr val="002060"/>
                </a:solidFill>
              </a:rPr>
              <a:pPr algn="ctr" eaLnBrk="1" hangingPunct="1"/>
              <a:t>15</a:t>
            </a:fld>
            <a:endParaRPr lang="en-US" altLang="en-US" sz="1200">
              <a:solidFill>
                <a:srgbClr val="002060"/>
              </a:solidFill>
            </a:endParaRPr>
          </a:p>
        </p:txBody>
      </p:sp>
      <p:sp>
        <p:nvSpPr>
          <p:cNvPr id="2970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3717890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340068" y="0"/>
            <a:ext cx="7803931" cy="990600"/>
          </a:xfrm>
        </p:spPr>
        <p:txBody>
          <a:bodyPr wrap="square" anchor="t"/>
          <a:lstStyle/>
          <a:p>
            <a:pPr marL="0" indent="0" eaLnBrk="1" hangingPunct="1">
              <a:defRPr/>
            </a:pPr>
            <a:r>
              <a:rPr lang="en-US" sz="3200" dirty="0"/>
              <a:t>Principle 6: Markets Are Usually a Good Way to Organize Economic Activity</a:t>
            </a:r>
          </a:p>
        </p:txBody>
      </p:sp>
      <p:sp>
        <p:nvSpPr>
          <p:cNvPr id="32771" name="Content Placeholder 2"/>
          <p:cNvSpPr>
            <a:spLocks noGrp="1"/>
          </p:cNvSpPr>
          <p:nvPr>
            <p:ph idx="1"/>
          </p:nvPr>
        </p:nvSpPr>
        <p:spPr/>
        <p:txBody>
          <a:bodyPr/>
          <a:lstStyle/>
          <a:p>
            <a:pPr eaLnBrk="1" hangingPunct="1">
              <a:defRPr/>
            </a:pPr>
            <a:r>
              <a:rPr lang="en-US" dirty="0"/>
              <a:t>A market economy allocates resources </a:t>
            </a:r>
          </a:p>
          <a:p>
            <a:pPr lvl="1" eaLnBrk="1" hangingPunct="1">
              <a:defRPr/>
            </a:pPr>
            <a:r>
              <a:rPr lang="en-US" dirty="0"/>
              <a:t>Decentralized decisions of many firms and households – as they interact in markets  </a:t>
            </a:r>
          </a:p>
          <a:p>
            <a:pPr eaLnBrk="1" hangingPunct="1">
              <a:defRPr/>
            </a:pPr>
            <a:r>
              <a:rPr lang="en-US" dirty="0"/>
              <a:t>Famous insight by Adam Smith in </a:t>
            </a:r>
            <a:br>
              <a:rPr lang="en-US" dirty="0"/>
            </a:br>
            <a:r>
              <a:rPr lang="en-US" dirty="0"/>
              <a:t>The Wealth of Nations (1776):  </a:t>
            </a:r>
          </a:p>
          <a:p>
            <a:pPr lvl="1" eaLnBrk="1" hangingPunct="1">
              <a:defRPr/>
            </a:pPr>
            <a:r>
              <a:rPr lang="en-US" dirty="0"/>
              <a:t>Each of these households and firms acts as if “led by an invisible hand” to promote general economic well-being</a:t>
            </a:r>
          </a:p>
          <a:p>
            <a:pPr marL="0" indent="0" eaLnBrk="1" hangingPunct="1">
              <a:buNone/>
              <a:defRPr/>
            </a:pPr>
            <a:endParaRPr lang="en-US" dirty="0"/>
          </a:p>
        </p:txBody>
      </p:sp>
      <p:sp>
        <p:nvSpPr>
          <p:cNvPr id="2970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BDBDC2E0-4983-4259-8533-2E0129C4221D}" type="slidenum">
              <a:rPr lang="en-US" altLang="en-US" sz="1200" smtClean="0">
                <a:solidFill>
                  <a:srgbClr val="002060"/>
                </a:solidFill>
              </a:rPr>
              <a:pPr algn="ctr" eaLnBrk="1" hangingPunct="1"/>
              <a:t>16</a:t>
            </a:fld>
            <a:endParaRPr lang="en-US" altLang="en-US" sz="1200">
              <a:solidFill>
                <a:srgbClr val="002060"/>
              </a:solidFill>
            </a:endParaRPr>
          </a:p>
        </p:txBody>
      </p:sp>
      <p:sp>
        <p:nvSpPr>
          <p:cNvPr id="2970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1794130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340068" y="0"/>
            <a:ext cx="7803931" cy="990600"/>
          </a:xfrm>
        </p:spPr>
        <p:txBody>
          <a:bodyPr wrap="square" anchor="t"/>
          <a:lstStyle/>
          <a:p>
            <a:pPr marL="0" indent="0" eaLnBrk="1" hangingPunct="1">
              <a:defRPr/>
            </a:pPr>
            <a:r>
              <a:rPr lang="en-US" sz="3200" dirty="0"/>
              <a:t>Principle 6: Markets Are Usually a Good Way to Organize Economic Activity</a:t>
            </a:r>
          </a:p>
        </p:txBody>
      </p:sp>
      <p:sp>
        <p:nvSpPr>
          <p:cNvPr id="32771" name="Content Placeholder 2"/>
          <p:cNvSpPr>
            <a:spLocks noGrp="1"/>
          </p:cNvSpPr>
          <p:nvPr>
            <p:ph idx="1"/>
          </p:nvPr>
        </p:nvSpPr>
        <p:spPr/>
        <p:txBody>
          <a:bodyPr/>
          <a:lstStyle/>
          <a:p>
            <a:pPr eaLnBrk="1" hangingPunct="1">
              <a:defRPr/>
            </a:pPr>
            <a:r>
              <a:rPr lang="en-US" dirty="0"/>
              <a:t>Prices:</a:t>
            </a:r>
          </a:p>
          <a:p>
            <a:pPr lvl="1" eaLnBrk="1" hangingPunct="1">
              <a:defRPr/>
            </a:pPr>
            <a:r>
              <a:rPr lang="en-US" dirty="0"/>
              <a:t>Determined: interaction of buyers and sellers</a:t>
            </a:r>
          </a:p>
          <a:p>
            <a:pPr lvl="1" eaLnBrk="1" hangingPunct="1">
              <a:defRPr/>
            </a:pPr>
            <a:r>
              <a:rPr lang="en-US" dirty="0"/>
              <a:t>Reflect the good’s value to buyers </a:t>
            </a:r>
          </a:p>
          <a:p>
            <a:pPr lvl="1" eaLnBrk="1" hangingPunct="1">
              <a:defRPr/>
            </a:pPr>
            <a:r>
              <a:rPr lang="en-US" dirty="0"/>
              <a:t>Reflect the cost of producing the good</a:t>
            </a:r>
          </a:p>
          <a:p>
            <a:pPr eaLnBrk="1" hangingPunct="1">
              <a:defRPr/>
            </a:pPr>
            <a:r>
              <a:rPr lang="en-US" dirty="0"/>
              <a:t>Invisible hand: </a:t>
            </a:r>
          </a:p>
          <a:p>
            <a:pPr lvl="1" eaLnBrk="1" hangingPunct="1">
              <a:defRPr/>
            </a:pPr>
            <a:r>
              <a:rPr lang="en-US" dirty="0"/>
              <a:t>Prices guide self-interested households and firms to make decisions that maximize society’s economic well-being</a:t>
            </a:r>
          </a:p>
        </p:txBody>
      </p:sp>
      <p:sp>
        <p:nvSpPr>
          <p:cNvPr id="2970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BDBDC2E0-4983-4259-8533-2E0129C4221D}" type="slidenum">
              <a:rPr lang="en-US" altLang="en-US" sz="1200" smtClean="0">
                <a:solidFill>
                  <a:srgbClr val="002060"/>
                </a:solidFill>
              </a:rPr>
              <a:pPr algn="ctr" eaLnBrk="1" hangingPunct="1"/>
              <a:t>17</a:t>
            </a:fld>
            <a:endParaRPr lang="en-US" altLang="en-US" sz="1200">
              <a:solidFill>
                <a:srgbClr val="002060"/>
              </a:solidFill>
            </a:endParaRPr>
          </a:p>
        </p:txBody>
      </p:sp>
      <p:sp>
        <p:nvSpPr>
          <p:cNvPr id="2970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930093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1340068" y="0"/>
            <a:ext cx="7803931" cy="860961"/>
          </a:xfrm>
        </p:spPr>
        <p:txBody>
          <a:bodyPr wrap="square" anchor="t"/>
          <a:lstStyle/>
          <a:p>
            <a:pPr marL="0" indent="0" eaLnBrk="1" hangingPunct="1">
              <a:defRPr/>
            </a:pPr>
            <a:r>
              <a:rPr lang="en-US" sz="3200" dirty="0"/>
              <a:t>Principle 7: Governments Can Sometimes Improve Market Outcomes</a:t>
            </a:r>
          </a:p>
        </p:txBody>
      </p:sp>
      <p:sp>
        <p:nvSpPr>
          <p:cNvPr id="35843" name="Content Placeholder 2"/>
          <p:cNvSpPr>
            <a:spLocks noGrp="1"/>
          </p:cNvSpPr>
          <p:nvPr>
            <p:ph idx="1"/>
          </p:nvPr>
        </p:nvSpPr>
        <p:spPr/>
        <p:txBody>
          <a:bodyPr/>
          <a:lstStyle/>
          <a:p>
            <a:pPr eaLnBrk="1" hangingPunct="1">
              <a:defRPr/>
            </a:pPr>
            <a:r>
              <a:rPr lang="en-US" dirty="0"/>
              <a:t>Government - enforce property rights</a:t>
            </a:r>
          </a:p>
          <a:p>
            <a:pPr lvl="1" eaLnBrk="1" hangingPunct="1">
              <a:defRPr/>
            </a:pPr>
            <a:r>
              <a:rPr lang="en-US" dirty="0"/>
              <a:t>Enforce rules and maintain institutions that are key to a market economy</a:t>
            </a:r>
          </a:p>
          <a:p>
            <a:pPr lvl="2" eaLnBrk="1" hangingPunct="1">
              <a:defRPr/>
            </a:pPr>
            <a:r>
              <a:rPr lang="en-US" dirty="0"/>
              <a:t>People are less inclined to work, produce, invest, or purchase if large risk of their property being stolen</a:t>
            </a:r>
          </a:p>
        </p:txBody>
      </p:sp>
      <p:sp>
        <p:nvSpPr>
          <p:cNvPr id="3277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572889E-0307-47F1-8845-A8D80A0E9F86}" type="slidenum">
              <a:rPr lang="en-US" altLang="en-US" sz="1200" smtClean="0">
                <a:solidFill>
                  <a:srgbClr val="002060"/>
                </a:solidFill>
              </a:rPr>
              <a:pPr algn="ctr" eaLnBrk="1" hangingPunct="1"/>
              <a:t>18</a:t>
            </a:fld>
            <a:endParaRPr lang="en-US" altLang="en-US" sz="1200">
              <a:solidFill>
                <a:srgbClr val="002060"/>
              </a:solidFill>
            </a:endParaRPr>
          </a:p>
        </p:txBody>
      </p:sp>
      <p:sp>
        <p:nvSpPr>
          <p:cNvPr id="3277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1528576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1340068" y="0"/>
            <a:ext cx="7803931" cy="860961"/>
          </a:xfrm>
        </p:spPr>
        <p:txBody>
          <a:bodyPr wrap="square" anchor="t"/>
          <a:lstStyle/>
          <a:p>
            <a:pPr marL="0" indent="0" eaLnBrk="1" hangingPunct="1">
              <a:defRPr/>
            </a:pPr>
            <a:r>
              <a:rPr lang="en-US" sz="3200" dirty="0"/>
              <a:t>Principle 7: Governments Can Sometimes Improve Market Outcomes</a:t>
            </a:r>
          </a:p>
        </p:txBody>
      </p:sp>
      <p:sp>
        <p:nvSpPr>
          <p:cNvPr id="35843" name="Content Placeholder 2"/>
          <p:cNvSpPr>
            <a:spLocks noGrp="1"/>
          </p:cNvSpPr>
          <p:nvPr>
            <p:ph idx="1"/>
          </p:nvPr>
        </p:nvSpPr>
        <p:spPr/>
        <p:txBody>
          <a:bodyPr/>
          <a:lstStyle/>
          <a:p>
            <a:pPr eaLnBrk="1" hangingPunct="1">
              <a:defRPr/>
            </a:pPr>
            <a:r>
              <a:rPr lang="en-US" dirty="0"/>
              <a:t>Government - promote efficiency</a:t>
            </a:r>
          </a:p>
          <a:p>
            <a:pPr lvl="1" eaLnBrk="1" hangingPunct="1">
              <a:defRPr/>
            </a:pPr>
            <a:r>
              <a:rPr lang="en-US" dirty="0"/>
              <a:t>Avoid market failures: market left on its own fails to allocate resources efficiently</a:t>
            </a:r>
          </a:p>
          <a:p>
            <a:pPr lvl="1" eaLnBrk="1" hangingPunct="1">
              <a:defRPr/>
            </a:pPr>
            <a:r>
              <a:rPr lang="en-US" dirty="0"/>
              <a:t>Externality – source of market failure</a:t>
            </a:r>
          </a:p>
          <a:p>
            <a:pPr lvl="2" eaLnBrk="1" hangingPunct="1">
              <a:defRPr/>
            </a:pPr>
            <a:r>
              <a:rPr lang="en-US" dirty="0"/>
              <a:t>Production or consumption of a good affects bystanders (e.g. pollution)</a:t>
            </a:r>
          </a:p>
          <a:p>
            <a:pPr lvl="1" eaLnBrk="1" hangingPunct="1">
              <a:defRPr/>
            </a:pPr>
            <a:r>
              <a:rPr lang="en-US" dirty="0"/>
              <a:t>Market power – source of market failure</a:t>
            </a:r>
          </a:p>
          <a:p>
            <a:pPr lvl="2" eaLnBrk="1" hangingPunct="1">
              <a:defRPr/>
            </a:pPr>
            <a:r>
              <a:rPr lang="en-US" dirty="0"/>
              <a:t>A single buyer or seller has substantial influence on market price (e.g. monopoly)</a:t>
            </a:r>
          </a:p>
          <a:p>
            <a:pPr lvl="2" eaLnBrk="1" hangingPunct="1">
              <a:defRPr/>
            </a:pPr>
            <a:endParaRPr lang="en-US" dirty="0"/>
          </a:p>
        </p:txBody>
      </p:sp>
      <p:sp>
        <p:nvSpPr>
          <p:cNvPr id="3277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572889E-0307-47F1-8845-A8D80A0E9F86}" type="slidenum">
              <a:rPr lang="en-US" altLang="en-US" sz="1200" smtClean="0">
                <a:solidFill>
                  <a:srgbClr val="002060"/>
                </a:solidFill>
              </a:rPr>
              <a:pPr algn="ctr" eaLnBrk="1" hangingPunct="1"/>
              <a:t>19</a:t>
            </a:fld>
            <a:endParaRPr lang="en-US" altLang="en-US" sz="1200">
              <a:solidFill>
                <a:srgbClr val="002060"/>
              </a:solidFill>
            </a:endParaRPr>
          </a:p>
        </p:txBody>
      </p:sp>
      <p:sp>
        <p:nvSpPr>
          <p:cNvPr id="3277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2255911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1340068" y="0"/>
            <a:ext cx="7803931" cy="860961"/>
          </a:xfrm>
        </p:spPr>
        <p:txBody>
          <a:bodyPr wrap="square" anchor="t"/>
          <a:lstStyle/>
          <a:p>
            <a:pPr marL="0" indent="0" eaLnBrk="1" hangingPunct="1">
              <a:defRPr/>
            </a:pPr>
            <a:r>
              <a:rPr lang="en-US" sz="3200" dirty="0"/>
              <a:t>Principle 7: Governments Can Sometimes Improve Market Outcomes</a:t>
            </a:r>
          </a:p>
        </p:txBody>
      </p:sp>
      <p:sp>
        <p:nvSpPr>
          <p:cNvPr id="35843" name="Content Placeholder 2"/>
          <p:cNvSpPr>
            <a:spLocks noGrp="1"/>
          </p:cNvSpPr>
          <p:nvPr>
            <p:ph idx="1"/>
          </p:nvPr>
        </p:nvSpPr>
        <p:spPr/>
        <p:txBody>
          <a:bodyPr/>
          <a:lstStyle/>
          <a:p>
            <a:pPr eaLnBrk="1" hangingPunct="1">
              <a:defRPr/>
            </a:pPr>
            <a:r>
              <a:rPr lang="en-US" dirty="0"/>
              <a:t>Government - promote equality</a:t>
            </a:r>
          </a:p>
          <a:p>
            <a:pPr lvl="1" eaLnBrk="1" hangingPunct="1">
              <a:defRPr/>
            </a:pPr>
            <a:r>
              <a:rPr lang="en-US" dirty="0"/>
              <a:t>Avoid disparities in economic wellbeing</a:t>
            </a:r>
          </a:p>
          <a:p>
            <a:pPr lvl="1" eaLnBrk="1" hangingPunct="1">
              <a:defRPr/>
            </a:pPr>
            <a:r>
              <a:rPr lang="en-US" dirty="0"/>
              <a:t>Use tax or welfare policies to change how the economic “pie” is divided</a:t>
            </a:r>
          </a:p>
        </p:txBody>
      </p:sp>
      <p:sp>
        <p:nvSpPr>
          <p:cNvPr id="3277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572889E-0307-47F1-8845-A8D80A0E9F86}" type="slidenum">
              <a:rPr lang="en-US" altLang="en-US" sz="1200" smtClean="0">
                <a:solidFill>
                  <a:srgbClr val="002060"/>
                </a:solidFill>
              </a:rPr>
              <a:pPr algn="ctr" eaLnBrk="1" hangingPunct="1"/>
              <a:t>20</a:t>
            </a:fld>
            <a:endParaRPr lang="en-US" altLang="en-US" sz="1200">
              <a:solidFill>
                <a:srgbClr val="002060"/>
              </a:solidFill>
            </a:endParaRPr>
          </a:p>
        </p:txBody>
      </p:sp>
      <p:sp>
        <p:nvSpPr>
          <p:cNvPr id="3277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r>
              <a:rPr lang="en-US" altLang="en-US" sz="1000"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3878589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wrap="square" anchor="t"/>
          <a:lstStyle/>
          <a:p>
            <a:pPr eaLnBrk="1" hangingPunct="1"/>
            <a:r>
              <a:rPr lang="en-US" altLang="en-US" sz="3600" dirty="0"/>
              <a:t>How the economy as a whole works</a:t>
            </a:r>
          </a:p>
        </p:txBody>
      </p:sp>
      <p:sp>
        <p:nvSpPr>
          <p:cNvPr id="18435" name="Content Placeholder 2"/>
          <p:cNvSpPr>
            <a:spLocks noGrp="1"/>
          </p:cNvSpPr>
          <p:nvPr>
            <p:ph idx="1"/>
          </p:nvPr>
        </p:nvSpPr>
        <p:spPr/>
        <p:txBody>
          <a:bodyPr/>
          <a:lstStyle/>
          <a:p>
            <a:pPr marL="0" indent="0">
              <a:buNone/>
            </a:pPr>
            <a:endParaRPr lang="en-US" altLang="en-US" dirty="0"/>
          </a:p>
          <a:p>
            <a:pPr marL="57150" indent="0">
              <a:buNone/>
            </a:pPr>
            <a:r>
              <a:rPr lang="en-US" altLang="en-US" dirty="0">
                <a:solidFill>
                  <a:srgbClr val="AE1221"/>
                </a:solidFill>
              </a:rPr>
              <a:t>Principle 8: </a:t>
            </a:r>
            <a:r>
              <a:rPr lang="en-US" altLang="en-US" dirty="0"/>
              <a:t>A country’s standard of living depends on its ability to produce goods and services</a:t>
            </a:r>
          </a:p>
          <a:p>
            <a:pPr marL="57150" indent="0">
              <a:buNone/>
            </a:pPr>
            <a:r>
              <a:rPr lang="en-US" altLang="en-US" dirty="0">
                <a:solidFill>
                  <a:srgbClr val="AE1221"/>
                </a:solidFill>
              </a:rPr>
              <a:t>Principle 9: </a:t>
            </a:r>
            <a:r>
              <a:rPr lang="en-US" altLang="en-US" dirty="0"/>
              <a:t>Prices rise when the government prints too much money</a:t>
            </a:r>
          </a:p>
          <a:p>
            <a:pPr marL="57150" indent="0">
              <a:buNone/>
            </a:pPr>
            <a:r>
              <a:rPr lang="en-US" altLang="en-US" dirty="0">
                <a:solidFill>
                  <a:srgbClr val="AE1221"/>
                </a:solidFill>
              </a:rPr>
              <a:t>Principle 10: </a:t>
            </a:r>
            <a:r>
              <a:rPr lang="en-US" altLang="en-US" dirty="0"/>
              <a:t>Society faces a short-run trade-off between inflation and unemployment</a:t>
            </a:r>
          </a:p>
        </p:txBody>
      </p:sp>
      <p:sp>
        <p:nvSpPr>
          <p:cNvPr id="1843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AB3DFD19-2033-4882-A160-7B93495D6BF9}" type="slidenum">
              <a:rPr lang="en-US" altLang="en-US" sz="1200" smtClean="0">
                <a:solidFill>
                  <a:srgbClr val="002060"/>
                </a:solidFill>
              </a:rPr>
              <a:pPr algn="ctr" eaLnBrk="1" hangingPunct="1"/>
              <a:t>21</a:t>
            </a:fld>
            <a:endParaRPr lang="en-US" altLang="en-US" sz="1200">
              <a:solidFill>
                <a:srgbClr val="002060"/>
              </a:solidFill>
            </a:endParaRPr>
          </a:p>
        </p:txBody>
      </p:sp>
      <p:sp>
        <p:nvSpPr>
          <p:cNvPr id="1843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r>
              <a:rPr lang="en-US" altLang="en-US" sz="1000" dirty="0">
                <a:solidFill>
                  <a:srgbClr val="000000"/>
                </a:solidFill>
              </a:rPr>
              <a:t>.</a:t>
            </a:r>
          </a:p>
        </p:txBody>
      </p:sp>
    </p:spTree>
    <p:extLst>
      <p:ext uri="{BB962C8B-B14F-4D97-AF65-F5344CB8AC3E}">
        <p14:creationId xmlns:p14="http://schemas.microsoft.com/office/powerpoint/2010/main" val="1242156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1219200" y="0"/>
            <a:ext cx="7924800" cy="990600"/>
          </a:xfrm>
        </p:spPr>
        <p:txBody>
          <a:bodyPr wrap="square" anchor="t"/>
          <a:lstStyle/>
          <a:p>
            <a:pPr marL="0" indent="0" eaLnBrk="1" hangingPunct="1">
              <a:defRPr/>
            </a:pPr>
            <a:r>
              <a:rPr lang="en-US" sz="2700" dirty="0"/>
              <a:t>Principle 8: Country’s Standard of Living Depends on Its Ability to Produce Goods and Services</a:t>
            </a:r>
          </a:p>
        </p:txBody>
      </p:sp>
      <p:sp>
        <p:nvSpPr>
          <p:cNvPr id="39939" name="Content Placeholder 2"/>
          <p:cNvSpPr>
            <a:spLocks noGrp="1"/>
          </p:cNvSpPr>
          <p:nvPr>
            <p:ph idx="1"/>
          </p:nvPr>
        </p:nvSpPr>
        <p:spPr/>
        <p:txBody>
          <a:bodyPr/>
          <a:lstStyle/>
          <a:p>
            <a:pPr eaLnBrk="1" hangingPunct="1">
              <a:defRPr/>
            </a:pPr>
            <a:r>
              <a:rPr lang="en-US" dirty="0"/>
              <a:t>Huge variation in living standards </a:t>
            </a:r>
          </a:p>
          <a:p>
            <a:pPr lvl="1" eaLnBrk="1" hangingPunct="1">
              <a:defRPr/>
            </a:pPr>
            <a:r>
              <a:rPr lang="en-US" dirty="0"/>
              <a:t>Across countries and over time</a:t>
            </a:r>
          </a:p>
          <a:p>
            <a:pPr lvl="1" eaLnBrk="1" hangingPunct="1">
              <a:defRPr/>
            </a:pPr>
            <a:r>
              <a:rPr lang="en-US" dirty="0"/>
              <a:t>Average income in rich countries</a:t>
            </a:r>
          </a:p>
          <a:p>
            <a:pPr lvl="2" eaLnBrk="1" hangingPunct="1">
              <a:defRPr/>
            </a:pPr>
            <a:r>
              <a:rPr lang="en-US" dirty="0"/>
              <a:t>Is more than ten times average income in poor countries</a:t>
            </a:r>
          </a:p>
          <a:p>
            <a:pPr lvl="1" eaLnBrk="1" hangingPunct="1">
              <a:defRPr/>
            </a:pPr>
            <a:r>
              <a:rPr lang="en-US" dirty="0"/>
              <a:t>The U.S. standard of living today </a:t>
            </a:r>
          </a:p>
          <a:p>
            <a:pPr lvl="2" eaLnBrk="1" hangingPunct="1">
              <a:defRPr/>
            </a:pPr>
            <a:r>
              <a:rPr lang="en-US" dirty="0"/>
              <a:t>Is about eight times larger than 100 years ago</a:t>
            </a:r>
          </a:p>
        </p:txBody>
      </p:sp>
      <p:sp>
        <p:nvSpPr>
          <p:cNvPr id="3686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49134E82-3BF5-4ACD-8348-1AB1F21496DF}" type="slidenum">
              <a:rPr lang="en-US" altLang="en-US" sz="1200" smtClean="0">
                <a:solidFill>
                  <a:srgbClr val="002060"/>
                </a:solidFill>
              </a:rPr>
              <a:pPr algn="ctr" eaLnBrk="1" hangingPunct="1"/>
              <a:t>22</a:t>
            </a:fld>
            <a:endParaRPr lang="en-US" altLang="en-US" sz="1200">
              <a:solidFill>
                <a:srgbClr val="002060"/>
              </a:solidFill>
            </a:endParaRPr>
          </a:p>
        </p:txBody>
      </p:sp>
      <p:sp>
        <p:nvSpPr>
          <p:cNvPr id="3686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2304165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1219200" y="0"/>
            <a:ext cx="7924800" cy="990600"/>
          </a:xfrm>
        </p:spPr>
        <p:txBody>
          <a:bodyPr wrap="square" anchor="t"/>
          <a:lstStyle/>
          <a:p>
            <a:pPr marL="0" indent="0" eaLnBrk="1" hangingPunct="1">
              <a:defRPr/>
            </a:pPr>
            <a:r>
              <a:rPr lang="en-US" sz="2700" dirty="0"/>
              <a:t>Principle 8: Country’s Standard of Living Depends on Its Ability to Produce Goods and Services</a:t>
            </a:r>
          </a:p>
        </p:txBody>
      </p:sp>
      <p:sp>
        <p:nvSpPr>
          <p:cNvPr id="39939" name="Content Placeholder 2"/>
          <p:cNvSpPr>
            <a:spLocks noGrp="1"/>
          </p:cNvSpPr>
          <p:nvPr>
            <p:ph idx="1"/>
          </p:nvPr>
        </p:nvSpPr>
        <p:spPr/>
        <p:txBody>
          <a:bodyPr/>
          <a:lstStyle/>
          <a:p>
            <a:pPr eaLnBrk="1" hangingPunct="1"/>
            <a:r>
              <a:rPr lang="en-US" altLang="en-US" dirty="0"/>
              <a:t>Productivity: most important determinant of living standards</a:t>
            </a:r>
          </a:p>
          <a:p>
            <a:pPr lvl="1" eaLnBrk="1" hangingPunct="1"/>
            <a:r>
              <a:rPr lang="en-US" altLang="en-US" dirty="0"/>
              <a:t>Quantity of goods and services produced from each unit of labor input</a:t>
            </a:r>
          </a:p>
          <a:p>
            <a:pPr lvl="1" eaLnBrk="1" hangingPunct="1"/>
            <a:r>
              <a:rPr lang="en-US" altLang="en-US" dirty="0"/>
              <a:t>Depends on the equipment, skills, and technology available to workers</a:t>
            </a:r>
          </a:p>
          <a:p>
            <a:pPr lvl="2" eaLnBrk="1" hangingPunct="1"/>
            <a:r>
              <a:rPr lang="en-US" altLang="en-US" dirty="0"/>
              <a:t>Other factors (e.g., labor unions, competition from abroad) have far less impact on living standards</a:t>
            </a:r>
          </a:p>
          <a:p>
            <a:pPr lvl="1" eaLnBrk="1" hangingPunct="1"/>
            <a:endParaRPr lang="en-US" altLang="en-US" dirty="0"/>
          </a:p>
        </p:txBody>
      </p:sp>
      <p:sp>
        <p:nvSpPr>
          <p:cNvPr id="3686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49134E82-3BF5-4ACD-8348-1AB1F21496DF}" type="slidenum">
              <a:rPr lang="en-US" altLang="en-US" sz="1200" smtClean="0">
                <a:solidFill>
                  <a:srgbClr val="002060"/>
                </a:solidFill>
              </a:rPr>
              <a:pPr algn="ctr" eaLnBrk="1" hangingPunct="1"/>
              <a:t>23</a:t>
            </a:fld>
            <a:endParaRPr lang="en-US" altLang="en-US" sz="1200">
              <a:solidFill>
                <a:srgbClr val="002060"/>
              </a:solidFill>
            </a:endParaRPr>
          </a:p>
        </p:txBody>
      </p:sp>
      <p:sp>
        <p:nvSpPr>
          <p:cNvPr id="3686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15649020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1340068" y="0"/>
            <a:ext cx="7803931" cy="1066800"/>
          </a:xfrm>
        </p:spPr>
        <p:txBody>
          <a:bodyPr wrap="square" anchor="t"/>
          <a:lstStyle/>
          <a:p>
            <a:pPr marL="0" indent="0" eaLnBrk="1" hangingPunct="1">
              <a:defRPr/>
            </a:pPr>
            <a:r>
              <a:rPr lang="en-US" sz="3200" dirty="0"/>
              <a:t>Principle 9: Prices Rise When the Government Prints Too Much Money</a:t>
            </a:r>
          </a:p>
        </p:txBody>
      </p:sp>
      <p:sp>
        <p:nvSpPr>
          <p:cNvPr id="41987" name="Content Placeholder 2"/>
          <p:cNvSpPr>
            <a:spLocks noGrp="1"/>
          </p:cNvSpPr>
          <p:nvPr>
            <p:ph idx="1"/>
          </p:nvPr>
        </p:nvSpPr>
        <p:spPr/>
        <p:txBody>
          <a:bodyPr/>
          <a:lstStyle/>
          <a:p>
            <a:pPr eaLnBrk="1" hangingPunct="1">
              <a:defRPr/>
            </a:pPr>
            <a:r>
              <a:rPr lang="en-US" dirty="0"/>
              <a:t>Inflation</a:t>
            </a:r>
          </a:p>
          <a:p>
            <a:pPr lvl="1" eaLnBrk="1" hangingPunct="1">
              <a:defRPr/>
            </a:pPr>
            <a:r>
              <a:rPr lang="en-US" sz="3100" dirty="0"/>
              <a:t>An increase in the overall level of prices in the economy</a:t>
            </a:r>
          </a:p>
          <a:p>
            <a:pPr eaLnBrk="1" hangingPunct="1">
              <a:defRPr/>
            </a:pPr>
            <a:r>
              <a:rPr lang="en-US" dirty="0"/>
              <a:t>In the long run</a:t>
            </a:r>
          </a:p>
          <a:p>
            <a:pPr lvl="1" eaLnBrk="1" hangingPunct="1">
              <a:defRPr/>
            </a:pPr>
            <a:r>
              <a:rPr lang="en-US" dirty="0"/>
              <a:t>Inflation is almost always caused by excessive growth in the quantity of money, which causes the value of money to fall </a:t>
            </a:r>
          </a:p>
          <a:p>
            <a:pPr lvl="1" eaLnBrk="1" hangingPunct="1">
              <a:defRPr/>
            </a:pPr>
            <a:r>
              <a:rPr lang="en-US" dirty="0"/>
              <a:t>The faster the government creates money, </a:t>
            </a:r>
            <a:br>
              <a:rPr lang="en-US" dirty="0"/>
            </a:br>
            <a:r>
              <a:rPr lang="en-US" dirty="0"/>
              <a:t>the greater the inflation rate</a:t>
            </a:r>
          </a:p>
        </p:txBody>
      </p:sp>
      <p:sp>
        <p:nvSpPr>
          <p:cNvPr id="3891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BC1BFF9D-4DA3-457D-B686-983D6D4EC17B}" type="slidenum">
              <a:rPr lang="en-US" altLang="en-US" sz="1200" smtClean="0">
                <a:solidFill>
                  <a:srgbClr val="002060"/>
                </a:solidFill>
              </a:rPr>
              <a:pPr algn="ctr" eaLnBrk="1" hangingPunct="1"/>
              <a:t>24</a:t>
            </a:fld>
            <a:endParaRPr lang="en-US" altLang="en-US" sz="1200">
              <a:solidFill>
                <a:srgbClr val="002060"/>
              </a:solidFill>
            </a:endParaRPr>
          </a:p>
        </p:txBody>
      </p:sp>
      <p:sp>
        <p:nvSpPr>
          <p:cNvPr id="3891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1910717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1295400" y="100939"/>
            <a:ext cx="7848599" cy="860961"/>
          </a:xfrm>
        </p:spPr>
        <p:txBody>
          <a:bodyPr wrap="square" anchor="t"/>
          <a:lstStyle/>
          <a:p>
            <a:pPr marL="0" indent="0" eaLnBrk="1" hangingPunct="1">
              <a:defRPr/>
            </a:pPr>
            <a:r>
              <a:rPr lang="en-US" sz="2800" dirty="0"/>
              <a:t>Principle 10: Society Faces a Short-run Trade-off between Inflation and Unemployment</a:t>
            </a:r>
          </a:p>
        </p:txBody>
      </p:sp>
      <p:sp>
        <p:nvSpPr>
          <p:cNvPr id="43011" name="Content Placeholder 2"/>
          <p:cNvSpPr>
            <a:spLocks noGrp="1"/>
          </p:cNvSpPr>
          <p:nvPr>
            <p:ph idx="1"/>
          </p:nvPr>
        </p:nvSpPr>
        <p:spPr/>
        <p:txBody>
          <a:bodyPr/>
          <a:lstStyle/>
          <a:p>
            <a:pPr eaLnBrk="1" hangingPunct="1"/>
            <a:r>
              <a:rPr lang="en-US" altLang="en-US" dirty="0"/>
              <a:t>Short-run trade-off between unemployment and inflation</a:t>
            </a:r>
          </a:p>
          <a:p>
            <a:pPr lvl="1" eaLnBrk="1" hangingPunct="1"/>
            <a:r>
              <a:rPr lang="en-US" altLang="en-US" dirty="0"/>
              <a:t>Over a period of a year or two, many economic policies push inflation and unemployment in opposite directions</a:t>
            </a:r>
          </a:p>
          <a:p>
            <a:pPr lvl="1" eaLnBrk="1" hangingPunct="1"/>
            <a:r>
              <a:rPr lang="en-US" altLang="en-US" dirty="0"/>
              <a:t>Other factors can make this tradeoff more or less favorable, but the tradeoff is always present</a:t>
            </a:r>
          </a:p>
        </p:txBody>
      </p:sp>
      <p:sp>
        <p:nvSpPr>
          <p:cNvPr id="3994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D778BDA-6091-413A-8172-FD864E4CF9D5}" type="slidenum">
              <a:rPr lang="en-US" altLang="en-US" sz="1200" smtClean="0">
                <a:solidFill>
                  <a:srgbClr val="002060"/>
                </a:solidFill>
              </a:rPr>
              <a:pPr algn="ctr" eaLnBrk="1" hangingPunct="1"/>
              <a:t>25</a:t>
            </a:fld>
            <a:endParaRPr lang="en-US" altLang="en-US" sz="1200">
              <a:solidFill>
                <a:srgbClr val="002060"/>
              </a:solidFill>
            </a:endParaRPr>
          </a:p>
        </p:txBody>
      </p:sp>
      <p:sp>
        <p:nvSpPr>
          <p:cNvPr id="3994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r>
              <a:rPr lang="en-US" altLang="en-US" sz="1000" dirty="0">
                <a:solidFill>
                  <a:srgbClr val="000000"/>
                </a:solidFill>
              </a:rPr>
              <a:t>©</a:t>
            </a:r>
          </a:p>
        </p:txBody>
      </p:sp>
    </p:spTree>
    <p:extLst>
      <p:ext uri="{BB962C8B-B14F-4D97-AF65-F5344CB8AC3E}">
        <p14:creationId xmlns:p14="http://schemas.microsoft.com/office/powerpoint/2010/main" val="11270950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292912" y="1054100"/>
            <a:ext cx="8698688" cy="5422900"/>
          </a:xfrm>
        </p:spPr>
        <p:txBody>
          <a:bodyPr/>
          <a:lstStyle/>
          <a:p>
            <a:r>
              <a:rPr lang="en-US" dirty="0"/>
              <a:t>Fundamental lessons about individual decision making:</a:t>
            </a:r>
          </a:p>
          <a:p>
            <a:pPr lvl="1"/>
            <a:r>
              <a:rPr lang="en-US" sz="3000" dirty="0"/>
              <a:t>People face trade-offs among alternative goals</a:t>
            </a:r>
          </a:p>
          <a:p>
            <a:pPr lvl="1"/>
            <a:r>
              <a:rPr lang="en-US" sz="3000" dirty="0"/>
              <a:t>The cost of any action is measured in terms of forgone opportunities</a:t>
            </a:r>
          </a:p>
          <a:p>
            <a:pPr lvl="1"/>
            <a:r>
              <a:rPr lang="en-US" sz="3000" dirty="0"/>
              <a:t>Rational people make decisions by comparing marginal costs and marginal benefits</a:t>
            </a:r>
          </a:p>
          <a:p>
            <a:pPr lvl="1"/>
            <a:r>
              <a:rPr lang="en-US" sz="3000" dirty="0"/>
              <a:t>People change their behavior in response to the incentives they face</a:t>
            </a:r>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26</a:t>
            </a:fld>
            <a:endParaRPr lang="en-US"/>
          </a:p>
        </p:txBody>
      </p:sp>
      <p:sp>
        <p:nvSpPr>
          <p:cNvPr id="5" name="Footer Placeholder 4"/>
          <p:cNvSpPr>
            <a:spLocks noGrp="1"/>
          </p:cNvSpPr>
          <p:nvPr>
            <p:ph type="ftr" sz="quarter" idx="11"/>
          </p:nvPr>
        </p:nvSpPr>
        <p:spPr/>
        <p:txBody>
          <a:bodyPr/>
          <a:lstStyle/>
          <a:p>
            <a:pPr>
              <a:defRPr/>
            </a:pPr>
            <a:endParaRPr lang="en-US" dirty="0">
              <a:solidFill>
                <a:srgbClr val="000000"/>
              </a:solidFill>
            </a:endParaRPr>
          </a:p>
        </p:txBody>
      </p:sp>
    </p:spTree>
    <p:extLst>
      <p:ext uri="{BB962C8B-B14F-4D97-AF65-F5344CB8AC3E}">
        <p14:creationId xmlns:p14="http://schemas.microsoft.com/office/powerpoint/2010/main" val="101291242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292912" y="1054100"/>
            <a:ext cx="8698688" cy="5422900"/>
          </a:xfrm>
        </p:spPr>
        <p:txBody>
          <a:bodyPr/>
          <a:lstStyle/>
          <a:p>
            <a:r>
              <a:rPr lang="en-US" dirty="0"/>
              <a:t>Fundamental lessons about interactions among people:</a:t>
            </a:r>
          </a:p>
          <a:p>
            <a:pPr lvl="1"/>
            <a:r>
              <a:rPr lang="en-US" sz="3000" dirty="0"/>
              <a:t>Trade and interdependence can be mutually beneficial</a:t>
            </a:r>
          </a:p>
          <a:p>
            <a:pPr lvl="1"/>
            <a:r>
              <a:rPr lang="en-US" sz="3000" dirty="0"/>
              <a:t>Markets are usually a good way of coordinating economic activity among people</a:t>
            </a:r>
          </a:p>
          <a:p>
            <a:pPr lvl="1"/>
            <a:r>
              <a:rPr lang="en-US" sz="3000" dirty="0"/>
              <a:t>The government can potentially improve market outcomes by remedying a market failure or by promoting greater economic equality</a:t>
            </a:r>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27</a:t>
            </a:fld>
            <a:endParaRPr lang="en-US"/>
          </a:p>
        </p:txBody>
      </p:sp>
      <p:sp>
        <p:nvSpPr>
          <p:cNvPr id="5" name="Footer Placeholder 4"/>
          <p:cNvSpPr>
            <a:spLocks noGrp="1"/>
          </p:cNvSpPr>
          <p:nvPr>
            <p:ph type="ftr" sz="quarter" idx="11"/>
          </p:nvPr>
        </p:nvSpPr>
        <p:spPr/>
        <p:txBody>
          <a:bodyPr/>
          <a:lstStyle/>
          <a:p>
            <a:pPr>
              <a:defRPr/>
            </a:pPr>
            <a:endParaRPr lang="en-US" dirty="0">
              <a:solidFill>
                <a:srgbClr val="000000"/>
              </a:solidFill>
            </a:endParaRPr>
          </a:p>
        </p:txBody>
      </p:sp>
    </p:spTree>
    <p:extLst>
      <p:ext uri="{BB962C8B-B14F-4D97-AF65-F5344CB8AC3E}">
        <p14:creationId xmlns:p14="http://schemas.microsoft.com/office/powerpoint/2010/main" val="357167108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292912" y="1054100"/>
            <a:ext cx="8698688" cy="5422900"/>
          </a:xfrm>
        </p:spPr>
        <p:txBody>
          <a:bodyPr/>
          <a:lstStyle/>
          <a:p>
            <a:r>
              <a:rPr lang="en-US" dirty="0"/>
              <a:t>Fundamental lessons about the economy as </a:t>
            </a:r>
            <a:r>
              <a:rPr lang="en-US"/>
              <a:t>a whole:</a:t>
            </a:r>
            <a:endParaRPr lang="en-US" dirty="0"/>
          </a:p>
          <a:p>
            <a:pPr lvl="1"/>
            <a:r>
              <a:rPr lang="en-US" dirty="0"/>
              <a:t>Productivity is the ultimate source of living standards</a:t>
            </a:r>
          </a:p>
          <a:p>
            <a:pPr lvl="1"/>
            <a:r>
              <a:rPr lang="en-US" dirty="0"/>
              <a:t>Growth in the quantity of money is the ultimate source of inflation</a:t>
            </a:r>
          </a:p>
          <a:p>
            <a:pPr lvl="1"/>
            <a:r>
              <a:rPr lang="en-US" dirty="0"/>
              <a:t>Society faces a short-run trade-off between inflation and unemployment</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28</a:t>
            </a:fld>
            <a:endParaRPr lang="en-US"/>
          </a:p>
        </p:txBody>
      </p:sp>
      <p:sp>
        <p:nvSpPr>
          <p:cNvPr id="5" name="Footer Placeholder 4"/>
          <p:cNvSpPr>
            <a:spLocks noGrp="1"/>
          </p:cNvSpPr>
          <p:nvPr>
            <p:ph type="ftr" sz="quarter" idx="11"/>
          </p:nvPr>
        </p:nvSpPr>
        <p:spPr/>
        <p:txBody>
          <a:bodyPr/>
          <a:lstStyle/>
          <a:p>
            <a:pPr>
              <a:defRPr/>
            </a:pPr>
            <a:endParaRPr lang="en-US" dirty="0">
              <a:solidFill>
                <a:srgbClr val="000000"/>
              </a:solidFill>
            </a:endParaRPr>
          </a:p>
        </p:txBody>
      </p:sp>
    </p:spTree>
    <p:extLst>
      <p:ext uri="{BB962C8B-B14F-4D97-AF65-F5344CB8AC3E}">
        <p14:creationId xmlns:p14="http://schemas.microsoft.com/office/powerpoint/2010/main" val="1083689684"/>
      </p:ext>
    </p:extLst>
  </p:cSld>
  <p:clrMapOvr>
    <a:masterClrMapping/>
  </p:clrMapOvr>
  <p:transition/>
</p:sld>
</file>

<file path=ppt/theme/theme1.xml><?xml version="1.0" encoding="utf-8"?>
<a:theme xmlns:a="http://schemas.openxmlformats.org/drawingml/2006/main" name="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ppendix">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5808</TotalTime>
  <Words>3416</Words>
  <Application>Microsoft Office PowerPoint</Application>
  <PresentationFormat>On-screen Show (4:3)</PresentationFormat>
  <Paragraphs>298</Paragraphs>
  <Slides>28</Slides>
  <Notes>28</Notes>
  <HiddenSlides>0</HiddenSlides>
  <MMClips>0</MMClips>
  <ScaleCrop>false</ScaleCrop>
  <HeadingPairs>
    <vt:vector size="6" baseType="variant">
      <vt:variant>
        <vt:lpstr>Fonts Used</vt:lpstr>
      </vt:variant>
      <vt:variant>
        <vt:i4>7</vt:i4>
      </vt:variant>
      <vt:variant>
        <vt:lpstr>Theme</vt:lpstr>
      </vt:variant>
      <vt:variant>
        <vt:i4>9</vt:i4>
      </vt:variant>
      <vt:variant>
        <vt:lpstr>Slide Titles</vt:lpstr>
      </vt:variant>
      <vt:variant>
        <vt:i4>28</vt:i4>
      </vt:variant>
    </vt:vector>
  </HeadingPairs>
  <TitlesOfParts>
    <vt:vector size="44" baseType="lpstr">
      <vt:lpstr>Arial</vt:lpstr>
      <vt:lpstr>Arial Narrow</vt:lpstr>
      <vt:lpstr>Calibri</vt:lpstr>
      <vt:lpstr>Cambria</vt:lpstr>
      <vt:lpstr>Cambria Math</vt:lpstr>
      <vt:lpstr>Sabon-Bold</vt:lpstr>
      <vt:lpstr>Times New Roman</vt:lpstr>
      <vt:lpstr>Chapter title</vt:lpstr>
      <vt:lpstr>Intro / Summary</vt:lpstr>
      <vt:lpstr>Chapter content</vt:lpstr>
      <vt:lpstr>Figure</vt:lpstr>
      <vt:lpstr>Table</vt:lpstr>
      <vt:lpstr>ActiveLearning</vt:lpstr>
      <vt:lpstr>Case study</vt:lpstr>
      <vt:lpstr>Ask Experts</vt:lpstr>
      <vt:lpstr>Appendix</vt:lpstr>
      <vt:lpstr>PowerPoint Presentation</vt:lpstr>
      <vt:lpstr>Look for the answers to these questions:</vt:lpstr>
      <vt:lpstr>Ten Principles of Economics</vt:lpstr>
      <vt:lpstr>Ten Principles of Economics</vt:lpstr>
      <vt:lpstr>How People Make Decisions</vt:lpstr>
      <vt:lpstr>Principle 1: People Face Trade-offs</vt:lpstr>
      <vt:lpstr>Principle 1: People Face Trade-offs</vt:lpstr>
      <vt:lpstr>Principle 1: People Face Trade-offs</vt:lpstr>
      <vt:lpstr>Principle 2: The Cost of Something Is What You Give Up to Get It</vt:lpstr>
      <vt:lpstr>Principle 2: The Cost of Something Is What You Give Up to Get It</vt:lpstr>
      <vt:lpstr>Principle 3: Rational People Think at the Margin</vt:lpstr>
      <vt:lpstr>Principle 4: People Respond to Incentives</vt:lpstr>
      <vt:lpstr>How People Interact</vt:lpstr>
      <vt:lpstr>Principle 5: Trade Can Make Everyone Better Off </vt:lpstr>
      <vt:lpstr>Principle 6: Markets Are Usually a Good Way to Organize Economic Activity</vt:lpstr>
      <vt:lpstr>Principle 6: Markets Are Usually a Good Way to Organize Economic Activity</vt:lpstr>
      <vt:lpstr>Principle 6: Markets Are Usually a Good Way to Organize Economic Activity</vt:lpstr>
      <vt:lpstr>Principle 7: Governments Can Sometimes Improve Market Outcomes</vt:lpstr>
      <vt:lpstr>Principle 7: Governments Can Sometimes Improve Market Outcomes</vt:lpstr>
      <vt:lpstr>Principle 7: Governments Can Sometimes Improve Market Outcomes</vt:lpstr>
      <vt:lpstr>How the economy as a whole works</vt:lpstr>
      <vt:lpstr>Principle 8: Country’s Standard of Living Depends on Its Ability to Produce Goods and Services</vt:lpstr>
      <vt:lpstr>Principle 8: Country’s Standard of Living Depends on Its Ability to Produce Goods and Services</vt:lpstr>
      <vt:lpstr>Principle 9: Prices Rise When the Government Prints Too Much Money</vt:lpstr>
      <vt:lpstr>Principle 10: Society Faces a Short-run Trade-off between Inflation and Unemployment</vt:lpstr>
      <vt:lpstr>Summary</vt:lpstr>
      <vt:lpstr>Summary</vt:lpstr>
      <vt:lpstr>Summary</vt:lpstr>
    </vt:vector>
  </TitlesOfParts>
  <Company>Eastern Illinois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Aamna</cp:lastModifiedBy>
  <cp:revision>143</cp:revision>
  <dcterms:created xsi:type="dcterms:W3CDTF">2016-03-16T19:41:09Z</dcterms:created>
  <dcterms:modified xsi:type="dcterms:W3CDTF">2023-10-25T09:54:59Z</dcterms:modified>
</cp:coreProperties>
</file>