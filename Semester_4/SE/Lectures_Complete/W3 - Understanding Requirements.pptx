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30"/>
  </p:notesMasterIdLst>
  <p:handoutMasterIdLst>
    <p:handoutMasterId r:id="rId31"/>
  </p:handoutMasterIdLst>
  <p:sldIdLst>
    <p:sldId id="295" r:id="rId2"/>
    <p:sldId id="343" r:id="rId3"/>
    <p:sldId id="370" r:id="rId4"/>
    <p:sldId id="342" r:id="rId5"/>
    <p:sldId id="340" r:id="rId6"/>
    <p:sldId id="341" r:id="rId7"/>
    <p:sldId id="372" r:id="rId8"/>
    <p:sldId id="373" r:id="rId9"/>
    <p:sldId id="374" r:id="rId10"/>
    <p:sldId id="375" r:id="rId11"/>
    <p:sldId id="376" r:id="rId12"/>
    <p:sldId id="350" r:id="rId13"/>
    <p:sldId id="307" r:id="rId14"/>
    <p:sldId id="377" r:id="rId15"/>
    <p:sldId id="378" r:id="rId16"/>
    <p:sldId id="310" r:id="rId17"/>
    <p:sldId id="323" r:id="rId18"/>
    <p:sldId id="311" r:id="rId19"/>
    <p:sldId id="325" r:id="rId20"/>
    <p:sldId id="326" r:id="rId21"/>
    <p:sldId id="367" r:id="rId22"/>
    <p:sldId id="366" r:id="rId23"/>
    <p:sldId id="357" r:id="rId24"/>
    <p:sldId id="358" r:id="rId25"/>
    <p:sldId id="359" r:id="rId26"/>
    <p:sldId id="314" r:id="rId27"/>
    <p:sldId id="335" r:id="rId28"/>
    <p:sldId id="379" r:id="rId2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4660"/>
  </p:normalViewPr>
  <p:slideViewPr>
    <p:cSldViewPr>
      <p:cViewPr varScale="1">
        <p:scale>
          <a:sx n="57" d="100"/>
          <a:sy n="57" d="100"/>
        </p:scale>
        <p:origin x="154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20824D42-F73C-449C-8F32-EFC8F21020B6}" type="datetimeFigureOut">
              <a:rPr lang="en-US" smtClean="0"/>
              <a:t>10/9/2025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0558DF94-DC00-41AE-8E37-E0914EA1F848}" type="slidenum">
              <a:rPr lang="en-US" smtClean="0"/>
              <a:t>‹#›</a:t>
            </a:fld>
            <a:endParaRPr lang="en-US"/>
          </a:p>
        </p:txBody>
      </p:sp>
    </p:spTree>
    <p:extLst>
      <p:ext uri="{BB962C8B-B14F-4D97-AF65-F5344CB8AC3E}">
        <p14:creationId xmlns:p14="http://schemas.microsoft.com/office/powerpoint/2010/main" val="3512331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8CA847-4A74-4ED8-B970-DB5660C561A5}" type="datetimeFigureOut">
              <a:rPr lang="en-US" smtClean="0"/>
              <a:pPr/>
              <a:t>10/9/2025</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5D3B6-AD8D-42AC-8CAA-0DAD72297694}" type="slidenum">
              <a:rPr lang="en-US" smtClean="0"/>
              <a:pPr/>
              <a:t>1</a:t>
            </a:fld>
            <a:endParaRPr lang="en-US" dirty="0"/>
          </a:p>
        </p:txBody>
      </p:sp>
    </p:spTree>
    <p:extLst>
      <p:ext uri="{BB962C8B-B14F-4D97-AF65-F5344CB8AC3E}">
        <p14:creationId xmlns:p14="http://schemas.microsoft.com/office/powerpoint/2010/main" val="224655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BE75F-C17D-4B39-B50C-E76E224285F0}" type="datetime1">
              <a:rPr lang="en-US" smtClean="0"/>
              <a:t>10/9/2025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1C82C9-F368-40ED-AB42-6B0A4CE65624}" type="datetime1">
              <a:rPr lang="en-US" smtClean="0"/>
              <a:t>10/9/2025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D01D28-B3D7-4DA9-8436-72AB9E0BB25C}" type="datetime1">
              <a:rPr lang="en-US" smtClean="0"/>
              <a:t>10/9/2025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11EE8B-F9A7-4F22-9654-17DB14805329}" type="datetime1">
              <a:rPr lang="en-US" smtClean="0"/>
              <a:t>10/9/2025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F1C4D2-C18F-428D-9119-DCF88714A8A1}" type="datetime1">
              <a:rPr lang="en-US" smtClean="0"/>
              <a:t>10/9/2025</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E60EBE-CD81-4F79-B0DA-3A3DCCA8959B}" type="datetime1">
              <a:rPr lang="en-US" smtClean="0"/>
              <a:t>10/9/2025</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86A15-84CF-4326-959A-8B4386D27B6B}" type="datetime1">
              <a:rPr lang="en-US" smtClean="0"/>
              <a:t>10/9/2025</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D2CE48-EB0E-426A-AA2E-AB7505CB39DE}" type="datetime1">
              <a:rPr lang="en-US" smtClean="0"/>
              <a:t>10/9/2025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EDC0DF-F48D-4F7D-AE87-07CFCC445706}" type="datetime1">
              <a:rPr lang="en-US" smtClean="0"/>
              <a:t>10/9/2025</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7293F5-A451-47E8-BEE4-229B5A023A76}" type="datetime1">
              <a:rPr lang="en-US" smtClean="0"/>
              <a:t>10/9/2025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662569-E620-4AB8-9DC4-02392E9A9336}" type="datetime1">
              <a:rPr lang="en-US" smtClean="0"/>
              <a:t>10/9/2025</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29268FD-F032-4FD0-970F-EA0776FC93E3}" type="datetime1">
              <a:rPr lang="en-US" smtClean="0"/>
              <a:t>10/9/2025</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subTitle" idx="1"/>
          </p:nvPr>
        </p:nvSpPr>
        <p:spPr>
          <a:xfrm>
            <a:off x="1981200" y="3581400"/>
            <a:ext cx="57912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r>
              <a:rPr lang="en-US" sz="2800" b="1" dirty="0">
                <a:solidFill>
                  <a:schemeClr val="tx1"/>
                </a:solidFill>
                <a:latin typeface="+mj-lt"/>
                <a:cs typeface="Times New Roman" pitchFamily="18" charset="0"/>
              </a:rPr>
              <a:t>Understanding Requirements</a:t>
            </a:r>
          </a:p>
          <a:p>
            <a:pPr marL="63500" algn="ctr" eaLnBrk="1" hangingPunct="1"/>
            <a:endParaRPr lang="en-US" dirty="0">
              <a:latin typeface="Times New Roman" pitchFamily="18" charset="0"/>
              <a:cs typeface="Times New Roman" pitchFamily="18" charset="0"/>
            </a:endParaRPr>
          </a:p>
        </p:txBody>
      </p:sp>
      <p:sp>
        <p:nvSpPr>
          <p:cNvPr id="2" name="Title 1"/>
          <p:cNvSpPr>
            <a:spLocks noGrp="1"/>
          </p:cNvSpPr>
          <p:nvPr>
            <p:ph type="ctrTitle"/>
          </p:nvPr>
        </p:nvSpPr>
        <p:spPr>
          <a:xfrm>
            <a:off x="152400" y="1371600"/>
            <a:ext cx="8915400" cy="1927225"/>
          </a:xfrm>
        </p:spPr>
        <p:txBody>
          <a:bodyPr/>
          <a:lstStyle/>
          <a:p>
            <a:pPr algn="ct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r>
              <a:rPr lang="en-US" sz="3200" dirty="0">
                <a:solidFill>
                  <a:srgbClr val="C00000"/>
                </a:solidFill>
                <a:cs typeface="Times New Roman" pitchFamily="18" charset="0"/>
              </a:rPr>
              <a:t>CSSE3113 – </a:t>
            </a:r>
            <a:r>
              <a:rPr lang="en-US" sz="3200" cap="none" dirty="0">
                <a:solidFill>
                  <a:srgbClr val="C00000"/>
                </a:solidFill>
                <a:cs typeface="Times New Roman" pitchFamily="18" charset="0"/>
              </a:rPr>
              <a:t>Introduction to Software Engineering </a:t>
            </a:r>
            <a:br>
              <a:rPr lang="en-US" sz="3200" dirty="0">
                <a:solidFill>
                  <a:srgbClr val="C00000"/>
                </a:solidFill>
                <a:cs typeface="Times New Roman" pitchFamily="18" charset="0"/>
              </a:rPr>
            </a:b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p:spPr>
        <p:txBody>
          <a:bodyPr lIns="90488" tIns="44450" rIns="90488" bIns="44450"/>
          <a:lstStyle/>
          <a:p>
            <a:pPr eaLnBrk="1" hangingPunct="1"/>
            <a:r>
              <a:rPr lang="en-US" altLang="en-US" dirty="0"/>
              <a:t>Requirements</a:t>
            </a:r>
          </a:p>
        </p:txBody>
      </p:sp>
      <p:sp>
        <p:nvSpPr>
          <p:cNvPr id="14339"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84474F2-1C1D-4E42-89D9-C7F520C52E2A}" type="slidenum">
              <a:rPr lang="en-US" altLang="en-US" sz="1400">
                <a:solidFill>
                  <a:schemeClr val="bg1"/>
                </a:solidFill>
                <a:latin typeface="+mj-lt"/>
              </a:rPr>
              <a:pPr eaLnBrk="1" hangingPunct="1"/>
              <a:t>2</a:t>
            </a:fld>
            <a:endParaRPr lang="en-US" altLang="en-US" sz="1400" dirty="0">
              <a:solidFill>
                <a:schemeClr val="bg1"/>
              </a:solidFill>
              <a:latin typeface="+mj-lt"/>
            </a:endParaRPr>
          </a:p>
        </p:txBody>
      </p:sp>
      <p:sp>
        <p:nvSpPr>
          <p:cNvPr id="14340" name="Rectangle 3"/>
          <p:cNvSpPr>
            <a:spLocks noGrp="1" noChangeArrowheads="1"/>
          </p:cNvSpPr>
          <p:nvPr>
            <p:ph sz="quarter" idx="1"/>
          </p:nvPr>
        </p:nvSpPr>
        <p:spPr>
          <a:xfrm>
            <a:off x="457200" y="1219200"/>
            <a:ext cx="8229600" cy="4937125"/>
          </a:xfrm>
        </p:spPr>
        <p:txBody>
          <a:bodyPr lIns="90488" tIns="44450" rIns="90488" bIns="44450"/>
          <a:lstStyle/>
          <a:p>
            <a:pPr algn="just" eaLnBrk="1" hangingPunct="1">
              <a:buFont typeface="Wingdings 3" panose="05040102010807070707" pitchFamily="18" charset="2"/>
              <a:buNone/>
            </a:pPr>
            <a:r>
              <a:rPr lang="en-US" altLang="en-US" dirty="0"/>
              <a:t>	</a:t>
            </a:r>
          </a:p>
          <a:p>
            <a:pPr algn="just" eaLnBrk="1" hangingPunct="1">
              <a:buFont typeface="Wingdings 3" panose="05040102010807070707" pitchFamily="18" charset="2"/>
              <a:buNone/>
            </a:pPr>
            <a:r>
              <a:rPr lang="en-US" altLang="en-US" sz="2200" dirty="0"/>
              <a:t>IEEE Standard 729 defines it as </a:t>
            </a:r>
          </a:p>
          <a:p>
            <a:pPr algn="just" eaLnBrk="1" hangingPunct="1">
              <a:buFont typeface="Wingdings 3" panose="05040102010807070707" pitchFamily="18" charset="2"/>
              <a:buNone/>
            </a:pPr>
            <a:endParaRPr lang="en-US" altLang="en-US" sz="2200" dirty="0"/>
          </a:p>
          <a:p>
            <a:pPr algn="just" eaLnBrk="1" hangingPunct="1"/>
            <a:r>
              <a:rPr lang="en-US" altLang="en-US" sz="2200" dirty="0"/>
              <a:t>“A condition or capability needed by a user to solve a problem or achieve an objective”</a:t>
            </a:r>
          </a:p>
          <a:p>
            <a:pPr algn="just" eaLnBrk="1" hangingPunct="1">
              <a:buFont typeface="Wingdings 3" panose="05040102010807070707" pitchFamily="18" charset="2"/>
              <a:buNone/>
            </a:pPr>
            <a:r>
              <a:rPr lang="en-US" altLang="en-US" sz="2200" dirty="0"/>
              <a:t> </a:t>
            </a:r>
          </a:p>
          <a:p>
            <a:pPr algn="just" eaLnBrk="1" hangingPunct="1"/>
            <a:r>
              <a:rPr lang="en-US" altLang="en-US" sz="2200" dirty="0"/>
              <a:t> “A condition or capability that must be met or possessed by a system...to satisfy a </a:t>
            </a:r>
            <a:r>
              <a:rPr lang="en-US" altLang="en-US" sz="2200" dirty="0">
                <a:solidFill>
                  <a:schemeClr val="accent3">
                    <a:lumMod val="75000"/>
                  </a:schemeClr>
                </a:solidFill>
              </a:rPr>
              <a:t>contract, standard, specification, or other formally imposed document”</a:t>
            </a:r>
          </a:p>
        </p:txBody>
      </p:sp>
      <p:sp>
        <p:nvSpPr>
          <p:cNvPr id="2" name="Date Placeholder 1"/>
          <p:cNvSpPr>
            <a:spLocks noGrp="1"/>
          </p:cNvSpPr>
          <p:nvPr>
            <p:ph type="dt" sz="half" idx="10"/>
          </p:nvPr>
        </p:nvSpPr>
        <p:spPr/>
        <p:txBody>
          <a:bodyPr/>
          <a:lstStyle/>
          <a:p>
            <a:fld id="{6C4CC271-A34C-47C6-9740-A174135D4F01}" type="datetime1">
              <a:rPr lang="en-US" smtClean="0"/>
              <a:t>10/9/2025</a:t>
            </a:fld>
            <a:endParaRPr lang="en-US" dirty="0"/>
          </a:p>
        </p:txBody>
      </p:sp>
    </p:spTree>
    <p:extLst>
      <p:ext uri="{BB962C8B-B14F-4D97-AF65-F5344CB8AC3E}">
        <p14:creationId xmlns:p14="http://schemas.microsoft.com/office/powerpoint/2010/main" val="4171390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2E6B-8CA8-1968-CA68-6ADF045C001E}"/>
              </a:ext>
            </a:extLst>
          </p:cNvPr>
          <p:cNvSpPr>
            <a:spLocks noGrp="1"/>
          </p:cNvSpPr>
          <p:nvPr>
            <p:ph type="title"/>
          </p:nvPr>
        </p:nvSpPr>
        <p:spPr/>
        <p:txBody>
          <a:bodyPr/>
          <a:lstStyle/>
          <a:p>
            <a:r>
              <a:rPr lang="en-US" dirty="0"/>
              <a:t>Requirement Engineering</a:t>
            </a:r>
          </a:p>
        </p:txBody>
      </p:sp>
      <p:sp>
        <p:nvSpPr>
          <p:cNvPr id="3" name="Content Placeholder 2">
            <a:extLst>
              <a:ext uri="{FF2B5EF4-FFF2-40B4-BE49-F238E27FC236}">
                <a16:creationId xmlns:a16="http://schemas.microsoft.com/office/drawing/2014/main" id="{F1C11B45-73ED-D37B-28A5-D93E5DE08DA2}"/>
              </a:ext>
            </a:extLst>
          </p:cNvPr>
          <p:cNvSpPr>
            <a:spLocks noGrp="1"/>
          </p:cNvSpPr>
          <p:nvPr>
            <p:ph idx="1"/>
          </p:nvPr>
        </p:nvSpPr>
        <p:spPr>
          <a:xfrm>
            <a:off x="457200" y="1524000"/>
            <a:ext cx="8229600" cy="4876800"/>
          </a:xfrm>
        </p:spPr>
        <p:txBody>
          <a:bodyPr>
            <a:normAutofit fontScale="85000" lnSpcReduction="10000"/>
          </a:bodyPr>
          <a:lstStyle/>
          <a:p>
            <a:pPr algn="just" eaLnBrk="1" hangingPunct="1">
              <a:lnSpc>
                <a:spcPct val="110000"/>
              </a:lnSpc>
            </a:pPr>
            <a:r>
              <a:rPr lang="en-US" altLang="en-US" sz="2400" dirty="0">
                <a:ea typeface="ＭＳ Ｐゴシック" panose="020B0600070205080204" pitchFamily="34" charset="-128"/>
              </a:rPr>
              <a:t>Many software developers want to jump right in building software before they have a clear understanding of what is needed. </a:t>
            </a:r>
          </a:p>
          <a:p>
            <a:pPr algn="just" eaLnBrk="1" hangingPunct="1">
              <a:lnSpc>
                <a:spcPct val="110000"/>
              </a:lnSpc>
            </a:pPr>
            <a:r>
              <a:rPr lang="en-US" altLang="en-US" sz="2400" dirty="0">
                <a:ea typeface="ＭＳ Ｐゴシック" panose="020B0600070205080204" pitchFamily="34" charset="-128"/>
              </a:rPr>
              <a:t>They argue that things will become clear as they build, that project stakeholders will be able to understand need only after examining early iterations of the software, that things change so rapidly that any attempt to understand requirements in detail is a waste of time. </a:t>
            </a:r>
          </a:p>
          <a:p>
            <a:pPr algn="just" eaLnBrk="1" hangingPunct="1">
              <a:lnSpc>
                <a:spcPct val="110000"/>
              </a:lnSpc>
            </a:pPr>
            <a:r>
              <a:rPr lang="en-US" altLang="en-US" sz="2400" dirty="0">
                <a:ea typeface="ＭＳ Ｐゴシック" panose="020B0600070205080204" pitchFamily="34" charset="-128"/>
              </a:rPr>
              <a:t>The bottom line is  producing a working program and all else is secondary. </a:t>
            </a:r>
          </a:p>
          <a:p>
            <a:pPr algn="just" eaLnBrk="1" hangingPunct="1">
              <a:lnSpc>
                <a:spcPct val="110000"/>
              </a:lnSpc>
            </a:pPr>
            <a:r>
              <a:rPr lang="en-US" altLang="en-US" sz="2400" dirty="0">
                <a:ea typeface="ＭＳ Ｐゴシック" panose="020B0600070205080204" pitchFamily="34" charset="-128"/>
              </a:rPr>
              <a:t>What makes these arguments seductive is that they contain elements of truth. But each is flawed and can lead to a failed software project. </a:t>
            </a:r>
          </a:p>
          <a:p>
            <a:pPr algn="just" eaLnBrk="1" hangingPunct="1">
              <a:lnSpc>
                <a:spcPct val="110000"/>
              </a:lnSpc>
            </a:pPr>
            <a:r>
              <a:rPr lang="en-US" altLang="en-US" sz="2400" dirty="0">
                <a:ea typeface="ＭＳ Ｐゴシック" panose="020B0600070205080204" pitchFamily="34" charset="-128"/>
              </a:rPr>
              <a:t>The broad spectrum of tasks and techniques that lead to an understanding of requirements is called </a:t>
            </a:r>
            <a:r>
              <a:rPr lang="en-US" altLang="en-US" sz="2400" i="1" dirty="0">
                <a:solidFill>
                  <a:srgbClr val="C00000"/>
                </a:solidFill>
                <a:ea typeface="ＭＳ Ｐゴシック" panose="020B0600070205080204" pitchFamily="34" charset="-128"/>
              </a:rPr>
              <a:t>requirements engineering</a:t>
            </a:r>
            <a:r>
              <a:rPr lang="en-US" altLang="en-US" sz="2400" dirty="0">
                <a:ea typeface="ＭＳ Ｐゴシック" panose="020B0600070205080204" pitchFamily="34" charset="-128"/>
              </a:rPr>
              <a:t>. </a:t>
            </a:r>
          </a:p>
          <a:p>
            <a:pPr algn="just" eaLnBrk="1" hangingPunct="1">
              <a:lnSpc>
                <a:spcPct val="110000"/>
              </a:lnSpc>
            </a:pPr>
            <a:r>
              <a:rPr lang="en-US" altLang="en-US" sz="2400" dirty="0">
                <a:ea typeface="ＭＳ Ｐゴシック" panose="020B0600070205080204" pitchFamily="34" charset="-128"/>
              </a:rPr>
              <a:t>It beings with communication activity and continues into the modeling activity. It builds a bridge to design and construction. </a:t>
            </a:r>
          </a:p>
          <a:p>
            <a:pPr algn="just">
              <a:lnSpc>
                <a:spcPct val="110000"/>
              </a:lnSpc>
            </a:pPr>
            <a:endParaRPr lang="en-US" dirty="0"/>
          </a:p>
        </p:txBody>
      </p:sp>
      <p:sp>
        <p:nvSpPr>
          <p:cNvPr id="4" name="Date Placeholder 3">
            <a:extLst>
              <a:ext uri="{FF2B5EF4-FFF2-40B4-BE49-F238E27FC236}">
                <a16:creationId xmlns:a16="http://schemas.microsoft.com/office/drawing/2014/main" id="{E3D7A897-E890-9F80-9BFC-3774EC360C8B}"/>
              </a:ext>
            </a:extLst>
          </p:cNvPr>
          <p:cNvSpPr>
            <a:spLocks noGrp="1"/>
          </p:cNvSpPr>
          <p:nvPr>
            <p:ph type="dt" sz="half" idx="10"/>
          </p:nvPr>
        </p:nvSpPr>
        <p:spPr/>
        <p:txBody>
          <a:bodyPr/>
          <a:lstStyle/>
          <a:p>
            <a:fld id="{F71C82C9-F368-40ED-AB42-6B0A4CE65624}" type="datetime1">
              <a:rPr lang="en-US" smtClean="0"/>
              <a:t>10/9/2025</a:t>
            </a:fld>
            <a:endParaRPr lang="en-US" dirty="0"/>
          </a:p>
        </p:txBody>
      </p:sp>
      <p:sp>
        <p:nvSpPr>
          <p:cNvPr id="6" name="Slide Number Placeholder 5">
            <a:extLst>
              <a:ext uri="{FF2B5EF4-FFF2-40B4-BE49-F238E27FC236}">
                <a16:creationId xmlns:a16="http://schemas.microsoft.com/office/drawing/2014/main" id="{BE044DE2-04FF-2582-2912-3B6B69DCD439}"/>
              </a:ext>
            </a:extLst>
          </p:cNvPr>
          <p:cNvSpPr>
            <a:spLocks noGrp="1"/>
          </p:cNvSpPr>
          <p:nvPr>
            <p:ph type="sldNum" sz="quarter" idx="12"/>
          </p:nvPr>
        </p:nvSpPr>
        <p:spPr/>
        <p:txBody>
          <a:bodyPr/>
          <a:lstStyle/>
          <a:p>
            <a:fld id="{0A68DB68-8052-4758-A647-54338E95D837}" type="slidenum">
              <a:rPr lang="en-US" smtClean="0"/>
              <a:pPr/>
              <a:t>3</a:t>
            </a:fld>
            <a:endParaRPr lang="en-US" dirty="0"/>
          </a:p>
        </p:txBody>
      </p:sp>
    </p:spTree>
    <p:extLst>
      <p:ext uri="{BB962C8B-B14F-4D97-AF65-F5344CB8AC3E}">
        <p14:creationId xmlns:p14="http://schemas.microsoft.com/office/powerpoint/2010/main" val="3345662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normAutofit fontScale="90000"/>
          </a:bodyPr>
          <a:lstStyle/>
          <a:p>
            <a:r>
              <a:rPr lang="en-US" altLang="en-US" dirty="0"/>
              <a:t>Software Requirements and Requirement Engineering</a:t>
            </a:r>
          </a:p>
        </p:txBody>
      </p:sp>
      <p:sp>
        <p:nvSpPr>
          <p:cNvPr id="376835" name="Rectangle 3"/>
          <p:cNvSpPr>
            <a:spLocks noGrp="1" noChangeArrowheads="1"/>
          </p:cNvSpPr>
          <p:nvPr>
            <p:ph type="body" idx="1"/>
          </p:nvPr>
        </p:nvSpPr>
        <p:spPr>
          <a:xfrm>
            <a:off x="457200" y="1600200"/>
            <a:ext cx="8229600" cy="4800600"/>
          </a:xfrm>
        </p:spPr>
        <p:txBody>
          <a:bodyPr>
            <a:normAutofit/>
          </a:bodyPr>
          <a:lstStyle/>
          <a:p>
            <a:pPr algn="just"/>
            <a:r>
              <a:rPr lang="en-GB" altLang="en-US" dirty="0"/>
              <a:t>The requirements for a system </a:t>
            </a:r>
          </a:p>
          <a:p>
            <a:pPr lvl="1" algn="just"/>
            <a:r>
              <a:rPr lang="en-GB" altLang="en-US" dirty="0"/>
              <a:t>are the descriptions of the services provided by the system and its operational constraints. </a:t>
            </a:r>
          </a:p>
          <a:p>
            <a:pPr marL="274320" lvl="1" indent="0" algn="just">
              <a:buNone/>
            </a:pPr>
            <a:endParaRPr lang="en-GB" altLang="en-US" dirty="0"/>
          </a:p>
          <a:p>
            <a:pPr algn="just"/>
            <a:r>
              <a:rPr lang="en-GB" altLang="en-US" dirty="0"/>
              <a:t>These requirements reflect the</a:t>
            </a:r>
          </a:p>
          <a:p>
            <a:pPr lvl="1" algn="just"/>
            <a:r>
              <a:rPr lang="en-GB" altLang="en-US" dirty="0"/>
              <a:t> needs of customers for a system that helps solve some problems such as controlling a device, placing an order or finding information. </a:t>
            </a:r>
          </a:p>
          <a:p>
            <a:pPr marL="274320" lvl="1" indent="0" algn="just">
              <a:buNone/>
            </a:pPr>
            <a:endParaRPr lang="en-US" altLang="en-US" sz="1800" dirty="0"/>
          </a:p>
          <a:p>
            <a:pPr algn="ctr"/>
            <a:r>
              <a:rPr lang="en-GB" altLang="en-US" dirty="0"/>
              <a:t> </a:t>
            </a:r>
            <a:r>
              <a:rPr lang="en-GB" altLang="en-US" i="1" dirty="0"/>
              <a:t>“The process of finding out, analysing, documenting and checking these services and constraints is called requirements engineering (RE).”</a:t>
            </a:r>
            <a:endParaRPr lang="en-US" altLang="en-US" i="1"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4</a:t>
            </a:fld>
            <a:endParaRPr lang="en-US" dirty="0"/>
          </a:p>
        </p:txBody>
      </p:sp>
      <p:sp>
        <p:nvSpPr>
          <p:cNvPr id="3" name="Date Placeholder 2"/>
          <p:cNvSpPr>
            <a:spLocks noGrp="1"/>
          </p:cNvSpPr>
          <p:nvPr>
            <p:ph type="dt" sz="half" idx="10"/>
          </p:nvPr>
        </p:nvSpPr>
        <p:spPr/>
        <p:txBody>
          <a:bodyPr/>
          <a:lstStyle/>
          <a:p>
            <a:fld id="{6DC2397C-E627-4263-86CD-6CEFDE8ACF94}" type="datetime1">
              <a:rPr lang="en-US" smtClean="0"/>
              <a:t>10/9/2025</a:t>
            </a:fld>
            <a:endParaRPr lang="en-US" dirty="0"/>
          </a:p>
        </p:txBody>
      </p:sp>
    </p:spTree>
    <p:extLst>
      <p:ext uri="{BB962C8B-B14F-4D97-AF65-F5344CB8AC3E}">
        <p14:creationId xmlns:p14="http://schemas.microsoft.com/office/powerpoint/2010/main" val="2734229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t>Different Levels Of Abstraction</a:t>
            </a:r>
            <a:endParaRPr lang="fr-FR" altLang="en-US" dirty="0"/>
          </a:p>
        </p:txBody>
      </p:sp>
      <p:sp>
        <p:nvSpPr>
          <p:cNvPr id="15363" name="Rectangle 3"/>
          <p:cNvSpPr>
            <a:spLocks noGrp="1" noChangeArrowheads="1"/>
          </p:cNvSpPr>
          <p:nvPr>
            <p:ph sz="quarter" idx="1"/>
          </p:nvPr>
        </p:nvSpPr>
        <p:spPr>
          <a:xfrm>
            <a:off x="457200" y="1463675"/>
            <a:ext cx="8229600" cy="4937125"/>
          </a:xfrm>
        </p:spPr>
        <p:txBody>
          <a:bodyPr>
            <a:normAutofit/>
          </a:bodyPr>
          <a:lstStyle/>
          <a:p>
            <a:pPr eaLnBrk="1" hangingPunct="1">
              <a:lnSpc>
                <a:spcPct val="90000"/>
              </a:lnSpc>
            </a:pPr>
            <a:endParaRPr lang="en-US" altLang="en-US" dirty="0"/>
          </a:p>
          <a:p>
            <a:pPr algn="just" eaLnBrk="1" hangingPunct="1">
              <a:lnSpc>
                <a:spcPct val="90000"/>
              </a:lnSpc>
            </a:pPr>
            <a:r>
              <a:rPr lang="en-US" altLang="en-US" dirty="0"/>
              <a:t>User requirements </a:t>
            </a:r>
          </a:p>
          <a:p>
            <a:pPr lvl="1" algn="just">
              <a:lnSpc>
                <a:spcPct val="90000"/>
              </a:lnSpc>
            </a:pPr>
            <a:r>
              <a:rPr lang="en-GB" altLang="en-US" dirty="0"/>
              <a:t>are statements, in a natural language plus diagrams, of  what services the system is expected to provide and the constraints under which it must operate. </a:t>
            </a:r>
            <a:r>
              <a:rPr lang="en-GB" dirty="0"/>
              <a:t>The user requirements may vary from broad statements of the system features required to detailed, precise descriptions of the system functionality.</a:t>
            </a:r>
            <a:endParaRPr lang="en-US" altLang="en-US" dirty="0"/>
          </a:p>
          <a:p>
            <a:pPr algn="just" eaLnBrk="1" hangingPunct="1">
              <a:lnSpc>
                <a:spcPct val="90000"/>
              </a:lnSpc>
            </a:pPr>
            <a:r>
              <a:rPr lang="en-US" altLang="en-US" dirty="0"/>
              <a:t>System requirements</a:t>
            </a:r>
          </a:p>
          <a:p>
            <a:pPr lvl="1" algn="just">
              <a:lnSpc>
                <a:spcPct val="90000"/>
              </a:lnSpc>
            </a:pPr>
            <a:r>
              <a:rPr lang="en-GB" altLang="en-US" dirty="0"/>
              <a:t> System requirements set out the system’s functions, services and operational constraints in detail. </a:t>
            </a:r>
          </a:p>
          <a:p>
            <a:pPr lvl="1" algn="just">
              <a:lnSpc>
                <a:spcPct val="90000"/>
              </a:lnSpc>
            </a:pPr>
            <a:r>
              <a:rPr lang="en-GB" altLang="en-US" dirty="0"/>
              <a:t>The system requirements document (sometimes called a functional specification) should be defined exactly what is to be implemented. </a:t>
            </a:r>
          </a:p>
          <a:p>
            <a:pPr lvl="1" algn="just">
              <a:lnSpc>
                <a:spcPct val="90000"/>
              </a:lnSpc>
            </a:pPr>
            <a:r>
              <a:rPr lang="en-GB" altLang="en-US" dirty="0"/>
              <a:t>It may be part of the contract between the system buyer and the software developers. </a:t>
            </a:r>
            <a:endParaRPr lang="en-US" altLang="en-US" dirty="0"/>
          </a:p>
        </p:txBody>
      </p:sp>
      <p:sp>
        <p:nvSpPr>
          <p:cNvPr id="2" name="Date Placeholder 1"/>
          <p:cNvSpPr>
            <a:spLocks noGrp="1"/>
          </p:cNvSpPr>
          <p:nvPr>
            <p:ph type="dt" sz="half" idx="10"/>
          </p:nvPr>
        </p:nvSpPr>
        <p:spPr/>
        <p:txBody>
          <a:bodyPr/>
          <a:lstStyle/>
          <a:p>
            <a:fld id="{71A26325-A27E-4AF0-9CB3-09B78473F995}" type="datetime1">
              <a:rPr lang="en-US" smtClean="0"/>
              <a:t>10/9/2025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5</a:t>
            </a:fld>
            <a:endParaRPr lang="en-US" dirty="0"/>
          </a:p>
        </p:txBody>
      </p:sp>
    </p:spTree>
    <p:extLst>
      <p:ext uri="{BB962C8B-B14F-4D97-AF65-F5344CB8AC3E}">
        <p14:creationId xmlns:p14="http://schemas.microsoft.com/office/powerpoint/2010/main" val="135671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Example 1</a:t>
            </a:r>
            <a:endParaRPr lang="fr-FR" altLang="en-US" dirty="0"/>
          </a:p>
        </p:txBody>
      </p:sp>
      <p:sp>
        <p:nvSpPr>
          <p:cNvPr id="16387" name="Rectangle 3"/>
          <p:cNvSpPr>
            <a:spLocks noGrp="1" noChangeArrowheads="1"/>
          </p:cNvSpPr>
          <p:nvPr>
            <p:ph sz="quarter" idx="1"/>
          </p:nvPr>
        </p:nvSpPr>
        <p:spPr>
          <a:xfrm>
            <a:off x="457200" y="1600200"/>
            <a:ext cx="8497888" cy="4114800"/>
          </a:xfrm>
        </p:spPr>
        <p:txBody>
          <a:bodyPr/>
          <a:lstStyle/>
          <a:p>
            <a:pPr algn="just" eaLnBrk="1" hangingPunct="1">
              <a:lnSpc>
                <a:spcPct val="90000"/>
              </a:lnSpc>
            </a:pPr>
            <a:r>
              <a:rPr lang="en-US" altLang="en-US" sz="2200" i="1" dirty="0"/>
              <a:t>User requirement:</a:t>
            </a:r>
            <a:r>
              <a:rPr lang="en-US" altLang="en-US" sz="2200" dirty="0"/>
              <a:t> The library system should provide a way to allow a student to borrow a book from the library.</a:t>
            </a:r>
          </a:p>
          <a:p>
            <a:pPr algn="just" eaLnBrk="1" hangingPunct="1">
              <a:lnSpc>
                <a:spcPct val="90000"/>
              </a:lnSpc>
              <a:buFont typeface="Wingdings 3" panose="05040102010807070707" pitchFamily="18" charset="2"/>
              <a:buNone/>
            </a:pPr>
            <a:endParaRPr lang="en-US" altLang="en-US" sz="2200" dirty="0"/>
          </a:p>
          <a:p>
            <a:pPr algn="just" eaLnBrk="1" hangingPunct="1">
              <a:lnSpc>
                <a:spcPct val="90000"/>
              </a:lnSpc>
            </a:pPr>
            <a:r>
              <a:rPr lang="en-US" altLang="en-US" sz="2200" i="1" dirty="0"/>
              <a:t>System requirement:</a:t>
            </a:r>
            <a:r>
              <a:rPr lang="en-US" altLang="en-US" sz="2200" dirty="0"/>
              <a:t> </a:t>
            </a:r>
            <a:r>
              <a:rPr lang="en-US" altLang="en-US" sz="2200" dirty="0">
                <a:cs typeface="Times New Roman" panose="02020603050405020304" pitchFamily="18" charset="0"/>
              </a:rPr>
              <a:t>The library system should provide a withdraw interaction that allows a student to withdraw a book given the </a:t>
            </a:r>
            <a:r>
              <a:rPr lang="en-US" altLang="en-US" sz="2200" i="1" u="sng" dirty="0" err="1">
                <a:cs typeface="Times New Roman" panose="02020603050405020304" pitchFamily="18" charset="0"/>
              </a:rPr>
              <a:t>isbn</a:t>
            </a:r>
            <a:r>
              <a:rPr lang="en-US" altLang="en-US" sz="2200" u="sng" dirty="0">
                <a:cs typeface="Times New Roman" panose="02020603050405020304" pitchFamily="18" charset="0"/>
              </a:rPr>
              <a:t> and copy </a:t>
            </a:r>
            <a:r>
              <a:rPr lang="en-US" altLang="en-US" sz="2200" i="1" u="sng" dirty="0">
                <a:cs typeface="Times New Roman" panose="02020603050405020304" pitchFamily="18" charset="0"/>
              </a:rPr>
              <a:t>number</a:t>
            </a:r>
            <a:r>
              <a:rPr lang="en-US" altLang="en-US" sz="2200" u="sng" dirty="0">
                <a:cs typeface="Times New Roman" panose="02020603050405020304" pitchFamily="18" charset="0"/>
              </a:rPr>
              <a:t> of the book</a:t>
            </a:r>
            <a:r>
              <a:rPr lang="en-US" altLang="en-US" sz="2200" dirty="0">
                <a:cs typeface="Times New Roman" panose="02020603050405020304" pitchFamily="18" charset="0"/>
              </a:rPr>
              <a:t> to be withdrawn. </a:t>
            </a:r>
          </a:p>
          <a:p>
            <a:pPr algn="just" eaLnBrk="1" hangingPunct="1">
              <a:lnSpc>
                <a:spcPct val="90000"/>
              </a:lnSpc>
              <a:buFont typeface="Wingdings 3" panose="05040102010807070707" pitchFamily="18" charset="2"/>
              <a:buNone/>
            </a:pPr>
            <a:endParaRPr lang="en-US" altLang="en-US" sz="2200" dirty="0">
              <a:cs typeface="Times New Roman" panose="02020603050405020304" pitchFamily="18" charset="0"/>
            </a:endParaRPr>
          </a:p>
          <a:p>
            <a:pPr algn="just" eaLnBrk="1" hangingPunct="1">
              <a:lnSpc>
                <a:spcPct val="90000"/>
              </a:lnSpc>
            </a:pPr>
            <a:r>
              <a:rPr lang="en-US" altLang="en-US" sz="2200" dirty="0">
                <a:cs typeface="Times New Roman" panose="02020603050405020304" pitchFamily="18" charset="0"/>
              </a:rPr>
              <a:t>The interaction fails if: the book is already withdrawn, the book is not in the library's collection, the student has already withdrawn 5 books, the student owes more than $5, the book is on hold by someone else. Otherwise…(</a:t>
            </a:r>
            <a:r>
              <a:rPr lang="en-US" altLang="en-US" sz="2200" i="1" dirty="0">
                <a:cs typeface="Times New Roman" panose="02020603050405020304" pitchFamily="18" charset="0"/>
              </a:rPr>
              <a:t>To be completed</a:t>
            </a:r>
            <a:r>
              <a:rPr lang="en-US" altLang="en-US" sz="2200" dirty="0">
                <a:cs typeface="Times New Roman" panose="02020603050405020304" pitchFamily="18" charset="0"/>
              </a:rPr>
              <a:t>)</a:t>
            </a:r>
            <a:endParaRPr lang="en-US" altLang="en-US" sz="2200" dirty="0"/>
          </a:p>
        </p:txBody>
      </p:sp>
      <p:sp>
        <p:nvSpPr>
          <p:cNvPr id="2" name="Date Placeholder 1"/>
          <p:cNvSpPr>
            <a:spLocks noGrp="1"/>
          </p:cNvSpPr>
          <p:nvPr>
            <p:ph type="dt" sz="half" idx="10"/>
          </p:nvPr>
        </p:nvSpPr>
        <p:spPr/>
        <p:txBody>
          <a:bodyPr/>
          <a:lstStyle/>
          <a:p>
            <a:fld id="{819410BA-5FC3-4CFC-A6A5-0DD062E68CDD}" type="datetime1">
              <a:rPr lang="en-US" smtClean="0"/>
              <a:t>10/9/2025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6</a:t>
            </a:fld>
            <a:endParaRPr lang="en-US" dirty="0"/>
          </a:p>
        </p:txBody>
      </p:sp>
    </p:spTree>
    <p:extLst>
      <p:ext uri="{BB962C8B-B14F-4D97-AF65-F5344CB8AC3E}">
        <p14:creationId xmlns:p14="http://schemas.microsoft.com/office/powerpoint/2010/main" val="406390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Example 2</a:t>
            </a:r>
            <a:endParaRPr lang="fr-FR" altLang="en-US" dirty="0"/>
          </a:p>
        </p:txBody>
      </p:sp>
      <p:sp>
        <p:nvSpPr>
          <p:cNvPr id="16387" name="Rectangle 3"/>
          <p:cNvSpPr>
            <a:spLocks noGrp="1" noChangeArrowheads="1"/>
          </p:cNvSpPr>
          <p:nvPr>
            <p:ph sz="quarter" idx="1"/>
          </p:nvPr>
        </p:nvSpPr>
        <p:spPr>
          <a:xfrm>
            <a:off x="457200" y="1600200"/>
            <a:ext cx="8497888" cy="4114800"/>
          </a:xfrm>
        </p:spPr>
        <p:txBody>
          <a:bodyPr/>
          <a:lstStyle/>
          <a:p>
            <a:pPr algn="just" eaLnBrk="1" hangingPunct="1">
              <a:lnSpc>
                <a:spcPct val="90000"/>
              </a:lnSpc>
            </a:pPr>
            <a:endParaRPr lang="en-US" altLang="en-US" sz="2200" dirty="0"/>
          </a:p>
        </p:txBody>
      </p:sp>
      <p:sp>
        <p:nvSpPr>
          <p:cNvPr id="2" name="Date Placeholder 1"/>
          <p:cNvSpPr>
            <a:spLocks noGrp="1"/>
          </p:cNvSpPr>
          <p:nvPr>
            <p:ph type="dt" sz="half" idx="10"/>
          </p:nvPr>
        </p:nvSpPr>
        <p:spPr/>
        <p:txBody>
          <a:bodyPr/>
          <a:lstStyle/>
          <a:p>
            <a:fld id="{819410BA-5FC3-4CFC-A6A5-0DD062E68CDD}" type="datetime1">
              <a:rPr lang="en-US" smtClean="0"/>
              <a:t>10/9/2025</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7</a:t>
            </a:fld>
            <a:endParaRPr lang="en-US" dirty="0"/>
          </a:p>
        </p:txBody>
      </p:sp>
      <p:pic>
        <p:nvPicPr>
          <p:cNvPr id="5" name="Picture 4"/>
          <p:cNvPicPr>
            <a:picLocks noChangeAspect="1"/>
          </p:cNvPicPr>
          <p:nvPr/>
        </p:nvPicPr>
        <p:blipFill>
          <a:blip r:embed="rId2"/>
          <a:stretch>
            <a:fillRect/>
          </a:stretch>
        </p:blipFill>
        <p:spPr>
          <a:xfrm>
            <a:off x="1295400" y="1371600"/>
            <a:ext cx="6858000" cy="5193587"/>
          </a:xfrm>
          <a:prstGeom prst="rect">
            <a:avLst/>
          </a:prstGeom>
        </p:spPr>
      </p:pic>
    </p:spTree>
    <p:extLst>
      <p:ext uri="{BB962C8B-B14F-4D97-AF65-F5344CB8AC3E}">
        <p14:creationId xmlns:p14="http://schemas.microsoft.com/office/powerpoint/2010/main" val="122060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pPr algn="just"/>
            <a:r>
              <a:rPr lang="en-GB" dirty="0"/>
              <a:t>You need to write requirements at different levels of detail because different types of readers use them in different ways. </a:t>
            </a:r>
          </a:p>
          <a:p>
            <a:pPr algn="just"/>
            <a:r>
              <a:rPr lang="en-GB" dirty="0"/>
              <a:t>The readers of the user requirements are not usually concerned with how the system will be implemented </a:t>
            </a:r>
          </a:p>
          <a:p>
            <a:pPr algn="just"/>
            <a:r>
              <a:rPr lang="en-GB" dirty="0"/>
              <a:t>Managers are not interested in the detailed facilities of the system.</a:t>
            </a:r>
          </a:p>
          <a:p>
            <a:pPr algn="just"/>
            <a:r>
              <a:rPr lang="en-GB" dirty="0"/>
              <a:t>The readers of the system requirements need to know more precisely what the system will do.</a:t>
            </a:r>
          </a:p>
          <a:p>
            <a:pPr algn="just"/>
            <a:r>
              <a:rPr lang="en-GB" dirty="0"/>
              <a:t>They are concerned with how it will support the business processes or because they are involved in the system implementation.</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8</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10/9/2025</a:t>
            </a:fld>
            <a:endParaRPr lang="en-US" dirty="0"/>
          </a:p>
        </p:txBody>
      </p:sp>
    </p:spTree>
    <p:extLst>
      <p:ext uri="{BB962C8B-B14F-4D97-AF65-F5344CB8AC3E}">
        <p14:creationId xmlns:p14="http://schemas.microsoft.com/office/powerpoint/2010/main" val="124608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pPr algn="just"/>
            <a:r>
              <a:rPr lang="en-GB" dirty="0"/>
              <a:t>The different types of document readers are actually the system stakeholders. </a:t>
            </a:r>
          </a:p>
          <a:p>
            <a:pPr algn="just"/>
            <a:r>
              <a:rPr lang="en-GB" dirty="0"/>
              <a:t>System stakeholders include anyone who is affected by the system in some way and so anyone who has a legitimate interest in it. </a:t>
            </a:r>
          </a:p>
          <a:p>
            <a:pPr algn="just"/>
            <a:r>
              <a:rPr lang="en-GB" dirty="0"/>
              <a:t>Stakeholders range from end-users of a system through managers to external stakeholders such as regulators, who certify the acceptability of the system.</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9</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10/9/2025</a:t>
            </a:fld>
            <a:endParaRPr lang="en-US" dirty="0"/>
          </a:p>
        </p:txBody>
      </p:sp>
    </p:spTree>
    <p:extLst>
      <p:ext uri="{BB962C8B-B14F-4D97-AF65-F5344CB8AC3E}">
        <p14:creationId xmlns:p14="http://schemas.microsoft.com/office/powerpoint/2010/main" val="2677067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10</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10/9/2025</a:t>
            </a:fld>
            <a:endParaRPr lang="en-US" dirty="0"/>
          </a:p>
        </p:txBody>
      </p:sp>
      <p:pic>
        <p:nvPicPr>
          <p:cNvPr id="7" name="Picture 6"/>
          <p:cNvPicPr>
            <a:picLocks noChangeAspect="1"/>
          </p:cNvPicPr>
          <p:nvPr/>
        </p:nvPicPr>
        <p:blipFill>
          <a:blip r:embed="rId2"/>
          <a:stretch>
            <a:fillRect/>
          </a:stretch>
        </p:blipFill>
        <p:spPr>
          <a:xfrm>
            <a:off x="533400" y="1676400"/>
            <a:ext cx="8097672" cy="4572000"/>
          </a:xfrm>
          <a:prstGeom prst="rect">
            <a:avLst/>
          </a:prstGeom>
        </p:spPr>
      </p:pic>
    </p:spTree>
    <p:extLst>
      <p:ext uri="{BB962C8B-B14F-4D97-AF65-F5344CB8AC3E}">
        <p14:creationId xmlns:p14="http://schemas.microsoft.com/office/powerpoint/2010/main" val="956493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normAutofit fontScale="92500" lnSpcReduction="10000"/>
          </a:bodyPr>
          <a:lstStyle/>
          <a:p>
            <a:r>
              <a:rPr lang="en-GB" dirty="0"/>
              <a:t>For example, system stakeholders for the </a:t>
            </a:r>
            <a:r>
              <a:rPr lang="en-GB" dirty="0" err="1"/>
              <a:t>Mentcare</a:t>
            </a:r>
            <a:r>
              <a:rPr lang="en-GB" dirty="0"/>
              <a:t> system include:</a:t>
            </a:r>
          </a:p>
          <a:p>
            <a:pPr lvl="1"/>
            <a:r>
              <a:rPr lang="en-GB" dirty="0"/>
              <a:t>Patients whose information is recorded in the system and relatives of these patients.</a:t>
            </a:r>
          </a:p>
          <a:p>
            <a:pPr lvl="1"/>
            <a:r>
              <a:rPr lang="en-GB" dirty="0"/>
              <a:t>Doctors who are responsible for assessing and treating patients.</a:t>
            </a:r>
          </a:p>
          <a:p>
            <a:pPr lvl="1"/>
            <a:r>
              <a:rPr lang="en-GB" dirty="0"/>
              <a:t>Nurses who coordinate the consultations with doctors and administer some treatments.</a:t>
            </a:r>
          </a:p>
          <a:p>
            <a:pPr lvl="1"/>
            <a:r>
              <a:rPr lang="en-GB" dirty="0"/>
              <a:t>Medical receptionists who manage patients’ appointments.</a:t>
            </a:r>
          </a:p>
          <a:p>
            <a:pPr lvl="1"/>
            <a:r>
              <a:rPr lang="en-GB" dirty="0"/>
              <a:t>IT staff who are responsible for installing and maintaining the system.</a:t>
            </a:r>
          </a:p>
          <a:p>
            <a:pPr lvl="1"/>
            <a:r>
              <a:rPr lang="en-GB" dirty="0"/>
              <a:t>A medical ethics manager who must ensure that the system meets current ethical guidelines for patient care.</a:t>
            </a:r>
          </a:p>
          <a:p>
            <a:pPr lvl="1"/>
            <a:r>
              <a:rPr lang="en-GB" dirty="0"/>
              <a:t>Health care managers who obtain management information from the system.</a:t>
            </a:r>
          </a:p>
          <a:p>
            <a:pPr lvl="1"/>
            <a:r>
              <a:rPr lang="en-GB" dirty="0"/>
              <a:t>Medical records staff who are responsible for ensuring that system information can be maintained and preserved, and that record keeping procedures have been properly implemented.</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11</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10/9/2025</a:t>
            </a:fld>
            <a:endParaRPr lang="en-US" dirty="0"/>
          </a:p>
        </p:txBody>
      </p:sp>
    </p:spTree>
    <p:extLst>
      <p:ext uri="{BB962C8B-B14F-4D97-AF65-F5344CB8AC3E}">
        <p14:creationId xmlns:p14="http://schemas.microsoft.com/office/powerpoint/2010/main" val="280388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Types Of Requirements</a:t>
            </a:r>
            <a:endParaRPr lang="en-US" dirty="0"/>
          </a:p>
        </p:txBody>
      </p:sp>
      <p:sp>
        <p:nvSpPr>
          <p:cNvPr id="3" name="Content Placeholder 2"/>
          <p:cNvSpPr>
            <a:spLocks noGrp="1"/>
          </p:cNvSpPr>
          <p:nvPr>
            <p:ph idx="1"/>
          </p:nvPr>
        </p:nvSpPr>
        <p:spPr/>
        <p:txBody>
          <a:bodyPr/>
          <a:lstStyle/>
          <a:p>
            <a:pPr lvl="1"/>
            <a:endParaRPr lang="en-GB" dirty="0"/>
          </a:p>
          <a:p>
            <a:r>
              <a:rPr lang="en-GB" dirty="0"/>
              <a:t>Software system requirements are often classified as </a:t>
            </a:r>
          </a:p>
          <a:p>
            <a:pPr lvl="2"/>
            <a:r>
              <a:rPr lang="en-GB" dirty="0"/>
              <a:t>Functional requirements</a:t>
            </a:r>
          </a:p>
          <a:p>
            <a:pPr lvl="2"/>
            <a:r>
              <a:rPr lang="en-GB" dirty="0"/>
              <a:t>Non-functional requirements </a:t>
            </a:r>
          </a:p>
          <a:p>
            <a:pPr marL="0" indent="0">
              <a:buNone/>
            </a:pP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12</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10/9/2025</a:t>
            </a:fld>
            <a:endParaRPr lang="en-US" dirty="0"/>
          </a:p>
        </p:txBody>
      </p:sp>
    </p:spTree>
    <p:extLst>
      <p:ext uri="{BB962C8B-B14F-4D97-AF65-F5344CB8AC3E}">
        <p14:creationId xmlns:p14="http://schemas.microsoft.com/office/powerpoint/2010/main" val="335328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en-US"/>
              <a:t>Functional Requirements</a:t>
            </a:r>
          </a:p>
        </p:txBody>
      </p:sp>
      <p:sp>
        <p:nvSpPr>
          <p:cNvPr id="386051" name="Rectangle 3"/>
          <p:cNvSpPr>
            <a:spLocks noGrp="1" noChangeArrowheads="1"/>
          </p:cNvSpPr>
          <p:nvPr>
            <p:ph type="body" idx="1"/>
          </p:nvPr>
        </p:nvSpPr>
        <p:spPr/>
        <p:txBody>
          <a:bodyPr>
            <a:normAutofit/>
          </a:bodyPr>
          <a:lstStyle/>
          <a:p>
            <a:pPr algn="just">
              <a:lnSpc>
                <a:spcPct val="90000"/>
              </a:lnSpc>
            </a:pPr>
            <a:r>
              <a:rPr lang="en-GB" altLang="en-US" dirty="0"/>
              <a:t>These are statements of services the system should provide.</a:t>
            </a:r>
          </a:p>
          <a:p>
            <a:pPr algn="just"/>
            <a:r>
              <a:rPr lang="en-US" altLang="en-US" dirty="0"/>
              <a:t>They bring in the system’s view and define from the system’s perspective </a:t>
            </a:r>
          </a:p>
          <a:p>
            <a:pPr algn="just">
              <a:buFont typeface="Wingdings 3" panose="05040102010807070707" pitchFamily="18" charset="2"/>
              <a:buNone/>
            </a:pPr>
            <a:r>
              <a:rPr lang="en-US" altLang="en-US" dirty="0"/>
              <a:t>	</a:t>
            </a:r>
          </a:p>
          <a:p>
            <a:pPr lvl="1" algn="just"/>
            <a:r>
              <a:rPr lang="en-US" altLang="en-US" dirty="0"/>
              <a:t>Services the system should provide</a:t>
            </a:r>
          </a:p>
          <a:p>
            <a:pPr lvl="1" algn="just"/>
            <a:r>
              <a:rPr lang="en-US" altLang="en-US" dirty="0"/>
              <a:t>How the system should react to particular input</a:t>
            </a:r>
          </a:p>
          <a:p>
            <a:pPr lvl="1" algn="just"/>
            <a:r>
              <a:rPr lang="en-US" altLang="en-US" dirty="0"/>
              <a:t>How the system should behave in a particular situations</a:t>
            </a:r>
          </a:p>
          <a:p>
            <a:pPr lvl="1" algn="just">
              <a:buFont typeface="Wingdings 3" panose="05040102010807070707" pitchFamily="18" charset="2"/>
              <a:buNone/>
            </a:pPr>
            <a:r>
              <a:rPr lang="en-US" altLang="en-US" dirty="0"/>
              <a:t> or</a:t>
            </a:r>
          </a:p>
          <a:p>
            <a:pPr lvl="1" algn="just">
              <a:buFont typeface="Wingdings 3" panose="05040102010807070707" pitchFamily="18" charset="2"/>
              <a:buNone/>
            </a:pPr>
            <a:endParaRPr lang="en-US" altLang="en-US" dirty="0"/>
          </a:p>
          <a:p>
            <a:pPr algn="just"/>
            <a:r>
              <a:rPr lang="en-US" altLang="en-US" dirty="0"/>
              <a:t>What the system should not do</a:t>
            </a:r>
          </a:p>
          <a:p>
            <a:pPr marL="0" indent="0" algn="just">
              <a:lnSpc>
                <a:spcPct val="90000"/>
              </a:lnSpc>
              <a:buNone/>
            </a:pP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13</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10/9/2025</a:t>
            </a:fld>
            <a:endParaRPr lang="en-US" dirty="0"/>
          </a:p>
        </p:txBody>
      </p:sp>
    </p:spTree>
    <p:extLst>
      <p:ext uri="{BB962C8B-B14F-4D97-AF65-F5344CB8AC3E}">
        <p14:creationId xmlns:p14="http://schemas.microsoft.com/office/powerpoint/2010/main" val="1349225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en-US"/>
              <a:t>Functional Requirements</a:t>
            </a:r>
          </a:p>
        </p:txBody>
      </p:sp>
      <p:sp>
        <p:nvSpPr>
          <p:cNvPr id="386051" name="Rectangle 3"/>
          <p:cNvSpPr>
            <a:spLocks noGrp="1" noChangeArrowheads="1"/>
          </p:cNvSpPr>
          <p:nvPr>
            <p:ph type="body" idx="1"/>
          </p:nvPr>
        </p:nvSpPr>
        <p:spPr/>
        <p:txBody>
          <a:bodyPr>
            <a:normAutofit/>
          </a:bodyPr>
          <a:lstStyle/>
          <a:p>
            <a:pPr algn="just">
              <a:lnSpc>
                <a:spcPct val="90000"/>
              </a:lnSpc>
            </a:pPr>
            <a:r>
              <a:rPr lang="en-GB" dirty="0"/>
              <a:t>Functional requirements for the </a:t>
            </a:r>
            <a:r>
              <a:rPr lang="en-GB" dirty="0" err="1"/>
              <a:t>Mentcare</a:t>
            </a:r>
            <a:r>
              <a:rPr lang="en-GB" dirty="0"/>
              <a:t> system, used to maintain information about patients receiving treatment for mental health problems:</a:t>
            </a:r>
          </a:p>
          <a:p>
            <a:pPr marL="731520" lvl="1" indent="-457200" algn="just">
              <a:lnSpc>
                <a:spcPct val="90000"/>
              </a:lnSpc>
              <a:buFont typeface="+mj-lt"/>
              <a:buAutoNum type="arabicPeriod"/>
            </a:pPr>
            <a:r>
              <a:rPr lang="en-GB" dirty="0"/>
              <a:t>A user shall be able to search the appointments lists for all clinics.</a:t>
            </a:r>
          </a:p>
          <a:p>
            <a:pPr marL="731520" lvl="1" indent="-457200" algn="just">
              <a:lnSpc>
                <a:spcPct val="90000"/>
              </a:lnSpc>
              <a:buFont typeface="+mj-lt"/>
              <a:buAutoNum type="arabicPeriod"/>
            </a:pPr>
            <a:r>
              <a:rPr lang="en-GB" dirty="0"/>
              <a:t>The system shall generate each day, for each clinic, a list of patients who are expected to attend appointments that day.</a:t>
            </a:r>
          </a:p>
          <a:p>
            <a:pPr marL="731520" lvl="1" indent="-457200" algn="just">
              <a:lnSpc>
                <a:spcPct val="90000"/>
              </a:lnSpc>
              <a:buFont typeface="+mj-lt"/>
              <a:buAutoNum type="arabicPeriod"/>
            </a:pPr>
            <a:r>
              <a:rPr lang="en-GB" dirty="0"/>
              <a:t>Each staff member using the system shall be uniquely identified by his or her eight-digit employee number.</a:t>
            </a: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14</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10/9/2025</a:t>
            </a:fld>
            <a:endParaRPr lang="en-US" dirty="0"/>
          </a:p>
        </p:txBody>
      </p:sp>
    </p:spTree>
    <p:extLst>
      <p:ext uri="{BB962C8B-B14F-4D97-AF65-F5344CB8AC3E}">
        <p14:creationId xmlns:p14="http://schemas.microsoft.com/office/powerpoint/2010/main" val="1979048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noAutofit/>
          </a:bodyPr>
          <a:lstStyle/>
          <a:p>
            <a:r>
              <a:rPr lang="en-US" altLang="en-US" sz="3200" dirty="0"/>
              <a:t>Requirements Completeness and Consistency</a:t>
            </a:r>
          </a:p>
        </p:txBody>
      </p:sp>
      <p:sp>
        <p:nvSpPr>
          <p:cNvPr id="386051" name="Rectangle 3"/>
          <p:cNvSpPr>
            <a:spLocks noGrp="1" noChangeArrowheads="1"/>
          </p:cNvSpPr>
          <p:nvPr>
            <p:ph type="body" idx="1"/>
          </p:nvPr>
        </p:nvSpPr>
        <p:spPr/>
        <p:txBody>
          <a:bodyPr>
            <a:normAutofit lnSpcReduction="10000"/>
          </a:bodyPr>
          <a:lstStyle/>
          <a:p>
            <a:pPr algn="just">
              <a:lnSpc>
                <a:spcPct val="90000"/>
              </a:lnSpc>
            </a:pPr>
            <a:r>
              <a:rPr lang="en-GB" b="1" dirty="0"/>
              <a:t>Completeness</a:t>
            </a:r>
            <a:r>
              <a:rPr lang="en-GB" dirty="0"/>
              <a:t> means that all services and information required by the user should be defined. </a:t>
            </a:r>
          </a:p>
          <a:p>
            <a:pPr algn="just">
              <a:lnSpc>
                <a:spcPct val="90000"/>
              </a:lnSpc>
            </a:pPr>
            <a:r>
              <a:rPr lang="en-GB" b="1" dirty="0"/>
              <a:t>Consistency</a:t>
            </a:r>
            <a:r>
              <a:rPr lang="en-GB" dirty="0"/>
              <a:t> means that requirements should not be contradictory.</a:t>
            </a:r>
          </a:p>
          <a:p>
            <a:pPr algn="just">
              <a:lnSpc>
                <a:spcPct val="90000"/>
              </a:lnSpc>
            </a:pPr>
            <a:r>
              <a:rPr lang="en-GB" dirty="0"/>
              <a:t>In practice, it is only possible to achieve requirements consistency and completeness for very small software systems.</a:t>
            </a:r>
          </a:p>
          <a:p>
            <a:pPr algn="just">
              <a:lnSpc>
                <a:spcPct val="90000"/>
              </a:lnSpc>
            </a:pPr>
            <a:r>
              <a:rPr lang="en-GB" dirty="0"/>
              <a:t>One reason is that it is easy to make mistakes and omissions when writing specifications for large, complex systems. </a:t>
            </a:r>
          </a:p>
          <a:p>
            <a:pPr algn="just">
              <a:lnSpc>
                <a:spcPct val="90000"/>
              </a:lnSpc>
            </a:pPr>
            <a:r>
              <a:rPr lang="en-GB" dirty="0"/>
              <a:t>Second reason is that large systems have many stakeholders, with different backgrounds and expectations.</a:t>
            </a:r>
          </a:p>
          <a:p>
            <a:pPr algn="just">
              <a:lnSpc>
                <a:spcPct val="90000"/>
              </a:lnSpc>
            </a:pPr>
            <a:r>
              <a:rPr lang="en-GB" dirty="0"/>
              <a:t>Inconsistent requirements may only be discovered after deeper analysis or during system development.</a:t>
            </a: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15</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10/9/2025</a:t>
            </a:fld>
            <a:endParaRPr lang="en-US" dirty="0"/>
          </a:p>
        </p:txBody>
      </p:sp>
    </p:spTree>
    <p:extLst>
      <p:ext uri="{BB962C8B-B14F-4D97-AF65-F5344CB8AC3E}">
        <p14:creationId xmlns:p14="http://schemas.microsoft.com/office/powerpoint/2010/main" val="3383148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altLang="en-US" sz="4000"/>
              <a:t>Non-functional Requirements (NFR’s)</a:t>
            </a:r>
          </a:p>
        </p:txBody>
      </p:sp>
      <p:sp>
        <p:nvSpPr>
          <p:cNvPr id="390147" name="Rectangle 3"/>
          <p:cNvSpPr>
            <a:spLocks noGrp="1" noChangeArrowheads="1"/>
          </p:cNvSpPr>
          <p:nvPr>
            <p:ph type="body" idx="1"/>
          </p:nvPr>
        </p:nvSpPr>
        <p:spPr/>
        <p:txBody>
          <a:bodyPr/>
          <a:lstStyle/>
          <a:p>
            <a:pPr algn="just">
              <a:lnSpc>
                <a:spcPct val="90000"/>
              </a:lnSpc>
            </a:pPr>
            <a:endParaRPr lang="en-GB" altLang="en-US" dirty="0"/>
          </a:p>
          <a:p>
            <a:pPr algn="just">
              <a:lnSpc>
                <a:spcPct val="90000"/>
              </a:lnSpc>
            </a:pPr>
            <a:r>
              <a:rPr lang="en-GB" altLang="en-US" dirty="0"/>
              <a:t>These are constraints on the services or functions offered by the system. </a:t>
            </a:r>
          </a:p>
          <a:p>
            <a:pPr marL="0" indent="0" algn="just">
              <a:lnSpc>
                <a:spcPct val="90000"/>
              </a:lnSpc>
              <a:buNone/>
            </a:pPr>
            <a:endParaRPr lang="en-GB" altLang="en-US" dirty="0"/>
          </a:p>
          <a:p>
            <a:pPr algn="just">
              <a:lnSpc>
                <a:spcPct val="90000"/>
              </a:lnSpc>
            </a:pPr>
            <a:r>
              <a:rPr lang="en-GB" altLang="en-US" dirty="0"/>
              <a:t>They include timing constraints, constraints on the development process and constraints imposed by standards. </a:t>
            </a:r>
          </a:p>
          <a:p>
            <a:pPr marL="0" indent="0" algn="just">
              <a:lnSpc>
                <a:spcPct val="90000"/>
              </a:lnSpc>
              <a:buNone/>
            </a:pPr>
            <a:endParaRPr lang="en-GB" altLang="en-US" dirty="0"/>
          </a:p>
          <a:p>
            <a:pPr algn="just">
              <a:lnSpc>
                <a:spcPct val="90000"/>
              </a:lnSpc>
            </a:pPr>
            <a:r>
              <a:rPr lang="en-GB" altLang="en-US" dirty="0"/>
              <a:t>Non-functional requirements often apply to the system as a whole. They do not usually just apply to individual system features or services.</a:t>
            </a:r>
          </a:p>
          <a:p>
            <a:pPr algn="just">
              <a:lnSpc>
                <a:spcPct val="90000"/>
              </a:lnSpc>
            </a:pPr>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16</a:t>
            </a:fld>
            <a:endParaRPr lang="en-US" dirty="0"/>
          </a:p>
        </p:txBody>
      </p:sp>
      <p:sp>
        <p:nvSpPr>
          <p:cNvPr id="3" name="Date Placeholder 2"/>
          <p:cNvSpPr>
            <a:spLocks noGrp="1"/>
          </p:cNvSpPr>
          <p:nvPr>
            <p:ph type="dt" sz="half" idx="10"/>
          </p:nvPr>
        </p:nvSpPr>
        <p:spPr/>
        <p:txBody>
          <a:bodyPr/>
          <a:lstStyle/>
          <a:p>
            <a:fld id="{66187F4B-B387-44F3-85D1-17A86E8AAB73}" type="datetime1">
              <a:rPr lang="en-US" smtClean="0"/>
              <a:t>10/9/2025</a:t>
            </a:fld>
            <a:endParaRPr lang="en-US" dirty="0"/>
          </a:p>
        </p:txBody>
      </p:sp>
    </p:spTree>
    <p:extLst>
      <p:ext uri="{BB962C8B-B14F-4D97-AF65-F5344CB8AC3E}">
        <p14:creationId xmlns:p14="http://schemas.microsoft.com/office/powerpoint/2010/main" val="3111033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381000"/>
            <a:ext cx="8229600" cy="990600"/>
          </a:xfrm>
        </p:spPr>
        <p:txBody>
          <a:bodyPr/>
          <a:lstStyle/>
          <a:p>
            <a:r>
              <a:rPr lang="en-US" altLang="en-US" dirty="0"/>
              <a:t>Types of NFR’s</a:t>
            </a:r>
            <a:endParaRPr lang="fr-FR" altLang="en-US" dirty="0"/>
          </a:p>
        </p:txBody>
      </p:sp>
      <p:pic>
        <p:nvPicPr>
          <p:cNvPr id="18435" name="Picture 4"/>
          <p:cNvPicPr>
            <a:picLocks noGrp="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4800" y="1219200"/>
            <a:ext cx="8610600" cy="5257800"/>
          </a:xfrm>
          <a:noFill/>
        </p:spPr>
      </p:pic>
      <p:sp>
        <p:nvSpPr>
          <p:cNvPr id="2" name="Slide Number Placeholder 1"/>
          <p:cNvSpPr>
            <a:spLocks noGrp="1"/>
          </p:cNvSpPr>
          <p:nvPr>
            <p:ph type="sldNum" sz="quarter" idx="12"/>
          </p:nvPr>
        </p:nvSpPr>
        <p:spPr/>
        <p:txBody>
          <a:bodyPr/>
          <a:lstStyle/>
          <a:p>
            <a:fld id="{0A68DB68-8052-4758-A647-54338E95D837}" type="slidenum">
              <a:rPr lang="en-US" smtClean="0"/>
              <a:pPr/>
              <a:t>17</a:t>
            </a:fld>
            <a:endParaRPr lang="en-US" dirty="0"/>
          </a:p>
        </p:txBody>
      </p:sp>
      <p:sp>
        <p:nvSpPr>
          <p:cNvPr id="3" name="Date Placeholder 2"/>
          <p:cNvSpPr>
            <a:spLocks noGrp="1"/>
          </p:cNvSpPr>
          <p:nvPr>
            <p:ph type="dt" sz="half" idx="10"/>
          </p:nvPr>
        </p:nvSpPr>
        <p:spPr/>
        <p:txBody>
          <a:bodyPr/>
          <a:lstStyle/>
          <a:p>
            <a:fld id="{E35578BE-E7AF-4DE1-B0C7-13E2678273EA}" type="datetime1">
              <a:rPr lang="en-US" smtClean="0"/>
              <a:t>10/9/2025</a:t>
            </a:fld>
            <a:endParaRPr lang="en-US" dirty="0"/>
          </a:p>
        </p:txBody>
      </p:sp>
    </p:spTree>
    <p:extLst>
      <p:ext uri="{BB962C8B-B14F-4D97-AF65-F5344CB8AC3E}">
        <p14:creationId xmlns:p14="http://schemas.microsoft.com/office/powerpoint/2010/main" val="3735917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r>
              <a:rPr lang="en-US" altLang="en-US" dirty="0"/>
              <a:t>Types of NFR’s (Contd..)</a:t>
            </a:r>
          </a:p>
        </p:txBody>
      </p:sp>
      <p:sp>
        <p:nvSpPr>
          <p:cNvPr id="391171" name="Rectangle 3"/>
          <p:cNvSpPr>
            <a:spLocks noGrp="1" noChangeArrowheads="1"/>
          </p:cNvSpPr>
          <p:nvPr>
            <p:ph type="body" idx="1"/>
          </p:nvPr>
        </p:nvSpPr>
        <p:spPr>
          <a:xfrm>
            <a:off x="457200" y="1600200"/>
            <a:ext cx="8458200" cy="5029200"/>
          </a:xfrm>
        </p:spPr>
        <p:txBody>
          <a:bodyPr/>
          <a:lstStyle/>
          <a:p>
            <a:pPr algn="just">
              <a:lnSpc>
                <a:spcPct val="80000"/>
              </a:lnSpc>
            </a:pPr>
            <a:r>
              <a:rPr lang="en-US" altLang="en-US" b="1" dirty="0"/>
              <a:t>Product requirements</a:t>
            </a:r>
          </a:p>
          <a:p>
            <a:pPr lvl="1" algn="just">
              <a:lnSpc>
                <a:spcPct val="80000"/>
              </a:lnSpc>
            </a:pPr>
            <a:r>
              <a:rPr lang="en-US" altLang="en-US" sz="2400" dirty="0"/>
              <a:t>Requirements which specify that the delivered product must behave in a particular way.</a:t>
            </a:r>
          </a:p>
          <a:p>
            <a:pPr lvl="1" algn="just">
              <a:lnSpc>
                <a:spcPct val="80000"/>
              </a:lnSpc>
            </a:pPr>
            <a:r>
              <a:rPr lang="en-US" altLang="en-US" sz="2400" dirty="0"/>
              <a:t>e.g. execution speed, reliability, Usability, etc.</a:t>
            </a:r>
          </a:p>
          <a:p>
            <a:pPr algn="just">
              <a:lnSpc>
                <a:spcPct val="80000"/>
              </a:lnSpc>
            </a:pPr>
            <a:r>
              <a:rPr lang="en-US" altLang="en-US" b="1" dirty="0"/>
              <a:t>Organizational requirements</a:t>
            </a:r>
          </a:p>
          <a:p>
            <a:pPr lvl="1" algn="just">
              <a:lnSpc>
                <a:spcPct val="80000"/>
              </a:lnSpc>
            </a:pPr>
            <a:r>
              <a:rPr lang="en-US" altLang="en-US" sz="2400" dirty="0"/>
              <a:t>Requirements which are a consequence of organizational policies and procedures in the customer’s and developer's organization.</a:t>
            </a:r>
          </a:p>
          <a:p>
            <a:pPr algn="just">
              <a:lnSpc>
                <a:spcPct val="80000"/>
              </a:lnSpc>
            </a:pPr>
            <a:r>
              <a:rPr lang="en-US" altLang="en-US" b="1" dirty="0"/>
              <a:t>External requirements</a:t>
            </a:r>
          </a:p>
          <a:p>
            <a:pPr lvl="1" algn="just">
              <a:lnSpc>
                <a:spcPct val="80000"/>
              </a:lnSpc>
            </a:pPr>
            <a:r>
              <a:rPr lang="en-US" altLang="en-US" sz="2400" dirty="0"/>
              <a:t>Requirements which arise from factors which are external to the system and its development process</a:t>
            </a:r>
          </a:p>
          <a:p>
            <a:pPr lvl="1" algn="just">
              <a:lnSpc>
                <a:spcPct val="80000"/>
              </a:lnSpc>
            </a:pPr>
            <a:r>
              <a:rPr lang="en-US" altLang="en-US" sz="2400" dirty="0"/>
              <a:t>e.g. legislative requirements, etc.</a:t>
            </a:r>
          </a:p>
          <a:p>
            <a:pPr algn="just">
              <a:lnSpc>
                <a:spcPct val="80000"/>
              </a:lnSpc>
            </a:pPr>
            <a:endParaRPr lang="en-US" altLang="en-US" sz="28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18</a:t>
            </a:fld>
            <a:endParaRPr lang="en-US" dirty="0"/>
          </a:p>
        </p:txBody>
      </p:sp>
      <p:sp>
        <p:nvSpPr>
          <p:cNvPr id="3" name="Date Placeholder 2"/>
          <p:cNvSpPr>
            <a:spLocks noGrp="1"/>
          </p:cNvSpPr>
          <p:nvPr>
            <p:ph type="dt" sz="half" idx="10"/>
          </p:nvPr>
        </p:nvSpPr>
        <p:spPr/>
        <p:txBody>
          <a:bodyPr/>
          <a:lstStyle/>
          <a:p>
            <a:fld id="{8526263A-DEAE-4629-B2F2-2F60E264183E}" type="datetime1">
              <a:rPr lang="en-US" smtClean="0"/>
              <a:t>10/9/2025</a:t>
            </a:fld>
            <a:endParaRPr lang="en-US" dirty="0"/>
          </a:p>
        </p:txBody>
      </p:sp>
    </p:spTree>
    <p:extLst>
      <p:ext uri="{BB962C8B-B14F-4D97-AF65-F5344CB8AC3E}">
        <p14:creationId xmlns:p14="http://schemas.microsoft.com/office/powerpoint/2010/main" val="2910271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5800" y="493713"/>
            <a:ext cx="7772400" cy="877887"/>
          </a:xfrm>
        </p:spPr>
        <p:txBody>
          <a:bodyPr/>
          <a:lstStyle/>
          <a:p>
            <a:r>
              <a:rPr lang="en-US" altLang="en-US" dirty="0"/>
              <a:t>Types of NFR’s (Contd..)</a:t>
            </a:r>
          </a:p>
        </p:txBody>
      </p:sp>
      <p:sp>
        <p:nvSpPr>
          <p:cNvPr id="19459" name="Content Placeholder 2"/>
          <p:cNvSpPr>
            <a:spLocks noGrp="1"/>
          </p:cNvSpPr>
          <p:nvPr>
            <p:ph idx="1"/>
          </p:nvPr>
        </p:nvSpPr>
        <p:spPr>
          <a:xfrm>
            <a:off x="685800" y="1447800"/>
            <a:ext cx="7989888" cy="4495800"/>
          </a:xfrm>
        </p:spPr>
        <p:txBody>
          <a:bodyPr/>
          <a:lstStyle/>
          <a:p>
            <a:pPr algn="just">
              <a:buFont typeface="Wingdings 3" panose="05040102010807070707" pitchFamily="18" charset="2"/>
              <a:buNone/>
            </a:pPr>
            <a:r>
              <a:rPr lang="en-US" altLang="en-US" sz="2000" b="1" dirty="0"/>
              <a:t> </a:t>
            </a:r>
          </a:p>
          <a:p>
            <a:pPr algn="just">
              <a:buFont typeface="Wingdings 3" panose="05040102010807070707" pitchFamily="18" charset="2"/>
              <a:buNone/>
            </a:pPr>
            <a:r>
              <a:rPr lang="en-US" altLang="en-US" sz="2000" b="1" dirty="0"/>
              <a:t>Reliability Requirements:</a:t>
            </a:r>
          </a:p>
          <a:p>
            <a:pPr algn="just">
              <a:buFont typeface="Wingdings 3" panose="05040102010807070707" pitchFamily="18" charset="2"/>
              <a:buNone/>
            </a:pPr>
            <a:r>
              <a:rPr lang="en-US" altLang="en-US" sz="2400" b="1" dirty="0"/>
              <a:t> 	</a:t>
            </a:r>
            <a:r>
              <a:rPr lang="en-US" altLang="en-US" sz="2200" dirty="0"/>
              <a:t>Reliability requirements deal with the failure to provide service.</a:t>
            </a:r>
          </a:p>
          <a:p>
            <a:pPr algn="just">
              <a:buFont typeface="Wingdings 3" panose="05040102010807070707" pitchFamily="18" charset="2"/>
              <a:buNone/>
            </a:pPr>
            <a:r>
              <a:rPr lang="en-US" altLang="en-US" sz="2400" dirty="0"/>
              <a:t>	</a:t>
            </a:r>
          </a:p>
          <a:p>
            <a:pPr algn="just">
              <a:buFont typeface="Wingdings 3" panose="05040102010807070707" pitchFamily="18" charset="2"/>
              <a:buNone/>
            </a:pPr>
            <a:r>
              <a:rPr lang="en-US" altLang="en-US" sz="2000" b="1" dirty="0"/>
              <a:t>Example :</a:t>
            </a:r>
          </a:p>
          <a:p>
            <a:pPr algn="just">
              <a:buFont typeface="Wingdings 3" panose="05040102010807070707" pitchFamily="18" charset="2"/>
              <a:buNone/>
            </a:pPr>
            <a:r>
              <a:rPr lang="en-US" altLang="en-US" sz="2400" dirty="0"/>
              <a:t>	</a:t>
            </a:r>
            <a:r>
              <a:rPr lang="en-US" altLang="en-US" sz="2200" dirty="0"/>
              <a:t>The failure frequency of a heart-monitoring unit that will operate in a hospital’s intensive care ward is required to be less than one in 20 years. Its heart attack detection function is required to have a failure rate of less than one per million cases.</a:t>
            </a:r>
          </a:p>
        </p:txBody>
      </p:sp>
      <p:sp>
        <p:nvSpPr>
          <p:cNvPr id="2" name="Slide Number Placeholder 1"/>
          <p:cNvSpPr>
            <a:spLocks noGrp="1"/>
          </p:cNvSpPr>
          <p:nvPr>
            <p:ph type="sldNum" sz="quarter" idx="12"/>
          </p:nvPr>
        </p:nvSpPr>
        <p:spPr/>
        <p:txBody>
          <a:bodyPr/>
          <a:lstStyle/>
          <a:p>
            <a:fld id="{0A68DB68-8052-4758-A647-54338E95D837}" type="slidenum">
              <a:rPr lang="en-US" smtClean="0"/>
              <a:pPr/>
              <a:t>19</a:t>
            </a:fld>
            <a:endParaRPr lang="en-US" dirty="0"/>
          </a:p>
        </p:txBody>
      </p:sp>
      <p:sp>
        <p:nvSpPr>
          <p:cNvPr id="3" name="Date Placeholder 2"/>
          <p:cNvSpPr>
            <a:spLocks noGrp="1"/>
          </p:cNvSpPr>
          <p:nvPr>
            <p:ph type="dt" sz="half" idx="10"/>
          </p:nvPr>
        </p:nvSpPr>
        <p:spPr/>
        <p:txBody>
          <a:bodyPr/>
          <a:lstStyle/>
          <a:p>
            <a:fld id="{569A5F45-7510-4C07-812D-33135A8C2A3C}" type="datetime1">
              <a:rPr lang="en-US" smtClean="0"/>
              <a:t>10/9/2025</a:t>
            </a:fld>
            <a:endParaRPr lang="en-US" dirty="0"/>
          </a:p>
        </p:txBody>
      </p:sp>
    </p:spTree>
    <p:extLst>
      <p:ext uri="{BB962C8B-B14F-4D97-AF65-F5344CB8AC3E}">
        <p14:creationId xmlns:p14="http://schemas.microsoft.com/office/powerpoint/2010/main" val="3229531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Types of NFR’s (Contd..)</a:t>
            </a:r>
          </a:p>
        </p:txBody>
      </p:sp>
      <p:sp>
        <p:nvSpPr>
          <p:cNvPr id="3" name="Content Placeholder 2"/>
          <p:cNvSpPr>
            <a:spLocks noGrp="1"/>
          </p:cNvSpPr>
          <p:nvPr>
            <p:ph sz="quarter" idx="1"/>
          </p:nvPr>
        </p:nvSpPr>
        <p:spPr>
          <a:xfrm>
            <a:off x="457200" y="1219200"/>
            <a:ext cx="8229600" cy="4937125"/>
          </a:xfrm>
        </p:spPr>
        <p:txBody>
          <a:bodyPr>
            <a:normAutofit fontScale="92500"/>
          </a:bodyPr>
          <a:lstStyle/>
          <a:p>
            <a:pPr marL="457200" indent="-457200" algn="just" fontAlgn="auto">
              <a:spcAft>
                <a:spcPts val="0"/>
              </a:spcAft>
              <a:buFont typeface="Wingdings 3" panose="05040102010807070707" pitchFamily="18" charset="2"/>
              <a:buNone/>
              <a:defRPr/>
            </a:pPr>
            <a:endParaRPr lang="en-US" sz="2200" b="1" dirty="0"/>
          </a:p>
          <a:p>
            <a:pPr marL="457200" indent="-457200" algn="just" fontAlgn="auto">
              <a:spcAft>
                <a:spcPts val="0"/>
              </a:spcAft>
              <a:buFont typeface="Wingdings 3" panose="05040102010807070707" pitchFamily="18" charset="2"/>
              <a:buNone/>
              <a:defRPr/>
            </a:pPr>
            <a:r>
              <a:rPr lang="en-US" sz="2200" b="1" dirty="0"/>
              <a:t>Efficiency Requirements:</a:t>
            </a:r>
          </a:p>
          <a:p>
            <a:pPr marL="457200" indent="-457200" algn="just" fontAlgn="auto">
              <a:spcAft>
                <a:spcPts val="0"/>
              </a:spcAft>
              <a:buFont typeface="Wingdings 3" panose="05040102010807070707" pitchFamily="18" charset="2"/>
              <a:buNone/>
              <a:defRPr/>
            </a:pPr>
            <a:endParaRPr lang="en-US" sz="2200" b="1" dirty="0"/>
          </a:p>
          <a:p>
            <a:pPr algn="just">
              <a:defRPr/>
            </a:pPr>
            <a:r>
              <a:rPr lang="en-US" sz="2200" dirty="0"/>
              <a:t>Deals with the hardware resources needed to perform the functions of the software.</a:t>
            </a:r>
          </a:p>
          <a:p>
            <a:pPr algn="just">
              <a:defRPr/>
            </a:pPr>
            <a:r>
              <a:rPr lang="en-US" sz="2200" dirty="0"/>
              <a:t>The main hardware resources to be considered are the computer’s</a:t>
            </a:r>
          </a:p>
          <a:p>
            <a:pPr algn="just">
              <a:buFont typeface="Wingdings 3" panose="05040102010807070707" pitchFamily="18" charset="2"/>
              <a:buNone/>
              <a:defRPr/>
            </a:pPr>
            <a:r>
              <a:rPr lang="en-US" sz="2200" dirty="0"/>
              <a:t>	processing capabilities (measured in MIPS – million instructions per second, MHz or megahertz etc.), its data storage capability in terms of memory and disk capacity (measured in MBs – megabytes, GBs – gigabytes, etc.) and the data communication capability of the communication lines (usually measured in KBPS – kilobits per second., etc)</a:t>
            </a:r>
          </a:p>
          <a:p>
            <a:pPr algn="just">
              <a:defRPr/>
            </a:pPr>
            <a:r>
              <a:rPr lang="en-US" sz="2200" dirty="0"/>
              <a:t>The requirements may include the maximum values at which the hardware resources will be applied in the developed software system</a:t>
            </a:r>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F461BEF-772E-494D-A885-57E3647568AD}" type="slidenum">
              <a:rPr lang="en-US" altLang="en-US" sz="1400">
                <a:solidFill>
                  <a:schemeClr val="bg1"/>
                </a:solidFill>
                <a:latin typeface="+mj-lt"/>
              </a:rPr>
              <a:pPr eaLnBrk="1" hangingPunct="1"/>
              <a:t>20</a:t>
            </a:fld>
            <a:endParaRPr lang="en-US" altLang="en-US" sz="1400" dirty="0">
              <a:solidFill>
                <a:schemeClr val="bg1"/>
              </a:solidFill>
              <a:latin typeface="+mj-lt"/>
            </a:endParaRPr>
          </a:p>
        </p:txBody>
      </p:sp>
      <p:sp>
        <p:nvSpPr>
          <p:cNvPr id="2" name="Date Placeholder 1"/>
          <p:cNvSpPr>
            <a:spLocks noGrp="1"/>
          </p:cNvSpPr>
          <p:nvPr>
            <p:ph type="dt" sz="half" idx="10"/>
          </p:nvPr>
        </p:nvSpPr>
        <p:spPr/>
        <p:txBody>
          <a:bodyPr/>
          <a:lstStyle/>
          <a:p>
            <a:fld id="{D5B08FC9-E7CB-43CB-9F70-3A663927EE0F}" type="datetime1">
              <a:rPr lang="en-US" smtClean="0"/>
              <a:t>10/9/2025</a:t>
            </a:fld>
            <a:endParaRPr lang="en-US" dirty="0"/>
          </a:p>
        </p:txBody>
      </p:sp>
    </p:spTree>
    <p:extLst>
      <p:ext uri="{BB962C8B-B14F-4D97-AF65-F5344CB8AC3E}">
        <p14:creationId xmlns:p14="http://schemas.microsoft.com/office/powerpoint/2010/main" val="233692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68313" y="485775"/>
            <a:ext cx="8280400" cy="885825"/>
          </a:xfrm>
        </p:spPr>
        <p:txBody>
          <a:bodyPr/>
          <a:lstStyle/>
          <a:p>
            <a:r>
              <a:rPr lang="en-US" altLang="en-US" dirty="0"/>
              <a:t>Types of NFR’s (Contd..)</a:t>
            </a:r>
          </a:p>
        </p:txBody>
      </p:sp>
      <p:sp>
        <p:nvSpPr>
          <p:cNvPr id="18435" name="Content Placeholder 2"/>
          <p:cNvSpPr>
            <a:spLocks noGrp="1"/>
          </p:cNvSpPr>
          <p:nvPr>
            <p:ph idx="1"/>
          </p:nvPr>
        </p:nvSpPr>
        <p:spPr>
          <a:xfrm>
            <a:off x="516904" y="1534287"/>
            <a:ext cx="8248869" cy="5105400"/>
          </a:xfrm>
        </p:spPr>
        <p:txBody>
          <a:bodyPr>
            <a:normAutofit lnSpcReduction="10000"/>
          </a:bodyPr>
          <a:lstStyle/>
          <a:p>
            <a:pPr marL="457200" indent="-457200" algn="just">
              <a:buFont typeface="Wingdings 3" panose="05040102010807070707" pitchFamily="18" charset="2"/>
              <a:buNone/>
              <a:defRPr/>
            </a:pPr>
            <a:r>
              <a:rPr lang="en-US" b="1" dirty="0"/>
              <a:t>Portability Requirements:  </a:t>
            </a:r>
          </a:p>
          <a:p>
            <a:pPr algn="just">
              <a:buFont typeface="Wingdings 3" panose="05040102010807070707" pitchFamily="18" charset="2"/>
              <a:buNone/>
              <a:defRPr/>
            </a:pPr>
            <a:r>
              <a:rPr lang="en-US" dirty="0"/>
              <a:t>	Portability requirements tend to the adaptation of a software system to other environments consisting of different hardware, different operating systems, and so forth.</a:t>
            </a:r>
          </a:p>
          <a:p>
            <a:pPr algn="just">
              <a:buFont typeface="Wingdings 3" panose="05040102010807070707" pitchFamily="18" charset="2"/>
              <a:buNone/>
              <a:defRPr/>
            </a:pPr>
            <a:endParaRPr lang="en-US" dirty="0"/>
          </a:p>
          <a:p>
            <a:pPr marL="457200" indent="-457200" algn="just">
              <a:buFont typeface="Wingdings 3" panose="05040102010807070707" pitchFamily="18" charset="2"/>
              <a:buNone/>
              <a:defRPr/>
            </a:pPr>
            <a:r>
              <a:rPr lang="en-US" b="1" dirty="0"/>
              <a:t>Interoperability Requirements:  </a:t>
            </a:r>
          </a:p>
          <a:p>
            <a:pPr algn="just">
              <a:buFont typeface="Arial" charset="0"/>
              <a:buChar char="•"/>
              <a:defRPr/>
            </a:pPr>
            <a:r>
              <a:rPr lang="en-US" dirty="0"/>
              <a:t>Interoperability describes the extent to which systems and devices can exchange data, and interpret that shared data. </a:t>
            </a:r>
          </a:p>
          <a:p>
            <a:pPr algn="just">
              <a:buFont typeface="Arial" charset="0"/>
              <a:buChar char="•"/>
              <a:defRPr/>
            </a:pPr>
            <a:r>
              <a:rPr lang="en-US" dirty="0"/>
              <a:t>For two systems to be interoperable, they must be able to exchange data and present that data such that it can be understood by a user</a:t>
            </a:r>
          </a:p>
          <a:p>
            <a:pPr algn="just">
              <a:buFont typeface="Wingdings 3" panose="05040102010807070707" pitchFamily="18" charset="2"/>
              <a:buNone/>
              <a:defRPr/>
            </a:pPr>
            <a:endParaRPr lang="en-US" sz="2200" dirty="0"/>
          </a:p>
          <a:p>
            <a:pPr algn="just">
              <a:defRPr/>
            </a:pPr>
            <a:endParaRPr lang="en-US" sz="2200" b="1" dirty="0"/>
          </a:p>
          <a:p>
            <a:pPr algn="just">
              <a:buFont typeface="Wingdings 3" panose="05040102010807070707" pitchFamily="18" charset="2"/>
              <a:buNone/>
              <a:defRPr/>
            </a:pPr>
            <a:endParaRPr lang="en-US" sz="22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21</a:t>
            </a:fld>
            <a:endParaRPr lang="en-US" dirty="0"/>
          </a:p>
        </p:txBody>
      </p:sp>
      <p:sp>
        <p:nvSpPr>
          <p:cNvPr id="3" name="Date Placeholder 2"/>
          <p:cNvSpPr>
            <a:spLocks noGrp="1"/>
          </p:cNvSpPr>
          <p:nvPr>
            <p:ph type="dt" sz="half" idx="10"/>
          </p:nvPr>
        </p:nvSpPr>
        <p:spPr/>
        <p:txBody>
          <a:bodyPr/>
          <a:lstStyle/>
          <a:p>
            <a:fld id="{56B15BB7-C12A-44A3-AB01-444B7DF9E17B}" type="datetime1">
              <a:rPr lang="en-US" smtClean="0"/>
              <a:t>10/9/2025</a:t>
            </a:fld>
            <a:endParaRPr lang="en-US" dirty="0"/>
          </a:p>
        </p:txBody>
      </p:sp>
    </p:spTree>
    <p:extLst>
      <p:ext uri="{BB962C8B-B14F-4D97-AF65-F5344CB8AC3E}">
        <p14:creationId xmlns:p14="http://schemas.microsoft.com/office/powerpoint/2010/main" val="1603162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dirty="0"/>
              <a:t>Usability</a:t>
            </a:r>
          </a:p>
        </p:txBody>
      </p:sp>
      <p:sp>
        <p:nvSpPr>
          <p:cNvPr id="4198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7A0C2C6-CF06-4D45-90BF-AA31AE78EB0A}" type="slidenum">
              <a:rPr lang="en-US" altLang="en-US" sz="1400">
                <a:solidFill>
                  <a:schemeClr val="bg1"/>
                </a:solidFill>
                <a:latin typeface="+mj-lt"/>
              </a:rPr>
              <a:pPr eaLnBrk="1" hangingPunct="1"/>
              <a:t>22</a:t>
            </a:fld>
            <a:endParaRPr lang="en-US" altLang="en-US" sz="1400" dirty="0">
              <a:solidFill>
                <a:schemeClr val="bg1"/>
              </a:solidFill>
              <a:latin typeface="+mj-lt"/>
            </a:endParaRPr>
          </a:p>
        </p:txBody>
      </p:sp>
      <p:pic>
        <p:nvPicPr>
          <p:cNvPr id="4198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t="5086" r="2316"/>
          <a:stretch>
            <a:fillRect/>
          </a:stretch>
        </p:blipFill>
        <p:spPr>
          <a:xfrm>
            <a:off x="609600" y="1676400"/>
            <a:ext cx="8153400" cy="3886200"/>
          </a:xfrm>
          <a:noFill/>
        </p:spPr>
      </p:pic>
      <p:sp>
        <p:nvSpPr>
          <p:cNvPr id="2" name="Date Placeholder 1"/>
          <p:cNvSpPr>
            <a:spLocks noGrp="1"/>
          </p:cNvSpPr>
          <p:nvPr>
            <p:ph type="dt" sz="half" idx="10"/>
          </p:nvPr>
        </p:nvSpPr>
        <p:spPr/>
        <p:txBody>
          <a:bodyPr/>
          <a:lstStyle/>
          <a:p>
            <a:fld id="{6FEC06DD-A8F9-4776-818D-C3BB30B53368}" type="datetime1">
              <a:rPr lang="en-US" smtClean="0"/>
              <a:t>10/9/2025</a:t>
            </a:fld>
            <a:endParaRPr lang="en-US" dirty="0"/>
          </a:p>
        </p:txBody>
      </p:sp>
    </p:spTree>
    <p:extLst>
      <p:ext uri="{BB962C8B-B14F-4D97-AF65-F5344CB8AC3E}">
        <p14:creationId xmlns:p14="http://schemas.microsoft.com/office/powerpoint/2010/main" val="1639105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62455" y="533400"/>
            <a:ext cx="8229600" cy="990600"/>
          </a:xfrm>
        </p:spPr>
        <p:txBody>
          <a:bodyPr>
            <a:normAutofit/>
          </a:bodyPr>
          <a:lstStyle/>
          <a:p>
            <a:r>
              <a:rPr lang="en-US" altLang="en-US" dirty="0"/>
              <a:t>Example: A Word Processor</a:t>
            </a:r>
          </a:p>
        </p:txBody>
      </p:sp>
      <p:sp>
        <p:nvSpPr>
          <p:cNvPr id="26627" name="Content Placeholder 2"/>
          <p:cNvSpPr>
            <a:spLocks noGrp="1"/>
          </p:cNvSpPr>
          <p:nvPr>
            <p:ph sz="quarter" idx="1"/>
          </p:nvPr>
        </p:nvSpPr>
        <p:spPr>
          <a:xfrm>
            <a:off x="457200" y="1447800"/>
            <a:ext cx="8229600" cy="4708525"/>
          </a:xfrm>
        </p:spPr>
        <p:txBody>
          <a:bodyPr/>
          <a:lstStyle/>
          <a:p>
            <a:pPr algn="just">
              <a:buFont typeface="Wingdings 3" panose="05040102010807070707" pitchFamily="18" charset="2"/>
              <a:buNone/>
            </a:pPr>
            <a:r>
              <a:rPr lang="en-US" altLang="en-US" sz="2200" dirty="0"/>
              <a:t>	</a:t>
            </a:r>
          </a:p>
          <a:p>
            <a:pPr algn="just">
              <a:buFont typeface="Wingdings 3" panose="05040102010807070707" pitchFamily="18" charset="2"/>
              <a:buNone/>
            </a:pPr>
            <a:r>
              <a:rPr lang="en-US" altLang="en-US" sz="2200" dirty="0"/>
              <a:t>	Let us now look at an example to understand the difference between these different types of requirements. </a:t>
            </a:r>
          </a:p>
          <a:p>
            <a:pPr algn="just">
              <a:buFont typeface="Wingdings 3" panose="05040102010807070707" pitchFamily="18" charset="2"/>
              <a:buNone/>
            </a:pPr>
            <a:r>
              <a:rPr lang="en-US" altLang="en-US" sz="2200" dirty="0"/>
              <a:t>	</a:t>
            </a:r>
          </a:p>
          <a:p>
            <a:pPr algn="just">
              <a:buFont typeface="Wingdings 3" panose="05040102010807070707" pitchFamily="18" charset="2"/>
              <a:buNone/>
            </a:pPr>
            <a:r>
              <a:rPr lang="en-US" altLang="en-US" sz="2200" dirty="0"/>
              <a:t>	Let us assume that we have a word-processing system that does not have a spell checker. In order to be able to sell the product, it is determined that it must have a spell checker</a:t>
            </a:r>
          </a:p>
          <a:p>
            <a:pPr algn="just"/>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23</a:t>
            </a:fld>
            <a:endParaRPr lang="en-US" dirty="0"/>
          </a:p>
        </p:txBody>
      </p:sp>
      <p:sp>
        <p:nvSpPr>
          <p:cNvPr id="3" name="Date Placeholder 2"/>
          <p:cNvSpPr>
            <a:spLocks noGrp="1"/>
          </p:cNvSpPr>
          <p:nvPr>
            <p:ph type="dt" sz="half" idx="10"/>
          </p:nvPr>
        </p:nvSpPr>
        <p:spPr/>
        <p:txBody>
          <a:bodyPr/>
          <a:lstStyle/>
          <a:p>
            <a:fld id="{E05BDE50-3DAE-45A4-BB62-2F8560863163}" type="datetime1">
              <a:rPr lang="en-US" smtClean="0"/>
              <a:t>10/9/2025</a:t>
            </a:fld>
            <a:endParaRPr lang="en-US" dirty="0"/>
          </a:p>
        </p:txBody>
      </p:sp>
    </p:spTree>
    <p:extLst>
      <p:ext uri="{BB962C8B-B14F-4D97-AF65-F5344CB8AC3E}">
        <p14:creationId xmlns:p14="http://schemas.microsoft.com/office/powerpoint/2010/main" val="3731765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533400"/>
            <a:ext cx="8229600" cy="838200"/>
          </a:xfrm>
        </p:spPr>
        <p:txBody>
          <a:bodyPr>
            <a:normAutofit/>
          </a:bodyPr>
          <a:lstStyle/>
          <a:p>
            <a:r>
              <a:rPr lang="en-US" altLang="en-US" dirty="0"/>
              <a:t>Contd..</a:t>
            </a:r>
          </a:p>
        </p:txBody>
      </p:sp>
      <p:sp>
        <p:nvSpPr>
          <p:cNvPr id="27651" name="Content Placeholder 2"/>
          <p:cNvSpPr>
            <a:spLocks noGrp="1"/>
          </p:cNvSpPr>
          <p:nvPr>
            <p:ph sz="quarter" idx="1"/>
          </p:nvPr>
        </p:nvSpPr>
        <p:spPr>
          <a:xfrm>
            <a:off x="457200" y="1371600"/>
            <a:ext cx="8229600" cy="4953000"/>
          </a:xfrm>
        </p:spPr>
        <p:txBody>
          <a:bodyPr>
            <a:normAutofit/>
          </a:bodyPr>
          <a:lstStyle/>
          <a:p>
            <a:pPr algn="just"/>
            <a:r>
              <a:rPr lang="en-US" altLang="en-US" sz="2200" dirty="0"/>
              <a:t>The </a:t>
            </a:r>
            <a:r>
              <a:rPr lang="en-US" altLang="en-US" sz="2200" b="1" dirty="0"/>
              <a:t>User Requirement </a:t>
            </a:r>
            <a:r>
              <a:rPr lang="en-US" altLang="en-US" sz="2200" dirty="0"/>
              <a:t>could be as follows: </a:t>
            </a:r>
          </a:p>
          <a:p>
            <a:pPr algn="just">
              <a:buFont typeface="Wingdings 3" panose="05040102010807070707" pitchFamily="18" charset="2"/>
              <a:buNone/>
            </a:pPr>
            <a:r>
              <a:rPr lang="en-US" altLang="en-US" sz="2200" i="1" dirty="0"/>
              <a:t> 	Finding spelling errors in the document and deciding whether to replace each misspelled word with one chosen from a list of suggested words. </a:t>
            </a:r>
            <a:r>
              <a:rPr lang="en-US" altLang="en-US" sz="2200" dirty="0"/>
              <a:t>It is important to note that this requirement is written from a user’s perspective</a:t>
            </a:r>
            <a:r>
              <a:rPr lang="en-US" altLang="en-US" sz="2800" dirty="0"/>
              <a:t>. </a:t>
            </a:r>
          </a:p>
          <a:p>
            <a:pPr algn="just"/>
            <a:r>
              <a:rPr lang="en-US" altLang="en-US" sz="2200" dirty="0"/>
              <a:t>After documenting the user’s perspective in the form of user requirements, we look at the system’s perspective:</a:t>
            </a:r>
          </a:p>
          <a:p>
            <a:pPr algn="just"/>
            <a:r>
              <a:rPr lang="en-US" altLang="en-US" sz="2200" dirty="0"/>
              <a:t>what is the functionality provided by the system and how will it help the user to accomplish these tasks. </a:t>
            </a:r>
          </a:p>
          <a:p>
            <a:pPr algn="just">
              <a:buFont typeface="Wingdings 3" panose="05040102010807070707" pitchFamily="18" charset="2"/>
              <a:buNone/>
            </a:pPr>
            <a:endParaRPr lang="en-US" altLang="en-US" sz="2800" dirty="0"/>
          </a:p>
          <a:p>
            <a:pPr>
              <a:buFont typeface="Wingdings 3" panose="05040102010807070707" pitchFamily="18" charset="2"/>
              <a:buNone/>
            </a:pPr>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24</a:t>
            </a:fld>
            <a:endParaRPr lang="en-US" dirty="0"/>
          </a:p>
        </p:txBody>
      </p:sp>
      <p:sp>
        <p:nvSpPr>
          <p:cNvPr id="3" name="Date Placeholder 2"/>
          <p:cNvSpPr>
            <a:spLocks noGrp="1"/>
          </p:cNvSpPr>
          <p:nvPr>
            <p:ph type="dt" sz="half" idx="10"/>
          </p:nvPr>
        </p:nvSpPr>
        <p:spPr/>
        <p:txBody>
          <a:bodyPr/>
          <a:lstStyle/>
          <a:p>
            <a:fld id="{A50B6D5C-B255-4D58-AA6B-4E81A1EB9F87}" type="datetime1">
              <a:rPr lang="en-US" smtClean="0"/>
              <a:t>10/9/2025</a:t>
            </a:fld>
            <a:endParaRPr lang="en-US" dirty="0"/>
          </a:p>
        </p:txBody>
      </p:sp>
    </p:spTree>
    <p:extLst>
      <p:ext uri="{BB962C8B-B14F-4D97-AF65-F5344CB8AC3E}">
        <p14:creationId xmlns:p14="http://schemas.microsoft.com/office/powerpoint/2010/main" val="2218527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Contd..</a:t>
            </a:r>
          </a:p>
        </p:txBody>
      </p:sp>
      <p:sp>
        <p:nvSpPr>
          <p:cNvPr id="28675" name="Content Placeholder 2"/>
          <p:cNvSpPr>
            <a:spLocks noGrp="1"/>
          </p:cNvSpPr>
          <p:nvPr>
            <p:ph sz="quarter" idx="1"/>
          </p:nvPr>
        </p:nvSpPr>
        <p:spPr>
          <a:xfrm>
            <a:off x="457200" y="1524000"/>
            <a:ext cx="8229600" cy="4572000"/>
          </a:xfrm>
        </p:spPr>
        <p:txBody>
          <a:bodyPr/>
          <a:lstStyle/>
          <a:p>
            <a:pPr algn="just">
              <a:buFont typeface="Wingdings 3" panose="05040102010807070707" pitchFamily="18" charset="2"/>
              <a:buNone/>
            </a:pPr>
            <a:r>
              <a:rPr lang="en-US" altLang="en-US" sz="2200" dirty="0"/>
              <a:t>	The </a:t>
            </a:r>
            <a:r>
              <a:rPr lang="en-US" altLang="en-US" sz="2200" b="1" dirty="0"/>
              <a:t>functional requirement </a:t>
            </a:r>
            <a:r>
              <a:rPr lang="en-US" altLang="en-US" sz="2200" dirty="0"/>
              <a:t>for the same user requirement could be written as follows: </a:t>
            </a:r>
          </a:p>
          <a:p>
            <a:pPr lvl="1" algn="just"/>
            <a:r>
              <a:rPr lang="en-US" altLang="en-US" i="1" dirty="0"/>
              <a:t>The spell checker will find and highlight misspelled words. </a:t>
            </a:r>
          </a:p>
          <a:p>
            <a:pPr lvl="1" algn="just"/>
            <a:r>
              <a:rPr lang="en-US" altLang="en-US" i="1" dirty="0"/>
              <a:t>It will then display a dialog box with suggested replacements. </a:t>
            </a:r>
          </a:p>
          <a:p>
            <a:pPr lvl="1" algn="just"/>
            <a:r>
              <a:rPr lang="en-US" altLang="en-US" i="1" dirty="0"/>
              <a:t>The user will be allowed to select from the list of suggested replacements.</a:t>
            </a:r>
          </a:p>
          <a:p>
            <a:pPr lvl="1" algn="just"/>
            <a:r>
              <a:rPr lang="en-US" altLang="en-US" i="1" dirty="0"/>
              <a:t>Upon selection it will replace the misspelled word with the selected word. </a:t>
            </a:r>
            <a:endParaRPr lang="en-US" altLang="en-US" sz="2200" dirty="0"/>
          </a:p>
          <a:p>
            <a:pPr algn="just"/>
            <a:r>
              <a:rPr lang="en-US" altLang="en-US" sz="2200" dirty="0"/>
              <a:t>Finally, a </a:t>
            </a:r>
            <a:r>
              <a:rPr lang="en-US" altLang="en-US" sz="2200" b="1" dirty="0"/>
              <a:t>non-functional requirement </a:t>
            </a:r>
            <a:r>
              <a:rPr lang="en-US" altLang="en-US" sz="2200" dirty="0"/>
              <a:t>of the system could require that it must be integrated into the existing word-processor that runs on windows platform</a:t>
            </a:r>
          </a:p>
        </p:txBody>
      </p:sp>
      <p:sp>
        <p:nvSpPr>
          <p:cNvPr id="2" name="Slide Number Placeholder 1"/>
          <p:cNvSpPr>
            <a:spLocks noGrp="1"/>
          </p:cNvSpPr>
          <p:nvPr>
            <p:ph type="sldNum" sz="quarter" idx="12"/>
          </p:nvPr>
        </p:nvSpPr>
        <p:spPr/>
        <p:txBody>
          <a:bodyPr/>
          <a:lstStyle/>
          <a:p>
            <a:fld id="{0A68DB68-8052-4758-A647-54338E95D837}" type="slidenum">
              <a:rPr lang="en-US" smtClean="0"/>
              <a:pPr/>
              <a:t>25</a:t>
            </a:fld>
            <a:endParaRPr lang="en-US" dirty="0"/>
          </a:p>
        </p:txBody>
      </p:sp>
      <p:sp>
        <p:nvSpPr>
          <p:cNvPr id="3" name="Date Placeholder 2"/>
          <p:cNvSpPr>
            <a:spLocks noGrp="1"/>
          </p:cNvSpPr>
          <p:nvPr>
            <p:ph type="dt" sz="half" idx="10"/>
          </p:nvPr>
        </p:nvSpPr>
        <p:spPr/>
        <p:txBody>
          <a:bodyPr/>
          <a:lstStyle/>
          <a:p>
            <a:fld id="{1F698002-772F-484E-821E-7713B77F9EEB}" type="datetime1">
              <a:rPr lang="en-US" smtClean="0"/>
              <a:t>10/9/2025</a:t>
            </a:fld>
            <a:endParaRPr lang="en-US" dirty="0"/>
          </a:p>
        </p:txBody>
      </p:sp>
    </p:spTree>
    <p:extLst>
      <p:ext uri="{BB962C8B-B14F-4D97-AF65-F5344CB8AC3E}">
        <p14:creationId xmlns:p14="http://schemas.microsoft.com/office/powerpoint/2010/main" val="822257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Specifying the Requirements</a:t>
            </a:r>
          </a:p>
        </p:txBody>
      </p:sp>
      <p:sp>
        <p:nvSpPr>
          <p:cNvPr id="395267" name="Rectangle 3"/>
          <p:cNvSpPr>
            <a:spLocks noGrp="1" noChangeArrowheads="1"/>
          </p:cNvSpPr>
          <p:nvPr>
            <p:ph type="body" idx="1"/>
          </p:nvPr>
        </p:nvSpPr>
        <p:spPr/>
        <p:txBody>
          <a:bodyPr/>
          <a:lstStyle/>
          <a:p>
            <a:pPr algn="just"/>
            <a:r>
              <a:rPr lang="en-US" altLang="en-US" dirty="0"/>
              <a:t>Functional and nonfunctional requirements should be specified in such a way that they are understandable by system users who don’t have detailed technical knowledge.</a:t>
            </a:r>
          </a:p>
          <a:p>
            <a:pPr algn="just"/>
            <a:endParaRPr lang="en-US" altLang="en-US" dirty="0"/>
          </a:p>
          <a:p>
            <a:pPr algn="just"/>
            <a:r>
              <a:rPr lang="en-US" altLang="en-US" dirty="0"/>
              <a:t>These requirements are defined using natural language, tables and diagrams as these can be understood by all users.</a:t>
            </a:r>
          </a:p>
          <a:p>
            <a:pPr algn="just"/>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26</a:t>
            </a:fld>
            <a:endParaRPr lang="en-US" dirty="0"/>
          </a:p>
        </p:txBody>
      </p:sp>
      <p:sp>
        <p:nvSpPr>
          <p:cNvPr id="3" name="Date Placeholder 2"/>
          <p:cNvSpPr>
            <a:spLocks noGrp="1"/>
          </p:cNvSpPr>
          <p:nvPr>
            <p:ph type="dt" sz="half" idx="10"/>
          </p:nvPr>
        </p:nvSpPr>
        <p:spPr/>
        <p:txBody>
          <a:bodyPr/>
          <a:lstStyle/>
          <a:p>
            <a:fld id="{50CC5199-6ACE-4E72-8AB9-8ECCDBCC54AF}" type="datetime1">
              <a:rPr lang="en-US" smtClean="0"/>
              <a:t>10/9/2025</a:t>
            </a:fld>
            <a:endParaRPr lang="en-US" dirty="0"/>
          </a:p>
        </p:txBody>
      </p:sp>
    </p:spTree>
    <p:extLst>
      <p:ext uri="{BB962C8B-B14F-4D97-AF65-F5344CB8AC3E}">
        <p14:creationId xmlns:p14="http://schemas.microsoft.com/office/powerpoint/2010/main" val="3922420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en-US" dirty="0"/>
              <a:t>Guidelines</a:t>
            </a:r>
          </a:p>
        </p:txBody>
      </p:sp>
      <p:sp>
        <p:nvSpPr>
          <p:cNvPr id="396291" name="Rectangle 3"/>
          <p:cNvSpPr>
            <a:spLocks noGrp="1" noChangeArrowheads="1"/>
          </p:cNvSpPr>
          <p:nvPr>
            <p:ph type="body" idx="1"/>
          </p:nvPr>
        </p:nvSpPr>
        <p:spPr>
          <a:xfrm>
            <a:off x="457200" y="1371600"/>
            <a:ext cx="8229600" cy="5334000"/>
          </a:xfrm>
        </p:spPr>
        <p:txBody>
          <a:bodyPr>
            <a:normAutofit/>
          </a:bodyPr>
          <a:lstStyle/>
          <a:p>
            <a:pPr algn="just"/>
            <a:r>
              <a:rPr lang="en-US" altLang="en-US" dirty="0"/>
              <a:t>While specifying or writing the requirements, following guidelines must be followed:</a:t>
            </a:r>
          </a:p>
          <a:p>
            <a:pPr lvl="1" algn="just"/>
            <a:r>
              <a:rPr lang="en-US" altLang="en-US" sz="2400" dirty="0"/>
              <a:t>Invent a standard format and use it for all requirements.</a:t>
            </a:r>
          </a:p>
          <a:p>
            <a:pPr lvl="1" algn="just"/>
            <a:r>
              <a:rPr lang="en-US" altLang="en-US" sz="2400" dirty="0"/>
              <a:t>Use language in a consistent way. </a:t>
            </a:r>
          </a:p>
          <a:p>
            <a:pPr lvl="1" algn="just"/>
            <a:r>
              <a:rPr lang="en-US" altLang="en-US" sz="2400" dirty="0"/>
              <a:t>Avoid the use of computer jargons.</a:t>
            </a:r>
          </a:p>
          <a:p>
            <a:pPr lvl="1" algn="just"/>
            <a:r>
              <a:rPr lang="en-US" altLang="en-US" sz="2400" dirty="0"/>
              <a:t>Separate functional and non-functional requirements.</a:t>
            </a:r>
          </a:p>
          <a:p>
            <a:pPr lvl="1" algn="just"/>
            <a:r>
              <a:rPr lang="en-US" altLang="en-US" sz="2400" dirty="0"/>
              <a:t>Distinguish requirements priorities</a:t>
            </a:r>
          </a:p>
          <a:p>
            <a:pPr lvl="2" algn="just"/>
            <a:r>
              <a:rPr lang="en-US" altLang="en-US" sz="2200" dirty="0"/>
              <a:t>Example: </a:t>
            </a:r>
            <a:r>
              <a:rPr lang="en-US" altLang="en-US" sz="2200" dirty="0" err="1"/>
              <a:t>MoSCoW</a:t>
            </a:r>
            <a:r>
              <a:rPr lang="en-US" altLang="en-US" sz="2200" dirty="0"/>
              <a:t> (Must, Shall, Could, Want/Will (no TBD))</a:t>
            </a:r>
          </a:p>
          <a:p>
            <a:pPr lvl="1" algn="just"/>
            <a:r>
              <a:rPr lang="en-US" altLang="en-US" sz="2400" dirty="0"/>
              <a:t>Testable (write test cases)</a:t>
            </a:r>
          </a:p>
          <a:p>
            <a:pPr lvl="1" algn="just"/>
            <a:endParaRPr lang="en-US" altLang="en-US" sz="2400" dirty="0"/>
          </a:p>
          <a:p>
            <a:pPr algn="just"/>
            <a:endParaRPr lang="en-US" altLang="en-US" sz="28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27</a:t>
            </a:fld>
            <a:endParaRPr lang="en-US" dirty="0"/>
          </a:p>
        </p:txBody>
      </p:sp>
      <p:sp>
        <p:nvSpPr>
          <p:cNvPr id="3" name="Date Placeholder 2"/>
          <p:cNvSpPr>
            <a:spLocks noGrp="1"/>
          </p:cNvSpPr>
          <p:nvPr>
            <p:ph type="dt" sz="half" idx="10"/>
          </p:nvPr>
        </p:nvSpPr>
        <p:spPr/>
        <p:txBody>
          <a:bodyPr/>
          <a:lstStyle/>
          <a:p>
            <a:fld id="{82DB3362-2327-41B9-94AB-D91761C20EEE}" type="datetime1">
              <a:rPr lang="en-US" smtClean="0"/>
              <a:t>10/9/2025</a:t>
            </a:fld>
            <a:endParaRPr lang="en-US" dirty="0"/>
          </a:p>
        </p:txBody>
      </p:sp>
    </p:spTree>
    <p:extLst>
      <p:ext uri="{BB962C8B-B14F-4D97-AF65-F5344CB8AC3E}">
        <p14:creationId xmlns:p14="http://schemas.microsoft.com/office/powerpoint/2010/main" val="2432894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a:t>
            </a:r>
          </a:p>
        </p:txBody>
      </p:sp>
      <p:sp>
        <p:nvSpPr>
          <p:cNvPr id="3" name="Content Placeholder 2"/>
          <p:cNvSpPr>
            <a:spLocks noGrp="1"/>
          </p:cNvSpPr>
          <p:nvPr>
            <p:ph idx="1"/>
          </p:nvPr>
        </p:nvSpPr>
        <p:spPr/>
        <p:txBody>
          <a:bodyPr/>
          <a:lstStyle/>
          <a:p>
            <a:pPr lvl="1" algn="just">
              <a:lnSpc>
                <a:spcPct val="90000"/>
              </a:lnSpc>
            </a:pPr>
            <a:r>
              <a:rPr lang="en-GB" sz="2400" dirty="0"/>
              <a:t>Write </a:t>
            </a:r>
            <a:r>
              <a:rPr lang="en-GB" sz="2400"/>
              <a:t>plausible system </a:t>
            </a:r>
            <a:r>
              <a:rPr lang="en-GB" sz="2400" dirty="0"/>
              <a:t>requirements for the following functions: </a:t>
            </a:r>
          </a:p>
          <a:p>
            <a:pPr lvl="1" algn="just">
              <a:lnSpc>
                <a:spcPct val="90000"/>
              </a:lnSpc>
            </a:pPr>
            <a:r>
              <a:rPr lang="en-GB" sz="2400" dirty="0"/>
              <a:t>An unattended petrol (gas) pump system that includes a credit card reader. The customer swipes the card through the reader, then specifies the amount of fuel required. The fuel is delivered and the customer’s account debited.</a:t>
            </a:r>
            <a:endParaRPr lang="fr-FR" altLang="en-US" sz="2200"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28</a:t>
            </a:fld>
            <a:endParaRPr lang="en-US" dirty="0"/>
          </a:p>
        </p:txBody>
      </p:sp>
      <p:sp>
        <p:nvSpPr>
          <p:cNvPr id="4" name="Date Placeholder 3"/>
          <p:cNvSpPr>
            <a:spLocks noGrp="1"/>
          </p:cNvSpPr>
          <p:nvPr>
            <p:ph type="dt" sz="half" idx="10"/>
          </p:nvPr>
        </p:nvSpPr>
        <p:spPr/>
        <p:txBody>
          <a:bodyPr/>
          <a:lstStyle/>
          <a:p>
            <a:fld id="{2ECFE24B-9704-4EC2-A278-7BC3A66B8973}" type="datetime1">
              <a:rPr lang="en-US" smtClean="0"/>
              <a:t>10/9/2025</a:t>
            </a:fld>
            <a:endParaRPr lang="en-US" dirty="0"/>
          </a:p>
        </p:txBody>
      </p:sp>
    </p:spTree>
    <p:extLst>
      <p:ext uri="{BB962C8B-B14F-4D97-AF65-F5344CB8AC3E}">
        <p14:creationId xmlns:p14="http://schemas.microsoft.com/office/powerpoint/2010/main" val="29371977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7828</TotalTime>
  <Words>1939</Words>
  <Application>Microsoft Office PowerPoint</Application>
  <PresentationFormat>On-screen Show (4:3)</PresentationFormat>
  <Paragraphs>217</Paragraphs>
  <Slides>28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ＭＳ Ｐゴシック</vt:lpstr>
      <vt:lpstr>Arial</vt:lpstr>
      <vt:lpstr>Calibri</vt:lpstr>
      <vt:lpstr>Times New Roman</vt:lpstr>
      <vt:lpstr>Wingdings 3</vt:lpstr>
      <vt:lpstr>Clarity</vt:lpstr>
      <vt:lpstr>     CSSE3113 – Introduction to Software Engineering  </vt:lpstr>
      <vt:lpstr>Requirements</vt:lpstr>
      <vt:lpstr>Requirement Engineering</vt:lpstr>
      <vt:lpstr>Software Requirements and Requirement Engineering</vt:lpstr>
      <vt:lpstr>Different Levels Of Abstraction</vt:lpstr>
      <vt:lpstr>Example 1</vt:lpstr>
      <vt:lpstr>Example 2</vt:lpstr>
      <vt:lpstr>Requirements for Different Stakeholders</vt:lpstr>
      <vt:lpstr>Requirements for Different Stakeholders</vt:lpstr>
      <vt:lpstr>Requirements for Different Stakeholders</vt:lpstr>
      <vt:lpstr>Requirements for Different Stakeholders</vt:lpstr>
      <vt:lpstr>Types Of Requirements</vt:lpstr>
      <vt:lpstr>Functional Requirements</vt:lpstr>
      <vt:lpstr>Functional Requirements</vt:lpstr>
      <vt:lpstr>Requirements Completeness and Consistency</vt:lpstr>
      <vt:lpstr>Non-functional Requirements (NFR’s)</vt:lpstr>
      <vt:lpstr>Types of NFR’s</vt:lpstr>
      <vt:lpstr>Types of NFR’s (Contd..)</vt:lpstr>
      <vt:lpstr>Types of NFR’s (Contd..)</vt:lpstr>
      <vt:lpstr>Types of NFR’s (Contd..)</vt:lpstr>
      <vt:lpstr>Types of NFR’s (Contd..)</vt:lpstr>
      <vt:lpstr>Usability</vt:lpstr>
      <vt:lpstr>Example: A Word Processor</vt:lpstr>
      <vt:lpstr>Contd..</vt:lpstr>
      <vt:lpstr>Contd..</vt:lpstr>
      <vt:lpstr>Specifying the Requirements</vt:lpstr>
      <vt:lpstr>Guidelines</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Junaid .</cp:lastModifiedBy>
  <cp:revision>379</cp:revision>
  <cp:lastPrinted>2018-10-01T05:01:21Z</cp:lastPrinted>
  <dcterms:created xsi:type="dcterms:W3CDTF">2014-09-24T14:35:43Z</dcterms:created>
  <dcterms:modified xsi:type="dcterms:W3CDTF">2025-10-09T06:00:37Z</dcterms:modified>
</cp:coreProperties>
</file>