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22"/>
  </p:notesMasterIdLst>
  <p:handoutMasterIdLst>
    <p:handoutMasterId r:id="rId23"/>
  </p:handoutMasterIdLst>
  <p:sldIdLst>
    <p:sldId id="295" r:id="rId2"/>
    <p:sldId id="411" r:id="rId3"/>
    <p:sldId id="427" r:id="rId4"/>
    <p:sldId id="412" r:id="rId5"/>
    <p:sldId id="413" r:id="rId6"/>
    <p:sldId id="428" r:id="rId7"/>
    <p:sldId id="414" r:id="rId8"/>
    <p:sldId id="416" r:id="rId9"/>
    <p:sldId id="417" r:id="rId10"/>
    <p:sldId id="418" r:id="rId11"/>
    <p:sldId id="419" r:id="rId12"/>
    <p:sldId id="420" r:id="rId13"/>
    <p:sldId id="421" r:id="rId14"/>
    <p:sldId id="422" r:id="rId15"/>
    <p:sldId id="423" r:id="rId16"/>
    <p:sldId id="424" r:id="rId17"/>
    <p:sldId id="426" r:id="rId18"/>
    <p:sldId id="429" r:id="rId19"/>
    <p:sldId id="425" r:id="rId20"/>
    <p:sldId id="370" r:id="rId21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41" autoAdjust="0"/>
    <p:restoredTop sz="94660"/>
  </p:normalViewPr>
  <p:slideViewPr>
    <p:cSldViewPr>
      <p:cViewPr varScale="1">
        <p:scale>
          <a:sx n="57" d="100"/>
          <a:sy n="57" d="100"/>
        </p:scale>
        <p:origin x="1476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413AC2-84B2-43FF-94BB-EB11EFEB6E93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E5FA1F-BE4C-4B8A-B516-4391A4FD2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5731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678CA847-4A74-4ED8-B970-DB5660C561A5}" type="datetimeFigureOut">
              <a:rPr lang="en-US" smtClean="0"/>
              <a:pPr/>
              <a:t>10/10/2025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0545D3B6-AD8D-42AC-8CAA-0DAD722976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395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5D3B6-AD8D-42AC-8CAA-0DAD72297694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559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Semantic</a:t>
            </a:r>
            <a:r>
              <a:rPr lang="en-GB" baseline="0" dirty="0"/>
              <a:t>-&gt; meaning and interpretation of words</a:t>
            </a:r>
            <a:endParaRPr lang="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5D3B6-AD8D-42AC-8CAA-0DAD72297694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2967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1">
            <a:extLst>
              <a:ext uri="{FF2B5EF4-FFF2-40B4-BE49-F238E27FC236}">
                <a16:creationId xmlns:a16="http://schemas.microsoft.com/office/drawing/2014/main" id="{731A0CEF-3187-F48C-5568-DE4631EC44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911F192F-9529-6E4F-2EBD-3A6B8511425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6BD37-4C25-4A7F-A326-40C8AFF5722B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CSC291 - Software Engineering Concepts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1E117-A072-4856-A34D-86E7F1BF6669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CSC291 - Software Engineering Concepts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2DC4A-FD06-4D84-A9C7-DC96657B41D1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CSC291 - Software Engineering Concepts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BE5EB-50F2-449B-99AA-BBED36F2C004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CSC291 - Software Engineering Concepts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B01C5-FB4F-49F2-91B9-4C89DAE069E1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CSC291 - Software Engineering Concepts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29D95-63DA-4A86-9840-B31C6E4ED522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CSC291 - Software Engineering Concepts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5F4AB-8CF9-4ABF-B61C-23AB2A7505DE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CSC291 - Software Engineering Concepts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981F4-FBBD-4A91-B74A-446B3E243621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CSC291 - Software Engineering Concepts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4D915-5338-4A5C-83C2-E57194B4D010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CSC291 - Software Engineering Concepts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7F41B-7DCD-4817-B735-972BB7CED403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CSC291 - Software Engineering Concepts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E3F75-42DF-4DC6-9D70-7C294066CF00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CSC291 - Software Engineering Concepts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77CDF48C-D576-4C0B-B672-61200B0A591C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>CSC291 - Software Engineering Concepts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0A68DB68-8052-4758-A647-54338E95D83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581400"/>
            <a:ext cx="7543800" cy="1905000"/>
          </a:xfrm>
        </p:spPr>
        <p:txBody>
          <a:bodyPr>
            <a:normAutofit/>
          </a:bodyPr>
          <a:lstStyle/>
          <a:p>
            <a:pPr marL="63500" algn="ctr" eaLnBrk="1" hangingPunct="1"/>
            <a:endParaRPr lang="en-US" sz="2000" dirty="0">
              <a:solidFill>
                <a:schemeClr val="tx1"/>
              </a:solidFill>
              <a:latin typeface="+mj-lt"/>
              <a:cs typeface="Times New Roman" pitchFamily="18" charset="0"/>
            </a:endParaRPr>
          </a:p>
          <a:p>
            <a:pPr marL="63500" algn="ctr" eaLnBrk="1" hangingPunct="1"/>
            <a:r>
              <a:rPr lang="en-US" sz="2800" b="1" dirty="0">
                <a:solidFill>
                  <a:schemeClr val="tx1"/>
                </a:solidFill>
                <a:latin typeface="+mj-lt"/>
                <a:cs typeface="Times New Roman" pitchFamily="18" charset="0"/>
              </a:rPr>
              <a:t>Requirements Modelling</a:t>
            </a:r>
          </a:p>
          <a:p>
            <a:pPr marL="63500" algn="ctr" eaLnBrk="1" hangingPunct="1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1371600"/>
            <a:ext cx="8839200" cy="1927225"/>
          </a:xfrm>
        </p:spPr>
        <p:txBody>
          <a:bodyPr/>
          <a:lstStyle/>
          <a:p>
            <a:pPr algn="ctr"/>
            <a:br>
              <a:rPr lang="en-US" sz="3200" dirty="0">
                <a:latin typeface="Times New Roman" pitchFamily="18" charset="0"/>
                <a:cs typeface="Times New Roman" pitchFamily="18" charset="0"/>
              </a:rPr>
            </a:br>
            <a:br>
              <a:rPr lang="en-US" sz="3200" dirty="0">
                <a:latin typeface="Times New Roman" pitchFamily="18" charset="0"/>
                <a:cs typeface="Times New Roman" pitchFamily="18" charset="0"/>
              </a:rPr>
            </a:br>
            <a:br>
              <a:rPr lang="en-US" sz="3200" dirty="0">
                <a:latin typeface="Times New Roman" pitchFamily="18" charset="0"/>
                <a:cs typeface="Times New Roman" pitchFamily="18" charset="0"/>
              </a:rPr>
            </a:br>
            <a:br>
              <a:rPr lang="en-US" sz="3200" dirty="0">
                <a:latin typeface="Times New Roman" pitchFamily="18" charset="0"/>
                <a:cs typeface="Times New Roman" pitchFamily="18" charset="0"/>
              </a:rPr>
            </a:br>
            <a:br>
              <a:rPr lang="en-US" sz="3200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dirty="0">
                <a:solidFill>
                  <a:srgbClr val="C00000"/>
                </a:solidFill>
                <a:cs typeface="Times New Roman" pitchFamily="18" charset="0"/>
              </a:rPr>
              <a:t>CSSE3113 – </a:t>
            </a:r>
            <a:r>
              <a:rPr lang="en-US" sz="3200" cap="none" dirty="0">
                <a:solidFill>
                  <a:srgbClr val="C00000"/>
                </a:solidFill>
                <a:cs typeface="Times New Roman" pitchFamily="18" charset="0"/>
              </a:rPr>
              <a:t>Introduction to Software Engineering </a:t>
            </a:r>
            <a:br>
              <a:rPr lang="en-US" sz="3200" dirty="0">
                <a:solidFill>
                  <a:srgbClr val="C00000"/>
                </a:solidFill>
                <a:cs typeface="Times New Roman" pitchFamily="18" charset="0"/>
              </a:rPr>
            </a:b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78D0C-BEFA-1F2D-E71C-D7EBF9746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 Modelling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80268-A54E-0E43-ED8F-93861F4F5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 eaLnBrk="1" hangingPunct="1">
              <a:lnSpc>
                <a:spcPct val="150000"/>
              </a:lnSpc>
            </a:pPr>
            <a:r>
              <a:rPr lang="en-US" altLang="en-US" sz="2400" dirty="0">
                <a:ea typeface="ＭＳ Ｐゴシック" panose="020B0600070205080204" pitchFamily="34" charset="-128"/>
              </a:rPr>
              <a:t>The intent of the analysis/requirement model is to provide a description of the required informational, functional, and behavioral domains for a computer-based system. 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400" dirty="0">
                <a:ea typeface="ＭＳ Ｐゴシック" panose="020B0600070205080204" pitchFamily="34" charset="-128"/>
              </a:rPr>
              <a:t>The model changes dynamically as you learn more about the system to build. 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400" dirty="0">
                <a:ea typeface="ＭＳ Ｐゴシック" panose="020B0600070205080204" pitchFamily="34" charset="-128"/>
              </a:rPr>
              <a:t>Other stakeholders understand more about what they really require. 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400" dirty="0">
                <a:ea typeface="ＭＳ Ｐゴシック" panose="020B0600070205080204" pitchFamily="34" charset="-128"/>
              </a:rPr>
              <a:t>There are different modes of representation that force you to consider requirements from different viewpoints---an approach that has a higher probability of uncovering omissions, inconsistencies, and ambiguity.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E052E-A8C2-F9FC-ADC5-DF6B57967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1E117-A072-4856-A34D-86E7F1BF6669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E109A-0FFB-5EDD-F2BC-E0A5D2CFC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295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2DFD6-73F3-EEE7-0EA3-75A154B87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 Modelling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920931-7349-356C-B071-F1FD15915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1E117-A072-4856-A34D-86E7F1BF6669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22997-428E-1664-EF07-F58E64A8B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E3C33B-CA60-B4FC-D2C9-5696354F3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780032"/>
            <a:ext cx="6311899" cy="4544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509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F8CA2-71A4-5260-9112-DF9D0E557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Scenario-based Modelling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2B991-BFA6-3243-D7C9-3DE091DDA3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en-US" altLang="en-US" sz="2400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The scenarios often called use cases, proved a description of how the system will be used. </a:t>
            </a:r>
            <a:endParaRPr lang="en-US" altLang="en-US" dirty="0">
              <a:solidFill>
                <a:srgbClr val="000000"/>
              </a:solidFill>
              <a:ea typeface="ＭＳ Ｐゴシック" panose="020B0600070205080204" pitchFamily="34" charset="-128"/>
            </a:endParaRPr>
          </a:p>
          <a:p>
            <a:pPr algn="just" eaLnBrk="1" hangingPunct="1"/>
            <a:r>
              <a:rPr lang="en-US" altLang="en-US" sz="2400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In essence, a use case tells a stylized story about how an end user interacts with the system under a specific set of circumstances. </a:t>
            </a:r>
          </a:p>
          <a:p>
            <a:pPr algn="just" eaLnBrk="1" hangingPunct="1"/>
            <a:r>
              <a:rPr lang="en-US" altLang="en-US" sz="2400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The story can be a narrative text, an outline of tasks or interactions, a template-based description, or a diagrammatic representation.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17AAF-BD13-BF3E-5E52-9B10BFEA3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1E117-A072-4856-A34D-86E7F1BF6669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DA543-890B-F5C7-535E-F2487CF15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955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4FA65-CE4C-32FC-277D-62E56E11A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Scenario-based Modelling- Use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69158-7FA8-A6DF-A40E-4790BE9E3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199"/>
            <a:ext cx="8229600" cy="4800601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90000"/>
              </a:lnSpc>
              <a:defRPr/>
            </a:pPr>
            <a:r>
              <a:rPr lang="en-US" dirty="0">
                <a:ea typeface="ＭＳ Ｐゴシック" pitchFamily="34" charset="-128"/>
              </a:rPr>
              <a:t>A collection of user scenarios that describe the thread of usage of a system</a:t>
            </a:r>
          </a:p>
          <a:p>
            <a:pPr algn="just" eaLnBrk="1" hangingPunct="1">
              <a:lnSpc>
                <a:spcPct val="90000"/>
              </a:lnSpc>
              <a:defRPr/>
            </a:pPr>
            <a:r>
              <a:rPr lang="en-US" dirty="0">
                <a:ea typeface="ＭＳ Ｐゴシック" pitchFamily="34" charset="-128"/>
              </a:rPr>
              <a:t>Each scenario is described from the point-of-view of an </a:t>
            </a:r>
            <a:r>
              <a:rPr lang="ja-JP" altLang="en-US" dirty="0">
                <a:ea typeface="ＭＳ Ｐゴシック" pitchFamily="34" charset="-128"/>
              </a:rPr>
              <a:t>“</a:t>
            </a:r>
            <a:r>
              <a:rPr lang="en-US" altLang="ja-JP" dirty="0">
                <a:ea typeface="ＭＳ Ｐゴシック" pitchFamily="34" charset="-128"/>
              </a:rPr>
              <a:t>actor</a:t>
            </a:r>
            <a:r>
              <a:rPr lang="ja-JP" altLang="en-US" dirty="0">
                <a:ea typeface="ＭＳ Ｐゴシック" pitchFamily="34" charset="-128"/>
              </a:rPr>
              <a:t>”</a:t>
            </a:r>
            <a:r>
              <a:rPr lang="en-US" altLang="ja-JP" dirty="0">
                <a:ea typeface="ＭＳ Ｐゴシック" pitchFamily="34" charset="-128"/>
              </a:rPr>
              <a:t>—a person or device that interacts with the software in some way ( not necessarily users) to External entities. </a:t>
            </a:r>
          </a:p>
          <a:p>
            <a:pPr algn="just" eaLnBrk="1" hangingPunct="1">
              <a:lnSpc>
                <a:spcPct val="90000"/>
              </a:lnSpc>
              <a:defRPr/>
            </a:pPr>
            <a:r>
              <a:rPr lang="en-US" altLang="ja-JP" dirty="0">
                <a:ea typeface="ＭＳ Ｐゴシック" pitchFamily="34" charset="-128"/>
              </a:rPr>
              <a:t>For example, a machine in four different modes of programming, test, monitoring and troubleshooting modes. Four actors can be defined. Programmer, tester, monitor, and troubleshooter. </a:t>
            </a:r>
          </a:p>
          <a:p>
            <a:pPr algn="just" eaLnBrk="1" hangingPunct="1">
              <a:lnSpc>
                <a:spcPct val="90000"/>
              </a:lnSpc>
              <a:defRPr/>
            </a:pPr>
            <a:r>
              <a:rPr lang="en-US" altLang="ja-JP" dirty="0">
                <a:ea typeface="ＭＳ Ｐゴシック" pitchFamily="34" charset="-128"/>
              </a:rPr>
              <a:t>In some cases, the machine operator can play all of these roles. Or different people can play different roles.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AA8CE-4EC8-DA88-F62D-C3B74548A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1E117-A072-4856-A34D-86E7F1BF6669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4F1FC-4787-0AE0-AC4A-7047C1303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978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4FA65-CE4C-32FC-277D-62E56E11A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Scenario-based Modelling- Use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69158-7FA8-A6DF-A40E-4790BE9E3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39512"/>
          </a:xfrm>
        </p:spPr>
        <p:txBody>
          <a:bodyPr>
            <a:normAutofit fontScale="92500"/>
          </a:bodyPr>
          <a:lstStyle/>
          <a:p>
            <a:pPr algn="just" eaLnBrk="1" hangingPunct="1">
              <a:lnSpc>
                <a:spcPct val="90000"/>
              </a:lnSpc>
              <a:defRPr/>
            </a:pPr>
            <a:r>
              <a:rPr lang="en-US" dirty="0">
                <a:ea typeface="ＭＳ Ｐゴシック" pitchFamily="34" charset="-128"/>
              </a:rPr>
              <a:t>Once actors are defined, use cases can be developed. Each scenario answers the following questions:</a:t>
            </a:r>
          </a:p>
          <a:p>
            <a:pPr lvl="1" algn="just" eaLnBrk="1" hangingPunct="1">
              <a:lnSpc>
                <a:spcPct val="90000"/>
              </a:lnSpc>
              <a:spcBef>
                <a:spcPts val="300"/>
              </a:spcBef>
              <a:defRPr/>
            </a:pPr>
            <a:r>
              <a:rPr lang="en-US" sz="2200" dirty="0">
                <a:solidFill>
                  <a:srgbClr val="C00000"/>
                </a:solidFill>
                <a:ea typeface="ＭＳ Ｐゴシック" pitchFamily="34" charset="-128"/>
              </a:rPr>
              <a:t>Who is the primary actor, the secondary actor (s) ( to support the primary actors)?</a:t>
            </a:r>
          </a:p>
          <a:p>
            <a:pPr lvl="1" algn="just" eaLnBrk="1" hangingPunct="1">
              <a:lnSpc>
                <a:spcPct val="90000"/>
              </a:lnSpc>
              <a:defRPr/>
            </a:pPr>
            <a:r>
              <a:rPr lang="en-US" sz="2200" dirty="0">
                <a:solidFill>
                  <a:srgbClr val="C00000"/>
                </a:solidFill>
                <a:ea typeface="ＭＳ Ｐゴシック" pitchFamily="34" charset="-128"/>
              </a:rPr>
              <a:t>What are the actor</a:t>
            </a:r>
            <a:r>
              <a:rPr lang="ja-JP" altLang="en-US" sz="2200" dirty="0">
                <a:solidFill>
                  <a:srgbClr val="C00000"/>
                </a:solidFill>
                <a:ea typeface="ＭＳ Ｐゴシック" pitchFamily="34" charset="-128"/>
              </a:rPr>
              <a:t>’</a:t>
            </a:r>
            <a:r>
              <a:rPr lang="en-US" altLang="ja-JP" sz="2200" dirty="0">
                <a:solidFill>
                  <a:srgbClr val="C00000"/>
                </a:solidFill>
                <a:ea typeface="ＭＳ Ｐゴシック" pitchFamily="34" charset="-128"/>
              </a:rPr>
              <a:t>s goals?</a:t>
            </a:r>
          </a:p>
          <a:p>
            <a:pPr lvl="1" algn="just" eaLnBrk="1" hangingPunct="1">
              <a:lnSpc>
                <a:spcPct val="90000"/>
              </a:lnSpc>
              <a:defRPr/>
            </a:pPr>
            <a:r>
              <a:rPr lang="en-US" sz="2200" dirty="0">
                <a:solidFill>
                  <a:srgbClr val="C00000"/>
                </a:solidFill>
                <a:ea typeface="ＭＳ Ｐゴシック" pitchFamily="34" charset="-128"/>
              </a:rPr>
              <a:t>What preconditions should exist before the story begins?</a:t>
            </a:r>
          </a:p>
          <a:p>
            <a:pPr lvl="1" algn="just" eaLnBrk="1" hangingPunct="1">
              <a:lnSpc>
                <a:spcPct val="90000"/>
              </a:lnSpc>
              <a:defRPr/>
            </a:pPr>
            <a:r>
              <a:rPr lang="en-US" sz="2200" dirty="0">
                <a:solidFill>
                  <a:srgbClr val="C00000"/>
                </a:solidFill>
                <a:ea typeface="ＭＳ Ｐゴシック" pitchFamily="34" charset="-128"/>
              </a:rPr>
              <a:t>What main tasks or functions are performed by the actor?</a:t>
            </a:r>
          </a:p>
          <a:p>
            <a:pPr lvl="1" algn="just" eaLnBrk="1" hangingPunct="1">
              <a:lnSpc>
                <a:spcPct val="90000"/>
              </a:lnSpc>
              <a:defRPr/>
            </a:pPr>
            <a:r>
              <a:rPr lang="en-US" sz="2200" dirty="0">
                <a:solidFill>
                  <a:srgbClr val="C00000"/>
                </a:solidFill>
                <a:ea typeface="ＭＳ Ｐゴシック" pitchFamily="34" charset="-128"/>
              </a:rPr>
              <a:t>What extensions might be considered as the story is described?</a:t>
            </a:r>
          </a:p>
          <a:p>
            <a:pPr lvl="1" algn="just" eaLnBrk="1" hangingPunct="1">
              <a:lnSpc>
                <a:spcPct val="90000"/>
              </a:lnSpc>
              <a:defRPr/>
            </a:pPr>
            <a:r>
              <a:rPr lang="en-US" sz="2200" dirty="0">
                <a:solidFill>
                  <a:srgbClr val="C00000"/>
                </a:solidFill>
                <a:ea typeface="ＭＳ Ｐゴシック" pitchFamily="34" charset="-128"/>
              </a:rPr>
              <a:t>What variations in the actor</a:t>
            </a:r>
            <a:r>
              <a:rPr lang="ja-JP" altLang="en-US" sz="2200" dirty="0">
                <a:solidFill>
                  <a:srgbClr val="C00000"/>
                </a:solidFill>
                <a:ea typeface="ＭＳ Ｐゴシック" pitchFamily="34" charset="-128"/>
              </a:rPr>
              <a:t>’</a:t>
            </a:r>
            <a:r>
              <a:rPr lang="en-US" altLang="ja-JP" sz="2200" dirty="0">
                <a:solidFill>
                  <a:srgbClr val="C00000"/>
                </a:solidFill>
                <a:ea typeface="ＭＳ Ｐゴシック" pitchFamily="34" charset="-128"/>
              </a:rPr>
              <a:t>s interaction are possible?</a:t>
            </a:r>
          </a:p>
          <a:p>
            <a:pPr lvl="1" algn="just" eaLnBrk="1" hangingPunct="1">
              <a:lnSpc>
                <a:spcPct val="90000"/>
              </a:lnSpc>
              <a:defRPr/>
            </a:pPr>
            <a:r>
              <a:rPr lang="en-US" sz="2200" dirty="0">
                <a:solidFill>
                  <a:srgbClr val="C00000"/>
                </a:solidFill>
                <a:ea typeface="ＭＳ Ｐゴシック" pitchFamily="34" charset="-128"/>
              </a:rPr>
              <a:t>What system information will the actor acquire, produce, or change?</a:t>
            </a:r>
          </a:p>
          <a:p>
            <a:pPr lvl="1" algn="just" eaLnBrk="1" hangingPunct="1">
              <a:lnSpc>
                <a:spcPct val="90000"/>
              </a:lnSpc>
              <a:defRPr/>
            </a:pPr>
            <a:r>
              <a:rPr lang="en-US" sz="2200" dirty="0">
                <a:solidFill>
                  <a:srgbClr val="C00000"/>
                </a:solidFill>
                <a:ea typeface="ＭＳ Ｐゴシック" pitchFamily="34" charset="-128"/>
              </a:rPr>
              <a:t>Will the actor have to inform the system about changes in the external environment?</a:t>
            </a:r>
          </a:p>
          <a:p>
            <a:pPr lvl="1" algn="just" eaLnBrk="1" hangingPunct="1">
              <a:lnSpc>
                <a:spcPct val="90000"/>
              </a:lnSpc>
              <a:defRPr/>
            </a:pPr>
            <a:r>
              <a:rPr lang="en-US" sz="2200" dirty="0">
                <a:solidFill>
                  <a:srgbClr val="C00000"/>
                </a:solidFill>
                <a:ea typeface="ＭＳ Ｐゴシック" pitchFamily="34" charset="-128"/>
              </a:rPr>
              <a:t>What information does the actor desire from the system?</a:t>
            </a:r>
          </a:p>
          <a:p>
            <a:pPr lvl="1" algn="just" eaLnBrk="1" hangingPunct="1">
              <a:lnSpc>
                <a:spcPct val="90000"/>
              </a:lnSpc>
              <a:defRPr/>
            </a:pPr>
            <a:r>
              <a:rPr lang="en-US" sz="2200" dirty="0">
                <a:solidFill>
                  <a:srgbClr val="C00000"/>
                </a:solidFill>
                <a:ea typeface="ＭＳ Ｐゴシック" pitchFamily="34" charset="-128"/>
              </a:rPr>
              <a:t>Does the actor wish to be informed about unexpected changes?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AA8CE-4EC8-DA88-F62D-C3B74548A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1E117-A072-4856-A34D-86E7F1BF6669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4F1FC-4787-0AE0-AC4A-7047C1303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331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BF1D8-1A51-455B-7946-7E0C558FE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1E117-A072-4856-A34D-86E7F1BF6669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03ED1-0B95-126C-FD2B-37DA33731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7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496EE94-C096-BB6A-8B64-23EB53E09A61}"/>
              </a:ext>
            </a:extLst>
          </p:cNvPr>
          <p:cNvGrpSpPr/>
          <p:nvPr/>
        </p:nvGrpSpPr>
        <p:grpSpPr>
          <a:xfrm>
            <a:off x="533400" y="533400"/>
            <a:ext cx="8458200" cy="5824538"/>
            <a:chOff x="533400" y="533400"/>
            <a:chExt cx="8458200" cy="5824538"/>
          </a:xfrm>
        </p:grpSpPr>
        <p:sp>
          <p:nvSpPr>
            <p:cNvPr id="8" name="Oval 4">
              <a:extLst>
                <a:ext uri="{FF2B5EF4-FFF2-40B4-BE49-F238E27FC236}">
                  <a16:creationId xmlns:a16="http://schemas.microsoft.com/office/drawing/2014/main" id="{922C34F7-A38E-ADB0-406D-CA358C918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8413" y="1296988"/>
              <a:ext cx="1525587" cy="91281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100" b="1" dirty="0">
                  <a:solidFill>
                    <a:srgbClr val="C00000"/>
                  </a:solidFill>
                </a:rPr>
                <a:t>1</a:t>
              </a:r>
            </a:p>
            <a:p>
              <a:pPr algn="ctr">
                <a:defRPr/>
              </a:pPr>
              <a:r>
                <a:rPr lang="en-US" sz="1100" b="1" dirty="0">
                  <a:solidFill>
                    <a:srgbClr val="C00000"/>
                  </a:solidFill>
                </a:rPr>
                <a:t>Withdraw</a:t>
              </a:r>
            </a:p>
            <a:p>
              <a:pPr algn="ctr">
                <a:defRPr/>
              </a:pPr>
              <a:r>
                <a:rPr lang="en-US" sz="1100" b="1" dirty="0">
                  <a:solidFill>
                    <a:srgbClr val="C00000"/>
                  </a:solidFill>
                </a:rPr>
                <a:t>Money</a:t>
              </a:r>
            </a:p>
          </p:txBody>
        </p:sp>
        <p:sp>
          <p:nvSpPr>
            <p:cNvPr id="9" name="Oval 5">
              <a:extLst>
                <a:ext uri="{FF2B5EF4-FFF2-40B4-BE49-F238E27FC236}">
                  <a16:creationId xmlns:a16="http://schemas.microsoft.com/office/drawing/2014/main" id="{903A0D1A-3AD4-A08C-440B-AF192CF173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8413" y="2438400"/>
              <a:ext cx="1525587" cy="912813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100" b="1" dirty="0">
                  <a:solidFill>
                    <a:srgbClr val="C00000"/>
                  </a:solidFill>
                </a:rPr>
                <a:t>2</a:t>
              </a:r>
            </a:p>
            <a:p>
              <a:pPr algn="ctr">
                <a:defRPr/>
              </a:pPr>
              <a:r>
                <a:rPr lang="en-US" sz="1100" b="1" dirty="0">
                  <a:solidFill>
                    <a:srgbClr val="C00000"/>
                  </a:solidFill>
                </a:rPr>
                <a:t>Deposit</a:t>
              </a:r>
            </a:p>
            <a:p>
              <a:pPr algn="ctr">
                <a:defRPr/>
              </a:pPr>
              <a:r>
                <a:rPr lang="en-US" sz="1100" b="1" dirty="0">
                  <a:solidFill>
                    <a:srgbClr val="C00000"/>
                  </a:solidFill>
                </a:rPr>
                <a:t>Money</a:t>
              </a:r>
            </a:p>
          </p:txBody>
        </p:sp>
        <p:sp>
          <p:nvSpPr>
            <p:cNvPr id="10" name="Oval 6">
              <a:extLst>
                <a:ext uri="{FF2B5EF4-FFF2-40B4-BE49-F238E27FC236}">
                  <a16:creationId xmlns:a16="http://schemas.microsoft.com/office/drawing/2014/main" id="{8C5EFBDB-C932-987F-919D-9D0EBEB3AA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8413" y="3581400"/>
              <a:ext cx="1525587" cy="912813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100" b="1">
                  <a:solidFill>
                    <a:srgbClr val="C00000"/>
                  </a:solidFill>
                </a:rPr>
                <a:t>3</a:t>
              </a:r>
            </a:p>
            <a:p>
              <a:pPr algn="ctr">
                <a:defRPr/>
              </a:pPr>
              <a:r>
                <a:rPr lang="en-US" sz="1100" b="1">
                  <a:solidFill>
                    <a:srgbClr val="C00000"/>
                  </a:solidFill>
                </a:rPr>
                <a:t>Transfer</a:t>
              </a:r>
            </a:p>
            <a:p>
              <a:pPr algn="ctr">
                <a:defRPr/>
              </a:pPr>
              <a:r>
                <a:rPr lang="en-US" sz="1100" b="1">
                  <a:solidFill>
                    <a:srgbClr val="C00000"/>
                  </a:solidFill>
                </a:rPr>
                <a:t>Money</a:t>
              </a:r>
            </a:p>
          </p:txBody>
        </p:sp>
        <p:sp>
          <p:nvSpPr>
            <p:cNvPr id="11" name="Oval 7">
              <a:extLst>
                <a:ext uri="{FF2B5EF4-FFF2-40B4-BE49-F238E27FC236}">
                  <a16:creationId xmlns:a16="http://schemas.microsoft.com/office/drawing/2014/main" id="{58B6A6BE-97AD-CE1F-1580-8C3ACEB665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8413" y="4725988"/>
              <a:ext cx="1525587" cy="91281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100" b="1" dirty="0">
                  <a:solidFill>
                    <a:srgbClr val="C00000"/>
                  </a:solidFill>
                </a:rPr>
                <a:t>4</a:t>
              </a:r>
            </a:p>
            <a:p>
              <a:pPr algn="ctr">
                <a:defRPr/>
              </a:pPr>
              <a:r>
                <a:rPr lang="en-US" sz="1100" b="1" dirty="0">
                  <a:solidFill>
                    <a:srgbClr val="C00000"/>
                  </a:solidFill>
                </a:rPr>
                <a:t>Check</a:t>
              </a:r>
            </a:p>
            <a:p>
              <a:pPr algn="ctr">
                <a:defRPr/>
              </a:pPr>
              <a:r>
                <a:rPr lang="en-US" sz="1100" b="1" dirty="0">
                  <a:solidFill>
                    <a:srgbClr val="C00000"/>
                  </a:solidFill>
                </a:rPr>
                <a:t>Balance</a:t>
              </a:r>
            </a:p>
          </p:txBody>
        </p:sp>
        <p:sp>
          <p:nvSpPr>
            <p:cNvPr id="12" name="Rectangle 8">
              <a:extLst>
                <a:ext uri="{FF2B5EF4-FFF2-40B4-BE49-F238E27FC236}">
                  <a16:creationId xmlns:a16="http://schemas.microsoft.com/office/drawing/2014/main" id="{1BE71755-125D-0358-8EE5-DC5FBD5E63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800" y="609600"/>
              <a:ext cx="3276600" cy="5410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en-US" sz="1100" b="1">
                <a:solidFill>
                  <a:srgbClr val="C00000"/>
                </a:solidFill>
              </a:endParaRPr>
            </a:p>
          </p:txBody>
        </p:sp>
        <p:sp>
          <p:nvSpPr>
            <p:cNvPr id="13" name="Text Box 9">
              <a:extLst>
                <a:ext uri="{FF2B5EF4-FFF2-40B4-BE49-F238E27FC236}">
                  <a16:creationId xmlns:a16="http://schemas.microsoft.com/office/drawing/2014/main" id="{57BB037C-9C54-19B5-E6CA-2F116191FB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4200" y="685800"/>
              <a:ext cx="1524000" cy="2619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1100" b="1">
                  <a:solidFill>
                    <a:srgbClr val="C00000"/>
                  </a:solidFill>
                </a:rPr>
                <a:t>ATM System</a:t>
              </a:r>
            </a:p>
          </p:txBody>
        </p:sp>
        <p:grpSp>
          <p:nvGrpSpPr>
            <p:cNvPr id="14" name="Group 15">
              <a:extLst>
                <a:ext uri="{FF2B5EF4-FFF2-40B4-BE49-F238E27FC236}">
                  <a16:creationId xmlns:a16="http://schemas.microsoft.com/office/drawing/2014/main" id="{C5437F3B-5C22-6FED-5A1A-FB587C6058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7800" y="1828800"/>
              <a:ext cx="358775" cy="842963"/>
              <a:chOff x="590" y="1053"/>
              <a:chExt cx="226" cy="531"/>
            </a:xfrm>
          </p:grpSpPr>
          <p:sp>
            <p:nvSpPr>
              <p:cNvPr id="49" name="Oval 10">
                <a:extLst>
                  <a:ext uri="{FF2B5EF4-FFF2-40B4-BE49-F238E27FC236}">
                    <a16:creationId xmlns:a16="http://schemas.microsoft.com/office/drawing/2014/main" id="{FFCE27F9-BC94-CD4D-8C43-6425CBB2F9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1053"/>
                <a:ext cx="144" cy="14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11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50" name="Line 11">
                <a:extLst>
                  <a:ext uri="{FF2B5EF4-FFF2-40B4-BE49-F238E27FC236}">
                    <a16:creationId xmlns:a16="http://schemas.microsoft.com/office/drawing/2014/main" id="{EAD73268-2603-4078-45C2-710B1E3F68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2" y="1200"/>
                <a:ext cx="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11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51" name="Line 12">
                <a:extLst>
                  <a:ext uri="{FF2B5EF4-FFF2-40B4-BE49-F238E27FC236}">
                    <a16:creationId xmlns:a16="http://schemas.microsoft.com/office/drawing/2014/main" id="{E808ED1D-9C00-E2BB-688E-0A26B035A7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6" y="1440"/>
                <a:ext cx="13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11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52" name="Line 13">
                <a:extLst>
                  <a:ext uri="{FF2B5EF4-FFF2-40B4-BE49-F238E27FC236}">
                    <a16:creationId xmlns:a16="http://schemas.microsoft.com/office/drawing/2014/main" id="{94830B19-A130-E748-8C5E-78D82474C6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90" y="1440"/>
                <a:ext cx="96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11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53" name="Line 14">
                <a:extLst>
                  <a:ext uri="{FF2B5EF4-FFF2-40B4-BE49-F238E27FC236}">
                    <a16:creationId xmlns:a16="http://schemas.microsoft.com/office/drawing/2014/main" id="{AEB4D33A-0FA8-00C4-32CE-19B9B5820D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129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1100" b="1">
                  <a:solidFill>
                    <a:srgbClr val="C00000"/>
                  </a:solidFill>
                </a:endParaRPr>
              </a:p>
            </p:txBody>
          </p:sp>
        </p:grpSp>
        <p:sp>
          <p:nvSpPr>
            <p:cNvPr id="15" name="Text Box 16">
              <a:extLst>
                <a:ext uri="{FF2B5EF4-FFF2-40B4-BE49-F238E27FC236}">
                  <a16:creationId xmlns:a16="http://schemas.microsoft.com/office/drawing/2014/main" id="{EF09CE95-A1E8-D1CE-6A80-D4358FE7C0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800" y="2743200"/>
              <a:ext cx="1066800" cy="43021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sz="1100" b="1">
                  <a:solidFill>
                    <a:srgbClr val="C00000"/>
                  </a:solidFill>
                </a:rPr>
                <a:t>Bank Customer</a:t>
              </a:r>
            </a:p>
          </p:txBody>
        </p:sp>
        <p:grpSp>
          <p:nvGrpSpPr>
            <p:cNvPr id="16" name="Group 17">
              <a:extLst>
                <a:ext uri="{FF2B5EF4-FFF2-40B4-BE49-F238E27FC236}">
                  <a16:creationId xmlns:a16="http://schemas.microsoft.com/office/drawing/2014/main" id="{8F24E661-75D7-8F50-DE8E-29A5885148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62800" y="2362200"/>
              <a:ext cx="358775" cy="842963"/>
              <a:chOff x="590" y="1053"/>
              <a:chExt cx="226" cy="531"/>
            </a:xfrm>
          </p:grpSpPr>
          <p:sp>
            <p:nvSpPr>
              <p:cNvPr id="44" name="Oval 18">
                <a:extLst>
                  <a:ext uri="{FF2B5EF4-FFF2-40B4-BE49-F238E27FC236}">
                    <a16:creationId xmlns:a16="http://schemas.microsoft.com/office/drawing/2014/main" id="{093E053D-4ABA-84DF-20BC-9EDF789102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1053"/>
                <a:ext cx="144" cy="14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11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45" name="Line 19">
                <a:extLst>
                  <a:ext uri="{FF2B5EF4-FFF2-40B4-BE49-F238E27FC236}">
                    <a16:creationId xmlns:a16="http://schemas.microsoft.com/office/drawing/2014/main" id="{EB1BAFC7-887B-154B-6FE1-B3DF42969D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2" y="1200"/>
                <a:ext cx="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11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46" name="Line 20">
                <a:extLst>
                  <a:ext uri="{FF2B5EF4-FFF2-40B4-BE49-F238E27FC236}">
                    <a16:creationId xmlns:a16="http://schemas.microsoft.com/office/drawing/2014/main" id="{3329D50A-2FA6-594D-C01F-838A1A0BE0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6" y="1440"/>
                <a:ext cx="13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11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47" name="Line 21">
                <a:extLst>
                  <a:ext uri="{FF2B5EF4-FFF2-40B4-BE49-F238E27FC236}">
                    <a16:creationId xmlns:a16="http://schemas.microsoft.com/office/drawing/2014/main" id="{E5E36CCC-64BA-B167-095C-05A401D106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90" y="1440"/>
                <a:ext cx="96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11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48" name="Line 22">
                <a:extLst>
                  <a:ext uri="{FF2B5EF4-FFF2-40B4-BE49-F238E27FC236}">
                    <a16:creationId xmlns:a16="http://schemas.microsoft.com/office/drawing/2014/main" id="{83509456-660F-5FAA-87D9-F4A975582B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129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1100" b="1">
                  <a:solidFill>
                    <a:srgbClr val="C00000"/>
                  </a:solidFill>
                </a:endParaRPr>
              </a:p>
            </p:txBody>
          </p:sp>
        </p:grpSp>
        <p:sp>
          <p:nvSpPr>
            <p:cNvPr id="17" name="Text Box 23">
              <a:extLst>
                <a:ext uri="{FF2B5EF4-FFF2-40B4-BE49-F238E27FC236}">
                  <a16:creationId xmlns:a16="http://schemas.microsoft.com/office/drawing/2014/main" id="{C6A5CC12-4813-B83D-A3CA-6A6C1C99A6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0" y="3232150"/>
              <a:ext cx="990600" cy="6000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sz="1100" b="1">
                  <a:solidFill>
                    <a:srgbClr val="C00000"/>
                  </a:solidFill>
                </a:rPr>
                <a:t>Customer Accounts Database</a:t>
              </a:r>
            </a:p>
          </p:txBody>
        </p:sp>
        <p:sp>
          <p:nvSpPr>
            <p:cNvPr id="18" name="Line 24">
              <a:extLst>
                <a:ext uri="{FF2B5EF4-FFF2-40B4-BE49-F238E27FC236}">
                  <a16:creationId xmlns:a16="http://schemas.microsoft.com/office/drawing/2014/main" id="{8CA11AB0-AB14-2F39-A5FC-489C78DBE0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81200" y="1752600"/>
              <a:ext cx="1828800" cy="381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1100" b="1">
                <a:solidFill>
                  <a:srgbClr val="C00000"/>
                </a:solidFill>
              </a:endParaRPr>
            </a:p>
          </p:txBody>
        </p:sp>
        <p:sp>
          <p:nvSpPr>
            <p:cNvPr id="19" name="Line 25">
              <a:extLst>
                <a:ext uri="{FF2B5EF4-FFF2-40B4-BE49-F238E27FC236}">
                  <a16:creationId xmlns:a16="http://schemas.microsoft.com/office/drawing/2014/main" id="{99FF118B-B5AF-0E58-C770-B3E241B78A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1200" y="2286000"/>
              <a:ext cx="1828800" cy="609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1100" b="1">
                <a:solidFill>
                  <a:srgbClr val="C00000"/>
                </a:solidFill>
              </a:endParaRPr>
            </a:p>
          </p:txBody>
        </p:sp>
        <p:sp>
          <p:nvSpPr>
            <p:cNvPr id="20" name="Line 26">
              <a:extLst>
                <a:ext uri="{FF2B5EF4-FFF2-40B4-BE49-F238E27FC236}">
                  <a16:creationId xmlns:a16="http://schemas.microsoft.com/office/drawing/2014/main" id="{AC6D34DE-FA9B-3740-75B9-B42DE7A17A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1200" y="2514600"/>
              <a:ext cx="1828800" cy="152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1100" b="1">
                <a:solidFill>
                  <a:srgbClr val="C00000"/>
                </a:solidFill>
              </a:endParaRPr>
            </a:p>
          </p:txBody>
        </p:sp>
        <p:sp>
          <p:nvSpPr>
            <p:cNvPr id="21" name="Line 27">
              <a:extLst>
                <a:ext uri="{FF2B5EF4-FFF2-40B4-BE49-F238E27FC236}">
                  <a16:creationId xmlns:a16="http://schemas.microsoft.com/office/drawing/2014/main" id="{719D24C9-32C9-EF27-6E3F-59B4913446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1200" y="2743200"/>
              <a:ext cx="1828800" cy="2438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1100" b="1">
                <a:solidFill>
                  <a:srgbClr val="C00000"/>
                </a:solidFill>
              </a:endParaRPr>
            </a:p>
          </p:txBody>
        </p:sp>
        <p:sp>
          <p:nvSpPr>
            <p:cNvPr id="22" name="Line 28">
              <a:extLst>
                <a:ext uri="{FF2B5EF4-FFF2-40B4-BE49-F238E27FC236}">
                  <a16:creationId xmlns:a16="http://schemas.microsoft.com/office/drawing/2014/main" id="{508ED327-6ED7-078D-1571-87B798CFB2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4000" y="1676400"/>
              <a:ext cx="1600200" cy="914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1100" b="1">
                <a:solidFill>
                  <a:srgbClr val="C00000"/>
                </a:solidFill>
              </a:endParaRPr>
            </a:p>
          </p:txBody>
        </p:sp>
        <p:sp>
          <p:nvSpPr>
            <p:cNvPr id="23" name="Line 29">
              <a:extLst>
                <a:ext uri="{FF2B5EF4-FFF2-40B4-BE49-F238E27FC236}">
                  <a16:creationId xmlns:a16="http://schemas.microsoft.com/office/drawing/2014/main" id="{BAA0AE14-FE5E-7C3E-058F-E03F73D63B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34000" y="2743200"/>
              <a:ext cx="1600200" cy="152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1100" b="1">
                <a:solidFill>
                  <a:srgbClr val="C00000"/>
                </a:solidFill>
              </a:endParaRPr>
            </a:p>
          </p:txBody>
        </p:sp>
        <p:sp>
          <p:nvSpPr>
            <p:cNvPr id="24" name="Line 30">
              <a:extLst>
                <a:ext uri="{FF2B5EF4-FFF2-40B4-BE49-F238E27FC236}">
                  <a16:creationId xmlns:a16="http://schemas.microsoft.com/office/drawing/2014/main" id="{8353CF7F-101E-491D-EBA8-841A9B919A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34000" y="2895600"/>
              <a:ext cx="1600200" cy="1143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1100" b="1">
                <a:solidFill>
                  <a:srgbClr val="C00000"/>
                </a:solidFill>
              </a:endParaRPr>
            </a:p>
          </p:txBody>
        </p:sp>
        <p:sp>
          <p:nvSpPr>
            <p:cNvPr id="25" name="Line 31">
              <a:extLst>
                <a:ext uri="{FF2B5EF4-FFF2-40B4-BE49-F238E27FC236}">
                  <a16:creationId xmlns:a16="http://schemas.microsoft.com/office/drawing/2014/main" id="{D105D166-EA64-870D-58FC-924C4104F8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34000" y="3124200"/>
              <a:ext cx="1600200" cy="2057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1100" b="1">
                <a:solidFill>
                  <a:srgbClr val="C00000"/>
                </a:solidFill>
              </a:endParaRPr>
            </a:p>
          </p:txBody>
        </p:sp>
        <p:sp>
          <p:nvSpPr>
            <p:cNvPr id="26" name="Text Box 32">
              <a:extLst>
                <a:ext uri="{FF2B5EF4-FFF2-40B4-BE49-F238E27FC236}">
                  <a16:creationId xmlns:a16="http://schemas.microsoft.com/office/drawing/2014/main" id="{8D6BD282-E797-4293-CB2F-0DD6B28CD1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1371600"/>
              <a:ext cx="1371600" cy="2619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1100" b="1" dirty="0">
                  <a:solidFill>
                    <a:srgbClr val="C00000"/>
                  </a:solidFill>
                </a:rPr>
                <a:t>primary actor</a:t>
              </a:r>
            </a:p>
          </p:txBody>
        </p:sp>
        <p:sp>
          <p:nvSpPr>
            <p:cNvPr id="27" name="Line 33">
              <a:extLst>
                <a:ext uri="{FF2B5EF4-FFF2-40B4-BE49-F238E27FC236}">
                  <a16:creationId xmlns:a16="http://schemas.microsoft.com/office/drawing/2014/main" id="{84DA0436-6395-8D86-27A4-7549FA44DB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0600" y="1676400"/>
              <a:ext cx="381000" cy="228600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pPr>
                <a:defRPr/>
              </a:pPr>
              <a:endParaRPr lang="en-US" sz="1100" b="1">
                <a:solidFill>
                  <a:srgbClr val="C00000"/>
                </a:solidFill>
              </a:endParaRPr>
            </a:p>
          </p:txBody>
        </p:sp>
        <p:sp>
          <p:nvSpPr>
            <p:cNvPr id="28" name="Text Box 34">
              <a:extLst>
                <a:ext uri="{FF2B5EF4-FFF2-40B4-BE49-F238E27FC236}">
                  <a16:creationId xmlns:a16="http://schemas.microsoft.com/office/drawing/2014/main" id="{89CCB4A5-3E03-2992-9F5E-8B91C34553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3733800"/>
              <a:ext cx="533400" cy="2619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1100" b="1">
                  <a:solidFill>
                    <a:srgbClr val="C00000"/>
                  </a:solidFill>
                </a:rPr>
                <a:t>role </a:t>
              </a:r>
            </a:p>
          </p:txBody>
        </p:sp>
        <p:sp>
          <p:nvSpPr>
            <p:cNvPr id="29" name="Line 35">
              <a:extLst>
                <a:ext uri="{FF2B5EF4-FFF2-40B4-BE49-F238E27FC236}">
                  <a16:creationId xmlns:a16="http://schemas.microsoft.com/office/drawing/2014/main" id="{B906B992-8D9A-442E-CC26-64B28AA160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14400" y="3276600"/>
              <a:ext cx="457200" cy="457200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pPr>
                <a:defRPr/>
              </a:pPr>
              <a:endParaRPr lang="en-US" sz="1100" b="1">
                <a:solidFill>
                  <a:srgbClr val="C00000"/>
                </a:solidFill>
              </a:endParaRPr>
            </a:p>
          </p:txBody>
        </p:sp>
        <p:sp>
          <p:nvSpPr>
            <p:cNvPr id="30" name="Text Box 36">
              <a:extLst>
                <a:ext uri="{FF2B5EF4-FFF2-40B4-BE49-F238E27FC236}">
                  <a16:creationId xmlns:a16="http://schemas.microsoft.com/office/drawing/2014/main" id="{B6E5CBD4-9B91-3B1D-69B9-A635F282EE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3000" y="533400"/>
              <a:ext cx="1295400" cy="2619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1100" b="1">
                  <a:solidFill>
                    <a:srgbClr val="C00000"/>
                  </a:solidFill>
                </a:rPr>
                <a:t>system name</a:t>
              </a:r>
            </a:p>
          </p:txBody>
        </p:sp>
        <p:sp>
          <p:nvSpPr>
            <p:cNvPr id="31" name="Line 37">
              <a:extLst>
                <a:ext uri="{FF2B5EF4-FFF2-40B4-BE49-F238E27FC236}">
                  <a16:creationId xmlns:a16="http://schemas.microsoft.com/office/drawing/2014/main" id="{8638DBCA-65C3-52A9-5AF6-77B5A121A7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2200" y="685800"/>
              <a:ext cx="838200" cy="152400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pPr>
                <a:defRPr/>
              </a:pPr>
              <a:endParaRPr lang="en-US" sz="1100" b="1">
                <a:solidFill>
                  <a:srgbClr val="C00000"/>
                </a:solidFill>
              </a:endParaRPr>
            </a:p>
          </p:txBody>
        </p:sp>
        <p:sp>
          <p:nvSpPr>
            <p:cNvPr id="32" name="Text Box 38">
              <a:extLst>
                <a:ext uri="{FF2B5EF4-FFF2-40B4-BE49-F238E27FC236}">
                  <a16:creationId xmlns:a16="http://schemas.microsoft.com/office/drawing/2014/main" id="{DC83A99F-6CD4-A5B6-D522-762C7B93E2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10400" y="639763"/>
              <a:ext cx="1524000" cy="2619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1100" b="1">
                  <a:solidFill>
                    <a:srgbClr val="C00000"/>
                  </a:solidFill>
                </a:rPr>
                <a:t>system boundary</a:t>
              </a:r>
            </a:p>
          </p:txBody>
        </p:sp>
        <p:sp>
          <p:nvSpPr>
            <p:cNvPr id="33" name="Line 39">
              <a:extLst>
                <a:ext uri="{FF2B5EF4-FFF2-40B4-BE49-F238E27FC236}">
                  <a16:creationId xmlns:a16="http://schemas.microsoft.com/office/drawing/2014/main" id="{955A6408-523D-F380-410B-FEA36F649C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48400" y="914400"/>
              <a:ext cx="762000" cy="457200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pPr>
                <a:defRPr/>
              </a:pPr>
              <a:endParaRPr lang="en-US" sz="1100" b="1">
                <a:solidFill>
                  <a:srgbClr val="C00000"/>
                </a:solidFill>
              </a:endParaRPr>
            </a:p>
          </p:txBody>
        </p:sp>
        <p:sp>
          <p:nvSpPr>
            <p:cNvPr id="34" name="Text Box 40">
              <a:extLst>
                <a:ext uri="{FF2B5EF4-FFF2-40B4-BE49-F238E27FC236}">
                  <a16:creationId xmlns:a16="http://schemas.microsoft.com/office/drawing/2014/main" id="{E827F401-2B9F-483C-9857-F377B178B0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3800" y="1554163"/>
              <a:ext cx="1447800" cy="2619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1100" b="1">
                  <a:solidFill>
                    <a:srgbClr val="C00000"/>
                  </a:solidFill>
                </a:rPr>
                <a:t>secondary actor</a:t>
              </a:r>
            </a:p>
          </p:txBody>
        </p:sp>
        <p:sp>
          <p:nvSpPr>
            <p:cNvPr id="35" name="Line 42">
              <a:extLst>
                <a:ext uri="{FF2B5EF4-FFF2-40B4-BE49-F238E27FC236}">
                  <a16:creationId xmlns:a16="http://schemas.microsoft.com/office/drawing/2014/main" id="{27795CC9-E87B-B32D-6529-BCE798453D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20000" y="1828800"/>
              <a:ext cx="457200" cy="609600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pPr>
                <a:defRPr/>
              </a:pPr>
              <a:endParaRPr lang="en-US" sz="1100" b="1">
                <a:solidFill>
                  <a:srgbClr val="C00000"/>
                </a:solidFill>
              </a:endParaRPr>
            </a:p>
          </p:txBody>
        </p:sp>
        <p:sp>
          <p:nvSpPr>
            <p:cNvPr id="36" name="Line 44">
              <a:extLst>
                <a:ext uri="{FF2B5EF4-FFF2-40B4-BE49-F238E27FC236}">
                  <a16:creationId xmlns:a16="http://schemas.microsoft.com/office/drawing/2014/main" id="{B7012A37-1C05-B6FC-9444-289CA11E58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33600" y="5334000"/>
              <a:ext cx="1600200" cy="76200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pPr>
                <a:defRPr/>
              </a:pPr>
              <a:endParaRPr lang="en-US" sz="1100" b="1">
                <a:solidFill>
                  <a:srgbClr val="C00000"/>
                </a:solidFill>
              </a:endParaRPr>
            </a:p>
          </p:txBody>
        </p:sp>
        <p:sp>
          <p:nvSpPr>
            <p:cNvPr id="37" name="Text Box 45">
              <a:extLst>
                <a:ext uri="{FF2B5EF4-FFF2-40B4-BE49-F238E27FC236}">
                  <a16:creationId xmlns:a16="http://schemas.microsoft.com/office/drawing/2014/main" id="{1ADDCCDF-D027-44EA-E37A-81728C47BB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3000" y="5257800"/>
              <a:ext cx="914400" cy="2619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1100" b="1">
                  <a:solidFill>
                    <a:srgbClr val="C00000"/>
                  </a:solidFill>
                </a:rPr>
                <a:t>use case</a:t>
              </a:r>
            </a:p>
          </p:txBody>
        </p:sp>
        <p:sp>
          <p:nvSpPr>
            <p:cNvPr id="38" name="Rectangle 46">
              <a:extLst>
                <a:ext uri="{FF2B5EF4-FFF2-40B4-BE49-F238E27FC236}">
                  <a16:creationId xmlns:a16="http://schemas.microsoft.com/office/drawing/2014/main" id="{5C89292C-BDB4-A2CC-C6D6-7A8BAE8FB8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0400" y="4648200"/>
              <a:ext cx="1447800" cy="838200"/>
            </a:xfrm>
            <a:prstGeom prst="rect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100" b="1">
                  <a:solidFill>
                    <a:srgbClr val="C00000"/>
                  </a:solidFill>
                </a:rPr>
                <a:t>&lt;&lt;Customer </a:t>
              </a:r>
            </a:p>
            <a:p>
              <a:pPr algn="ctr">
                <a:defRPr/>
              </a:pPr>
              <a:r>
                <a:rPr lang="en-US" sz="1100" b="1">
                  <a:solidFill>
                    <a:srgbClr val="C00000"/>
                  </a:solidFill>
                </a:rPr>
                <a:t>Accounts </a:t>
              </a:r>
            </a:p>
            <a:p>
              <a:pPr algn="ctr">
                <a:defRPr/>
              </a:pPr>
              <a:r>
                <a:rPr lang="en-US" sz="1100" b="1">
                  <a:solidFill>
                    <a:srgbClr val="C00000"/>
                  </a:solidFill>
                </a:rPr>
                <a:t>Database&gt;&gt;</a:t>
              </a:r>
            </a:p>
          </p:txBody>
        </p:sp>
        <p:sp>
          <p:nvSpPr>
            <p:cNvPr id="39" name="Text Box 47">
              <a:extLst>
                <a:ext uri="{FF2B5EF4-FFF2-40B4-BE49-F238E27FC236}">
                  <a16:creationId xmlns:a16="http://schemas.microsoft.com/office/drawing/2014/main" id="{C7FE724E-4B32-1657-6D74-799A88C29A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62800" y="5562600"/>
              <a:ext cx="1295400" cy="43021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1100" b="1">
                  <a:solidFill>
                    <a:srgbClr val="C00000"/>
                  </a:solidFill>
                </a:rPr>
                <a:t>alternative actor notation</a:t>
              </a:r>
            </a:p>
          </p:txBody>
        </p:sp>
        <p:sp>
          <p:nvSpPr>
            <p:cNvPr id="40" name="Text Box 48">
              <a:extLst>
                <a:ext uri="{FF2B5EF4-FFF2-40B4-BE49-F238E27FC236}">
                  <a16:creationId xmlns:a16="http://schemas.microsoft.com/office/drawing/2014/main" id="{DACCE3E1-EE56-2E63-1677-964D82AF69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0" y="6096000"/>
              <a:ext cx="1066800" cy="2619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1100" b="1">
                  <a:solidFill>
                    <a:srgbClr val="C00000"/>
                  </a:solidFill>
                </a:rPr>
                <a:t>stereotype</a:t>
              </a:r>
            </a:p>
          </p:txBody>
        </p:sp>
        <p:sp>
          <p:nvSpPr>
            <p:cNvPr id="41" name="Line 50">
              <a:extLst>
                <a:ext uri="{FF2B5EF4-FFF2-40B4-BE49-F238E27FC236}">
                  <a16:creationId xmlns:a16="http://schemas.microsoft.com/office/drawing/2014/main" id="{71FCAF21-D46D-3B43-C356-99F944CA39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77000" y="5105400"/>
              <a:ext cx="762000" cy="990600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pPr>
                <a:defRPr/>
              </a:pPr>
              <a:endParaRPr lang="en-US" sz="1100" b="1">
                <a:solidFill>
                  <a:srgbClr val="C00000"/>
                </a:solidFill>
              </a:endParaRPr>
            </a:p>
          </p:txBody>
        </p:sp>
        <p:sp>
          <p:nvSpPr>
            <p:cNvPr id="42" name="Text Box 51">
              <a:extLst>
                <a:ext uri="{FF2B5EF4-FFF2-40B4-BE49-F238E27FC236}">
                  <a16:creationId xmlns:a16="http://schemas.microsoft.com/office/drawing/2014/main" id="{E10BEE2D-37F1-CBE1-B7CB-892EE02940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3000" y="4343400"/>
              <a:ext cx="1143000" cy="2619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1100" b="1">
                  <a:solidFill>
                    <a:srgbClr val="C00000"/>
                  </a:solidFill>
                </a:rPr>
                <a:t>association</a:t>
              </a:r>
            </a:p>
          </p:txBody>
        </p:sp>
        <p:sp>
          <p:nvSpPr>
            <p:cNvPr id="43" name="Line 52">
              <a:extLst>
                <a:ext uri="{FF2B5EF4-FFF2-40B4-BE49-F238E27FC236}">
                  <a16:creationId xmlns:a16="http://schemas.microsoft.com/office/drawing/2014/main" id="{B6C49BB9-CE9F-19B4-B830-6320AE191B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05000" y="3810000"/>
              <a:ext cx="762000" cy="533400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pPr>
                <a:defRPr/>
              </a:pPr>
              <a:endParaRPr lang="en-US" sz="1100" b="1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15401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A63A2-72CC-99BF-1FBE-0110FA2B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Class-based Modelling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D9AB9-C45C-AE4C-053E-3E32BD29F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>
                <a:ea typeface="ＭＳ Ｐゴシック" panose="020B0600070205080204" pitchFamily="34" charset="-128"/>
              </a:rPr>
              <a:t>It shows the classes of the system, their inter-relationships, and the operations and attributes of the classes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ea typeface="ＭＳ Ｐゴシック" panose="020B0600070205080204" pitchFamily="34" charset="-128"/>
              </a:rPr>
              <a:t>Explore domain concepts in the form of a domain model 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ea typeface="ＭＳ Ｐゴシック" panose="020B0600070205080204" pitchFamily="34" charset="-128"/>
              </a:rPr>
              <a:t>Analyze requirements in the form of a conceptual/analysis model 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9F72A-BEB2-CDB9-BB25-1833F7FDF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1E117-A072-4856-A34D-86E7F1BF6669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C8132-8174-7F87-F436-BD64FD060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884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96A31-1E3B-463A-14EA-01E85E164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Class-based Modelling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749C7-CA31-DC07-A1D1-1D4AC8EB1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984" indent="-173355" algn="just">
              <a:lnSpc>
                <a:spcPct val="150000"/>
              </a:lnSpc>
              <a:spcBef>
                <a:spcPts val="885"/>
              </a:spcBef>
              <a:buClr>
                <a:srgbClr val="9A0000"/>
              </a:buClr>
              <a:buSzPct val="75000"/>
              <a:buFont typeface="Wingdings"/>
              <a:buChar char=""/>
              <a:tabLst>
                <a:tab pos="515620" algn="l"/>
              </a:tabLst>
            </a:pPr>
            <a:r>
              <a:rPr lang="en-US" dirty="0">
                <a:cs typeface="Arial MT"/>
              </a:rPr>
              <a:t>Class-based</a:t>
            </a:r>
            <a:r>
              <a:rPr lang="en-US" spc="-25" dirty="0">
                <a:cs typeface="Arial MT"/>
              </a:rPr>
              <a:t> </a:t>
            </a:r>
            <a:r>
              <a:rPr lang="en-US" dirty="0">
                <a:cs typeface="Arial MT"/>
              </a:rPr>
              <a:t>modeling</a:t>
            </a:r>
            <a:r>
              <a:rPr lang="en-US" spc="-30" dirty="0">
                <a:cs typeface="Arial MT"/>
              </a:rPr>
              <a:t> </a:t>
            </a:r>
            <a:r>
              <a:rPr lang="en-US" dirty="0">
                <a:cs typeface="Arial MT"/>
              </a:rPr>
              <a:t>represents:</a:t>
            </a:r>
          </a:p>
          <a:p>
            <a:pPr marL="714375" lvl="1" indent="-144145" algn="just">
              <a:lnSpc>
                <a:spcPct val="150000"/>
              </a:lnSpc>
              <a:spcBef>
                <a:spcPts val="250"/>
              </a:spcBef>
              <a:buSzPct val="70000"/>
              <a:buFont typeface="Wingdings"/>
              <a:buChar char=""/>
              <a:tabLst>
                <a:tab pos="715010" algn="l"/>
              </a:tabLst>
            </a:pPr>
            <a:r>
              <a:rPr lang="en-US" spc="-5" dirty="0">
                <a:solidFill>
                  <a:srgbClr val="9A0000"/>
                </a:solidFill>
                <a:cs typeface="Arial MT"/>
              </a:rPr>
              <a:t>Objects </a:t>
            </a:r>
            <a:r>
              <a:rPr lang="en-US" spc="-10" dirty="0">
                <a:cs typeface="Arial MT"/>
              </a:rPr>
              <a:t>that the </a:t>
            </a:r>
            <a:r>
              <a:rPr lang="en-US" spc="-5" dirty="0">
                <a:cs typeface="Arial MT"/>
              </a:rPr>
              <a:t>system</a:t>
            </a:r>
            <a:r>
              <a:rPr lang="en-US" spc="20" dirty="0">
                <a:cs typeface="Arial MT"/>
              </a:rPr>
              <a:t> </a:t>
            </a:r>
            <a:r>
              <a:rPr lang="en-US" spc="-5" dirty="0">
                <a:cs typeface="Arial MT"/>
              </a:rPr>
              <a:t>will</a:t>
            </a:r>
            <a:r>
              <a:rPr lang="en-US" dirty="0">
                <a:cs typeface="Arial MT"/>
              </a:rPr>
              <a:t> </a:t>
            </a:r>
            <a:r>
              <a:rPr lang="en-US" spc="-5" dirty="0">
                <a:cs typeface="Arial MT"/>
              </a:rPr>
              <a:t>manipulate</a:t>
            </a:r>
            <a:endParaRPr lang="en-US" dirty="0">
              <a:cs typeface="Arial MT"/>
            </a:endParaRPr>
          </a:p>
          <a:p>
            <a:pPr marL="714375" marR="55244" lvl="1" indent="-143510" algn="just">
              <a:lnSpc>
                <a:spcPct val="150000"/>
              </a:lnSpc>
              <a:spcBef>
                <a:spcPts val="225"/>
              </a:spcBef>
              <a:buSzPct val="70000"/>
              <a:buFont typeface="Wingdings"/>
              <a:buChar char=""/>
              <a:tabLst>
                <a:tab pos="715010" algn="l"/>
              </a:tabLst>
            </a:pPr>
            <a:r>
              <a:rPr lang="en-US" spc="-5" dirty="0">
                <a:solidFill>
                  <a:srgbClr val="9A0000"/>
                </a:solidFill>
                <a:cs typeface="Arial MT"/>
              </a:rPr>
              <a:t>Operations </a:t>
            </a:r>
            <a:r>
              <a:rPr lang="en-US" dirty="0">
                <a:cs typeface="Arial MT"/>
              </a:rPr>
              <a:t>(also</a:t>
            </a:r>
            <a:r>
              <a:rPr lang="en-US" spc="-5" dirty="0">
                <a:cs typeface="Arial MT"/>
              </a:rPr>
              <a:t> called</a:t>
            </a:r>
            <a:r>
              <a:rPr lang="en-US" spc="-10" dirty="0">
                <a:cs typeface="Arial MT"/>
              </a:rPr>
              <a:t> </a:t>
            </a:r>
            <a:r>
              <a:rPr lang="en-US" spc="-5" dirty="0">
                <a:cs typeface="Arial MT"/>
              </a:rPr>
              <a:t>methods</a:t>
            </a:r>
            <a:r>
              <a:rPr lang="en-US" dirty="0">
                <a:cs typeface="Arial MT"/>
              </a:rPr>
              <a:t> </a:t>
            </a:r>
            <a:r>
              <a:rPr lang="en-US" spc="-5" dirty="0">
                <a:cs typeface="Arial MT"/>
              </a:rPr>
              <a:t>or</a:t>
            </a:r>
            <a:r>
              <a:rPr lang="en-US" dirty="0">
                <a:cs typeface="Arial MT"/>
              </a:rPr>
              <a:t> </a:t>
            </a:r>
            <a:r>
              <a:rPr lang="en-US" spc="-5" dirty="0">
                <a:cs typeface="Arial MT"/>
              </a:rPr>
              <a:t>services) </a:t>
            </a:r>
            <a:r>
              <a:rPr lang="en-US" spc="-10" dirty="0">
                <a:cs typeface="Arial MT"/>
              </a:rPr>
              <a:t>that</a:t>
            </a:r>
            <a:r>
              <a:rPr lang="en-US" spc="5" dirty="0">
                <a:cs typeface="Arial MT"/>
              </a:rPr>
              <a:t> </a:t>
            </a:r>
            <a:r>
              <a:rPr lang="en-US" spc="-5" dirty="0">
                <a:cs typeface="Arial MT"/>
              </a:rPr>
              <a:t>will </a:t>
            </a:r>
            <a:r>
              <a:rPr lang="en-US" spc="-260" dirty="0">
                <a:cs typeface="Arial MT"/>
              </a:rPr>
              <a:t> </a:t>
            </a:r>
            <a:r>
              <a:rPr lang="en-US" spc="-10" dirty="0">
                <a:cs typeface="Arial MT"/>
              </a:rPr>
              <a:t>be</a:t>
            </a:r>
            <a:r>
              <a:rPr lang="en-US" spc="-5" dirty="0">
                <a:cs typeface="Arial MT"/>
              </a:rPr>
              <a:t> applied</a:t>
            </a:r>
            <a:r>
              <a:rPr lang="en-US" dirty="0">
                <a:cs typeface="Arial MT"/>
              </a:rPr>
              <a:t> </a:t>
            </a:r>
            <a:r>
              <a:rPr lang="en-US" spc="-5" dirty="0">
                <a:cs typeface="Arial MT"/>
              </a:rPr>
              <a:t>to the</a:t>
            </a:r>
            <a:r>
              <a:rPr lang="en-US" dirty="0">
                <a:cs typeface="Arial MT"/>
              </a:rPr>
              <a:t> </a:t>
            </a:r>
            <a:r>
              <a:rPr lang="en-US" spc="-5" dirty="0">
                <a:cs typeface="Arial MT"/>
              </a:rPr>
              <a:t>objects</a:t>
            </a:r>
            <a:r>
              <a:rPr lang="en-US" spc="5" dirty="0">
                <a:cs typeface="Arial MT"/>
              </a:rPr>
              <a:t> </a:t>
            </a:r>
            <a:r>
              <a:rPr lang="en-US" spc="-5" dirty="0">
                <a:cs typeface="Arial MT"/>
              </a:rPr>
              <a:t>to</a:t>
            </a:r>
            <a:r>
              <a:rPr lang="en-US" spc="5" dirty="0">
                <a:cs typeface="Arial MT"/>
              </a:rPr>
              <a:t> </a:t>
            </a:r>
            <a:r>
              <a:rPr lang="en-US" spc="-5" dirty="0">
                <a:cs typeface="Arial MT"/>
              </a:rPr>
              <a:t>effect</a:t>
            </a:r>
            <a:r>
              <a:rPr lang="en-US" dirty="0">
                <a:cs typeface="Arial MT"/>
              </a:rPr>
              <a:t> </a:t>
            </a:r>
            <a:r>
              <a:rPr lang="en-US" spc="-10" dirty="0">
                <a:cs typeface="Arial MT"/>
              </a:rPr>
              <a:t>the</a:t>
            </a:r>
            <a:r>
              <a:rPr lang="en-US" spc="-15" dirty="0">
                <a:cs typeface="Arial MT"/>
              </a:rPr>
              <a:t> </a:t>
            </a:r>
            <a:r>
              <a:rPr lang="en-US" spc="-5" dirty="0">
                <a:cs typeface="Arial MT"/>
              </a:rPr>
              <a:t>manipulation</a:t>
            </a:r>
            <a:endParaRPr lang="en-US" dirty="0">
              <a:cs typeface="Arial MT"/>
            </a:endParaRPr>
          </a:p>
          <a:p>
            <a:pPr marL="714375" lvl="1" indent="-144145" algn="just">
              <a:lnSpc>
                <a:spcPct val="150000"/>
              </a:lnSpc>
              <a:spcBef>
                <a:spcPts val="240"/>
              </a:spcBef>
              <a:buSzPct val="70000"/>
              <a:buFont typeface="Wingdings"/>
              <a:buChar char=""/>
              <a:tabLst>
                <a:tab pos="715010" algn="l"/>
              </a:tabLst>
            </a:pPr>
            <a:r>
              <a:rPr lang="en-US" spc="-5" dirty="0">
                <a:solidFill>
                  <a:srgbClr val="9A0000"/>
                </a:solidFill>
                <a:cs typeface="Arial MT"/>
              </a:rPr>
              <a:t>Relationships</a:t>
            </a:r>
            <a:r>
              <a:rPr lang="en-US" spc="5" dirty="0">
                <a:solidFill>
                  <a:srgbClr val="9A0000"/>
                </a:solidFill>
                <a:cs typeface="Arial MT"/>
              </a:rPr>
              <a:t> </a:t>
            </a:r>
            <a:r>
              <a:rPr lang="en-US" spc="-5" dirty="0">
                <a:cs typeface="Arial MT"/>
              </a:rPr>
              <a:t>(some</a:t>
            </a:r>
            <a:r>
              <a:rPr lang="en-US" dirty="0">
                <a:cs typeface="Arial MT"/>
              </a:rPr>
              <a:t> </a:t>
            </a:r>
            <a:r>
              <a:rPr lang="en-US" spc="-5" dirty="0">
                <a:cs typeface="Arial MT"/>
              </a:rPr>
              <a:t>hierarchical)</a:t>
            </a:r>
            <a:r>
              <a:rPr lang="en-US" spc="10" dirty="0">
                <a:cs typeface="Arial MT"/>
              </a:rPr>
              <a:t> </a:t>
            </a:r>
            <a:r>
              <a:rPr lang="en-US" spc="-5" dirty="0">
                <a:cs typeface="Arial MT"/>
              </a:rPr>
              <a:t>between</a:t>
            </a:r>
            <a:r>
              <a:rPr lang="en-US" dirty="0">
                <a:cs typeface="Arial MT"/>
              </a:rPr>
              <a:t> </a:t>
            </a:r>
            <a:r>
              <a:rPr lang="en-US" spc="-10" dirty="0">
                <a:cs typeface="Arial MT"/>
              </a:rPr>
              <a:t>the</a:t>
            </a:r>
            <a:r>
              <a:rPr lang="en-US" spc="5" dirty="0">
                <a:cs typeface="Arial MT"/>
              </a:rPr>
              <a:t> </a:t>
            </a:r>
            <a:r>
              <a:rPr lang="en-US" spc="-5" dirty="0">
                <a:cs typeface="Arial MT"/>
              </a:rPr>
              <a:t>objects</a:t>
            </a:r>
            <a:endParaRPr lang="en-US" dirty="0">
              <a:cs typeface="Arial MT"/>
            </a:endParaRPr>
          </a:p>
          <a:p>
            <a:pPr marL="714375" marR="189865" lvl="1" indent="-143510" algn="just">
              <a:lnSpc>
                <a:spcPct val="150000"/>
              </a:lnSpc>
              <a:spcBef>
                <a:spcPts val="240"/>
              </a:spcBef>
              <a:buSzPct val="70000"/>
              <a:buFont typeface="Wingdings"/>
              <a:buChar char=""/>
              <a:tabLst>
                <a:tab pos="715010" algn="l"/>
              </a:tabLst>
            </a:pPr>
            <a:r>
              <a:rPr lang="en-US" spc="-5" dirty="0">
                <a:solidFill>
                  <a:srgbClr val="9A0000"/>
                </a:solidFill>
                <a:cs typeface="Arial MT"/>
              </a:rPr>
              <a:t>Collaborations</a:t>
            </a:r>
            <a:r>
              <a:rPr lang="en-US" dirty="0">
                <a:solidFill>
                  <a:srgbClr val="9A0000"/>
                </a:solidFill>
                <a:cs typeface="Arial MT"/>
              </a:rPr>
              <a:t> </a:t>
            </a:r>
            <a:r>
              <a:rPr lang="en-US" spc="-10" dirty="0">
                <a:cs typeface="Arial MT"/>
              </a:rPr>
              <a:t>that</a:t>
            </a:r>
            <a:r>
              <a:rPr lang="en-US" dirty="0">
                <a:cs typeface="Arial MT"/>
              </a:rPr>
              <a:t> </a:t>
            </a:r>
            <a:r>
              <a:rPr lang="en-US" spc="-5" dirty="0">
                <a:cs typeface="Arial MT"/>
              </a:rPr>
              <a:t>occur</a:t>
            </a:r>
            <a:r>
              <a:rPr lang="en-US" spc="5" dirty="0">
                <a:cs typeface="Arial MT"/>
              </a:rPr>
              <a:t> </a:t>
            </a:r>
            <a:r>
              <a:rPr lang="en-US" spc="-5" dirty="0">
                <a:cs typeface="Arial MT"/>
              </a:rPr>
              <a:t>between</a:t>
            </a:r>
            <a:r>
              <a:rPr lang="en-US" dirty="0">
                <a:cs typeface="Arial MT"/>
              </a:rPr>
              <a:t> </a:t>
            </a:r>
            <a:r>
              <a:rPr lang="en-US" spc="-5" dirty="0">
                <a:cs typeface="Arial MT"/>
              </a:rPr>
              <a:t>the classes</a:t>
            </a:r>
            <a:r>
              <a:rPr lang="en-US" spc="5" dirty="0">
                <a:cs typeface="Arial MT"/>
              </a:rPr>
              <a:t> </a:t>
            </a:r>
            <a:r>
              <a:rPr lang="en-US" spc="-10" dirty="0">
                <a:cs typeface="Arial MT"/>
              </a:rPr>
              <a:t>that </a:t>
            </a:r>
            <a:r>
              <a:rPr lang="en-US" spc="-260" dirty="0">
                <a:cs typeface="Arial MT"/>
              </a:rPr>
              <a:t> </a:t>
            </a:r>
            <a:r>
              <a:rPr lang="en-US" spc="-5" dirty="0">
                <a:cs typeface="Arial MT"/>
              </a:rPr>
              <a:t>are</a:t>
            </a:r>
            <a:r>
              <a:rPr lang="en-US" spc="-10" dirty="0">
                <a:cs typeface="Arial MT"/>
              </a:rPr>
              <a:t> </a:t>
            </a:r>
            <a:r>
              <a:rPr lang="en-US" spc="-5" dirty="0">
                <a:cs typeface="Arial MT"/>
              </a:rPr>
              <a:t>defined.</a:t>
            </a:r>
            <a:endParaRPr lang="en-US" dirty="0">
              <a:cs typeface="Arial MT"/>
            </a:endParaRPr>
          </a:p>
          <a:p>
            <a:pPr marL="514984" marR="17145" indent="-172720" algn="just">
              <a:lnSpc>
                <a:spcPct val="150000"/>
              </a:lnSpc>
              <a:spcBef>
                <a:spcPts val="290"/>
              </a:spcBef>
              <a:buClr>
                <a:srgbClr val="9A0000"/>
              </a:buClr>
              <a:buSzPct val="75000"/>
              <a:buFont typeface="Wingdings"/>
              <a:buChar char=""/>
              <a:tabLst>
                <a:tab pos="515620" algn="l"/>
              </a:tabLst>
            </a:pPr>
            <a:r>
              <a:rPr lang="en-US" spc="-5" dirty="0">
                <a:cs typeface="Arial MT"/>
              </a:rPr>
              <a:t>The</a:t>
            </a:r>
            <a:r>
              <a:rPr lang="en-US" spc="5" dirty="0">
                <a:cs typeface="Arial MT"/>
              </a:rPr>
              <a:t> </a:t>
            </a:r>
            <a:r>
              <a:rPr lang="en-US" spc="-5" dirty="0">
                <a:cs typeface="Arial MT"/>
              </a:rPr>
              <a:t>elements</a:t>
            </a:r>
            <a:r>
              <a:rPr lang="en-US" dirty="0">
                <a:cs typeface="Arial MT"/>
              </a:rPr>
              <a:t> </a:t>
            </a:r>
            <a:r>
              <a:rPr lang="en-US" spc="-10" dirty="0">
                <a:cs typeface="Arial MT"/>
              </a:rPr>
              <a:t>of</a:t>
            </a:r>
            <a:r>
              <a:rPr lang="en-US" spc="5" dirty="0">
                <a:cs typeface="Arial MT"/>
              </a:rPr>
              <a:t> </a:t>
            </a:r>
            <a:r>
              <a:rPr lang="en-US" spc="-5" dirty="0">
                <a:cs typeface="Arial MT"/>
              </a:rPr>
              <a:t>a class-based </a:t>
            </a:r>
            <a:r>
              <a:rPr lang="en-US" dirty="0">
                <a:cs typeface="Arial MT"/>
              </a:rPr>
              <a:t>model include </a:t>
            </a:r>
            <a:r>
              <a:rPr lang="en-US" spc="5" dirty="0">
                <a:cs typeface="Arial MT"/>
              </a:rPr>
              <a:t> </a:t>
            </a:r>
            <a:r>
              <a:rPr lang="en-US" dirty="0">
                <a:cs typeface="Arial MT"/>
              </a:rPr>
              <a:t>classes and </a:t>
            </a:r>
            <a:r>
              <a:rPr lang="en-US" spc="-5" dirty="0">
                <a:cs typeface="Arial MT"/>
              </a:rPr>
              <a:t>objects, attributes, </a:t>
            </a:r>
            <a:r>
              <a:rPr lang="en-US" dirty="0">
                <a:cs typeface="Arial MT"/>
              </a:rPr>
              <a:t>operations, </a:t>
            </a:r>
            <a:r>
              <a:rPr lang="en-US" spc="-5" dirty="0">
                <a:cs typeface="Arial MT"/>
              </a:rPr>
              <a:t>and </a:t>
            </a:r>
            <a:r>
              <a:rPr lang="en-US" spc="-320" dirty="0">
                <a:cs typeface="Arial MT"/>
              </a:rPr>
              <a:t> </a:t>
            </a:r>
            <a:r>
              <a:rPr lang="en-US" dirty="0">
                <a:cs typeface="Arial MT"/>
              </a:rPr>
              <a:t>collaboration </a:t>
            </a:r>
            <a:r>
              <a:rPr lang="en-US" spc="-5" dirty="0">
                <a:cs typeface="Arial MT"/>
              </a:rPr>
              <a:t>diagrams.</a:t>
            </a:r>
            <a:endParaRPr lang="en-US" dirty="0">
              <a:cs typeface="Arial M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74DC72-809D-AC8E-DCBF-735432047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1E117-A072-4856-A34D-86E7F1BF6669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C762A-1D02-C164-8B23-E7BB770AC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772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78ED6-BA1F-4CD2-8CC3-FB00A61C5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59D1E-1BC9-C187-A271-1A243942E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476884" marR="74295" indent="-172720" algn="just">
              <a:lnSpc>
                <a:spcPct val="150000"/>
              </a:lnSpc>
              <a:spcBef>
                <a:spcPts val="1525"/>
              </a:spcBef>
              <a:buClr>
                <a:srgbClr val="9A0000"/>
              </a:buClr>
              <a:buSzPct val="75000"/>
              <a:buFont typeface="Wingdings"/>
              <a:buChar char=""/>
              <a:tabLst>
                <a:tab pos="477520" algn="l"/>
              </a:tabLst>
            </a:pPr>
            <a:r>
              <a:rPr lang="en-US" sz="2600" spc="-5" dirty="0">
                <a:cs typeface="Arial MT"/>
              </a:rPr>
              <a:t>Examining </a:t>
            </a:r>
            <a:r>
              <a:rPr lang="en-US" sz="2600" dirty="0">
                <a:cs typeface="Arial MT"/>
              </a:rPr>
              <a:t>the </a:t>
            </a:r>
            <a:r>
              <a:rPr lang="en-US" sz="2600" spc="-5" dirty="0">
                <a:cs typeface="Arial MT"/>
              </a:rPr>
              <a:t>usage </a:t>
            </a:r>
            <a:r>
              <a:rPr lang="en-US" sz="2600" dirty="0">
                <a:cs typeface="Arial MT"/>
              </a:rPr>
              <a:t>scenarios developed as </a:t>
            </a:r>
            <a:r>
              <a:rPr lang="en-US" sz="2600" spc="-320" dirty="0">
                <a:cs typeface="Arial MT"/>
              </a:rPr>
              <a:t> </a:t>
            </a:r>
            <a:r>
              <a:rPr lang="en-US" sz="2600" dirty="0">
                <a:cs typeface="Arial MT"/>
              </a:rPr>
              <a:t>part </a:t>
            </a:r>
            <a:r>
              <a:rPr lang="en-US" sz="2600" spc="-10" dirty="0">
                <a:cs typeface="Arial MT"/>
              </a:rPr>
              <a:t>of </a:t>
            </a:r>
            <a:r>
              <a:rPr lang="en-US" sz="2600" spc="-5" dirty="0">
                <a:cs typeface="Arial MT"/>
              </a:rPr>
              <a:t>the requirements </a:t>
            </a:r>
            <a:r>
              <a:rPr lang="en-US" sz="2600" dirty="0">
                <a:cs typeface="Arial MT"/>
              </a:rPr>
              <a:t>model </a:t>
            </a:r>
            <a:r>
              <a:rPr lang="en-US" sz="2600" spc="-5" dirty="0">
                <a:cs typeface="Arial MT"/>
              </a:rPr>
              <a:t>and perform a </a:t>
            </a:r>
            <a:r>
              <a:rPr lang="en-US" sz="2600" spc="-320" dirty="0">
                <a:cs typeface="Arial MT"/>
              </a:rPr>
              <a:t> </a:t>
            </a:r>
            <a:r>
              <a:rPr lang="en-US" sz="2600" spc="-5" dirty="0">
                <a:cs typeface="Arial MT"/>
              </a:rPr>
              <a:t>"grammatical parse“.</a:t>
            </a:r>
            <a:endParaRPr lang="en-US" sz="2600" dirty="0">
              <a:cs typeface="Arial MT"/>
            </a:endParaRPr>
          </a:p>
          <a:p>
            <a:pPr marL="676275" marR="5080" lvl="1" indent="-143510" algn="just">
              <a:lnSpc>
                <a:spcPct val="150000"/>
              </a:lnSpc>
              <a:spcBef>
                <a:spcPts val="140"/>
              </a:spcBef>
              <a:buClr>
                <a:srgbClr val="9A0000"/>
              </a:buClr>
              <a:buSzPct val="70000"/>
              <a:buFont typeface="Wingdings"/>
              <a:buChar char=""/>
              <a:tabLst>
                <a:tab pos="676910" algn="l"/>
              </a:tabLst>
            </a:pPr>
            <a:r>
              <a:rPr lang="en-US" sz="2400" spc="-5" dirty="0">
                <a:cs typeface="Arial MT"/>
              </a:rPr>
              <a:t>Classes are determined </a:t>
            </a:r>
            <a:r>
              <a:rPr lang="en-US" sz="2400" spc="5" dirty="0">
                <a:cs typeface="Arial MT"/>
              </a:rPr>
              <a:t>by </a:t>
            </a:r>
            <a:r>
              <a:rPr lang="en-US" sz="2400" spc="-5" dirty="0">
                <a:cs typeface="Arial MT"/>
              </a:rPr>
              <a:t>underlining each noun or </a:t>
            </a:r>
            <a:r>
              <a:rPr lang="en-US" sz="2400" spc="-265" dirty="0">
                <a:cs typeface="Arial MT"/>
              </a:rPr>
              <a:t> </a:t>
            </a:r>
            <a:r>
              <a:rPr lang="en-US" sz="2400" spc="-10" dirty="0">
                <a:cs typeface="Arial MT"/>
              </a:rPr>
              <a:t>noun</a:t>
            </a:r>
            <a:r>
              <a:rPr lang="en-US" sz="2400" spc="5" dirty="0">
                <a:cs typeface="Arial MT"/>
              </a:rPr>
              <a:t> </a:t>
            </a:r>
            <a:r>
              <a:rPr lang="en-US" sz="2400" spc="-5" dirty="0">
                <a:cs typeface="Arial MT"/>
              </a:rPr>
              <a:t>phrase and entering</a:t>
            </a:r>
            <a:r>
              <a:rPr lang="en-US" sz="2400" spc="5" dirty="0">
                <a:cs typeface="Arial MT"/>
              </a:rPr>
              <a:t> </a:t>
            </a:r>
            <a:r>
              <a:rPr lang="en-US" sz="2400" spc="-5" dirty="0">
                <a:cs typeface="Arial MT"/>
              </a:rPr>
              <a:t>it</a:t>
            </a:r>
            <a:r>
              <a:rPr lang="en-US" sz="2400" spc="5" dirty="0">
                <a:cs typeface="Arial MT"/>
              </a:rPr>
              <a:t> </a:t>
            </a:r>
            <a:r>
              <a:rPr lang="en-US" sz="2400" spc="-10" dirty="0">
                <a:cs typeface="Arial MT"/>
              </a:rPr>
              <a:t>into</a:t>
            </a:r>
            <a:r>
              <a:rPr lang="en-US" sz="2400" spc="5" dirty="0">
                <a:cs typeface="Arial MT"/>
              </a:rPr>
              <a:t> </a:t>
            </a:r>
            <a:r>
              <a:rPr lang="en-US" sz="2400" spc="-5" dirty="0">
                <a:cs typeface="Arial MT"/>
              </a:rPr>
              <a:t>a simple table.</a:t>
            </a:r>
            <a:endParaRPr lang="en-US" sz="2400" dirty="0">
              <a:cs typeface="Arial MT"/>
            </a:endParaRPr>
          </a:p>
          <a:p>
            <a:pPr marL="676275" lvl="1" indent="-144145" algn="just">
              <a:lnSpc>
                <a:spcPct val="150000"/>
              </a:lnSpc>
              <a:spcBef>
                <a:spcPts val="20"/>
              </a:spcBef>
              <a:buClr>
                <a:srgbClr val="9A0000"/>
              </a:buClr>
              <a:buSzPct val="70000"/>
              <a:buFont typeface="Wingdings"/>
              <a:buChar char=""/>
              <a:tabLst>
                <a:tab pos="676910" algn="l"/>
              </a:tabLst>
            </a:pPr>
            <a:r>
              <a:rPr lang="en-US" sz="2400" spc="-5" dirty="0">
                <a:cs typeface="Arial MT"/>
              </a:rPr>
              <a:t>Synonyms</a:t>
            </a:r>
            <a:r>
              <a:rPr lang="en-US" sz="2400" spc="-10" dirty="0">
                <a:cs typeface="Arial MT"/>
              </a:rPr>
              <a:t> </a:t>
            </a:r>
            <a:r>
              <a:rPr lang="en-US" sz="2400" spc="-5" dirty="0">
                <a:cs typeface="Arial MT"/>
              </a:rPr>
              <a:t>should</a:t>
            </a:r>
            <a:r>
              <a:rPr lang="en-US" sz="2400" spc="-15" dirty="0">
                <a:cs typeface="Arial MT"/>
              </a:rPr>
              <a:t> </a:t>
            </a:r>
            <a:r>
              <a:rPr lang="en-US" sz="2400" spc="-10" dirty="0">
                <a:cs typeface="Arial MT"/>
              </a:rPr>
              <a:t>be</a:t>
            </a:r>
            <a:r>
              <a:rPr lang="en-US" sz="2400" spc="-5" dirty="0">
                <a:cs typeface="Arial MT"/>
              </a:rPr>
              <a:t> noted.</a:t>
            </a:r>
            <a:endParaRPr lang="en-US" sz="2400" dirty="0">
              <a:cs typeface="Arial MT"/>
            </a:endParaRPr>
          </a:p>
          <a:p>
            <a:pPr marL="676275" marR="71755" lvl="1" indent="-143510" algn="just">
              <a:lnSpc>
                <a:spcPct val="150000"/>
              </a:lnSpc>
              <a:spcBef>
                <a:spcPts val="140"/>
              </a:spcBef>
              <a:buClr>
                <a:srgbClr val="9A0000"/>
              </a:buClr>
              <a:buSzPct val="70000"/>
              <a:buFont typeface="Wingdings"/>
              <a:buChar char=""/>
              <a:tabLst>
                <a:tab pos="676910" algn="l"/>
              </a:tabLst>
            </a:pPr>
            <a:r>
              <a:rPr lang="en-US" sz="2400" spc="-5" dirty="0">
                <a:cs typeface="Arial MT"/>
              </a:rPr>
              <a:t>If</a:t>
            </a:r>
            <a:r>
              <a:rPr lang="en-US" sz="2400" spc="5" dirty="0">
                <a:cs typeface="Arial MT"/>
              </a:rPr>
              <a:t> </a:t>
            </a:r>
            <a:r>
              <a:rPr lang="en-US" sz="2400" spc="-10" dirty="0">
                <a:cs typeface="Arial MT"/>
              </a:rPr>
              <a:t>the</a:t>
            </a:r>
            <a:r>
              <a:rPr lang="en-US" sz="2400" spc="-5" dirty="0">
                <a:cs typeface="Arial MT"/>
              </a:rPr>
              <a:t> class</a:t>
            </a:r>
            <a:r>
              <a:rPr lang="en-US" sz="2400" dirty="0">
                <a:cs typeface="Arial MT"/>
              </a:rPr>
              <a:t> </a:t>
            </a:r>
            <a:r>
              <a:rPr lang="en-US" sz="2400" spc="-10" dirty="0">
                <a:cs typeface="Arial MT"/>
              </a:rPr>
              <a:t>(noun)</a:t>
            </a:r>
            <a:r>
              <a:rPr lang="en-US" sz="2400" dirty="0">
                <a:cs typeface="Arial MT"/>
              </a:rPr>
              <a:t> </a:t>
            </a:r>
            <a:r>
              <a:rPr lang="en-US" sz="2400" spc="-5" dirty="0">
                <a:cs typeface="Arial MT"/>
              </a:rPr>
              <a:t>is</a:t>
            </a:r>
            <a:r>
              <a:rPr lang="en-US" sz="2400" dirty="0">
                <a:cs typeface="Arial MT"/>
              </a:rPr>
              <a:t> </a:t>
            </a:r>
            <a:r>
              <a:rPr lang="en-US" sz="2400" spc="-5" dirty="0">
                <a:cs typeface="Arial MT"/>
              </a:rPr>
              <a:t>required to</a:t>
            </a:r>
            <a:r>
              <a:rPr lang="en-US" sz="2400" spc="5" dirty="0">
                <a:cs typeface="Arial MT"/>
              </a:rPr>
              <a:t> </a:t>
            </a:r>
            <a:r>
              <a:rPr lang="en-US" sz="2400" spc="-5" dirty="0">
                <a:cs typeface="Arial MT"/>
              </a:rPr>
              <a:t>implement a </a:t>
            </a:r>
            <a:r>
              <a:rPr lang="en-US" sz="2400" dirty="0">
                <a:cs typeface="Arial MT"/>
              </a:rPr>
              <a:t> </a:t>
            </a:r>
            <a:r>
              <a:rPr lang="en-US" sz="2400" spc="-5" dirty="0">
                <a:cs typeface="Arial MT"/>
              </a:rPr>
              <a:t>solution, </a:t>
            </a:r>
            <a:r>
              <a:rPr lang="en-US" sz="2400" spc="-10" dirty="0">
                <a:cs typeface="Arial MT"/>
              </a:rPr>
              <a:t>then</a:t>
            </a:r>
            <a:r>
              <a:rPr lang="en-US" sz="2400" spc="5" dirty="0">
                <a:cs typeface="Arial MT"/>
              </a:rPr>
              <a:t> </a:t>
            </a:r>
            <a:r>
              <a:rPr lang="en-US" sz="2400" spc="-5" dirty="0">
                <a:cs typeface="Arial MT"/>
              </a:rPr>
              <a:t>it</a:t>
            </a:r>
            <a:r>
              <a:rPr lang="en-US" sz="2400" spc="5" dirty="0">
                <a:cs typeface="Arial MT"/>
              </a:rPr>
              <a:t> </a:t>
            </a:r>
            <a:r>
              <a:rPr lang="en-US" sz="2400" spc="-5" dirty="0">
                <a:cs typeface="Arial MT"/>
              </a:rPr>
              <a:t>is</a:t>
            </a:r>
            <a:r>
              <a:rPr lang="en-US" sz="2400" dirty="0">
                <a:cs typeface="Arial MT"/>
              </a:rPr>
              <a:t> </a:t>
            </a:r>
            <a:r>
              <a:rPr lang="en-US" sz="2400" spc="-5" dirty="0">
                <a:cs typeface="Arial MT"/>
              </a:rPr>
              <a:t>part of</a:t>
            </a:r>
            <a:r>
              <a:rPr lang="en-US" sz="2400" spc="5" dirty="0">
                <a:cs typeface="Arial MT"/>
              </a:rPr>
              <a:t> </a:t>
            </a:r>
            <a:r>
              <a:rPr lang="en-US" sz="2400" spc="-10" dirty="0">
                <a:cs typeface="Arial MT"/>
              </a:rPr>
              <a:t>the</a:t>
            </a:r>
            <a:r>
              <a:rPr lang="en-US" sz="2400" spc="-5" dirty="0">
                <a:cs typeface="Arial MT"/>
              </a:rPr>
              <a:t> solution space; </a:t>
            </a:r>
            <a:r>
              <a:rPr lang="en-US" sz="2400" dirty="0">
                <a:cs typeface="Arial MT"/>
              </a:rPr>
              <a:t> </a:t>
            </a:r>
            <a:r>
              <a:rPr lang="en-US" sz="2400" spc="-5" dirty="0">
                <a:cs typeface="Arial MT"/>
              </a:rPr>
              <a:t>otherwise, if a class is </a:t>
            </a:r>
            <a:r>
              <a:rPr lang="en-US" sz="2400" dirty="0">
                <a:cs typeface="Arial MT"/>
              </a:rPr>
              <a:t>necessary only </a:t>
            </a:r>
            <a:r>
              <a:rPr lang="en-US" sz="2400" spc="-5" dirty="0">
                <a:cs typeface="Arial MT"/>
              </a:rPr>
              <a:t>to describe a </a:t>
            </a:r>
            <a:r>
              <a:rPr lang="en-US" sz="2400" spc="-265" dirty="0">
                <a:cs typeface="Arial MT"/>
              </a:rPr>
              <a:t> </a:t>
            </a:r>
            <a:r>
              <a:rPr lang="en-US" sz="2400" spc="-5" dirty="0">
                <a:cs typeface="Arial MT"/>
              </a:rPr>
              <a:t>solution,</a:t>
            </a:r>
            <a:r>
              <a:rPr lang="en-US" sz="2400" spc="-10" dirty="0">
                <a:cs typeface="Arial MT"/>
              </a:rPr>
              <a:t> </a:t>
            </a:r>
            <a:r>
              <a:rPr lang="en-US" sz="2400" spc="-5" dirty="0">
                <a:cs typeface="Arial MT"/>
              </a:rPr>
              <a:t>it</a:t>
            </a:r>
            <a:r>
              <a:rPr lang="en-US" sz="2400" spc="5" dirty="0">
                <a:cs typeface="Arial MT"/>
              </a:rPr>
              <a:t> </a:t>
            </a:r>
            <a:r>
              <a:rPr lang="en-US" sz="2400" spc="-5" dirty="0">
                <a:cs typeface="Arial MT"/>
              </a:rPr>
              <a:t>is</a:t>
            </a:r>
            <a:r>
              <a:rPr lang="en-US" sz="2400" dirty="0">
                <a:cs typeface="Arial MT"/>
              </a:rPr>
              <a:t> </a:t>
            </a:r>
            <a:r>
              <a:rPr lang="en-US" sz="2400" spc="-5" dirty="0">
                <a:cs typeface="Arial MT"/>
              </a:rPr>
              <a:t>part of</a:t>
            </a:r>
            <a:r>
              <a:rPr lang="en-US" sz="2400" spc="5" dirty="0">
                <a:cs typeface="Arial MT"/>
              </a:rPr>
              <a:t> </a:t>
            </a:r>
            <a:r>
              <a:rPr lang="en-US" sz="2400" spc="-10" dirty="0">
                <a:cs typeface="Arial MT"/>
              </a:rPr>
              <a:t>the</a:t>
            </a:r>
            <a:r>
              <a:rPr lang="en-US" sz="2400" spc="-5" dirty="0">
                <a:cs typeface="Arial MT"/>
              </a:rPr>
              <a:t> </a:t>
            </a:r>
            <a:r>
              <a:rPr lang="en-US" sz="2400" spc="-10" dirty="0">
                <a:cs typeface="Arial MT"/>
              </a:rPr>
              <a:t>problem</a:t>
            </a:r>
            <a:r>
              <a:rPr lang="en-US" sz="2400" spc="20" dirty="0">
                <a:cs typeface="Arial MT"/>
              </a:rPr>
              <a:t> </a:t>
            </a:r>
            <a:r>
              <a:rPr lang="en-US" sz="2400" spc="-5" dirty="0">
                <a:cs typeface="Arial MT"/>
              </a:rPr>
              <a:t>space.</a:t>
            </a:r>
            <a:endParaRPr lang="en-US" sz="2400" dirty="0">
              <a:cs typeface="Arial MT"/>
            </a:endParaRPr>
          </a:p>
          <a:p>
            <a:pPr marL="476884" marR="290195" indent="-172720" algn="just">
              <a:lnSpc>
                <a:spcPct val="150000"/>
              </a:lnSpc>
              <a:spcBef>
                <a:spcPts val="155"/>
              </a:spcBef>
              <a:buClr>
                <a:srgbClr val="9A0000"/>
              </a:buClr>
              <a:buSzPct val="75000"/>
              <a:buFont typeface="Wingdings"/>
              <a:buChar char=""/>
              <a:tabLst>
                <a:tab pos="477520" algn="l"/>
              </a:tabLst>
            </a:pPr>
            <a:r>
              <a:rPr lang="en-US" sz="2600" dirty="0">
                <a:cs typeface="Arial MT"/>
              </a:rPr>
              <a:t>But</a:t>
            </a:r>
            <a:r>
              <a:rPr lang="en-US" sz="2600" spc="5" dirty="0">
                <a:cs typeface="Arial MT"/>
              </a:rPr>
              <a:t> </a:t>
            </a:r>
            <a:r>
              <a:rPr lang="en-US" sz="2600" spc="-5" dirty="0">
                <a:cs typeface="Arial MT"/>
              </a:rPr>
              <a:t>what</a:t>
            </a:r>
            <a:r>
              <a:rPr lang="en-US" sz="2600" spc="5" dirty="0">
                <a:cs typeface="Arial MT"/>
              </a:rPr>
              <a:t> </a:t>
            </a:r>
            <a:r>
              <a:rPr lang="en-US" sz="2600" spc="-5" dirty="0">
                <a:cs typeface="Arial MT"/>
              </a:rPr>
              <a:t>should</a:t>
            </a:r>
            <a:r>
              <a:rPr lang="en-US" sz="2600" spc="5" dirty="0">
                <a:cs typeface="Arial MT"/>
              </a:rPr>
              <a:t> </a:t>
            </a:r>
            <a:r>
              <a:rPr lang="en-US" sz="2600" spc="-10" dirty="0">
                <a:cs typeface="Arial MT"/>
              </a:rPr>
              <a:t>we</a:t>
            </a:r>
            <a:r>
              <a:rPr lang="en-US" sz="2600" spc="5" dirty="0">
                <a:cs typeface="Arial MT"/>
              </a:rPr>
              <a:t> </a:t>
            </a:r>
            <a:r>
              <a:rPr lang="en-US" sz="2600" spc="-5" dirty="0">
                <a:cs typeface="Arial MT"/>
              </a:rPr>
              <a:t>look</a:t>
            </a:r>
            <a:r>
              <a:rPr lang="en-US" sz="2600" spc="-10" dirty="0">
                <a:cs typeface="Arial MT"/>
              </a:rPr>
              <a:t> </a:t>
            </a:r>
            <a:r>
              <a:rPr lang="en-US" sz="2600" dirty="0">
                <a:cs typeface="Arial MT"/>
              </a:rPr>
              <a:t>for</a:t>
            </a:r>
            <a:r>
              <a:rPr lang="en-US" sz="2600" spc="-15" dirty="0">
                <a:cs typeface="Arial MT"/>
              </a:rPr>
              <a:t> </a:t>
            </a:r>
            <a:r>
              <a:rPr lang="en-US" sz="2600" dirty="0">
                <a:cs typeface="Arial MT"/>
              </a:rPr>
              <a:t>once</a:t>
            </a:r>
            <a:r>
              <a:rPr lang="en-US" sz="2600" spc="-5" dirty="0">
                <a:cs typeface="Arial MT"/>
              </a:rPr>
              <a:t> all</a:t>
            </a:r>
            <a:r>
              <a:rPr lang="en-US" sz="2600" dirty="0">
                <a:cs typeface="Arial MT"/>
              </a:rPr>
              <a:t> </a:t>
            </a:r>
            <a:r>
              <a:rPr lang="en-US" sz="2600" spc="-10" dirty="0">
                <a:cs typeface="Arial MT"/>
              </a:rPr>
              <a:t>of</a:t>
            </a:r>
            <a:r>
              <a:rPr lang="en-US" sz="2600" spc="5" dirty="0">
                <a:cs typeface="Arial MT"/>
              </a:rPr>
              <a:t> </a:t>
            </a:r>
            <a:r>
              <a:rPr lang="en-US" sz="2600" dirty="0">
                <a:cs typeface="Arial MT"/>
              </a:rPr>
              <a:t>the </a:t>
            </a:r>
            <a:r>
              <a:rPr lang="en-US" sz="2600" spc="-315" dirty="0">
                <a:cs typeface="Arial MT"/>
              </a:rPr>
              <a:t> </a:t>
            </a:r>
            <a:r>
              <a:rPr lang="en-US" sz="2600" dirty="0">
                <a:cs typeface="Arial MT"/>
              </a:rPr>
              <a:t>nouns</a:t>
            </a:r>
            <a:r>
              <a:rPr lang="en-US" sz="2600" spc="-15" dirty="0">
                <a:cs typeface="Arial MT"/>
              </a:rPr>
              <a:t> </a:t>
            </a:r>
            <a:r>
              <a:rPr lang="en-US" sz="2600" spc="-5" dirty="0">
                <a:cs typeface="Arial MT"/>
              </a:rPr>
              <a:t>have</a:t>
            </a:r>
            <a:r>
              <a:rPr lang="en-US" sz="2600" spc="5" dirty="0">
                <a:cs typeface="Arial MT"/>
              </a:rPr>
              <a:t> </a:t>
            </a:r>
            <a:r>
              <a:rPr lang="en-US" sz="2600" spc="-5" dirty="0">
                <a:cs typeface="Arial MT"/>
              </a:rPr>
              <a:t>been</a:t>
            </a:r>
            <a:r>
              <a:rPr lang="en-US" sz="2600" spc="5" dirty="0">
                <a:cs typeface="Arial MT"/>
              </a:rPr>
              <a:t> </a:t>
            </a:r>
            <a:r>
              <a:rPr lang="en-US" sz="2600" spc="-5" dirty="0">
                <a:cs typeface="Arial MT"/>
              </a:rPr>
              <a:t>isolated?</a:t>
            </a:r>
            <a:endParaRPr lang="en-US" sz="2600" dirty="0">
              <a:cs typeface="Arial M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91E68-D683-2D78-220E-4F5246B79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1E117-A072-4856-A34D-86E7F1BF6669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F077D-0192-7842-70F1-8D6422800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353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D7673-0835-66AE-1248-BFD98E4F7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CCAA8-6690-A6B3-C043-B1E162F12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1E117-A072-4856-A34D-86E7F1BF6669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C3713-0DDC-06C4-C38E-CDB3FB3BE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11</a:t>
            </a:fld>
            <a:endParaRPr lang="en-US" dirty="0"/>
          </a:p>
        </p:txBody>
      </p:sp>
      <p:grpSp>
        <p:nvGrpSpPr>
          <p:cNvPr id="7" name="Group 3">
            <a:extLst>
              <a:ext uri="{FF2B5EF4-FFF2-40B4-BE49-F238E27FC236}">
                <a16:creationId xmlns:a16="http://schemas.microsoft.com/office/drawing/2014/main" id="{392D326D-BC2D-A042-A036-3D47A306F871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2279650"/>
            <a:ext cx="2057400" cy="2571750"/>
            <a:chOff x="576" y="1056"/>
            <a:chExt cx="1296" cy="1620"/>
          </a:xfrm>
        </p:grpSpPr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FF58D2C6-1252-F7FA-C96E-E11D147E49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056"/>
              <a:ext cx="1296" cy="48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>
                  <a:latin typeface="Arial" panose="020B0604020202020204" pitchFamily="34" charset="0"/>
                </a:rPr>
                <a:t>ClassName</a:t>
              </a:r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0C478D13-105C-4A0A-0979-5F221D3860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536"/>
              <a:ext cx="1296" cy="5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>
                  <a:latin typeface="Arial" panose="020B0604020202020204" pitchFamily="34" charset="0"/>
                </a:rPr>
                <a:t>attributes</a:t>
              </a:r>
            </a:p>
          </p:txBody>
        </p:sp>
        <p:sp>
          <p:nvSpPr>
            <p:cNvPr id="10" name="Rectangle 6">
              <a:extLst>
                <a:ext uri="{FF2B5EF4-FFF2-40B4-BE49-F238E27FC236}">
                  <a16:creationId xmlns:a16="http://schemas.microsoft.com/office/drawing/2014/main" id="{9DAF0280-137A-0F73-2493-3A0C7C0FD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076"/>
              <a:ext cx="1296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>
                  <a:latin typeface="Arial" panose="020B0604020202020204" pitchFamily="34" charset="0"/>
                </a:rPr>
                <a:t>operations</a:t>
              </a:r>
            </a:p>
          </p:txBody>
        </p:sp>
      </p:grpSp>
      <p:sp>
        <p:nvSpPr>
          <p:cNvPr id="11" name="Text Box 7">
            <a:extLst>
              <a:ext uri="{FF2B5EF4-FFF2-40B4-BE49-F238E27FC236}">
                <a16:creationId xmlns:a16="http://schemas.microsoft.com/office/drawing/2014/main" id="{BC284116-B259-9EAE-4FB6-F69F97472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1" y="2016125"/>
            <a:ext cx="5486400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Arial" panose="020B0604020202020204" pitchFamily="34" charset="0"/>
              </a:rPr>
              <a:t>A </a:t>
            </a:r>
            <a:r>
              <a:rPr lang="en-US" altLang="en-US" i="1" dirty="0">
                <a:latin typeface="Arial" panose="020B0604020202020204" pitchFamily="34" charset="0"/>
              </a:rPr>
              <a:t>class</a:t>
            </a:r>
            <a:r>
              <a:rPr lang="en-US" altLang="en-US" dirty="0">
                <a:latin typeface="Arial" panose="020B0604020202020204" pitchFamily="34" charset="0"/>
              </a:rPr>
              <a:t> is a description of a set of 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Arial" panose="020B0604020202020204" pitchFamily="34" charset="0"/>
              </a:rPr>
              <a:t>objects that share the same attributes,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Arial" panose="020B0604020202020204" pitchFamily="34" charset="0"/>
              </a:rPr>
              <a:t>operations, relationships, and semantics.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Arial" panose="020B0604020202020204" pitchFamily="34" charset="0"/>
              </a:rPr>
              <a:t>Graphically, a class is rendered as a 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Arial" panose="020B0604020202020204" pitchFamily="34" charset="0"/>
              </a:rPr>
              <a:t>rectangle, usually including its name,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Arial" panose="020B0604020202020204" pitchFamily="34" charset="0"/>
              </a:rPr>
              <a:t>attributes, and operations in separate,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Arial" panose="020B0604020202020204" pitchFamily="34" charset="0"/>
              </a:rPr>
              <a:t>designated compartments. </a:t>
            </a:r>
          </a:p>
        </p:txBody>
      </p:sp>
    </p:spTree>
    <p:extLst>
      <p:ext uri="{BB962C8B-B14F-4D97-AF65-F5344CB8AC3E}">
        <p14:creationId xmlns:p14="http://schemas.microsoft.com/office/powerpoint/2010/main" val="77959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B42DF-3F4F-BF2A-E4B5-D59200792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80BCD-059F-3F4E-399B-803C547B0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1E117-A072-4856-A34D-86E7F1BF6669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229DC-071A-2288-70DD-3ED600651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12</a:t>
            </a:fld>
            <a:endParaRPr lang="en-US" dirty="0"/>
          </a:p>
        </p:txBody>
      </p:sp>
      <p:grpSp>
        <p:nvGrpSpPr>
          <p:cNvPr id="7" name="Group 3">
            <a:extLst>
              <a:ext uri="{FF2B5EF4-FFF2-40B4-BE49-F238E27FC236}">
                <a16:creationId xmlns:a16="http://schemas.microsoft.com/office/drawing/2014/main" id="{F2C8738F-4BD9-E038-8885-D091132D2426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2228850"/>
            <a:ext cx="2057400" cy="2571750"/>
            <a:chOff x="576" y="1056"/>
            <a:chExt cx="1296" cy="1620"/>
          </a:xfrm>
        </p:grpSpPr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27695D8F-F25E-CAEA-9A3C-3D0BE3F2A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056"/>
              <a:ext cx="1296" cy="48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>
                  <a:latin typeface="Arial" panose="020B0604020202020204" pitchFamily="34" charset="0"/>
                </a:rPr>
                <a:t>ClassName</a:t>
              </a:r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E06596E8-9843-32BC-7C55-54AC73B38D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536"/>
              <a:ext cx="1296" cy="5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>
                  <a:latin typeface="Arial" panose="020B0604020202020204" pitchFamily="34" charset="0"/>
                </a:rPr>
                <a:t>attributes</a:t>
              </a:r>
            </a:p>
          </p:txBody>
        </p:sp>
        <p:sp>
          <p:nvSpPr>
            <p:cNvPr id="10" name="Rectangle 6">
              <a:extLst>
                <a:ext uri="{FF2B5EF4-FFF2-40B4-BE49-F238E27FC236}">
                  <a16:creationId xmlns:a16="http://schemas.microsoft.com/office/drawing/2014/main" id="{3D8DE10B-444B-1AEE-4EF6-11091E121D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076"/>
              <a:ext cx="1296" cy="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>
                  <a:latin typeface="Arial" panose="020B0604020202020204" pitchFamily="34" charset="0"/>
                </a:rPr>
                <a:t>operations</a:t>
              </a:r>
            </a:p>
          </p:txBody>
        </p:sp>
      </p:grpSp>
      <p:sp>
        <p:nvSpPr>
          <p:cNvPr id="11" name="Text Box 7">
            <a:extLst>
              <a:ext uri="{FF2B5EF4-FFF2-40B4-BE49-F238E27FC236}">
                <a16:creationId xmlns:a16="http://schemas.microsoft.com/office/drawing/2014/main" id="{DF9E7F2A-90BE-B8D7-48D6-6EC3A90F93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2152650"/>
            <a:ext cx="54864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Arial" panose="020B0604020202020204" pitchFamily="34" charset="0"/>
              </a:rPr>
              <a:t>The name of the class is the only required tag in the graphical representation of a class.  It always appears in the top-most compartment.</a:t>
            </a:r>
          </a:p>
        </p:txBody>
      </p:sp>
    </p:spTree>
    <p:extLst>
      <p:ext uri="{BB962C8B-B14F-4D97-AF65-F5344CB8AC3E}">
        <p14:creationId xmlns:p14="http://schemas.microsoft.com/office/powerpoint/2010/main" val="13936276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29411-E079-FBFC-2AB9-2D39CF590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Attributes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774B7-50B2-ED92-0CFF-CEE92DD02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1E117-A072-4856-A34D-86E7F1BF6669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33797-AF55-0C2F-7BF7-BEBD07DB0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13</a:t>
            </a:fld>
            <a:endParaRPr lang="en-US" dirty="0"/>
          </a:p>
        </p:txBody>
      </p:sp>
      <p:grpSp>
        <p:nvGrpSpPr>
          <p:cNvPr id="7" name="Group 3">
            <a:extLst>
              <a:ext uri="{FF2B5EF4-FFF2-40B4-BE49-F238E27FC236}">
                <a16:creationId xmlns:a16="http://schemas.microsoft.com/office/drawing/2014/main" id="{2E0CB8E0-4A11-E069-0DDD-16CB31767CE5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2286000"/>
            <a:ext cx="2487570" cy="3048000"/>
            <a:chOff x="336" y="1056"/>
            <a:chExt cx="1536" cy="1920"/>
          </a:xfrm>
        </p:grpSpPr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EB39B57C-1CD4-6392-061D-371A0F8EA8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1056"/>
              <a:ext cx="1536" cy="48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>
                  <a:latin typeface="Arial" panose="020B0604020202020204" pitchFamily="34" charset="0"/>
                </a:rPr>
                <a:t>Person</a:t>
              </a:r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7F2285AB-CD69-8FFD-D395-673EF332B2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1536"/>
              <a:ext cx="1536" cy="105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dirty="0">
                  <a:latin typeface="Arial" panose="020B0604020202020204" pitchFamily="34" charset="0"/>
                </a:rPr>
                <a:t>name     : String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dirty="0">
                  <a:latin typeface="Arial" panose="020B0604020202020204" pitchFamily="34" charset="0"/>
                </a:rPr>
                <a:t>address : Address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dirty="0">
                  <a:latin typeface="Arial" panose="020B0604020202020204" pitchFamily="34" charset="0"/>
                </a:rPr>
                <a:t>birthdate : Date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dirty="0">
                  <a:latin typeface="Arial" panose="020B0604020202020204" pitchFamily="34" charset="0"/>
                </a:rPr>
                <a:t>CNIC      : Id</a:t>
              </a:r>
            </a:p>
          </p:txBody>
        </p:sp>
        <p:sp>
          <p:nvSpPr>
            <p:cNvPr id="10" name="Rectangle 6">
              <a:extLst>
                <a:ext uri="{FF2B5EF4-FFF2-40B4-BE49-F238E27FC236}">
                  <a16:creationId xmlns:a16="http://schemas.microsoft.com/office/drawing/2014/main" id="{D7047A6D-646A-D7D4-FA21-01EDF105FF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592"/>
              <a:ext cx="1536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>
                <a:latin typeface="Arial" panose="020B0604020202020204" pitchFamily="34" charset="0"/>
              </a:endParaRPr>
            </a:p>
          </p:txBody>
        </p:sp>
      </p:grpSp>
      <p:sp>
        <p:nvSpPr>
          <p:cNvPr id="11" name="Text Box 7">
            <a:extLst>
              <a:ext uri="{FF2B5EF4-FFF2-40B4-BE49-F238E27FC236}">
                <a16:creationId xmlns:a16="http://schemas.microsoft.com/office/drawing/2014/main" id="{9648F6CA-638E-2092-0FEB-890F3D129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6775" y="2667000"/>
            <a:ext cx="5508625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Arial" panose="020B0604020202020204" pitchFamily="34" charset="0"/>
              </a:rPr>
              <a:t>An </a:t>
            </a:r>
            <a:r>
              <a:rPr lang="en-US" altLang="en-US" i="1" dirty="0">
                <a:latin typeface="Arial" panose="020B0604020202020204" pitchFamily="34" charset="0"/>
              </a:rPr>
              <a:t>attribute</a:t>
            </a:r>
            <a:r>
              <a:rPr lang="en-US" altLang="en-US" dirty="0">
                <a:latin typeface="Arial" panose="020B0604020202020204" pitchFamily="34" charset="0"/>
              </a:rPr>
              <a:t> is a named property of a 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Arial" panose="020B0604020202020204" pitchFamily="34" charset="0"/>
              </a:rPr>
              <a:t>class that describes the object being modeled.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Arial" panose="020B0604020202020204" pitchFamily="34" charset="0"/>
              </a:rPr>
              <a:t>In the class diagram, attributes appear in the second compartment just below the name-compartment.</a:t>
            </a:r>
          </a:p>
        </p:txBody>
      </p:sp>
    </p:spTree>
    <p:extLst>
      <p:ext uri="{BB962C8B-B14F-4D97-AF65-F5344CB8AC3E}">
        <p14:creationId xmlns:p14="http://schemas.microsoft.com/office/powerpoint/2010/main" val="35411597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A1DBE-DA44-8F46-DA1C-5767BA141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Operations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F0769-BC0B-5A31-EC4B-159AC0FB4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1E117-A072-4856-A34D-86E7F1BF6669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6CAA9-8AEF-167C-3C86-AF91B4733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14</a:t>
            </a:fld>
            <a:endParaRPr lang="en-US" dirty="0"/>
          </a:p>
        </p:txBody>
      </p:sp>
      <p:grpSp>
        <p:nvGrpSpPr>
          <p:cNvPr id="7" name="Group 3">
            <a:extLst>
              <a:ext uri="{FF2B5EF4-FFF2-40B4-BE49-F238E27FC236}">
                <a16:creationId xmlns:a16="http://schemas.microsoft.com/office/drawing/2014/main" id="{94D965DE-1233-A9C6-C8A0-DE08549E8F6D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1676400"/>
            <a:ext cx="2438400" cy="4114800"/>
            <a:chOff x="336" y="1056"/>
            <a:chExt cx="1536" cy="2592"/>
          </a:xfrm>
        </p:grpSpPr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D0D08E81-4170-84B9-CE39-2C5329605E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1056"/>
              <a:ext cx="1536" cy="48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>
                  <a:latin typeface="Arial" panose="020B0604020202020204" pitchFamily="34" charset="0"/>
                </a:rPr>
                <a:t>Person</a:t>
              </a:r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FFC93464-F3E5-63F2-A6B8-507E3020EE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1536"/>
              <a:ext cx="1536" cy="10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dirty="0">
                  <a:latin typeface="Arial" panose="020B0604020202020204" pitchFamily="34" charset="0"/>
                </a:rPr>
                <a:t>name     : </a:t>
              </a:r>
              <a:r>
                <a:rPr lang="en-US" altLang="en-US" sz="2000" dirty="0">
                  <a:latin typeface="Arial" panose="020B0604020202020204" pitchFamily="34" charset="0"/>
                </a:rPr>
                <a:t>String</a:t>
              </a:r>
              <a:endParaRPr lang="en-US" altLang="en-US" dirty="0">
                <a:latin typeface="Arial" panose="020B0604020202020204" pitchFamily="34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dirty="0">
                  <a:latin typeface="Arial" panose="020B0604020202020204" pitchFamily="34" charset="0"/>
                </a:rPr>
                <a:t>address : </a:t>
              </a:r>
              <a:r>
                <a:rPr lang="en-US" altLang="en-US" sz="2000" dirty="0">
                  <a:latin typeface="Arial" panose="020B0604020202020204" pitchFamily="34" charset="0"/>
                </a:rPr>
                <a:t>Address</a:t>
              </a:r>
              <a:endParaRPr lang="en-US" altLang="en-US" dirty="0">
                <a:latin typeface="Arial" panose="020B0604020202020204" pitchFamily="34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dirty="0">
                  <a:latin typeface="Arial" panose="020B0604020202020204" pitchFamily="34" charset="0"/>
                </a:rPr>
                <a:t>birthdate : </a:t>
              </a:r>
              <a:r>
                <a:rPr lang="en-US" altLang="en-US" sz="2000" dirty="0">
                  <a:latin typeface="Arial" panose="020B0604020202020204" pitchFamily="34" charset="0"/>
                </a:rPr>
                <a:t>Date</a:t>
              </a:r>
              <a:endParaRPr lang="en-US" altLang="en-US" dirty="0">
                <a:latin typeface="Arial" panose="020B0604020202020204" pitchFamily="34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dirty="0">
                  <a:latin typeface="Arial" panose="020B0604020202020204" pitchFamily="34" charset="0"/>
                </a:rPr>
                <a:t>CNIC       : </a:t>
              </a:r>
              <a:r>
                <a:rPr lang="en-US" altLang="en-US" sz="2000" dirty="0">
                  <a:latin typeface="Arial" panose="020B0604020202020204" pitchFamily="34" charset="0"/>
                </a:rPr>
                <a:t>Id</a:t>
              </a:r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" name="Rectangle 6">
              <a:extLst>
                <a:ext uri="{FF2B5EF4-FFF2-40B4-BE49-F238E27FC236}">
                  <a16:creationId xmlns:a16="http://schemas.microsoft.com/office/drawing/2014/main" id="{822FBADF-32AE-D0ED-5223-5DA3C57E30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592"/>
              <a:ext cx="1536" cy="105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>
                  <a:latin typeface="Arial" panose="020B0604020202020204" pitchFamily="34" charset="0"/>
                </a:rPr>
                <a:t>eat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>
                  <a:latin typeface="Arial" panose="020B0604020202020204" pitchFamily="34" charset="0"/>
                </a:rPr>
                <a:t>sleep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>
                  <a:latin typeface="Arial" panose="020B0604020202020204" pitchFamily="34" charset="0"/>
                </a:rPr>
                <a:t>work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>
                  <a:latin typeface="Arial" panose="020B0604020202020204" pitchFamily="34" charset="0"/>
                </a:rPr>
                <a:t>play</a:t>
              </a:r>
            </a:p>
          </p:txBody>
        </p:sp>
      </p:grpSp>
      <p:sp>
        <p:nvSpPr>
          <p:cNvPr id="11" name="Text Box 7">
            <a:extLst>
              <a:ext uri="{FF2B5EF4-FFF2-40B4-BE49-F238E27FC236}">
                <a16:creationId xmlns:a16="http://schemas.microsoft.com/office/drawing/2014/main" id="{95CD8851-68F3-EEE6-15F9-3C0B397396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4114800"/>
            <a:ext cx="54864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 dirty="0">
                <a:latin typeface="Arial" panose="020B0604020202020204" pitchFamily="34" charset="0"/>
              </a:rPr>
              <a:t>Operations </a:t>
            </a:r>
            <a:r>
              <a:rPr lang="en-US" altLang="en-US" dirty="0">
                <a:latin typeface="Arial" panose="020B0604020202020204" pitchFamily="34" charset="0"/>
              </a:rPr>
              <a:t>describe the class behavior 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Arial" panose="020B0604020202020204" pitchFamily="34" charset="0"/>
              </a:rPr>
              <a:t>and appear in the third compartment. </a:t>
            </a:r>
          </a:p>
        </p:txBody>
      </p:sp>
    </p:spTree>
    <p:extLst>
      <p:ext uri="{BB962C8B-B14F-4D97-AF65-F5344CB8AC3E}">
        <p14:creationId xmlns:p14="http://schemas.microsoft.com/office/powerpoint/2010/main" val="25720508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ACD28-F4D7-093B-A407-425CCBEF5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Diagram - Example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B0CD9-C544-D6B1-5464-2922713F7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1E117-A072-4856-A34D-86E7F1BF6669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E1755-5BCA-EA65-31C2-56BB93C77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1026" name="Picture 2" descr="Blog - Create UML class diagrams">
            <a:extLst>
              <a:ext uri="{FF2B5EF4-FFF2-40B4-BE49-F238E27FC236}">
                <a16:creationId xmlns:a16="http://schemas.microsoft.com/office/drawing/2014/main" id="{56F0A5C6-4CC1-4E4A-0F76-3CA052B5C3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419224"/>
            <a:ext cx="7079084" cy="4905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29841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B75D6-F920-8571-05FD-6E90F0125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Behavioral Modelling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D3C93-CBB7-CDEB-134C-3D8FAE6C6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solidFill>
                  <a:srgbClr val="C00000"/>
                </a:solidFill>
              </a:rPr>
              <a:t>State Diagram </a:t>
            </a:r>
            <a:r>
              <a:rPr lang="en-US" dirty="0"/>
              <a:t>is a type of behavioral model</a:t>
            </a:r>
          </a:p>
          <a:p>
            <a:pPr algn="just"/>
            <a:r>
              <a:rPr lang="en-US" altLang="en-US" dirty="0">
                <a:ea typeface="ＭＳ Ｐゴシック" panose="020B0600070205080204" pitchFamily="34" charset="-128"/>
              </a:rPr>
              <a:t>Depicts data and behavior of a single object throughout its lifetime.</a:t>
            </a:r>
          </a:p>
          <a:p>
            <a:pPr algn="just"/>
            <a:r>
              <a:rPr lang="en-US" altLang="en-US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Elements of State Diagram</a:t>
            </a:r>
          </a:p>
          <a:p>
            <a:pPr lvl="1" algn="just"/>
            <a:r>
              <a:rPr lang="en-US" altLang="en-US" sz="2400" dirty="0">
                <a:ea typeface="ＭＳ Ｐゴシック" panose="020B0600070205080204" pitchFamily="34" charset="-128"/>
              </a:rPr>
              <a:t>Set of states  (including an initial start state)</a:t>
            </a:r>
          </a:p>
          <a:p>
            <a:pPr lvl="1" algn="just"/>
            <a:r>
              <a:rPr lang="en-US" altLang="en-US" sz="2400" dirty="0">
                <a:ea typeface="ＭＳ Ｐゴシック" panose="020B0600070205080204" pitchFamily="34" charset="-128"/>
              </a:rPr>
              <a:t>Transitions between states</a:t>
            </a:r>
          </a:p>
          <a:p>
            <a:pPr lvl="1" algn="just"/>
            <a:r>
              <a:rPr lang="en-US" altLang="en-US" sz="2400" dirty="0">
                <a:ea typeface="ＭＳ Ｐゴシック" panose="020B0600070205080204" pitchFamily="34" charset="-128"/>
              </a:rPr>
              <a:t>Entire diagram is drawn from that object's perspective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9F8A5-C918-7469-9540-AF525A27A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1E117-A072-4856-A34D-86E7F1BF6669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2BEA2-7DC8-07F4-83FA-F0ECB7A3D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8746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5A0E9-8A4C-7B5F-719B-1EB3DABE1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DD52D-02BC-87E5-822C-A510D5FD3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1E117-A072-4856-A34D-86E7F1BF6669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2F731-3105-B7FD-53DD-CC329EBC1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88AD8FE-3312-11AD-374B-6602EB870837}"/>
              </a:ext>
            </a:extLst>
          </p:cNvPr>
          <p:cNvSpPr txBox="1">
            <a:spLocks noChangeArrowheads="1"/>
          </p:cNvSpPr>
          <p:nvPr/>
        </p:nvSpPr>
        <p:spPr>
          <a:xfrm>
            <a:off x="762000" y="1676400"/>
            <a:ext cx="5029200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en-US" b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State</a:t>
            </a:r>
            <a:r>
              <a:rPr lang="en-US" altLang="en-US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: </a:t>
            </a:r>
            <a:r>
              <a:rPr lang="en-US" altLang="en-US" dirty="0">
                <a:ea typeface="ＭＳ Ｐゴシック" panose="020B0600070205080204" pitchFamily="34" charset="-128"/>
              </a:rPr>
              <a:t>Conceptual description of the data in the object</a:t>
            </a:r>
          </a:p>
          <a:p>
            <a:pPr lvl="1" algn="just"/>
            <a:r>
              <a:rPr lang="en-US" altLang="en-US" sz="2200" dirty="0">
                <a:ea typeface="ＭＳ Ｐゴシック" panose="020B0600070205080204" pitchFamily="34" charset="-128"/>
              </a:rPr>
              <a:t>Represented by object's field values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 algn="just"/>
            <a:r>
              <a:rPr lang="en-US" altLang="en-US" dirty="0">
                <a:ea typeface="ＭＳ Ｐゴシック" panose="020B0600070205080204" pitchFamily="34" charset="-128"/>
              </a:rPr>
              <a:t>Entire diagram is drawn from the</a:t>
            </a:r>
            <a:br>
              <a:rPr lang="en-US" altLang="en-US" dirty="0">
                <a:ea typeface="ＭＳ Ｐゴシック" panose="020B0600070205080204" pitchFamily="34" charset="-128"/>
              </a:rPr>
            </a:br>
            <a:r>
              <a:rPr lang="en-US" altLang="en-US" dirty="0">
                <a:ea typeface="ＭＳ Ｐゴシック" panose="020B0600070205080204" pitchFamily="34" charset="-128"/>
              </a:rPr>
              <a:t>central object's perspective</a:t>
            </a:r>
          </a:p>
          <a:p>
            <a:pPr lvl="1" algn="just"/>
            <a:r>
              <a:rPr lang="en-US" altLang="en-US" sz="2200" dirty="0">
                <a:ea typeface="ＭＳ Ｐゴシック" panose="020B0600070205080204" pitchFamily="34" charset="-128"/>
              </a:rPr>
              <a:t>Only include states / concepts that</a:t>
            </a:r>
            <a:br>
              <a:rPr lang="en-US" altLang="en-US" sz="2200" dirty="0">
                <a:ea typeface="ＭＳ Ｐゴシック" panose="020B0600070205080204" pitchFamily="34" charset="-128"/>
              </a:rPr>
            </a:br>
            <a:r>
              <a:rPr lang="en-US" altLang="en-US" sz="2200" dirty="0">
                <a:ea typeface="ＭＳ Ｐゴシック" panose="020B0600070205080204" pitchFamily="34" charset="-128"/>
              </a:rPr>
              <a:t>this object can see and influence</a:t>
            </a:r>
          </a:p>
          <a:p>
            <a:pPr lvl="1" algn="just"/>
            <a:r>
              <a:rPr lang="en-US" altLang="en-US" sz="2200" dirty="0">
                <a:ea typeface="ＭＳ Ｐゴシック" panose="020B0600070205080204" pitchFamily="34" charset="-128"/>
              </a:rPr>
              <a:t>Don't include every possible value</a:t>
            </a:r>
            <a:br>
              <a:rPr lang="en-US" altLang="en-US" sz="2200" dirty="0">
                <a:ea typeface="ＭＳ Ｐゴシック" panose="020B0600070205080204" pitchFamily="34" charset="-128"/>
              </a:rPr>
            </a:br>
            <a:r>
              <a:rPr lang="en-US" altLang="en-US" sz="2200" dirty="0">
                <a:ea typeface="ＭＳ Ｐゴシック" panose="020B0600070205080204" pitchFamily="34" charset="-128"/>
              </a:rPr>
              <a:t>for the fields; only ones that are</a:t>
            </a:r>
            <a:br>
              <a:rPr lang="en-US" altLang="en-US" sz="2200" dirty="0">
                <a:ea typeface="ＭＳ Ｐゴシック" panose="020B0600070205080204" pitchFamily="34" charset="-128"/>
              </a:rPr>
            </a:br>
            <a:r>
              <a:rPr lang="en-US" altLang="en-US" sz="2200" dirty="0">
                <a:ea typeface="ＭＳ Ｐゴシック" panose="020B0600070205080204" pitchFamily="34" charset="-128"/>
              </a:rPr>
              <a:t>conceptually different</a:t>
            </a: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663A75D6-BCD1-8313-B0E7-9070EC83F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00" t="39621" r="65877" b="40355"/>
          <a:stretch>
            <a:fillRect/>
          </a:stretch>
        </p:blipFill>
        <p:spPr bwMode="auto">
          <a:xfrm>
            <a:off x="6248400" y="3124200"/>
            <a:ext cx="2590800" cy="169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64782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5A0E9-8A4C-7B5F-719B-1EB3DABE1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Scenario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DD52D-02BC-87E5-822C-A510D5FD3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1E117-A072-4856-A34D-86E7F1BF6669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2F731-3105-B7FD-53DD-CC329EBC1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88AD8FE-3312-11AD-374B-6602EB870837}"/>
              </a:ext>
            </a:extLst>
          </p:cNvPr>
          <p:cNvSpPr txBox="1">
            <a:spLocks noChangeArrowheads="1"/>
          </p:cNvSpPr>
          <p:nvPr/>
        </p:nvSpPr>
        <p:spPr>
          <a:xfrm>
            <a:off x="762000" y="1676400"/>
            <a:ext cx="7620000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en-US" dirty="0">
                <a:ea typeface="ＭＳ Ｐゴシック" panose="020B0600070205080204" pitchFamily="34" charset="-128"/>
              </a:rPr>
              <a:t>I want to keep my valuables in safe that’s hard to find. So to reveal the lock to the safe, I have to remove a strategic candle from its holder, but this will reveal the lock only when the door is closed.</a:t>
            </a:r>
          </a:p>
          <a:p>
            <a:pPr algn="just"/>
            <a:r>
              <a:rPr lang="en-US" altLang="en-US" dirty="0">
                <a:ea typeface="ＭＳ Ｐゴシック" panose="020B0600070205080204" pitchFamily="34" charset="-128"/>
              </a:rPr>
              <a:t>Once I can see the lock I can insert my key to open the safe. For extra safety, I make sure that I can open the safe only I replace the candle first. If a thief neglects this precaution, I ‘ll unleash the nasty monster to devour him.</a:t>
            </a:r>
          </a:p>
        </p:txBody>
      </p:sp>
    </p:spTree>
    <p:extLst>
      <p:ext uri="{BB962C8B-B14F-4D97-AF65-F5344CB8AC3E}">
        <p14:creationId xmlns:p14="http://schemas.microsoft.com/office/powerpoint/2010/main" val="36379059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F0FE1-B015-061F-CC63-E72D7F59D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Diagram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CF28D-DD1D-C76E-B7F1-CC9E457CC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1E117-A072-4856-A34D-86E7F1BF6669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D4482-A146-C98F-0D20-48BB6AFD5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D4C3EA5E-BF99-C29C-1BAD-800D5297F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00" t="16154" r="27744" b="20499"/>
          <a:stretch>
            <a:fillRect/>
          </a:stretch>
        </p:blipFill>
        <p:spPr bwMode="auto">
          <a:xfrm>
            <a:off x="304800" y="1509713"/>
            <a:ext cx="8534400" cy="534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15046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">
            <a:extLst>
              <a:ext uri="{FF2B5EF4-FFF2-40B4-BE49-F238E27FC236}">
                <a16:creationId xmlns:a16="http://schemas.microsoft.com/office/drawing/2014/main" id="{B64C46A4-D358-478D-E7CA-E93381DCC9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tabLst>
                <a:tab pos="0" algn="l"/>
                <a:tab pos="342900" algn="l"/>
                <a:tab pos="685800" algn="l"/>
                <a:tab pos="1028700" algn="l"/>
                <a:tab pos="1371600" algn="l"/>
                <a:tab pos="1714500" algn="l"/>
                <a:tab pos="2057400" algn="l"/>
                <a:tab pos="2400300" algn="l"/>
                <a:tab pos="2743200" algn="l"/>
                <a:tab pos="3086100" algn="l"/>
                <a:tab pos="3429000" algn="l"/>
                <a:tab pos="3771900" algn="l"/>
                <a:tab pos="4114800" algn="l"/>
                <a:tab pos="4457700" algn="l"/>
                <a:tab pos="4800600" algn="l"/>
                <a:tab pos="5143500" algn="l"/>
                <a:tab pos="5486400" algn="l"/>
                <a:tab pos="5829300" algn="l"/>
                <a:tab pos="6172200" algn="l"/>
                <a:tab pos="6515100" algn="l"/>
                <a:tab pos="6858000" algn="l"/>
              </a:tabLst>
            </a:pPr>
            <a:r>
              <a:rPr lang="en-GB" altLang="en-US"/>
              <a:t>UML Statechart Diagram: Seminar during enrollment</a:t>
            </a:r>
          </a:p>
        </p:txBody>
      </p:sp>
      <p:pic>
        <p:nvPicPr>
          <p:cNvPr id="45059" name="Picture 2">
            <a:extLst>
              <a:ext uri="{FF2B5EF4-FFF2-40B4-BE49-F238E27FC236}">
                <a16:creationId xmlns:a16="http://schemas.microsoft.com/office/drawing/2014/main" id="{CD15D8D6-6CFD-20BB-26B5-82B6A6808C7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3038" y="2133600"/>
            <a:ext cx="8797925" cy="4191000"/>
          </a:xfrm>
          <a:noFill/>
        </p:spPr>
      </p:pic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4528</TotalTime>
  <Words>1095</Words>
  <Application>Microsoft Office PowerPoint</Application>
  <PresentationFormat>On-screen Show (4:3)</PresentationFormat>
  <Paragraphs>170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ＭＳ Ｐゴシック</vt:lpstr>
      <vt:lpstr>Arial</vt:lpstr>
      <vt:lpstr>Arial MT</vt:lpstr>
      <vt:lpstr>Calibri</vt:lpstr>
      <vt:lpstr>Times New Roman</vt:lpstr>
      <vt:lpstr>Wingdings</vt:lpstr>
      <vt:lpstr>Clarity</vt:lpstr>
      <vt:lpstr>     CSSE3113 – Introduction to Software Engineering  </vt:lpstr>
      <vt:lpstr>Requirement Modelling</vt:lpstr>
      <vt:lpstr>Requirement Modelling</vt:lpstr>
      <vt:lpstr>Scenario-based Modelling</vt:lpstr>
      <vt:lpstr>Scenario-based Modelling- Use case</vt:lpstr>
      <vt:lpstr>Scenario-based Modelling- Use case</vt:lpstr>
      <vt:lpstr>PowerPoint Presentation</vt:lpstr>
      <vt:lpstr>Class-based Modelling</vt:lpstr>
      <vt:lpstr>Class-based Modelling</vt:lpstr>
      <vt:lpstr>Identifying Classes</vt:lpstr>
      <vt:lpstr>Class</vt:lpstr>
      <vt:lpstr>Class Name</vt:lpstr>
      <vt:lpstr>Class Attributes</vt:lpstr>
      <vt:lpstr>Class Operations</vt:lpstr>
      <vt:lpstr>Class Diagram - Example</vt:lpstr>
      <vt:lpstr>Behavioral Modelling</vt:lpstr>
      <vt:lpstr>States</vt:lpstr>
      <vt:lpstr>Example Scenario</vt:lpstr>
      <vt:lpstr>State Diagram</vt:lpstr>
      <vt:lpstr>UML Statechart Diagram: Seminar during enrollment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“Agility”?</dc:title>
  <dc:creator>user</dc:creator>
  <cp:lastModifiedBy>Junaid .</cp:lastModifiedBy>
  <cp:revision>410</cp:revision>
  <cp:lastPrinted>2018-10-03T10:06:29Z</cp:lastPrinted>
  <dcterms:created xsi:type="dcterms:W3CDTF">2014-09-24T14:35:43Z</dcterms:created>
  <dcterms:modified xsi:type="dcterms:W3CDTF">2025-10-10T05:05:27Z</dcterms:modified>
</cp:coreProperties>
</file>