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8"/>
  </p:notesMasterIdLst>
  <p:handoutMasterIdLst>
    <p:handoutMasterId r:id="rId29"/>
  </p:handoutMasterIdLst>
  <p:sldIdLst>
    <p:sldId id="295" r:id="rId2"/>
    <p:sldId id="371" r:id="rId3"/>
    <p:sldId id="372" r:id="rId4"/>
    <p:sldId id="374" r:id="rId5"/>
    <p:sldId id="377" r:id="rId6"/>
    <p:sldId id="379" r:id="rId7"/>
    <p:sldId id="403" r:id="rId8"/>
    <p:sldId id="378" r:id="rId9"/>
    <p:sldId id="381" r:id="rId10"/>
    <p:sldId id="382" r:id="rId11"/>
    <p:sldId id="383" r:id="rId12"/>
    <p:sldId id="406" r:id="rId13"/>
    <p:sldId id="407" r:id="rId14"/>
    <p:sldId id="404" r:id="rId15"/>
    <p:sldId id="384" r:id="rId16"/>
    <p:sldId id="385" r:id="rId17"/>
    <p:sldId id="386" r:id="rId18"/>
    <p:sldId id="387" r:id="rId19"/>
    <p:sldId id="388" r:id="rId20"/>
    <p:sldId id="389" r:id="rId21"/>
    <p:sldId id="405" r:id="rId22"/>
    <p:sldId id="390" r:id="rId23"/>
    <p:sldId id="391" r:id="rId24"/>
    <p:sldId id="392" r:id="rId25"/>
    <p:sldId id="393" r:id="rId26"/>
    <p:sldId id="394" r:id="rId2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57" d="100"/>
          <a:sy n="57" d="100"/>
        </p:scale>
        <p:origin x="147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13AC2-84B2-43FF-94BB-EB11EFEB6E93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5FA1F-BE4C-4B8A-B516-4391A4FD2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731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78CA847-4A74-4ED8-B970-DB5660C561A5}" type="datetimeFigureOut">
              <a:rPr lang="en-US" smtClean="0"/>
              <a:pPr/>
              <a:t>10/9/2025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545D3B6-AD8D-42AC-8CAA-0DAD722976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395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5D3B6-AD8D-42AC-8CAA-0DAD7229769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5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6BD37-4C25-4A7F-A326-40C8AFF5722B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DC4A-FD06-4D84-A9C7-DC96657B41D1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BE5EB-50F2-449B-99AA-BBED36F2C004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B01C5-FB4F-49F2-91B9-4C89DAE069E1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29D95-63DA-4A86-9840-B31C6E4ED522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5F4AB-8CF9-4ABF-B61C-23AB2A7505DE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981F4-FBBD-4A91-B74A-446B3E243621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D915-5338-4A5C-83C2-E57194B4D010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7F41B-7DCD-4817-B735-972BB7CED403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E3F75-42DF-4DC6-9D70-7C294066CF00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7CDF48C-D576-4C0B-B672-61200B0A591C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CSC291 - Software Engineering Concepts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A68DB68-8052-4758-A647-54338E95D8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d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581400"/>
            <a:ext cx="7543800" cy="1905000"/>
          </a:xfrm>
        </p:spPr>
        <p:txBody>
          <a:bodyPr>
            <a:normAutofit/>
          </a:bodyPr>
          <a:lstStyle/>
          <a:p>
            <a:pPr marL="63500" algn="ctr" eaLnBrk="1" hangingPunct="1"/>
            <a:endParaRPr lang="en-US" sz="20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63500" algn="ctr" eaLnBrk="1" hangingPunct="1"/>
            <a:r>
              <a:rPr lang="en-US" sz="2800" b="1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Requirements Engineering Process &amp; Discovery Techniques</a:t>
            </a:r>
          </a:p>
          <a:p>
            <a:pPr marL="63500" algn="ctr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371600"/>
            <a:ext cx="9067800" cy="1927225"/>
          </a:xfrm>
        </p:spPr>
        <p:txBody>
          <a:bodyPr/>
          <a:lstStyle/>
          <a:p>
            <a:pPr algn="ctr"/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solidFill>
                  <a:srgbClr val="C00000"/>
                </a:solidFill>
                <a:cs typeface="Times New Roman" pitchFamily="18" charset="0"/>
              </a:rPr>
              <a:t>CSSE3113 – </a:t>
            </a:r>
            <a:r>
              <a:rPr lang="en-US" sz="3200" cap="none" dirty="0">
                <a:solidFill>
                  <a:srgbClr val="C00000"/>
                </a:solidFill>
                <a:cs typeface="Times New Roman" pitchFamily="18" charset="0"/>
              </a:rPr>
              <a:t>Introduction to Software Engineering </a:t>
            </a:r>
            <a:br>
              <a:rPr lang="en-US" sz="3200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Engineering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90000"/>
              </a:lnSpc>
              <a:buNone/>
              <a:defRPr/>
            </a:pPr>
            <a:r>
              <a:rPr lang="en-GB" dirty="0"/>
              <a:t>Goal of  RE Process </a:t>
            </a:r>
            <a:r>
              <a:rPr lang="en-GB" dirty="0">
                <a:sym typeface="Wingdings" pitchFamily="2" charset="2"/>
              </a:rPr>
              <a:t> to create and maintain a system requirement document</a:t>
            </a:r>
          </a:p>
          <a:p>
            <a:pPr algn="just">
              <a:lnSpc>
                <a:spcPct val="90000"/>
              </a:lnSpc>
              <a:buNone/>
              <a:defRPr/>
            </a:pPr>
            <a:endParaRPr lang="en-GB" dirty="0">
              <a:sym typeface="Wingdings" pitchFamily="2" charset="2"/>
            </a:endParaRPr>
          </a:p>
          <a:p>
            <a:pPr algn="just">
              <a:lnSpc>
                <a:spcPct val="90000"/>
              </a:lnSpc>
              <a:defRPr/>
            </a:pPr>
            <a:r>
              <a:rPr lang="en-GB" dirty="0">
                <a:sym typeface="Wingdings" pitchFamily="2" charset="2"/>
              </a:rPr>
              <a:t>RE processes may Include  four high level activities</a:t>
            </a:r>
            <a:endParaRPr lang="en-GB" b="1" dirty="0">
              <a:sym typeface="Wingdings" pitchFamily="2" charset="2"/>
            </a:endParaRPr>
          </a:p>
          <a:p>
            <a:pPr marL="0" indent="0" algn="just">
              <a:lnSpc>
                <a:spcPct val="90000"/>
              </a:lnSpc>
              <a:buNone/>
              <a:defRPr/>
            </a:pPr>
            <a:endParaRPr lang="en-GB" dirty="0">
              <a:sym typeface="Wingdings" pitchFamily="2" charset="2"/>
            </a:endParaRPr>
          </a:p>
          <a:p>
            <a:pPr marL="623887" indent="-514350" algn="just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GB" dirty="0">
                <a:sym typeface="Wingdings" pitchFamily="2" charset="2"/>
              </a:rPr>
              <a:t>Assessing whether the system is useful to business and customer (Feasibility Study)</a:t>
            </a:r>
          </a:p>
          <a:p>
            <a:pPr marL="623887" indent="-514350" algn="just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GB" dirty="0">
                <a:sym typeface="Wingdings" pitchFamily="2" charset="2"/>
              </a:rPr>
              <a:t>Discovering requirements (elicitation and analysis)</a:t>
            </a:r>
          </a:p>
          <a:p>
            <a:pPr marL="623887" indent="-514350" algn="just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GB" dirty="0">
                <a:sym typeface="Wingdings" pitchFamily="2" charset="2"/>
              </a:rPr>
              <a:t>Converting theses requirements into some standard form (specification)</a:t>
            </a:r>
          </a:p>
          <a:p>
            <a:pPr marL="623887" indent="-514350" algn="just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GB" dirty="0">
                <a:sym typeface="Wingdings" pitchFamily="2" charset="2"/>
              </a:rPr>
              <a:t>Checking that the requirements actually define the system that the customer wants (validation)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44D1C-534C-4C39-9DE3-155DA86C10C1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758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Engineering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GB" sz="2200" dirty="0"/>
          </a:p>
          <a:p>
            <a:pPr algn="just">
              <a:lnSpc>
                <a:spcPct val="90000"/>
              </a:lnSpc>
            </a:pPr>
            <a:r>
              <a:rPr lang="en-GB" sz="2200" dirty="0"/>
              <a:t>The process used for RE vary widely depending on the </a:t>
            </a:r>
            <a:r>
              <a:rPr lang="en-GB" sz="2200" b="1" dirty="0"/>
              <a:t>application domain</a:t>
            </a:r>
            <a:r>
              <a:rPr lang="en-GB" sz="2200" dirty="0"/>
              <a:t>, the </a:t>
            </a:r>
            <a:r>
              <a:rPr lang="en-GB" sz="2200" b="1" dirty="0"/>
              <a:t>people </a:t>
            </a:r>
            <a:r>
              <a:rPr lang="en-GB" sz="2200" dirty="0"/>
              <a:t>involved and the </a:t>
            </a:r>
            <a:r>
              <a:rPr lang="en-GB" sz="2200" b="1" dirty="0"/>
              <a:t>organization </a:t>
            </a:r>
            <a:r>
              <a:rPr lang="en-GB" sz="2200" dirty="0"/>
              <a:t>developing the requirements.</a:t>
            </a:r>
          </a:p>
          <a:p>
            <a:pPr algn="just">
              <a:lnSpc>
                <a:spcPct val="90000"/>
              </a:lnSpc>
              <a:buNone/>
            </a:pPr>
            <a:endParaRPr lang="en-GB" sz="2200" dirty="0"/>
          </a:p>
          <a:p>
            <a:pPr algn="just">
              <a:lnSpc>
                <a:spcPct val="90000"/>
              </a:lnSpc>
            </a:pPr>
            <a:r>
              <a:rPr lang="en-GB" sz="2200" dirty="0"/>
              <a:t>However, there are a number of generic activities common to all processes.</a:t>
            </a:r>
          </a:p>
          <a:p>
            <a:pPr algn="just">
              <a:lnSpc>
                <a:spcPct val="90000"/>
              </a:lnSpc>
              <a:buNone/>
            </a:pPr>
            <a:endParaRPr lang="en-GB" sz="2200" dirty="0"/>
          </a:p>
          <a:p>
            <a:pPr lvl="1" algn="just">
              <a:lnSpc>
                <a:spcPct val="90000"/>
              </a:lnSpc>
            </a:pPr>
            <a:r>
              <a:rPr lang="en-GB" sz="2200" dirty="0"/>
              <a:t>Requirements Elicitation</a:t>
            </a:r>
          </a:p>
          <a:p>
            <a:pPr lvl="1" algn="just">
              <a:lnSpc>
                <a:spcPct val="90000"/>
              </a:lnSpc>
            </a:pPr>
            <a:r>
              <a:rPr lang="en-GB" sz="2200" dirty="0"/>
              <a:t>Requirements Analysis</a:t>
            </a:r>
          </a:p>
          <a:p>
            <a:pPr lvl="1" algn="just">
              <a:lnSpc>
                <a:spcPct val="90000"/>
              </a:lnSpc>
            </a:pPr>
            <a:r>
              <a:rPr lang="en-GB" sz="2200" dirty="0"/>
              <a:t>Requirements Validation</a:t>
            </a:r>
          </a:p>
          <a:p>
            <a:pPr lvl="1" algn="just">
              <a:lnSpc>
                <a:spcPct val="90000"/>
              </a:lnSpc>
            </a:pPr>
            <a:r>
              <a:rPr lang="en-GB" sz="2200" dirty="0"/>
              <a:t>Requirements Management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691A-53B0-417F-B611-DFFB5523FCCB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Feasibility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GB" sz="2200" dirty="0"/>
              <a:t>A feasibility study decides whether or not the proposed system is worth implementing.</a:t>
            </a:r>
          </a:p>
          <a:p>
            <a:pPr algn="just">
              <a:buNone/>
            </a:pPr>
            <a:endParaRPr lang="en-GB" sz="2200" dirty="0"/>
          </a:p>
          <a:p>
            <a:pPr algn="just"/>
            <a:r>
              <a:rPr lang="en-GB" sz="2200" dirty="0"/>
              <a:t>A feasibility study is short,  focused study that take place early in the RE Process</a:t>
            </a:r>
          </a:p>
          <a:p>
            <a:pPr lvl="1" algn="just"/>
            <a:r>
              <a:rPr lang="en-GB" sz="2200" dirty="0"/>
              <a:t>Does the system contributes to </a:t>
            </a:r>
            <a:r>
              <a:rPr lang="en-GB" sz="2200" b="1" dirty="0"/>
              <a:t>organizational objectives?</a:t>
            </a:r>
          </a:p>
          <a:p>
            <a:pPr lvl="1" algn="just"/>
            <a:r>
              <a:rPr lang="en-GB" sz="2200" dirty="0"/>
              <a:t>Can the system be implemented </a:t>
            </a:r>
            <a:r>
              <a:rPr lang="en-GB" sz="2200" b="1" dirty="0"/>
              <a:t>within schedule and budget using</a:t>
            </a:r>
            <a:r>
              <a:rPr lang="en-GB" sz="2200" dirty="0"/>
              <a:t> </a:t>
            </a:r>
            <a:r>
              <a:rPr lang="en-GB" sz="2200" b="1" dirty="0"/>
              <a:t>current technology?</a:t>
            </a:r>
          </a:p>
          <a:p>
            <a:pPr lvl="1" algn="just"/>
            <a:r>
              <a:rPr lang="en-GB" sz="2200" dirty="0"/>
              <a:t>Can the system can be </a:t>
            </a:r>
            <a:r>
              <a:rPr lang="en-GB" sz="2200" b="1" dirty="0"/>
              <a:t>integrated</a:t>
            </a:r>
            <a:r>
              <a:rPr lang="en-GB" sz="2200" dirty="0"/>
              <a:t> with other systems that are used?</a:t>
            </a:r>
          </a:p>
          <a:p>
            <a:pPr lvl="1" algn="just"/>
            <a:endParaRPr lang="en-GB" sz="2200" dirty="0"/>
          </a:p>
          <a:p>
            <a:pPr algn="just"/>
            <a:r>
              <a:rPr lang="en-GB" sz="2200" dirty="0"/>
              <a:t>If the answer to any of these questions is no, you should probably not go ahead with the project.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828D-AC82-4B0E-AE0C-EFC8E03B8ADD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817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 Elicitation and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sz="2200" dirty="0"/>
              <a:t>Sometimes called requirement discovery.</a:t>
            </a:r>
          </a:p>
          <a:p>
            <a:pPr marL="0" indent="0" algn="just">
              <a:buNone/>
            </a:pPr>
            <a:endParaRPr lang="en-GB" sz="2200" dirty="0"/>
          </a:p>
          <a:p>
            <a:pPr algn="just"/>
            <a:r>
              <a:rPr lang="en-GB" sz="2200" dirty="0"/>
              <a:t>Involves technical staff (software engineers) working with customers to find out about the</a:t>
            </a:r>
          </a:p>
          <a:p>
            <a:pPr lvl="1" algn="just"/>
            <a:r>
              <a:rPr lang="en-GB" sz="2200" dirty="0"/>
              <a:t> application domain</a:t>
            </a:r>
          </a:p>
          <a:p>
            <a:pPr lvl="1" algn="just"/>
            <a:r>
              <a:rPr lang="en-GB" sz="2200" dirty="0"/>
              <a:t> the services that the system should provide and</a:t>
            </a:r>
          </a:p>
          <a:p>
            <a:pPr lvl="1" algn="just"/>
            <a:r>
              <a:rPr lang="en-GB" sz="2200" dirty="0"/>
              <a:t> the system’s operational constraints.</a:t>
            </a:r>
          </a:p>
          <a:p>
            <a:pPr lvl="1" algn="just">
              <a:buNone/>
            </a:pPr>
            <a:endParaRPr lang="en-GB" sz="2200" dirty="0"/>
          </a:p>
          <a:p>
            <a:pPr algn="just">
              <a:buNone/>
            </a:pPr>
            <a:r>
              <a:rPr lang="en-GB" sz="2200" dirty="0"/>
              <a:t>May involve a variety of people in an organization</a:t>
            </a:r>
          </a:p>
          <a:p>
            <a:pPr algn="just"/>
            <a:r>
              <a:rPr lang="en-GB" sz="2200" dirty="0"/>
              <a:t>End-users, managers, engineers involved in maintenance, domain experts etc. These are called </a:t>
            </a:r>
            <a:r>
              <a:rPr lang="en-GB" sz="2200" i="1" dirty="0"/>
              <a:t>stakeholders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DCEF1-0560-45B2-9C4D-86F28075A3B3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466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 Elicitation and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  <a:buNone/>
            </a:pPr>
            <a:r>
              <a:rPr lang="en-GB" b="1" dirty="0"/>
              <a:t>Process Activities</a:t>
            </a:r>
            <a:endParaRPr lang="en-GB" sz="2200" b="1" dirty="0"/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en-GB" sz="2200" dirty="0"/>
              <a:t>Requirements discovery</a:t>
            </a:r>
          </a:p>
          <a:p>
            <a:pPr lvl="1" algn="just">
              <a:lnSpc>
                <a:spcPct val="90000"/>
              </a:lnSpc>
            </a:pPr>
            <a:r>
              <a:rPr lang="en-GB" sz="2200" dirty="0"/>
              <a:t>Interacting with stakeholders to discover their requirements. Domain requirements are also discovered at this stage.</a:t>
            </a:r>
          </a:p>
          <a:p>
            <a:pPr lvl="1" algn="just">
              <a:lnSpc>
                <a:spcPct val="90000"/>
              </a:lnSpc>
              <a:buNone/>
            </a:pPr>
            <a:endParaRPr lang="en-GB" sz="2200" dirty="0"/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en-GB" sz="2200" dirty="0"/>
              <a:t>Requirements classification and organization</a:t>
            </a:r>
          </a:p>
          <a:p>
            <a:pPr lvl="1" algn="just">
              <a:lnSpc>
                <a:spcPct val="90000"/>
              </a:lnSpc>
            </a:pPr>
            <a:r>
              <a:rPr lang="en-GB" sz="2200" dirty="0"/>
              <a:t>Groups related requirements and organizes them into coherent clusters.</a:t>
            </a:r>
          </a:p>
          <a:p>
            <a:pPr lvl="1" algn="just">
              <a:lnSpc>
                <a:spcPct val="90000"/>
              </a:lnSpc>
              <a:buNone/>
            </a:pPr>
            <a:endParaRPr lang="en-GB" sz="2200" dirty="0"/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en-GB" sz="2200" dirty="0"/>
              <a:t>Prioritization and negotiation</a:t>
            </a:r>
          </a:p>
          <a:p>
            <a:pPr lvl="1" algn="just">
              <a:lnSpc>
                <a:spcPct val="90000"/>
              </a:lnSpc>
            </a:pPr>
            <a:r>
              <a:rPr lang="en-GB" sz="2200" dirty="0"/>
              <a:t>Prioritizing requirements and resolving requirements conflicts through negotiation.</a:t>
            </a:r>
          </a:p>
          <a:p>
            <a:pPr lvl="1" algn="just">
              <a:lnSpc>
                <a:spcPct val="90000"/>
              </a:lnSpc>
              <a:buNone/>
            </a:pPr>
            <a:endParaRPr lang="en-GB" sz="2200" dirty="0"/>
          </a:p>
          <a:p>
            <a:pPr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en-GB" sz="2200" dirty="0"/>
              <a:t>Requirements documentation(Specification)</a:t>
            </a:r>
          </a:p>
          <a:p>
            <a:pPr lvl="1" algn="just">
              <a:lnSpc>
                <a:spcPct val="90000"/>
              </a:lnSpc>
            </a:pPr>
            <a:r>
              <a:rPr lang="en-GB" sz="2200" dirty="0"/>
              <a:t>Requirements are documented.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6977-0975-4DCF-A241-843173F39FDC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233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Requirements Elicitation and Analysis Process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6C5E9-CD10-45B5-9FF1-889CFC9BEB6A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 descr="4.13 RequirementsElicitation.eps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1676400" y="2133600"/>
            <a:ext cx="5562599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17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Problems of Requirements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GB" dirty="0"/>
              <a:t>Understanding stakeholder requirements is difficult for several reasons</a:t>
            </a:r>
          </a:p>
          <a:p>
            <a:pPr algn="just">
              <a:buNone/>
            </a:pPr>
            <a:endParaRPr lang="en-GB" dirty="0"/>
          </a:p>
          <a:p>
            <a:pPr algn="just"/>
            <a:r>
              <a:rPr lang="en-GB" dirty="0"/>
              <a:t>Stakeholders don’t know what they really want.</a:t>
            </a:r>
          </a:p>
          <a:p>
            <a:pPr algn="just"/>
            <a:r>
              <a:rPr lang="en-GB" dirty="0"/>
              <a:t>Stakeholders express requirements in their own terms.</a:t>
            </a:r>
          </a:p>
          <a:p>
            <a:pPr algn="just"/>
            <a:r>
              <a:rPr lang="en-GB" dirty="0"/>
              <a:t>Different stakeholders may have conflicting requirements.</a:t>
            </a:r>
          </a:p>
          <a:p>
            <a:pPr algn="just"/>
            <a:r>
              <a:rPr lang="en-GB" dirty="0"/>
              <a:t>Organizational and political factors may influence the system requirements.</a:t>
            </a:r>
          </a:p>
          <a:p>
            <a:pPr algn="just"/>
            <a:r>
              <a:rPr lang="en-GB" dirty="0"/>
              <a:t>The requirements change during the analysis process. New stakeholders may emerge and the business environment change.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C3191-D41D-4E6C-8FF1-C54FC26C7C0B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25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  <a:p>
            <a:pPr algn="just"/>
            <a:r>
              <a:rPr lang="en-US" dirty="0"/>
              <a:t>The process of gathering information about the proposed and existing systems 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Refining the user and system requirements from this information.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Sources of information include system stakeholders and the specifications of similar systems.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73BBC-0AC7-4341-B20B-1CB365F5D5E2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219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Techniques of Requirement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buNone/>
            </a:pPr>
            <a:r>
              <a:rPr lang="en-US" b="1" dirty="0"/>
              <a:t>Interview:</a:t>
            </a:r>
          </a:p>
          <a:p>
            <a:pPr algn="just">
              <a:lnSpc>
                <a:spcPct val="90000"/>
              </a:lnSpc>
            </a:pPr>
            <a:r>
              <a:rPr lang="en-US" sz="2200" dirty="0"/>
              <a:t>Formal or informal interview with the system stakeholders</a:t>
            </a:r>
          </a:p>
          <a:p>
            <a:pPr algn="just">
              <a:lnSpc>
                <a:spcPct val="90000"/>
              </a:lnSpc>
            </a:pPr>
            <a:r>
              <a:rPr lang="en-US" sz="2200" dirty="0"/>
              <a:t>In this, the RE team puts questions to stakeholders about the system that they currently use and the system to be developed.</a:t>
            </a:r>
          </a:p>
          <a:p>
            <a:pPr algn="just">
              <a:lnSpc>
                <a:spcPct val="90000"/>
              </a:lnSpc>
              <a:buNone/>
            </a:pPr>
            <a:endParaRPr lang="en-US" sz="2200" dirty="0"/>
          </a:p>
          <a:p>
            <a:pPr algn="just">
              <a:lnSpc>
                <a:spcPct val="90000"/>
              </a:lnSpc>
            </a:pPr>
            <a:r>
              <a:rPr lang="en-US" sz="2200" dirty="0"/>
              <a:t>There are two types of interview</a:t>
            </a:r>
          </a:p>
          <a:p>
            <a:pPr lvl="1" algn="just">
              <a:lnSpc>
                <a:spcPct val="90000"/>
              </a:lnSpc>
            </a:pPr>
            <a:r>
              <a:rPr lang="en-US" sz="2200" b="1" dirty="0"/>
              <a:t>Closed interviews: </a:t>
            </a:r>
            <a:r>
              <a:rPr lang="en-US" sz="2200" dirty="0"/>
              <a:t>where the stakeholders answers a pre-defined set of questions.</a:t>
            </a:r>
          </a:p>
          <a:p>
            <a:pPr lvl="1" algn="just">
              <a:lnSpc>
                <a:spcPct val="90000"/>
              </a:lnSpc>
            </a:pPr>
            <a:endParaRPr lang="en-US" sz="2200" dirty="0"/>
          </a:p>
          <a:p>
            <a:pPr lvl="1" algn="just">
              <a:lnSpc>
                <a:spcPct val="90000"/>
              </a:lnSpc>
            </a:pPr>
            <a:r>
              <a:rPr lang="en-US" sz="2200" b="1" dirty="0"/>
              <a:t>Open interviews: </a:t>
            </a:r>
            <a:r>
              <a:rPr lang="en-US" sz="2200" dirty="0"/>
              <a:t>in which there is no pre-defined agenda and a range of issues are explored with stakeholders.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BDEB-9020-4E3E-B377-C84720940D60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319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Interviewers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Interviewers should be open-minded.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Avoid pre-conceived ideas about the requirements, and willing to listen to stakeholders.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If the stakeholder comes up with surprising requirements , willing to change their minds about the system.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They prompt the interviewee to get with discussion using a question or a proposal.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4FBD-743E-4008-8E38-7859AA4EBBFF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27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E1C8-74F9-6CC5-F484-C190B391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9F057-DB3D-6EB0-C626-37A2CC346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User stories are commonly used in adaptive or agile methodologies</a:t>
            </a:r>
          </a:p>
          <a:p>
            <a:endParaRPr lang="en-AU" dirty="0"/>
          </a:p>
          <a:p>
            <a:r>
              <a:rPr lang="en-AU" dirty="0"/>
              <a:t>Short, high-level descriptions of required functionality expressed in customer terms. </a:t>
            </a:r>
          </a:p>
          <a:p>
            <a:endParaRPr lang="en-AU" dirty="0"/>
          </a:p>
          <a:p>
            <a:r>
              <a:rPr lang="en-AU" dirty="0"/>
              <a:t>A typical user story has the form: “As a &lt;role&gt;, I want &lt;goal/desire&gt; so that &lt;benefit&gt;.” </a:t>
            </a:r>
          </a:p>
          <a:p>
            <a:endParaRPr lang="en-AU" dirty="0"/>
          </a:p>
          <a:p>
            <a:r>
              <a:rPr lang="en-AU" dirty="0"/>
              <a:t>Just enough information so that the developers can produce a reasonable estimate of the effort to implement it. </a:t>
            </a:r>
          </a:p>
          <a:p>
            <a:endParaRPr lang="en-AU" dirty="0"/>
          </a:p>
          <a:p>
            <a:r>
              <a:rPr lang="en-AU" dirty="0"/>
              <a:t>The aim is to avoid some of the waste that often happens in projects where detailed requirements are gathered early but become invalid before the work begins.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E0C44-AA8C-6046-8DDC-AD54EF48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EC6F1-83EC-F8C0-B6A7-59CF5DAE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595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6168-ECF3-B5E4-7C8F-21057F98B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B2390-27B9-E5D7-96AA-7F8B47878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BFC62-2C55-473E-39AA-606AC9841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38F43DC-9A23-E4C2-5EAD-ADA201F2E7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40" y="1523999"/>
            <a:ext cx="8229600" cy="4986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76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/>
              <a:t>People usually find it easier to relate to real-life examples rather than abstract descriptions.</a:t>
            </a:r>
          </a:p>
          <a:p>
            <a:pPr algn="just">
              <a:lnSpc>
                <a:spcPct val="150000"/>
              </a:lnSpc>
            </a:pPr>
            <a:r>
              <a:rPr lang="en-US" sz="2200" dirty="0"/>
              <a:t>Scenarios are real-life examples of how a system can be used.</a:t>
            </a:r>
          </a:p>
          <a:p>
            <a:pPr algn="just">
              <a:lnSpc>
                <a:spcPct val="150000"/>
              </a:lnSpc>
            </a:pPr>
            <a:r>
              <a:rPr lang="en-US" sz="2200" dirty="0"/>
              <a:t>Through Scenario user can understand and criticize….how   they  might interact  with a software system.</a:t>
            </a:r>
          </a:p>
          <a:p>
            <a:pPr algn="just">
              <a:lnSpc>
                <a:spcPct val="150000"/>
              </a:lnSpc>
            </a:pPr>
            <a:r>
              <a:rPr lang="en-US" sz="2200" dirty="0"/>
              <a:t>Requirement engineers can use the information gained from this discussion to formulate the actual system requirements.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00C46-624B-4383-8121-09A3F71F3FCD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262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endParaRPr lang="en-US" sz="2200" dirty="0"/>
          </a:p>
          <a:p>
            <a:pPr algn="just">
              <a:buNone/>
            </a:pPr>
            <a:r>
              <a:rPr lang="en-US" sz="2200" dirty="0"/>
              <a:t>They should include:</a:t>
            </a:r>
          </a:p>
          <a:p>
            <a:pPr algn="just">
              <a:buNone/>
            </a:pPr>
            <a:endParaRPr lang="en-US" sz="2200" dirty="0"/>
          </a:p>
          <a:p>
            <a:pPr lvl="1" algn="just"/>
            <a:r>
              <a:rPr lang="en-US" sz="2200" dirty="0"/>
              <a:t>A description of the starting situation</a:t>
            </a:r>
          </a:p>
          <a:p>
            <a:pPr lvl="1" algn="just"/>
            <a:r>
              <a:rPr lang="en-US" sz="2200" dirty="0"/>
              <a:t>A description of the normal flow of events</a:t>
            </a:r>
          </a:p>
          <a:p>
            <a:pPr lvl="1" algn="just"/>
            <a:r>
              <a:rPr lang="en-US" sz="2200" dirty="0"/>
              <a:t>A description of what can go wrong</a:t>
            </a:r>
          </a:p>
          <a:p>
            <a:pPr lvl="1" algn="just"/>
            <a:r>
              <a:rPr lang="en-US" sz="2200" dirty="0"/>
              <a:t>Information about other concurrent activities</a:t>
            </a:r>
          </a:p>
          <a:p>
            <a:pPr lvl="1" algn="just"/>
            <a:r>
              <a:rPr lang="en-US" sz="2200" dirty="0"/>
              <a:t>A description of the state when the scenario finishes.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6FB9D-8466-49B5-AECC-85CFD340527D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074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LIBSYS Scenario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32EAF-4114-4C24-A5CE-6FC33C3399EC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25538"/>
              </p:ext>
            </p:extLst>
          </p:nvPr>
        </p:nvGraphicFramePr>
        <p:xfrm>
          <a:off x="304800" y="1600200"/>
          <a:ext cx="861060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97885" imgH="2495626" progId="Word.Document.8">
                  <p:embed/>
                </p:oleObj>
              </mc:Choice>
              <mc:Fallback>
                <p:oleObj name="Document" r:id="rId2" imgW="5497885" imgH="2495626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600200"/>
                        <a:ext cx="8610600" cy="472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9654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LIBSYS Scenario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3A6F-38AA-4892-A7F0-9CBCFBA2A1A4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858632"/>
              </p:ext>
            </p:extLst>
          </p:nvPr>
        </p:nvGraphicFramePr>
        <p:xfrm>
          <a:off x="457200" y="1752600"/>
          <a:ext cx="8305800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3860" imgH="2380849" progId="Word.Document.8">
                  <p:embed/>
                </p:oleObj>
              </mc:Choice>
              <mc:Fallback>
                <p:oleObj name="Document" r:id="rId2" imgW="5483860" imgH="2380849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752600"/>
                        <a:ext cx="8305800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1266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GB" dirty="0"/>
              <a:t>Use-cases are a scenario based technique for requirement elicitation 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Which identify the actors in an interaction and which describe the interaction itself.</a:t>
            </a:r>
          </a:p>
          <a:p>
            <a:pPr algn="just">
              <a:buNone/>
            </a:pPr>
            <a:endParaRPr lang="en-GB" dirty="0"/>
          </a:p>
          <a:p>
            <a:pPr algn="just"/>
            <a:r>
              <a:rPr lang="en-GB" dirty="0"/>
              <a:t>A set of use cases should describe all possible interactions with the system.</a:t>
            </a:r>
          </a:p>
          <a:p>
            <a:pPr algn="just">
              <a:buNone/>
            </a:pPr>
            <a:endParaRPr lang="en-GB" dirty="0"/>
          </a:p>
          <a:p>
            <a:pPr algn="just"/>
            <a:r>
              <a:rPr lang="en-GB" dirty="0"/>
              <a:t>Sequence diagrams may be used to add detail to use-cases by showing the sequence of event processing in the system.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8B352-E65B-4DFD-B244-A45B10F02514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233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LIBSYS Use Cases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95AFF-A0E8-4AA1-BA91-21DD6D52FF32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5" descr="7.7 LIBSYSUseCases(6.12)**.eps                                 001BEA14Macintosh HD                   B8AA5F2E: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828800"/>
            <a:ext cx="7010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6933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Social and Organizational Factors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GB" dirty="0"/>
          </a:p>
          <a:p>
            <a:pPr algn="just"/>
            <a:r>
              <a:rPr lang="en-GB" dirty="0"/>
              <a:t>Software systems do not exist in isolation – they are used in a social and organizational context. 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This can influence or even dominate the system requirements.</a:t>
            </a:r>
          </a:p>
          <a:p>
            <a:pPr algn="just">
              <a:buNone/>
            </a:pPr>
            <a:endParaRPr lang="en-GB" dirty="0"/>
          </a:p>
          <a:p>
            <a:pPr algn="just"/>
            <a:r>
              <a:rPr lang="en-GB" dirty="0"/>
              <a:t>Good analysts must be sensitive to these factors.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B8381-B93E-4A0C-A266-9646BF054674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020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C6926-8AFC-CDE5-8A79-B016932D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6215A-EC74-3D37-0392-B42E23AE6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Consider a system which allows senior management to access information without going through middle managers</a:t>
            </a:r>
          </a:p>
          <a:p>
            <a:pPr lvl="1"/>
            <a:r>
              <a:rPr lang="en-GB" altLang="en-US" dirty="0"/>
              <a:t>Managerial status. Senior managers may feel that they are too important to use a keyboard. This may limit the type of system interface used</a:t>
            </a:r>
          </a:p>
          <a:p>
            <a:pPr lvl="1"/>
            <a:r>
              <a:rPr lang="en-GB" altLang="en-US" dirty="0"/>
              <a:t>Managerial responsibilities. Managers may have no uninterrupted time where they can learn to use the system</a:t>
            </a:r>
          </a:p>
          <a:p>
            <a:pPr lvl="1"/>
            <a:r>
              <a:rPr lang="en-GB" altLang="en-US" dirty="0"/>
              <a:t>Organisational resistance. Middle managers who will be made redundant may deliberately provide misleading or incomplete information so that the system will fail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9A748-8F98-C923-B201-F6A999AEF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1E117-A072-4856-A34D-86E7F1BF6669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DB578-9537-3F3A-7BC9-3E900958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48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Ethnography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GB" dirty="0"/>
          </a:p>
          <a:p>
            <a:pPr algn="just"/>
            <a:r>
              <a:rPr lang="en-GB" dirty="0"/>
              <a:t>Ethnography is  an observational technique that can be used to understand social and organizational requirements.</a:t>
            </a:r>
          </a:p>
          <a:p>
            <a:pPr algn="just">
              <a:buNone/>
            </a:pPr>
            <a:endParaRPr lang="en-GB" dirty="0"/>
          </a:p>
          <a:p>
            <a:pPr algn="just"/>
            <a:r>
              <a:rPr lang="en-GB" dirty="0"/>
              <a:t>An analyst immerses him or herself in the working environment (where the system will be used)</a:t>
            </a:r>
          </a:p>
          <a:p>
            <a:pPr algn="just">
              <a:buNone/>
            </a:pPr>
            <a:endParaRPr lang="en-GB" dirty="0"/>
          </a:p>
          <a:p>
            <a:pPr algn="just"/>
            <a:r>
              <a:rPr lang="en-GB" dirty="0"/>
              <a:t>Help analyst to discover implicit system requirements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42405-A3DC-4CEA-89ED-A7848B4C5CBE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937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GB" dirty="0"/>
          </a:p>
          <a:p>
            <a:pPr algn="just"/>
            <a:r>
              <a:rPr lang="en-GB" dirty="0"/>
              <a:t>Concerned with demonstrating that the requirements define the system that the customer really wants.</a:t>
            </a:r>
          </a:p>
          <a:p>
            <a:pPr algn="just">
              <a:buNone/>
            </a:pPr>
            <a:endParaRPr lang="en-GB" dirty="0"/>
          </a:p>
          <a:p>
            <a:pPr algn="just"/>
            <a:r>
              <a:rPr lang="en-GB" dirty="0"/>
              <a:t>Requirements error costs are high so validation is very important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dirty="0"/>
              <a:t>Fixing a requirements error after delivery may cost up to 100 times the cost of fixing an implementation error.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9FA97-4117-4CC1-A9A8-BF868819D9F3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735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Checking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endParaRPr lang="en-GB" dirty="0"/>
          </a:p>
          <a:p>
            <a:pPr algn="just">
              <a:buNone/>
            </a:pPr>
            <a:r>
              <a:rPr lang="en-GB" dirty="0"/>
              <a:t>Checks include</a:t>
            </a:r>
          </a:p>
          <a:p>
            <a:pPr algn="just">
              <a:buNone/>
            </a:pPr>
            <a:endParaRPr lang="en-GB" dirty="0"/>
          </a:p>
          <a:p>
            <a:pPr algn="just"/>
            <a:r>
              <a:rPr lang="en-GB" b="1" dirty="0"/>
              <a:t>Validity.</a:t>
            </a:r>
            <a:r>
              <a:rPr lang="en-GB" dirty="0"/>
              <a:t> Does the system provide the functions which best support the customer’s needs?</a:t>
            </a:r>
          </a:p>
          <a:p>
            <a:pPr algn="just"/>
            <a:r>
              <a:rPr lang="en-GB" b="1" dirty="0"/>
              <a:t>Consistency. </a:t>
            </a:r>
            <a:r>
              <a:rPr lang="en-GB" dirty="0"/>
              <a:t>Are there any requirements conflicts?</a:t>
            </a:r>
          </a:p>
          <a:p>
            <a:pPr algn="just"/>
            <a:r>
              <a:rPr lang="en-GB" b="1" dirty="0"/>
              <a:t>Completeness. </a:t>
            </a:r>
            <a:r>
              <a:rPr lang="en-GB" dirty="0"/>
              <a:t>Are all functions required by the customer included?</a:t>
            </a:r>
          </a:p>
          <a:p>
            <a:pPr algn="just"/>
            <a:r>
              <a:rPr lang="en-GB" b="1" dirty="0"/>
              <a:t>Realism. </a:t>
            </a:r>
            <a:r>
              <a:rPr lang="en-GB" dirty="0"/>
              <a:t>Can the requirements be implemented given available budget and technology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1285-9A78-48A8-840B-A32578A13243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663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Validation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endParaRPr lang="en-GB" sz="2200" dirty="0"/>
          </a:p>
          <a:p>
            <a:pPr algn="just">
              <a:lnSpc>
                <a:spcPct val="90000"/>
              </a:lnSpc>
            </a:pPr>
            <a:r>
              <a:rPr lang="en-GB" sz="2200" b="1" dirty="0"/>
              <a:t>Requirements reviews:</a:t>
            </a:r>
          </a:p>
          <a:p>
            <a:pPr lvl="1" algn="just">
              <a:lnSpc>
                <a:spcPct val="90000"/>
              </a:lnSpc>
            </a:pPr>
            <a:r>
              <a:rPr lang="en-GB" sz="2200" dirty="0"/>
              <a:t>Systematic manual analysis of the requirements(by a team of reviewers) who check for error and inconsistencies.</a:t>
            </a:r>
          </a:p>
          <a:p>
            <a:pPr lvl="1" algn="just">
              <a:lnSpc>
                <a:spcPct val="90000"/>
              </a:lnSpc>
              <a:buNone/>
            </a:pPr>
            <a:endParaRPr lang="en-GB" sz="2200" dirty="0"/>
          </a:p>
          <a:p>
            <a:pPr algn="just">
              <a:lnSpc>
                <a:spcPct val="90000"/>
              </a:lnSpc>
            </a:pPr>
            <a:r>
              <a:rPr lang="en-GB" sz="2200" b="1" dirty="0"/>
              <a:t>Prototyping:</a:t>
            </a:r>
          </a:p>
          <a:p>
            <a:pPr lvl="1" algn="just">
              <a:lnSpc>
                <a:spcPct val="90000"/>
              </a:lnSpc>
            </a:pPr>
            <a:r>
              <a:rPr lang="en-GB" sz="2200" dirty="0"/>
              <a:t>Using an executable model of the system to check requirements. </a:t>
            </a:r>
          </a:p>
          <a:p>
            <a:pPr lvl="1" algn="just">
              <a:lnSpc>
                <a:spcPct val="90000"/>
              </a:lnSpc>
              <a:buNone/>
            </a:pPr>
            <a:endParaRPr lang="en-GB" sz="2200" dirty="0"/>
          </a:p>
          <a:p>
            <a:pPr algn="just">
              <a:lnSpc>
                <a:spcPct val="90000"/>
              </a:lnSpc>
            </a:pPr>
            <a:r>
              <a:rPr lang="en-GB" sz="2200" b="1" dirty="0"/>
              <a:t>Test-case generation:</a:t>
            </a:r>
          </a:p>
          <a:p>
            <a:pPr lvl="1" algn="just">
              <a:lnSpc>
                <a:spcPct val="90000"/>
              </a:lnSpc>
            </a:pPr>
            <a:r>
              <a:rPr lang="en-GB" sz="2200" dirty="0"/>
              <a:t>Developing tests for requirements to check testability.</a:t>
            </a:r>
          </a:p>
          <a:p>
            <a:pPr algn="just">
              <a:lnSpc>
                <a:spcPct val="90000"/>
              </a:lnSpc>
              <a:buNone/>
            </a:pPr>
            <a:endParaRPr lang="en-GB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A35E2-56AD-4D62-A725-39C7AD5066D5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3073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Requirements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GB" sz="2200" dirty="0"/>
          </a:p>
          <a:p>
            <a:pPr algn="just"/>
            <a:r>
              <a:rPr lang="en-GB" sz="2200" dirty="0"/>
              <a:t>Requirements management is the process of </a:t>
            </a:r>
            <a:r>
              <a:rPr lang="en-GB" sz="2200" b="1" dirty="0"/>
              <a:t>managing changing requirements </a:t>
            </a:r>
            <a:r>
              <a:rPr lang="en-GB" sz="2200" dirty="0"/>
              <a:t>during the requirements engineering process and system development.</a:t>
            </a:r>
          </a:p>
          <a:p>
            <a:pPr algn="just"/>
            <a:endParaRPr lang="en-GB" sz="2200" dirty="0"/>
          </a:p>
          <a:p>
            <a:pPr algn="just"/>
            <a:r>
              <a:rPr lang="en-GB" sz="2200" dirty="0"/>
              <a:t>New requirements emerge during the process as business needs change and a better understanding of the system is developed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7DDAC-ADC5-4ED3-96D5-C08B93345C35}" type="datetime1">
              <a:rPr lang="en-US" smtClean="0"/>
              <a:t>10/9/2025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8DB68-8052-4758-A647-54338E95D837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7062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4353</TotalTime>
  <Words>1257</Words>
  <Application>Microsoft Office PowerPoint</Application>
  <PresentationFormat>On-screen Show (4:3)</PresentationFormat>
  <Paragraphs>220</Paragraphs>
  <Slides>26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Times New Roman</vt:lpstr>
      <vt:lpstr>Wingdings</vt:lpstr>
      <vt:lpstr>Clarity</vt:lpstr>
      <vt:lpstr>Document</vt:lpstr>
      <vt:lpstr>     CSSE3113 – Introduction to Software Engineering  </vt:lpstr>
      <vt:lpstr>Requirements Engineering Process</vt:lpstr>
      <vt:lpstr>Requirements Engineering Process</vt:lpstr>
      <vt:lpstr>Feasibility Study</vt:lpstr>
      <vt:lpstr>Requirement Elicitation and Analysis</vt:lpstr>
      <vt:lpstr>Requirement Elicitation and Analysis</vt:lpstr>
      <vt:lpstr>Requirements Elicitation and Analysis Process</vt:lpstr>
      <vt:lpstr>Problems of Requirements Analysis</vt:lpstr>
      <vt:lpstr>Requirements Discovery</vt:lpstr>
      <vt:lpstr>Techniques of Requirement Discovery</vt:lpstr>
      <vt:lpstr>Effective Interviewers</vt:lpstr>
      <vt:lpstr>User Stories</vt:lpstr>
      <vt:lpstr>Example</vt:lpstr>
      <vt:lpstr>Scenarios</vt:lpstr>
      <vt:lpstr>Scenarios</vt:lpstr>
      <vt:lpstr>LIBSYS Scenario </vt:lpstr>
      <vt:lpstr>LIBSYS Scenario </vt:lpstr>
      <vt:lpstr>Use Cases</vt:lpstr>
      <vt:lpstr>LIBSYS Use Cases</vt:lpstr>
      <vt:lpstr>Social and Organizational Factors</vt:lpstr>
      <vt:lpstr>Example</vt:lpstr>
      <vt:lpstr>Ethnography</vt:lpstr>
      <vt:lpstr>Requirements Validation</vt:lpstr>
      <vt:lpstr>Requirements Checking</vt:lpstr>
      <vt:lpstr>Requirements Validation Techniques</vt:lpstr>
      <vt:lpstr>Requirements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“Agility”?</dc:title>
  <dc:creator>user</dc:creator>
  <cp:lastModifiedBy>Junaid .</cp:lastModifiedBy>
  <cp:revision>371</cp:revision>
  <cp:lastPrinted>2018-10-03T10:06:29Z</cp:lastPrinted>
  <dcterms:created xsi:type="dcterms:W3CDTF">2014-09-24T14:35:43Z</dcterms:created>
  <dcterms:modified xsi:type="dcterms:W3CDTF">2025-10-09T06:06:04Z</dcterms:modified>
</cp:coreProperties>
</file>